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90" r:id="rId11"/>
    <p:sldId id="265" r:id="rId12"/>
    <p:sldId id="266" r:id="rId13"/>
    <p:sldId id="267" r:id="rId14"/>
    <p:sldId id="268" r:id="rId15"/>
    <p:sldId id="269" r:id="rId16"/>
    <p:sldId id="270" r:id="rId17"/>
    <p:sldId id="271" r:id="rId18"/>
    <p:sldId id="272" r:id="rId19"/>
    <p:sldId id="273" r:id="rId20"/>
    <p:sldId id="286" r:id="rId21"/>
    <p:sldId id="287" r:id="rId22"/>
    <p:sldId id="288" r:id="rId23"/>
    <p:sldId id="289" r:id="rId24"/>
    <p:sldId id="274" r:id="rId25"/>
    <p:sldId id="275" r:id="rId26"/>
    <p:sldId id="276" r:id="rId27"/>
    <p:sldId id="277" r:id="rId28"/>
    <p:sldId id="278" r:id="rId29"/>
    <p:sldId id="279" r:id="rId30"/>
    <p:sldId id="280" r:id="rId31"/>
    <p:sldId id="281" r:id="rId32"/>
    <p:sldId id="283" r:id="rId33"/>
    <p:sldId id="282" r:id="rId34"/>
  </p:sldIdLst>
  <p:sldSz cx="10693400" cy="7556500"/>
  <p:notesSz cx="10693400" cy="7556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53" autoAdjust="0"/>
    <p:restoredTop sz="85152" autoAdjust="0"/>
  </p:normalViewPr>
  <p:slideViewPr>
    <p:cSldViewPr>
      <p:cViewPr varScale="1">
        <p:scale>
          <a:sx n="74" d="100"/>
          <a:sy n="74" d="100"/>
        </p:scale>
        <p:origin x="1339" y="7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633913" cy="3794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057900" y="0"/>
            <a:ext cx="4632325" cy="379413"/>
          </a:xfrm>
          <a:prstGeom prst="rect">
            <a:avLst/>
          </a:prstGeom>
        </p:spPr>
        <p:txBody>
          <a:bodyPr vert="horz" lIns="91440" tIns="45720" rIns="91440" bIns="45720" rtlCol="0"/>
          <a:lstStyle>
            <a:lvl1pPr algn="r">
              <a:defRPr sz="1200"/>
            </a:lvl1pPr>
          </a:lstStyle>
          <a:p>
            <a:fld id="{9741245D-DD73-42B0-BEB6-88128F9F4905}" type="datetimeFigureOut">
              <a:rPr lang="en-US" smtClean="0"/>
              <a:t>2/9/2026</a:t>
            </a:fld>
            <a:endParaRPr lang="en-US"/>
          </a:p>
        </p:txBody>
      </p:sp>
      <p:sp>
        <p:nvSpPr>
          <p:cNvPr id="4" name="Slide Image Placeholder 3"/>
          <p:cNvSpPr>
            <a:spLocks noGrp="1" noRot="1" noChangeAspect="1"/>
          </p:cNvSpPr>
          <p:nvPr>
            <p:ph type="sldImg" idx="2"/>
          </p:nvPr>
        </p:nvSpPr>
        <p:spPr>
          <a:xfrm>
            <a:off x="3541713" y="944563"/>
            <a:ext cx="3609975" cy="25511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69975" y="3636963"/>
            <a:ext cx="8553450" cy="29749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7177088"/>
            <a:ext cx="4633913" cy="3794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057900" y="7177088"/>
            <a:ext cx="4632325" cy="379412"/>
          </a:xfrm>
          <a:prstGeom prst="rect">
            <a:avLst/>
          </a:prstGeom>
        </p:spPr>
        <p:txBody>
          <a:bodyPr vert="horz" lIns="91440" tIns="45720" rIns="91440" bIns="45720" rtlCol="0" anchor="b"/>
          <a:lstStyle>
            <a:lvl1pPr algn="r">
              <a:defRPr sz="1200"/>
            </a:lvl1pPr>
          </a:lstStyle>
          <a:p>
            <a:fld id="{4740BDDC-C6B6-4239-AEEA-C74FB5558683}" type="slidenum">
              <a:rPr lang="en-US" smtClean="0"/>
              <a:t>‹#›</a:t>
            </a:fld>
            <a:endParaRPr lang="en-US"/>
          </a:p>
        </p:txBody>
      </p:sp>
    </p:spTree>
    <p:extLst>
      <p:ext uri="{BB962C8B-B14F-4D97-AF65-F5344CB8AC3E}">
        <p14:creationId xmlns:p14="http://schemas.microsoft.com/office/powerpoint/2010/main" val="2779838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40BDDC-C6B6-4239-AEEA-C74FB5558683}" type="slidenum">
              <a:rPr lang="en-US" smtClean="0"/>
              <a:t>10</a:t>
            </a:fld>
            <a:endParaRPr lang="en-US"/>
          </a:p>
        </p:txBody>
      </p:sp>
    </p:spTree>
    <p:extLst>
      <p:ext uri="{BB962C8B-B14F-4D97-AF65-F5344CB8AC3E}">
        <p14:creationId xmlns:p14="http://schemas.microsoft.com/office/powerpoint/2010/main" val="25677012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Section </a:t>
            </a:r>
            <a:r>
              <a:rPr lang="en-US" dirty="0" err="1"/>
              <a:t>Header"Now</a:t>
            </a:r>
            <a:r>
              <a:rPr lang="en-US" dirty="0"/>
              <a:t> let's move to our proposed solution - what we're actually building to address these challenges.“</a:t>
            </a:r>
          </a:p>
        </p:txBody>
      </p:sp>
      <p:sp>
        <p:nvSpPr>
          <p:cNvPr id="4" name="Slide Number Placeholder 3"/>
          <p:cNvSpPr>
            <a:spLocks noGrp="1"/>
          </p:cNvSpPr>
          <p:nvPr>
            <p:ph type="sldNum" sz="quarter" idx="5"/>
          </p:nvPr>
        </p:nvSpPr>
        <p:spPr/>
        <p:txBody>
          <a:bodyPr/>
          <a:lstStyle/>
          <a:p>
            <a:fld id="{4740BDDC-C6B6-4239-AEEA-C74FB5558683}" type="slidenum">
              <a:rPr lang="en-US" smtClean="0"/>
              <a:t>11</a:t>
            </a:fld>
            <a:endParaRPr lang="en-US"/>
          </a:p>
        </p:txBody>
      </p:sp>
    </p:spTree>
    <p:extLst>
      <p:ext uri="{BB962C8B-B14F-4D97-AF65-F5344CB8AC3E}">
        <p14:creationId xmlns:p14="http://schemas.microsoft.com/office/powerpoint/2010/main" val="1904590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a:t>
            </a:r>
            <a:r>
              <a:rPr lang="en-US" dirty="0" err="1"/>
              <a:t>GoldenEye</a:t>
            </a:r>
            <a:r>
              <a:rPr lang="en-US" dirty="0"/>
              <a:t> </a:t>
            </a:r>
            <a:r>
              <a:rPr lang="en-US" dirty="0" err="1"/>
              <a:t>System"We</a:t>
            </a:r>
            <a:r>
              <a:rPr lang="en-US" dirty="0"/>
              <a:t> call our system </a:t>
            </a:r>
            <a:r>
              <a:rPr lang="en-US" dirty="0" err="1"/>
              <a:t>GoldenEye</a:t>
            </a:r>
            <a:r>
              <a:rPr lang="en-US" dirty="0"/>
              <a:t> - an end-to-end AI-based search and rescue solution specifically designed for desert </a:t>
            </a:r>
            <a:r>
              <a:rPr lang="en-US" dirty="0" err="1"/>
              <a:t>environments.Our</a:t>
            </a:r>
            <a:r>
              <a:rPr lang="en-US" dirty="0"/>
              <a:t> system addresses three critical problems that existing solutions fail to </a:t>
            </a:r>
            <a:r>
              <a:rPr lang="en-US" dirty="0" err="1"/>
              <a:t>handle:First</a:t>
            </a:r>
            <a:r>
              <a:rPr lang="en-US" dirty="0"/>
              <a:t>, Domain Adaptation. Standard detection models struggle with UAE dune glare and the unique red spectral signatures of places like Wadi Rum. We've trained our model specifically on these </a:t>
            </a:r>
            <a:r>
              <a:rPr lang="en-US" dirty="0" err="1"/>
              <a:t>conditions.Second</a:t>
            </a:r>
            <a:r>
              <a:rPr lang="en-US" dirty="0"/>
              <a:t>, Thermal Crossover. Here's an interesting challenge: during peak daylight hours, desert sand heats up to nearly the same temperature as a human body - around 37 degrees. This makes thermal imaging useless. That's why we prioritize RGB optical detection during daylight </a:t>
            </a:r>
            <a:r>
              <a:rPr lang="en-US" dirty="0" err="1"/>
              <a:t>operations.Third</a:t>
            </a:r>
            <a:r>
              <a:rPr lang="en-US" dirty="0"/>
              <a:t>, Autonomous Logging. When we find someone, the system automatically logs GPS coordinates and captures timestamped images - all stored locally. If the battery runs low, it auto-returns to base without losing any </a:t>
            </a:r>
            <a:r>
              <a:rPr lang="en-US" dirty="0" err="1"/>
              <a:t>data.The</a:t>
            </a:r>
            <a:r>
              <a:rPr lang="en-US" dirty="0"/>
              <a:t> key innovation here is our Modular Intelligent Payload. This is platform-agnostic - it can mount on any UAV capable of carrying 500 grams. We focus on the computing, vision, and software - not the drone itself."</a:t>
            </a:r>
          </a:p>
        </p:txBody>
      </p:sp>
      <p:sp>
        <p:nvSpPr>
          <p:cNvPr id="4" name="Slide Number Placeholder 3"/>
          <p:cNvSpPr>
            <a:spLocks noGrp="1"/>
          </p:cNvSpPr>
          <p:nvPr>
            <p:ph type="sldNum" sz="quarter" idx="5"/>
          </p:nvPr>
        </p:nvSpPr>
        <p:spPr/>
        <p:txBody>
          <a:bodyPr/>
          <a:lstStyle/>
          <a:p>
            <a:fld id="{4740BDDC-C6B6-4239-AEEA-C74FB5558683}" type="slidenum">
              <a:rPr lang="en-US" smtClean="0"/>
              <a:t>12</a:t>
            </a:fld>
            <a:endParaRPr lang="en-US"/>
          </a:p>
        </p:txBody>
      </p:sp>
    </p:spTree>
    <p:extLst>
      <p:ext uri="{BB962C8B-B14F-4D97-AF65-F5344CB8AC3E}">
        <p14:creationId xmlns:p14="http://schemas.microsoft.com/office/powerpoint/2010/main" val="26646559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Section </a:t>
            </a:r>
            <a:r>
              <a:rPr lang="en-US" dirty="0" err="1"/>
              <a:t>Header"Let</a:t>
            </a:r>
            <a:r>
              <a:rPr lang="en-US" dirty="0"/>
              <a:t> me walk you through how we actually built this - the hardware and software architecture."</a:t>
            </a:r>
          </a:p>
        </p:txBody>
      </p:sp>
      <p:sp>
        <p:nvSpPr>
          <p:cNvPr id="4" name="Slide Number Placeholder 3"/>
          <p:cNvSpPr>
            <a:spLocks noGrp="1"/>
          </p:cNvSpPr>
          <p:nvPr>
            <p:ph type="sldNum" sz="quarter" idx="5"/>
          </p:nvPr>
        </p:nvSpPr>
        <p:spPr/>
        <p:txBody>
          <a:bodyPr/>
          <a:lstStyle/>
          <a:p>
            <a:fld id="{4740BDDC-C6B6-4239-AEEA-C74FB5558683}" type="slidenum">
              <a:rPr lang="en-US" smtClean="0"/>
              <a:t>13</a:t>
            </a:fld>
            <a:endParaRPr lang="en-US"/>
          </a:p>
        </p:txBody>
      </p:sp>
    </p:spTree>
    <p:extLst>
      <p:ext uri="{BB962C8B-B14F-4D97-AF65-F5344CB8AC3E}">
        <p14:creationId xmlns:p14="http://schemas.microsoft.com/office/powerpoint/2010/main" val="3186070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 Hardware </a:t>
            </a:r>
            <a:r>
              <a:rPr lang="en-US" dirty="0" err="1"/>
              <a:t>Architecture"Our</a:t>
            </a:r>
            <a:r>
              <a:rPr lang="en-US" dirty="0"/>
              <a:t> Intelligent Payload consists of three main </a:t>
            </a:r>
            <a:r>
              <a:rPr lang="en-US" dirty="0" err="1"/>
              <a:t>components:The</a:t>
            </a:r>
            <a:r>
              <a:rPr lang="en-US" dirty="0"/>
              <a:t> Raspberry Pi 5 with 8GB RAM serves as our mission computer. It runs the operating system, handles telemetry, and communicates with the flight controller. The quad-core Cortex-A76 gives us plenty of processing </a:t>
            </a:r>
            <a:r>
              <a:rPr lang="en-US" dirty="0" err="1"/>
              <a:t>power.The</a:t>
            </a:r>
            <a:r>
              <a:rPr lang="en-US" dirty="0"/>
              <a:t> Hailo-8L AI Kit is our secret weapon. This M.2 HAT provides 13 TOPS of neural processing power - that's Tera Operations Per Second. It's dedicated exclusively to running our computer vision models, which frees up the main CPU for everything </a:t>
            </a:r>
            <a:r>
              <a:rPr lang="en-US" dirty="0" err="1"/>
              <a:t>else.The</a:t>
            </a:r>
            <a:r>
              <a:rPr lang="en-US" dirty="0"/>
              <a:t> Camera Module 3 Wide captures our video feed. We chose the wide variant specifically to maximize field of view - when you're scanning desert terrain from above, you want to cover as much ground as </a:t>
            </a:r>
            <a:r>
              <a:rPr lang="en-US" dirty="0" err="1"/>
              <a:t>possible.As</a:t>
            </a:r>
            <a:r>
              <a:rPr lang="en-US" dirty="0"/>
              <a:t> you can see in the flow diagram: camera captures frames, the AI HAT processes them with YOLOv8, the Pi 5 handles the logic, and then we communicate with the flight controller."</a:t>
            </a:r>
          </a:p>
        </p:txBody>
      </p:sp>
      <p:sp>
        <p:nvSpPr>
          <p:cNvPr id="4" name="Slide Number Placeholder 3"/>
          <p:cNvSpPr>
            <a:spLocks noGrp="1"/>
          </p:cNvSpPr>
          <p:nvPr>
            <p:ph type="sldNum" sz="quarter" idx="5"/>
          </p:nvPr>
        </p:nvSpPr>
        <p:spPr/>
        <p:txBody>
          <a:bodyPr/>
          <a:lstStyle/>
          <a:p>
            <a:fld id="{4740BDDC-C6B6-4239-AEEA-C74FB5558683}" type="slidenum">
              <a:rPr lang="en-US" smtClean="0"/>
              <a:t>14</a:t>
            </a:fld>
            <a:endParaRPr lang="en-US"/>
          </a:p>
        </p:txBody>
      </p:sp>
    </p:spTree>
    <p:extLst>
      <p:ext uri="{BB962C8B-B14F-4D97-AF65-F5344CB8AC3E}">
        <p14:creationId xmlns:p14="http://schemas.microsoft.com/office/powerpoint/2010/main" val="17757929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 Software </a:t>
            </a:r>
            <a:r>
              <a:rPr lang="en-US" dirty="0" err="1"/>
              <a:t>Architecture"Our</a:t>
            </a:r>
            <a:r>
              <a:rPr lang="en-US" dirty="0"/>
              <a:t> software follows a three-tier </a:t>
            </a:r>
            <a:r>
              <a:rPr lang="en-US" dirty="0" err="1"/>
              <a:t>architecture:The</a:t>
            </a:r>
            <a:r>
              <a:rPr lang="en-US" dirty="0"/>
              <a:t> Perception Layer is where the AI magic happens. YOLOv8 runs on the AI HAT, processing raw video frames at 60 frames per second to identify human </a:t>
            </a:r>
            <a:r>
              <a:rPr lang="en-US" dirty="0" err="1"/>
              <a:t>targets.The</a:t>
            </a:r>
            <a:r>
              <a:rPr lang="en-US" dirty="0"/>
              <a:t> Logic Layer is where we prevent false alarms. This is critical - we don't just detect once and alert. We require a target to appear in 5 or more consecutive frames before we call it a Confirmed Find. This dramatically reduces false positives from shadows, rocks, or </a:t>
            </a:r>
            <a:r>
              <a:rPr lang="en-US" dirty="0" err="1"/>
              <a:t>debris.The</a:t>
            </a:r>
            <a:r>
              <a:rPr lang="en-US" dirty="0"/>
              <a:t> Control Layer translates our detections into action. When we have a Confirmed Find, </a:t>
            </a:r>
            <a:r>
              <a:rPr lang="en-US" dirty="0" err="1"/>
              <a:t>DroneKit</a:t>
            </a:r>
            <a:r>
              <a:rPr lang="en-US" dirty="0"/>
              <a:t>-Python sends commands to halt the drone and tag the GPS location. And if the battery drops below a threshold, it automatically initiates Return to Base - because losing the payload in the desert helps no one."</a:t>
            </a:r>
          </a:p>
        </p:txBody>
      </p:sp>
      <p:sp>
        <p:nvSpPr>
          <p:cNvPr id="4" name="Slide Number Placeholder 3"/>
          <p:cNvSpPr>
            <a:spLocks noGrp="1"/>
          </p:cNvSpPr>
          <p:nvPr>
            <p:ph type="sldNum" sz="quarter" idx="5"/>
          </p:nvPr>
        </p:nvSpPr>
        <p:spPr/>
        <p:txBody>
          <a:bodyPr/>
          <a:lstStyle/>
          <a:p>
            <a:fld id="{4740BDDC-C6B6-4239-AEEA-C74FB5558683}" type="slidenum">
              <a:rPr lang="en-US" smtClean="0"/>
              <a:t>15</a:t>
            </a:fld>
            <a:endParaRPr lang="en-US"/>
          </a:p>
        </p:txBody>
      </p:sp>
    </p:spTree>
    <p:extLst>
      <p:ext uri="{BB962C8B-B14F-4D97-AF65-F5344CB8AC3E}">
        <p14:creationId xmlns:p14="http://schemas.microsoft.com/office/powerpoint/2010/main" val="4141564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 Section </a:t>
            </a:r>
            <a:r>
              <a:rPr lang="en-US" dirty="0" err="1"/>
              <a:t>Header"Let's</a:t>
            </a:r>
            <a:r>
              <a:rPr lang="en-US" dirty="0"/>
              <a:t> break down exactly what our system can do - the core capabilities that make this effective for search and rescue."</a:t>
            </a:r>
          </a:p>
        </p:txBody>
      </p:sp>
      <p:sp>
        <p:nvSpPr>
          <p:cNvPr id="4" name="Slide Number Placeholder 3"/>
          <p:cNvSpPr>
            <a:spLocks noGrp="1"/>
          </p:cNvSpPr>
          <p:nvPr>
            <p:ph type="sldNum" sz="quarter" idx="5"/>
          </p:nvPr>
        </p:nvSpPr>
        <p:spPr/>
        <p:txBody>
          <a:bodyPr/>
          <a:lstStyle/>
          <a:p>
            <a:fld id="{4740BDDC-C6B6-4239-AEEA-C74FB5558683}" type="slidenum">
              <a:rPr lang="en-US" smtClean="0"/>
              <a:t>16</a:t>
            </a:fld>
            <a:endParaRPr lang="en-US"/>
          </a:p>
        </p:txBody>
      </p:sp>
    </p:spTree>
    <p:extLst>
      <p:ext uri="{BB962C8B-B14F-4D97-AF65-F5344CB8AC3E}">
        <p14:creationId xmlns:p14="http://schemas.microsoft.com/office/powerpoint/2010/main" val="6212232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16 - Key </a:t>
            </a:r>
            <a:r>
              <a:rPr lang="en-US" dirty="0" err="1"/>
              <a:t>Functionalities"We've</a:t>
            </a:r>
            <a:r>
              <a:rPr lang="en-US" dirty="0"/>
              <a:t> designed six key </a:t>
            </a:r>
            <a:r>
              <a:rPr lang="en-US" dirty="0" err="1"/>
              <a:t>functionalities:Human</a:t>
            </a:r>
            <a:r>
              <a:rPr lang="en-US" dirty="0"/>
              <a:t> Detection - the core capability. We detect humans from aerial imagery, providing bounding boxes with confidence scores. This works from both top-down and oblique camera </a:t>
            </a:r>
            <a:r>
              <a:rPr lang="en-US" dirty="0" err="1"/>
              <a:t>angles.Real</a:t>
            </a:r>
            <a:r>
              <a:rPr lang="en-US" dirty="0"/>
              <a:t>-Time Inference - we process the live video stream at 60 FPS continuously. No frame drops, no lag. When you're searching for someone in the desert, every second </a:t>
            </a:r>
            <a:r>
              <a:rPr lang="en-US" dirty="0" err="1"/>
              <a:t>counts.Desert</a:t>
            </a:r>
            <a:r>
              <a:rPr lang="en-US" dirty="0"/>
              <a:t> Robustness - this is what sets us apart. Our system remains reliable in low contrast conditions, harsh lighting, motion blur from the UAV, and even partial occlusion when someone might be partially covered by sand or </a:t>
            </a:r>
            <a:r>
              <a:rPr lang="en-US" dirty="0" err="1"/>
              <a:t>debris.Autonomous</a:t>
            </a:r>
            <a:r>
              <a:rPr lang="en-US" dirty="0"/>
              <a:t> Processing - once the payload is deployed, it operates without human intervention. No operator sitting at a screen manually selecting targets. The system does the </a:t>
            </a:r>
            <a:r>
              <a:rPr lang="en-US" dirty="0" err="1"/>
              <a:t>work.Visual</a:t>
            </a:r>
            <a:r>
              <a:rPr lang="en-US" dirty="0"/>
              <a:t> Feedback - for the ground station operator, we overlay bounding boxes on the video feed. This allows for human verification when a detection </a:t>
            </a:r>
            <a:r>
              <a:rPr lang="en-US" dirty="0" err="1"/>
              <a:t>occurs.GPS</a:t>
            </a:r>
            <a:r>
              <a:rPr lang="en-US" dirty="0"/>
              <a:t> Logging - every detection is geotagged. We log precise coordinates and capture timestamped images. This data is stored locally, so even if we lose communication, the information isn't </a:t>
            </a:r>
            <a:r>
              <a:rPr lang="en-US" dirty="0" err="1"/>
              <a:t>lost.Together</a:t>
            </a:r>
            <a:r>
              <a:rPr lang="en-US" dirty="0"/>
              <a:t>, these capabilities create a system that can autonomously search large areas and reliably identify people who need help</a:t>
            </a:r>
          </a:p>
        </p:txBody>
      </p:sp>
      <p:sp>
        <p:nvSpPr>
          <p:cNvPr id="4" name="Slide Number Placeholder 3"/>
          <p:cNvSpPr>
            <a:spLocks noGrp="1"/>
          </p:cNvSpPr>
          <p:nvPr>
            <p:ph type="sldNum" sz="quarter" idx="5"/>
          </p:nvPr>
        </p:nvSpPr>
        <p:spPr/>
        <p:txBody>
          <a:bodyPr/>
          <a:lstStyle/>
          <a:p>
            <a:fld id="{4740BDDC-C6B6-4239-AEEA-C74FB5558683}" type="slidenum">
              <a:rPr lang="en-US" smtClean="0"/>
              <a:t>17</a:t>
            </a:fld>
            <a:endParaRPr lang="en-US"/>
          </a:p>
        </p:txBody>
      </p:sp>
    </p:spTree>
    <p:extLst>
      <p:ext uri="{BB962C8B-B14F-4D97-AF65-F5344CB8AC3E}">
        <p14:creationId xmlns:p14="http://schemas.microsoft.com/office/powerpoint/2010/main" val="27642428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Slide Introduction</a:t>
            </a:r>
          </a:p>
          <a:p>
            <a:r>
              <a:rPr lang="en-US" dirty="0"/>
              <a:t>“This slide presents the </a:t>
            </a:r>
            <a:r>
              <a:rPr lang="en-US" b="1" dirty="0"/>
              <a:t>overall system architecture and data flow</a:t>
            </a:r>
            <a:r>
              <a:rPr lang="en-US" dirty="0"/>
              <a:t> of our autonomous search and rescue payload. It shows how visual data is captured, processed using edge AI, filtered through decision logic, and finally translated into drone control actions.”</a:t>
            </a:r>
          </a:p>
          <a:p>
            <a:br>
              <a:rPr lang="en-US" dirty="0"/>
            </a:br>
            <a:endParaRPr lang="en-US" dirty="0"/>
          </a:p>
          <a:p>
            <a:r>
              <a:rPr lang="en-US" b="1" dirty="0"/>
              <a:t>Component Diagram</a:t>
            </a:r>
            <a:br>
              <a:rPr lang="en-US" dirty="0"/>
            </a:br>
            <a:endParaRPr lang="en-US" dirty="0"/>
          </a:p>
          <a:p>
            <a:r>
              <a:rPr lang="en-US" b="1" dirty="0"/>
              <a:t>Camera Module</a:t>
            </a:r>
          </a:p>
          <a:p>
            <a:r>
              <a:rPr lang="en-US" dirty="0"/>
              <a:t>“At the input level, the camera module continuously captures aerial video frames. It connects to the Raspberry Pi using the </a:t>
            </a:r>
            <a:r>
              <a:rPr lang="en-US" b="1" dirty="0"/>
              <a:t>CSI-2 interface</a:t>
            </a:r>
            <a:r>
              <a:rPr lang="en-US" dirty="0"/>
              <a:t>, which provides high-bandwidth, low-latency image transfer suitable for real-time processing.”</a:t>
            </a:r>
          </a:p>
          <a:p>
            <a:br>
              <a:rPr lang="en-US" dirty="0"/>
            </a:br>
            <a:endParaRPr lang="en-US" dirty="0"/>
          </a:p>
          <a:p>
            <a:r>
              <a:rPr lang="en-US" b="1" dirty="0"/>
              <a:t>Compute Layer – Raspberry Pi 5 &amp; AI HAT</a:t>
            </a:r>
          </a:p>
          <a:p>
            <a:r>
              <a:rPr lang="en-US" dirty="0"/>
              <a:t>“The Raspberry Pi 5 acts as the main mission computer, handling system control, logging, and communication.</a:t>
            </a:r>
            <a:br>
              <a:rPr lang="en-US" dirty="0"/>
            </a:br>
            <a:r>
              <a:rPr lang="en-US" dirty="0"/>
              <a:t>At the same time, the </a:t>
            </a:r>
            <a:r>
              <a:rPr lang="en-US" b="1" dirty="0"/>
              <a:t>AI HAT is dedicated solely to running the YOLOv8 model</a:t>
            </a:r>
            <a:r>
              <a:rPr lang="en-US" dirty="0"/>
              <a:t>, providing hardware-accelerated inference and preventing overload on the main CPU.”</a:t>
            </a:r>
          </a:p>
          <a:p>
            <a:br>
              <a:rPr lang="en-US" dirty="0"/>
            </a:br>
            <a:endParaRPr lang="en-US" dirty="0"/>
          </a:p>
          <a:p>
            <a:r>
              <a:rPr lang="en-US" b="1" dirty="0"/>
              <a:t>Perception Layer – YOLOv8</a:t>
            </a:r>
          </a:p>
          <a:p>
            <a:r>
              <a:rPr lang="en-US" dirty="0"/>
              <a:t>“YOLOv8 forms the </a:t>
            </a:r>
            <a:r>
              <a:rPr lang="en-US" b="1" dirty="0"/>
              <a:t>perception layer</a:t>
            </a:r>
            <a:r>
              <a:rPr lang="en-US" dirty="0"/>
              <a:t> of the system. It performs real-time human and vehicle detection directly on the edge device, without relying on cloud connectivity.</a:t>
            </a:r>
            <a:br>
              <a:rPr lang="en-US" dirty="0"/>
            </a:br>
            <a:r>
              <a:rPr lang="en-US" dirty="0"/>
              <a:t>This allows the drone to operate fully autonomously in signal-denied desert environments.”</a:t>
            </a:r>
          </a:p>
          <a:p>
            <a:br>
              <a:rPr lang="en-US" dirty="0"/>
            </a:br>
            <a:endParaRPr lang="en-US" dirty="0"/>
          </a:p>
          <a:p>
            <a:r>
              <a:rPr lang="en-US" b="1" dirty="0"/>
              <a:t>Logic Layer – State Machine</a:t>
            </a:r>
          </a:p>
          <a:p>
            <a:br>
              <a:rPr lang="en-US" dirty="0"/>
            </a:br>
            <a:r>
              <a:rPr lang="en-US" dirty="0"/>
              <a:t>This layer filters raw detections and reduces false positives by requiring a target to be detected consistently across </a:t>
            </a:r>
            <a:r>
              <a:rPr lang="en-US" b="1" dirty="0"/>
              <a:t>five or more consecutive frames with high confidence</a:t>
            </a:r>
            <a:r>
              <a:rPr lang="en-US" dirty="0"/>
              <a:t> before it is considered a confirmed find.”</a:t>
            </a:r>
          </a:p>
          <a:p>
            <a:br>
              <a:rPr lang="en-US" dirty="0"/>
            </a:br>
            <a:endParaRPr lang="en-US" dirty="0"/>
          </a:p>
          <a:p>
            <a:r>
              <a:rPr lang="en-US" b="1" dirty="0"/>
              <a:t>Control Layer – </a:t>
            </a:r>
            <a:r>
              <a:rPr lang="en-US" b="1" dirty="0" err="1"/>
              <a:t>DroneKit</a:t>
            </a:r>
            <a:r>
              <a:rPr lang="en-US" b="1" dirty="0"/>
              <a:t> &amp; Flight Controller</a:t>
            </a:r>
          </a:p>
          <a:p>
            <a:r>
              <a:rPr lang="en-US" dirty="0"/>
              <a:t>“Once a confirmed detection is made, the control layer—implemented using </a:t>
            </a:r>
            <a:r>
              <a:rPr lang="en-US" b="1" dirty="0" err="1"/>
              <a:t>DroneKit</a:t>
            </a:r>
            <a:r>
              <a:rPr lang="en-US" dirty="0"/>
              <a:t>—sends high-level commands to the flight controller.</a:t>
            </a:r>
            <a:br>
              <a:rPr lang="en-US" dirty="0"/>
            </a:br>
            <a:r>
              <a:rPr lang="en-US" dirty="0"/>
              <a:t>These include halting drone movement, logging precise GPS coordinates with a timestamp, and managing mission behavior such as returning to base when the battery reaches a critical level.”</a:t>
            </a:r>
          </a:p>
          <a:p>
            <a:br>
              <a:rPr lang="en-US" dirty="0"/>
            </a:br>
            <a:endParaRPr lang="en-US" dirty="0"/>
          </a:p>
          <a:p>
            <a:r>
              <a:rPr lang="en-US" b="1" dirty="0"/>
              <a:t>Data Flow Summary</a:t>
            </a:r>
          </a:p>
          <a:p>
            <a:r>
              <a:rPr lang="en-US" dirty="0"/>
              <a:t>the pipeline follows a clear sequence:</a:t>
            </a:r>
            <a:br>
              <a:rPr lang="en-US" dirty="0"/>
            </a:br>
            <a:r>
              <a:rPr lang="en-US" dirty="0"/>
              <a:t>camera capture, edge-AI inference, logic-based confirmation, GPS logging, and autonomous control actions.”</a:t>
            </a:r>
          </a:p>
          <a:p>
            <a:br>
              <a:rPr lang="en-US" dirty="0"/>
            </a:br>
            <a:endParaRPr lang="en-US" dirty="0"/>
          </a:p>
          <a:p>
            <a:r>
              <a:rPr lang="en-US" b="1" dirty="0"/>
              <a:t>Physical Interface – 3D-Printed Mount</a:t>
            </a:r>
          </a:p>
          <a:p>
            <a:r>
              <a:rPr lang="en-US" dirty="0"/>
              <a:t>“Physically, all components are housed in a </a:t>
            </a:r>
            <a:r>
              <a:rPr lang="en-US" b="1" dirty="0"/>
              <a:t>custom 3D-printed PLA mount</a:t>
            </a:r>
            <a:r>
              <a:rPr lang="en-US" dirty="0"/>
              <a:t>, designed to protect the system from dust and vibration while ensuring proper airflow for cooling.</a:t>
            </a:r>
            <a:br>
              <a:rPr lang="en-US" dirty="0"/>
            </a:br>
            <a:r>
              <a:rPr lang="en-US" dirty="0"/>
              <a:t>This is especially important for long missions in harsh desert conditions.</a:t>
            </a:r>
          </a:p>
          <a:p>
            <a:endParaRPr lang="en-US" dirty="0"/>
          </a:p>
          <a:p>
            <a:r>
              <a:rPr lang="en-US" b="1" dirty="0"/>
              <a:t>Slide Closing</a:t>
            </a:r>
          </a:p>
          <a:p>
            <a:r>
              <a:rPr lang="en-US" dirty="0"/>
              <a:t>“Overall, this architecture ensures the system is </a:t>
            </a:r>
            <a:r>
              <a:rPr lang="en-US" b="1" dirty="0"/>
              <a:t>modular, autonomous, and robust</a:t>
            </a:r>
            <a:r>
              <a:rPr lang="en-US" dirty="0"/>
              <a:t>, enabling real-time edge-AI decision-making under the environmental and computational constraints of desert search and rescue operations.”</a:t>
            </a:r>
          </a:p>
        </p:txBody>
      </p:sp>
      <p:sp>
        <p:nvSpPr>
          <p:cNvPr id="4" name="Slide Number Placeholder 3"/>
          <p:cNvSpPr>
            <a:spLocks noGrp="1"/>
          </p:cNvSpPr>
          <p:nvPr>
            <p:ph type="sldNum" sz="quarter" idx="5"/>
          </p:nvPr>
        </p:nvSpPr>
        <p:spPr/>
        <p:txBody>
          <a:bodyPr/>
          <a:lstStyle/>
          <a:p>
            <a:fld id="{4740BDDC-C6B6-4239-AEEA-C74FB5558683}" type="slidenum">
              <a:rPr lang="en-US" smtClean="0"/>
              <a:t>19</a:t>
            </a:fld>
            <a:endParaRPr lang="en-US"/>
          </a:p>
        </p:txBody>
      </p:sp>
    </p:spTree>
    <p:extLst>
      <p:ext uri="{BB962C8B-B14F-4D97-AF65-F5344CB8AC3E}">
        <p14:creationId xmlns:p14="http://schemas.microsoft.com/office/powerpoint/2010/main" val="36095479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02005" y="2342515"/>
            <a:ext cx="9089390" cy="1586865"/>
          </a:xfrm>
          <a:prstGeom prst="rect">
            <a:avLst/>
          </a:prstGeom>
        </p:spPr>
        <p:txBody>
          <a:bodyPr wrap="square" lIns="0" tIns="0" rIns="0" bIns="0">
            <a:spAutoFit/>
          </a:bodyPr>
          <a:lstStyle>
            <a:lvl1pPr>
              <a:defRPr sz="6600" b="1" i="0">
                <a:solidFill>
                  <a:schemeClr val="bg1"/>
                </a:solidFill>
                <a:latin typeface="Arial"/>
                <a:cs typeface="Arial"/>
              </a:defRPr>
            </a:lvl1pPr>
          </a:lstStyle>
          <a:p>
            <a:endParaRPr/>
          </a:p>
        </p:txBody>
      </p:sp>
      <p:sp>
        <p:nvSpPr>
          <p:cNvPr id="3" name="Holder 3"/>
          <p:cNvSpPr>
            <a:spLocks noGrp="1"/>
          </p:cNvSpPr>
          <p:nvPr>
            <p:ph type="subTitle" idx="4"/>
          </p:nvPr>
        </p:nvSpPr>
        <p:spPr>
          <a:xfrm>
            <a:off x="1604010" y="4231640"/>
            <a:ext cx="7485380" cy="188912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30"/>
            <a:ext cx="10691960" cy="7553324"/>
          </a:xfrm>
          <a:prstGeom prst="rect">
            <a:avLst/>
          </a:prstGeom>
        </p:spPr>
      </p:pic>
      <p:sp>
        <p:nvSpPr>
          <p:cNvPr id="2" name="Holder 2"/>
          <p:cNvSpPr>
            <a:spLocks noGrp="1"/>
          </p:cNvSpPr>
          <p:nvPr>
            <p:ph type="title"/>
          </p:nvPr>
        </p:nvSpPr>
        <p:spPr/>
        <p:txBody>
          <a:bodyPr lIns="0" tIns="0" rIns="0" bIns="0"/>
          <a:lstStyle>
            <a:lvl1pPr>
              <a:defRPr sz="6600" b="1"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600" b="1" i="0">
                <a:solidFill>
                  <a:schemeClr val="bg1"/>
                </a:solidFill>
                <a:latin typeface="Arial"/>
                <a:cs typeface="Arial"/>
              </a:defRPr>
            </a:lvl1pPr>
          </a:lstStyle>
          <a:p>
            <a:endParaRPr/>
          </a:p>
        </p:txBody>
      </p:sp>
      <p:sp>
        <p:nvSpPr>
          <p:cNvPr id="3" name="Holder 3"/>
          <p:cNvSpPr>
            <a:spLocks noGrp="1"/>
          </p:cNvSpPr>
          <p:nvPr>
            <p:ph sz="half" idx="2"/>
          </p:nvPr>
        </p:nvSpPr>
        <p:spPr>
          <a:xfrm>
            <a:off x="534670" y="1737995"/>
            <a:ext cx="4651629" cy="498729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507101" y="1737995"/>
            <a:ext cx="4651629" cy="498729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6600" b="1"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0691960" cy="7553324"/>
          </a:xfrm>
          <a:prstGeom prst="rect">
            <a:avLst/>
          </a:prstGeom>
        </p:spPr>
      </p:pic>
      <p:pic>
        <p:nvPicPr>
          <p:cNvPr id="17" name="bg object 17"/>
          <p:cNvPicPr/>
          <p:nvPr/>
        </p:nvPicPr>
        <p:blipFill>
          <a:blip r:embed="rId3" cstate="print"/>
          <a:stretch>
            <a:fillRect/>
          </a:stretch>
        </p:blipFill>
        <p:spPr>
          <a:xfrm>
            <a:off x="1362074" y="3162299"/>
            <a:ext cx="7972424" cy="600074"/>
          </a:xfrm>
          <a:prstGeom prst="rect">
            <a:avLst/>
          </a:prstGeom>
        </p:spPr>
      </p:pic>
      <p:sp>
        <p:nvSpPr>
          <p:cNvPr id="18" name="bg object 18"/>
          <p:cNvSpPr/>
          <p:nvPr/>
        </p:nvSpPr>
        <p:spPr>
          <a:xfrm>
            <a:off x="4029074" y="2381249"/>
            <a:ext cx="2638425" cy="333375"/>
          </a:xfrm>
          <a:custGeom>
            <a:avLst/>
            <a:gdLst/>
            <a:ahLst/>
            <a:cxnLst/>
            <a:rect l="l" t="t" r="r" b="b"/>
            <a:pathLst>
              <a:path w="2638425" h="333375">
                <a:moveTo>
                  <a:pt x="2471737" y="333374"/>
                </a:moveTo>
                <a:lnTo>
                  <a:pt x="166687" y="333374"/>
                </a:lnTo>
                <a:lnTo>
                  <a:pt x="150267" y="332581"/>
                </a:lnTo>
                <a:lnTo>
                  <a:pt x="102899" y="320686"/>
                </a:lnTo>
                <a:lnTo>
                  <a:pt x="60993" y="295603"/>
                </a:lnTo>
                <a:lnTo>
                  <a:pt x="28065" y="259311"/>
                </a:lnTo>
                <a:lnTo>
                  <a:pt x="7136" y="215001"/>
                </a:lnTo>
                <a:lnTo>
                  <a:pt x="0" y="166687"/>
                </a:lnTo>
                <a:lnTo>
                  <a:pt x="792" y="150267"/>
                </a:lnTo>
                <a:lnTo>
                  <a:pt x="12687" y="102898"/>
                </a:lnTo>
                <a:lnTo>
                  <a:pt x="37771" y="60993"/>
                </a:lnTo>
                <a:lnTo>
                  <a:pt x="74063" y="28065"/>
                </a:lnTo>
                <a:lnTo>
                  <a:pt x="118372" y="7137"/>
                </a:lnTo>
                <a:lnTo>
                  <a:pt x="166687" y="0"/>
                </a:lnTo>
                <a:lnTo>
                  <a:pt x="2471737" y="0"/>
                </a:lnTo>
                <a:lnTo>
                  <a:pt x="2520051" y="7137"/>
                </a:lnTo>
                <a:lnTo>
                  <a:pt x="2564360" y="28065"/>
                </a:lnTo>
                <a:lnTo>
                  <a:pt x="2600652" y="60993"/>
                </a:lnTo>
                <a:lnTo>
                  <a:pt x="2625735" y="102898"/>
                </a:lnTo>
                <a:lnTo>
                  <a:pt x="2637631" y="150267"/>
                </a:lnTo>
                <a:lnTo>
                  <a:pt x="2638424" y="166687"/>
                </a:lnTo>
                <a:lnTo>
                  <a:pt x="2637631" y="183107"/>
                </a:lnTo>
                <a:lnTo>
                  <a:pt x="2625735" y="230475"/>
                </a:lnTo>
                <a:lnTo>
                  <a:pt x="2600652" y="272381"/>
                </a:lnTo>
                <a:lnTo>
                  <a:pt x="2564360" y="305308"/>
                </a:lnTo>
                <a:lnTo>
                  <a:pt x="2520051" y="326237"/>
                </a:lnTo>
                <a:lnTo>
                  <a:pt x="2471737" y="333374"/>
                </a:lnTo>
                <a:close/>
              </a:path>
            </a:pathLst>
          </a:custGeom>
          <a:solidFill>
            <a:srgbClr val="FFFFFF">
              <a:alpha val="10198"/>
            </a:srgbClr>
          </a:solidFill>
        </p:spPr>
        <p:txBody>
          <a:bodyPr wrap="square" lIns="0" tIns="0" rIns="0" bIns="0" rtlCol="0"/>
          <a:lstStyle/>
          <a:p>
            <a:endParaRPr/>
          </a:p>
        </p:txBody>
      </p:sp>
      <p:sp>
        <p:nvSpPr>
          <p:cNvPr id="19" name="bg object 19"/>
          <p:cNvSpPr/>
          <p:nvPr/>
        </p:nvSpPr>
        <p:spPr>
          <a:xfrm>
            <a:off x="4029075" y="2381249"/>
            <a:ext cx="2638425" cy="333375"/>
          </a:xfrm>
          <a:custGeom>
            <a:avLst/>
            <a:gdLst/>
            <a:ahLst/>
            <a:cxnLst/>
            <a:rect l="l" t="t" r="r" b="b"/>
            <a:pathLst>
              <a:path w="2638425" h="333375">
                <a:moveTo>
                  <a:pt x="2471737" y="333374"/>
                </a:moveTo>
                <a:lnTo>
                  <a:pt x="166687" y="333374"/>
                </a:lnTo>
                <a:lnTo>
                  <a:pt x="150267" y="332581"/>
                </a:lnTo>
                <a:lnTo>
                  <a:pt x="102899" y="320686"/>
                </a:lnTo>
                <a:lnTo>
                  <a:pt x="60993" y="295603"/>
                </a:lnTo>
                <a:lnTo>
                  <a:pt x="28065" y="259311"/>
                </a:lnTo>
                <a:lnTo>
                  <a:pt x="7136" y="215001"/>
                </a:lnTo>
                <a:lnTo>
                  <a:pt x="0" y="166687"/>
                </a:lnTo>
                <a:lnTo>
                  <a:pt x="743" y="151282"/>
                </a:lnTo>
                <a:lnTo>
                  <a:pt x="12687" y="102898"/>
                </a:lnTo>
                <a:lnTo>
                  <a:pt x="37654" y="61149"/>
                </a:lnTo>
                <a:lnTo>
                  <a:pt x="37771" y="60993"/>
                </a:lnTo>
                <a:lnTo>
                  <a:pt x="74063" y="28065"/>
                </a:lnTo>
                <a:lnTo>
                  <a:pt x="118372" y="7137"/>
                </a:lnTo>
                <a:lnTo>
                  <a:pt x="166687" y="0"/>
                </a:lnTo>
                <a:lnTo>
                  <a:pt x="2471737" y="0"/>
                </a:lnTo>
                <a:lnTo>
                  <a:pt x="2488157" y="792"/>
                </a:lnTo>
                <a:lnTo>
                  <a:pt x="2504261" y="3172"/>
                </a:lnTo>
                <a:lnTo>
                  <a:pt x="2520051" y="7137"/>
                </a:lnTo>
                <a:lnTo>
                  <a:pt x="2526707" y="9524"/>
                </a:lnTo>
                <a:lnTo>
                  <a:pt x="166687" y="9524"/>
                </a:lnTo>
                <a:lnTo>
                  <a:pt x="158966" y="9713"/>
                </a:lnTo>
                <a:lnTo>
                  <a:pt x="121065" y="16290"/>
                </a:lnTo>
                <a:lnTo>
                  <a:pt x="85897" y="31878"/>
                </a:lnTo>
                <a:lnTo>
                  <a:pt x="55556" y="55556"/>
                </a:lnTo>
                <a:lnTo>
                  <a:pt x="31878" y="85897"/>
                </a:lnTo>
                <a:lnTo>
                  <a:pt x="16290" y="121065"/>
                </a:lnTo>
                <a:lnTo>
                  <a:pt x="10405" y="150267"/>
                </a:lnTo>
                <a:lnTo>
                  <a:pt x="10279" y="151282"/>
                </a:lnTo>
                <a:lnTo>
                  <a:pt x="9713" y="158966"/>
                </a:lnTo>
                <a:lnTo>
                  <a:pt x="9524" y="166687"/>
                </a:lnTo>
                <a:lnTo>
                  <a:pt x="9713" y="174408"/>
                </a:lnTo>
                <a:lnTo>
                  <a:pt x="16290" y="212309"/>
                </a:lnTo>
                <a:lnTo>
                  <a:pt x="31878" y="247477"/>
                </a:lnTo>
                <a:lnTo>
                  <a:pt x="55556" y="277818"/>
                </a:lnTo>
                <a:lnTo>
                  <a:pt x="85897" y="301495"/>
                </a:lnTo>
                <a:lnTo>
                  <a:pt x="121064" y="317084"/>
                </a:lnTo>
                <a:lnTo>
                  <a:pt x="158966" y="323661"/>
                </a:lnTo>
                <a:lnTo>
                  <a:pt x="166687" y="323849"/>
                </a:lnTo>
                <a:lnTo>
                  <a:pt x="2526706" y="323849"/>
                </a:lnTo>
                <a:lnTo>
                  <a:pt x="2520051" y="326237"/>
                </a:lnTo>
                <a:lnTo>
                  <a:pt x="2504261" y="330202"/>
                </a:lnTo>
                <a:lnTo>
                  <a:pt x="2488157" y="332581"/>
                </a:lnTo>
                <a:lnTo>
                  <a:pt x="2471737" y="333374"/>
                </a:lnTo>
                <a:close/>
              </a:path>
              <a:path w="2638425" h="333375">
                <a:moveTo>
                  <a:pt x="2526706" y="323849"/>
                </a:moveTo>
                <a:lnTo>
                  <a:pt x="2471737" y="323849"/>
                </a:lnTo>
                <a:lnTo>
                  <a:pt x="2479458" y="323661"/>
                </a:lnTo>
                <a:lnTo>
                  <a:pt x="2487142" y="323094"/>
                </a:lnTo>
                <a:lnTo>
                  <a:pt x="2524675" y="314666"/>
                </a:lnTo>
                <a:lnTo>
                  <a:pt x="2559052" y="297363"/>
                </a:lnTo>
                <a:lnTo>
                  <a:pt x="2588193" y="272225"/>
                </a:lnTo>
                <a:lnTo>
                  <a:pt x="2610343" y="240774"/>
                </a:lnTo>
                <a:lnTo>
                  <a:pt x="2624188" y="204884"/>
                </a:lnTo>
                <a:lnTo>
                  <a:pt x="2628019" y="183107"/>
                </a:lnTo>
                <a:lnTo>
                  <a:pt x="2628144" y="182092"/>
                </a:lnTo>
                <a:lnTo>
                  <a:pt x="2628710" y="174408"/>
                </a:lnTo>
                <a:lnTo>
                  <a:pt x="2628899" y="166687"/>
                </a:lnTo>
                <a:lnTo>
                  <a:pt x="2628710" y="158966"/>
                </a:lnTo>
                <a:lnTo>
                  <a:pt x="2622134" y="121065"/>
                </a:lnTo>
                <a:lnTo>
                  <a:pt x="2606545" y="85897"/>
                </a:lnTo>
                <a:lnTo>
                  <a:pt x="2582867" y="55556"/>
                </a:lnTo>
                <a:lnTo>
                  <a:pt x="2552527" y="31878"/>
                </a:lnTo>
                <a:lnTo>
                  <a:pt x="2517359" y="16290"/>
                </a:lnTo>
                <a:lnTo>
                  <a:pt x="2479458" y="9713"/>
                </a:lnTo>
                <a:lnTo>
                  <a:pt x="2471737" y="9524"/>
                </a:lnTo>
                <a:lnTo>
                  <a:pt x="2526707" y="9524"/>
                </a:lnTo>
                <a:lnTo>
                  <a:pt x="2564360" y="28065"/>
                </a:lnTo>
                <a:lnTo>
                  <a:pt x="2600652" y="60993"/>
                </a:lnTo>
                <a:lnTo>
                  <a:pt x="2625735" y="102898"/>
                </a:lnTo>
                <a:lnTo>
                  <a:pt x="2637631" y="150267"/>
                </a:lnTo>
                <a:lnTo>
                  <a:pt x="2638424" y="166687"/>
                </a:lnTo>
                <a:lnTo>
                  <a:pt x="2637680" y="182092"/>
                </a:lnTo>
                <a:lnTo>
                  <a:pt x="2625735" y="230475"/>
                </a:lnTo>
                <a:lnTo>
                  <a:pt x="2600768" y="272225"/>
                </a:lnTo>
                <a:lnTo>
                  <a:pt x="2564380" y="305293"/>
                </a:lnTo>
                <a:lnTo>
                  <a:pt x="2535525" y="320686"/>
                </a:lnTo>
                <a:lnTo>
                  <a:pt x="2526706" y="323849"/>
                </a:lnTo>
                <a:close/>
              </a:path>
            </a:pathLst>
          </a:custGeom>
          <a:solidFill>
            <a:srgbClr val="FFFFFF">
              <a:alpha val="19999"/>
            </a:srgbClr>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1076324" y="1285867"/>
            <a:ext cx="8543925" cy="28575"/>
          </a:xfrm>
          <a:custGeom>
            <a:avLst/>
            <a:gdLst/>
            <a:ahLst/>
            <a:cxnLst/>
            <a:rect l="l" t="t" r="r" b="b"/>
            <a:pathLst>
              <a:path w="8543925" h="28575">
                <a:moveTo>
                  <a:pt x="8543924" y="28574"/>
                </a:moveTo>
                <a:lnTo>
                  <a:pt x="0" y="28574"/>
                </a:lnTo>
                <a:lnTo>
                  <a:pt x="0" y="0"/>
                </a:lnTo>
                <a:lnTo>
                  <a:pt x="8543924" y="0"/>
                </a:lnTo>
                <a:lnTo>
                  <a:pt x="8543924" y="28574"/>
                </a:lnTo>
                <a:close/>
              </a:path>
            </a:pathLst>
          </a:custGeom>
          <a:solidFill>
            <a:srgbClr val="BF382A"/>
          </a:solidFill>
        </p:spPr>
        <p:txBody>
          <a:bodyPr wrap="square" lIns="0" tIns="0" rIns="0" bIns="0" rtlCol="0"/>
          <a:lstStyle/>
          <a:p>
            <a:endParaRPr/>
          </a:p>
        </p:txBody>
      </p:sp>
      <p:sp>
        <p:nvSpPr>
          <p:cNvPr id="2" name="Holder 2"/>
          <p:cNvSpPr>
            <a:spLocks noGrp="1"/>
          </p:cNvSpPr>
          <p:nvPr>
            <p:ph type="title"/>
          </p:nvPr>
        </p:nvSpPr>
        <p:spPr>
          <a:xfrm>
            <a:off x="1319609" y="720756"/>
            <a:ext cx="8310264" cy="1031239"/>
          </a:xfrm>
          <a:prstGeom prst="rect">
            <a:avLst/>
          </a:prstGeom>
        </p:spPr>
        <p:txBody>
          <a:bodyPr wrap="square" lIns="0" tIns="0" rIns="0" bIns="0">
            <a:spAutoFit/>
          </a:bodyPr>
          <a:lstStyle>
            <a:lvl1pPr>
              <a:defRPr sz="6600" b="1" i="0">
                <a:solidFill>
                  <a:schemeClr val="bg1"/>
                </a:solidFill>
                <a:latin typeface="Arial"/>
                <a:cs typeface="Arial"/>
              </a:defRPr>
            </a:lvl1pPr>
          </a:lstStyle>
          <a:p>
            <a:endParaRPr/>
          </a:p>
        </p:txBody>
      </p:sp>
      <p:sp>
        <p:nvSpPr>
          <p:cNvPr id="3" name="Holder 3"/>
          <p:cNvSpPr>
            <a:spLocks noGrp="1"/>
          </p:cNvSpPr>
          <p:nvPr>
            <p:ph type="body" idx="1"/>
          </p:nvPr>
        </p:nvSpPr>
        <p:spPr>
          <a:xfrm>
            <a:off x="1213048" y="1927454"/>
            <a:ext cx="6571615" cy="233299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635756" y="7027545"/>
            <a:ext cx="3421888" cy="37782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34670" y="7027545"/>
            <a:ext cx="2459482" cy="37782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2/9/2026</a:t>
            </a:fld>
            <a:endParaRPr lang="en-US"/>
          </a:p>
        </p:txBody>
      </p:sp>
      <p:sp>
        <p:nvSpPr>
          <p:cNvPr id="6" name="Holder 6"/>
          <p:cNvSpPr>
            <a:spLocks noGrp="1"/>
          </p:cNvSpPr>
          <p:nvPr>
            <p:ph type="sldNum" sz="quarter" idx="7"/>
          </p:nvPr>
        </p:nvSpPr>
        <p:spPr>
          <a:xfrm>
            <a:off x="7699248" y="7027545"/>
            <a:ext cx="2459482" cy="37782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8.png"/></Relationships>
</file>

<file path=ppt/slides/_rels/slide1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9.png"/><Relationship Id="rId7" Type="http://schemas.openxmlformats.org/officeDocument/2006/relationships/image" Target="../media/image4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5.png"/><Relationship Id="rId11" Type="http://schemas.openxmlformats.org/officeDocument/2006/relationships/image" Target="../media/image46.png"/><Relationship Id="rId5" Type="http://schemas.openxmlformats.org/officeDocument/2006/relationships/image" Target="../media/image41.png"/><Relationship Id="rId10" Type="http://schemas.openxmlformats.org/officeDocument/2006/relationships/image" Target="../media/image45.png"/><Relationship Id="rId4" Type="http://schemas.openxmlformats.org/officeDocument/2006/relationships/image" Target="../media/image40.png"/><Relationship Id="rId9" Type="http://schemas.openxmlformats.org/officeDocument/2006/relationships/image" Target="../media/image4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54.png"/><Relationship Id="rId3" Type="http://schemas.openxmlformats.org/officeDocument/2006/relationships/image" Target="../media/image47.png"/><Relationship Id="rId7" Type="http://schemas.openxmlformats.org/officeDocument/2006/relationships/image" Target="../media/image16.png"/><Relationship Id="rId12" Type="http://schemas.openxmlformats.org/officeDocument/2006/relationships/image" Target="../media/image53.png"/><Relationship Id="rId2" Type="http://schemas.openxmlformats.org/officeDocument/2006/relationships/notesSlide" Target="../notesSlides/notesSlide5.xml"/><Relationship Id="rId16"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52.png"/><Relationship Id="rId5" Type="http://schemas.openxmlformats.org/officeDocument/2006/relationships/image" Target="../media/image48.png"/><Relationship Id="rId15" Type="http://schemas.openxmlformats.org/officeDocument/2006/relationships/image" Target="../media/image56.png"/><Relationship Id="rId10" Type="http://schemas.openxmlformats.org/officeDocument/2006/relationships/image" Target="../media/image51.png"/><Relationship Id="rId4" Type="http://schemas.openxmlformats.org/officeDocument/2006/relationships/image" Target="../media/image15.png"/><Relationship Id="rId9" Type="http://schemas.openxmlformats.org/officeDocument/2006/relationships/image" Target="../media/image50.png"/><Relationship Id="rId14" Type="http://schemas.openxmlformats.org/officeDocument/2006/relationships/image" Target="../media/image55.png"/></Relationships>
</file>

<file path=ppt/slides/_rels/slide15.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3" Type="http://schemas.openxmlformats.org/officeDocument/2006/relationships/image" Target="../media/image58.png"/><Relationship Id="rId7"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5" Type="http://schemas.openxmlformats.org/officeDocument/2006/relationships/image" Target="../media/image7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 Id="rId14" Type="http://schemas.openxmlformats.org/officeDocument/2006/relationships/image" Target="../media/image6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1.png"/><Relationship Id="rId7" Type="http://schemas.openxmlformats.org/officeDocument/2006/relationships/image" Target="../media/image7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73.png"/><Relationship Id="rId11" Type="http://schemas.openxmlformats.org/officeDocument/2006/relationships/image" Target="../media/image78.png"/><Relationship Id="rId5" Type="http://schemas.openxmlformats.org/officeDocument/2006/relationships/image" Target="../media/image72.png"/><Relationship Id="rId10" Type="http://schemas.openxmlformats.org/officeDocument/2006/relationships/image" Target="../media/image77.png"/><Relationship Id="rId4" Type="http://schemas.openxmlformats.org/officeDocument/2006/relationships/image" Target="../media/image44.png"/><Relationship Id="rId9" Type="http://schemas.openxmlformats.org/officeDocument/2006/relationships/image" Target="../media/image7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9.png"/><Relationship Id="rId7" Type="http://schemas.openxmlformats.org/officeDocument/2006/relationships/image" Target="../media/image8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2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84.png"/></Relationships>
</file>

<file path=ppt/slides/_rels/slide2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2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png"/><Relationship Id="rId1" Type="http://schemas.openxmlformats.org/officeDocument/2006/relationships/slideLayout" Target="../slideLayouts/slideLayout2.xml"/><Relationship Id="rId5" Type="http://schemas.openxmlformats.org/officeDocument/2006/relationships/image" Target="../media/image87.png"/><Relationship Id="rId4" Type="http://schemas.openxmlformats.org/officeDocument/2006/relationships/image" Target="../media/image86.png"/></Relationships>
</file>

<file path=ppt/slides/_rels/slide2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90.png"/><Relationship Id="rId7" Type="http://schemas.openxmlformats.org/officeDocument/2006/relationships/image" Target="../media/image94.png"/><Relationship Id="rId2" Type="http://schemas.openxmlformats.org/officeDocument/2006/relationships/image" Target="../media/image89.png"/><Relationship Id="rId1" Type="http://schemas.openxmlformats.org/officeDocument/2006/relationships/slideLayout" Target="../slideLayouts/slideLayout2.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 Id="rId9" Type="http://schemas.openxmlformats.org/officeDocument/2006/relationships/image" Target="../media/image9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8.png"/><Relationship Id="rId7" Type="http://schemas.openxmlformats.org/officeDocument/2006/relationships/image" Target="../media/image102.png"/><Relationship Id="rId2" Type="http://schemas.openxmlformats.org/officeDocument/2006/relationships/image" Target="../media/image97.png"/><Relationship Id="rId1" Type="http://schemas.openxmlformats.org/officeDocument/2006/relationships/slideLayout" Target="../slideLayouts/slideLayout3.xml"/><Relationship Id="rId6" Type="http://schemas.openxmlformats.org/officeDocument/2006/relationships/image" Target="../media/image101.png"/><Relationship Id="rId5" Type="http://schemas.openxmlformats.org/officeDocument/2006/relationships/image" Target="../media/image100.png"/><Relationship Id="rId4" Type="http://schemas.openxmlformats.org/officeDocument/2006/relationships/image" Target="../media/image9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5.png"/><Relationship Id="rId7" Type="http://schemas.openxmlformats.org/officeDocument/2006/relationships/image" Target="../media/image106.png"/><Relationship Id="rId2" Type="http://schemas.openxmlformats.org/officeDocument/2006/relationships/image" Target="../media/image103.png"/><Relationship Id="rId1" Type="http://schemas.openxmlformats.org/officeDocument/2006/relationships/slideLayout" Target="../slideLayouts/slideLayout2.xml"/><Relationship Id="rId6" Type="http://schemas.openxmlformats.org/officeDocument/2006/relationships/image" Target="../media/image44.png"/><Relationship Id="rId11" Type="http://schemas.openxmlformats.org/officeDocument/2006/relationships/image" Target="../media/image110.png"/><Relationship Id="rId5" Type="http://schemas.openxmlformats.org/officeDocument/2006/relationships/image" Target="../media/image105.png"/><Relationship Id="rId10" Type="http://schemas.openxmlformats.org/officeDocument/2006/relationships/image" Target="../media/image109.png"/><Relationship Id="rId4" Type="http://schemas.openxmlformats.org/officeDocument/2006/relationships/image" Target="../media/image104.png"/><Relationship Id="rId9" Type="http://schemas.openxmlformats.org/officeDocument/2006/relationships/image" Target="../media/image10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7" Type="http://schemas.openxmlformats.org/officeDocument/2006/relationships/image" Target="../media/image115.png"/><Relationship Id="rId2" Type="http://schemas.openxmlformats.org/officeDocument/2006/relationships/image" Target="../media/image111.png"/><Relationship Id="rId1" Type="http://schemas.openxmlformats.org/officeDocument/2006/relationships/slideLayout" Target="../slideLayouts/slideLayout2.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98217" y="2452378"/>
            <a:ext cx="3496965" cy="933589"/>
          </a:xfrm>
          <a:prstGeom prst="rect">
            <a:avLst/>
          </a:prstGeom>
        </p:spPr>
        <p:txBody>
          <a:bodyPr vert="horz" wrap="square" lIns="0" tIns="15240" rIns="0" bIns="0" rtlCol="0">
            <a:spAutoFit/>
          </a:bodyPr>
          <a:lstStyle/>
          <a:p>
            <a:pPr algn="ctr">
              <a:lnSpc>
                <a:spcPct val="100000"/>
              </a:lnSpc>
              <a:spcBef>
                <a:spcPts val="120"/>
              </a:spcBef>
            </a:pPr>
            <a:r>
              <a:rPr sz="1000" spc="-55" dirty="0">
                <a:solidFill>
                  <a:srgbClr val="FFFFFF"/>
                </a:solidFill>
                <a:latin typeface="Microsoft Sans Serif"/>
                <a:cs typeface="Microsoft Sans Serif"/>
              </a:rPr>
              <a:t>C</a:t>
            </a:r>
            <a:r>
              <a:rPr sz="1000" spc="-110" dirty="0">
                <a:solidFill>
                  <a:srgbClr val="FFFFFF"/>
                </a:solidFill>
                <a:latin typeface="Microsoft Sans Serif"/>
                <a:cs typeface="Microsoft Sans Serif"/>
              </a:rPr>
              <a:t> </a:t>
            </a:r>
            <a:r>
              <a:rPr sz="1000" spc="-45" dirty="0">
                <a:solidFill>
                  <a:srgbClr val="FFFFFF"/>
                </a:solidFill>
                <a:latin typeface="Microsoft Sans Serif"/>
                <a:cs typeface="Microsoft Sans Serif"/>
              </a:rPr>
              <a:t>A</a:t>
            </a:r>
            <a:r>
              <a:rPr sz="1000" spc="-90" dirty="0">
                <a:solidFill>
                  <a:srgbClr val="FFFFFF"/>
                </a:solidFill>
                <a:latin typeface="Microsoft Sans Serif"/>
                <a:cs typeface="Microsoft Sans Serif"/>
              </a:rPr>
              <a:t> </a:t>
            </a:r>
            <a:r>
              <a:rPr sz="1000" spc="-85" dirty="0">
                <a:solidFill>
                  <a:srgbClr val="FFFFFF"/>
                </a:solidFill>
                <a:latin typeface="Microsoft Sans Serif"/>
                <a:cs typeface="Microsoft Sans Serif"/>
              </a:rPr>
              <a:t>P</a:t>
            </a:r>
            <a:r>
              <a:rPr sz="1000" spc="-90" dirty="0">
                <a:solidFill>
                  <a:srgbClr val="FFFFFF"/>
                </a:solidFill>
                <a:latin typeface="Microsoft Sans Serif"/>
                <a:cs typeface="Microsoft Sans Serif"/>
              </a:rPr>
              <a:t> </a:t>
            </a:r>
            <a:r>
              <a:rPr sz="1000" spc="-85" dirty="0">
                <a:solidFill>
                  <a:srgbClr val="FFFFFF"/>
                </a:solidFill>
                <a:latin typeface="Microsoft Sans Serif"/>
                <a:cs typeface="Microsoft Sans Serif"/>
              </a:rPr>
              <a:t>S</a:t>
            </a:r>
            <a:r>
              <a:rPr sz="1000" spc="-95" dirty="0">
                <a:solidFill>
                  <a:srgbClr val="FFFFFF"/>
                </a:solidFill>
                <a:latin typeface="Microsoft Sans Serif"/>
                <a:cs typeface="Microsoft Sans Serif"/>
              </a:rPr>
              <a:t> </a:t>
            </a:r>
            <a:r>
              <a:rPr sz="1000" spc="-25" dirty="0">
                <a:solidFill>
                  <a:srgbClr val="FFFFFF"/>
                </a:solidFill>
                <a:latin typeface="Microsoft Sans Serif"/>
                <a:cs typeface="Microsoft Sans Serif"/>
              </a:rPr>
              <a:t>T</a:t>
            </a:r>
            <a:r>
              <a:rPr sz="1000" spc="-114" dirty="0">
                <a:solidFill>
                  <a:srgbClr val="FFFFFF"/>
                </a:solidFill>
                <a:latin typeface="Microsoft Sans Serif"/>
                <a:cs typeface="Microsoft Sans Serif"/>
              </a:rPr>
              <a:t> </a:t>
            </a:r>
            <a:r>
              <a:rPr sz="1000" spc="-85" dirty="0">
                <a:solidFill>
                  <a:srgbClr val="FFFFFF"/>
                </a:solidFill>
                <a:latin typeface="Microsoft Sans Serif"/>
                <a:cs typeface="Microsoft Sans Serif"/>
              </a:rPr>
              <a:t>O</a:t>
            </a:r>
            <a:r>
              <a:rPr sz="1000" spc="-90" dirty="0">
                <a:solidFill>
                  <a:srgbClr val="FFFFFF"/>
                </a:solidFill>
                <a:latin typeface="Microsoft Sans Serif"/>
                <a:cs typeface="Microsoft Sans Serif"/>
              </a:rPr>
              <a:t> </a:t>
            </a:r>
            <a:r>
              <a:rPr sz="1000" spc="-35" dirty="0">
                <a:solidFill>
                  <a:srgbClr val="FFFFFF"/>
                </a:solidFill>
                <a:latin typeface="Microsoft Sans Serif"/>
                <a:cs typeface="Microsoft Sans Serif"/>
              </a:rPr>
              <a:t>N</a:t>
            </a:r>
            <a:r>
              <a:rPr sz="1000" spc="-90" dirty="0">
                <a:solidFill>
                  <a:srgbClr val="FFFFFF"/>
                </a:solidFill>
                <a:latin typeface="Microsoft Sans Serif"/>
                <a:cs typeface="Microsoft Sans Serif"/>
              </a:rPr>
              <a:t> </a:t>
            </a:r>
            <a:r>
              <a:rPr sz="1000" dirty="0">
                <a:solidFill>
                  <a:srgbClr val="FFFFFF"/>
                </a:solidFill>
                <a:latin typeface="Microsoft Sans Serif"/>
                <a:cs typeface="Microsoft Sans Serif"/>
              </a:rPr>
              <a:t>E</a:t>
            </a:r>
            <a:r>
              <a:rPr sz="1000" spc="275" dirty="0">
                <a:solidFill>
                  <a:srgbClr val="FFFFFF"/>
                </a:solidFill>
                <a:latin typeface="Microsoft Sans Serif"/>
                <a:cs typeface="Microsoft Sans Serif"/>
              </a:rPr>
              <a:t> </a:t>
            </a:r>
            <a:r>
              <a:rPr sz="1000" spc="-85" dirty="0">
                <a:solidFill>
                  <a:srgbClr val="FFFFFF"/>
                </a:solidFill>
                <a:latin typeface="Microsoft Sans Serif"/>
                <a:cs typeface="Microsoft Sans Serif"/>
              </a:rPr>
              <a:t>P</a:t>
            </a:r>
            <a:r>
              <a:rPr sz="1000" spc="-90" dirty="0">
                <a:solidFill>
                  <a:srgbClr val="FFFFFF"/>
                </a:solidFill>
                <a:latin typeface="Microsoft Sans Serif"/>
                <a:cs typeface="Microsoft Sans Serif"/>
              </a:rPr>
              <a:t> </a:t>
            </a:r>
            <a:r>
              <a:rPr sz="1000" spc="-125" dirty="0">
                <a:solidFill>
                  <a:srgbClr val="FFFFFF"/>
                </a:solidFill>
                <a:latin typeface="Microsoft Sans Serif"/>
                <a:cs typeface="Microsoft Sans Serif"/>
              </a:rPr>
              <a:t>R</a:t>
            </a:r>
            <a:r>
              <a:rPr sz="1000" spc="-90" dirty="0">
                <a:solidFill>
                  <a:srgbClr val="FFFFFF"/>
                </a:solidFill>
                <a:latin typeface="Microsoft Sans Serif"/>
                <a:cs typeface="Microsoft Sans Serif"/>
              </a:rPr>
              <a:t> </a:t>
            </a:r>
            <a:r>
              <a:rPr sz="1000" spc="-85" dirty="0">
                <a:solidFill>
                  <a:srgbClr val="FFFFFF"/>
                </a:solidFill>
                <a:latin typeface="Microsoft Sans Serif"/>
                <a:cs typeface="Microsoft Sans Serif"/>
              </a:rPr>
              <a:t>O</a:t>
            </a:r>
            <a:r>
              <a:rPr sz="1000" spc="-90" dirty="0">
                <a:solidFill>
                  <a:srgbClr val="FFFFFF"/>
                </a:solidFill>
                <a:latin typeface="Microsoft Sans Serif"/>
                <a:cs typeface="Microsoft Sans Serif"/>
              </a:rPr>
              <a:t> </a:t>
            </a:r>
            <a:r>
              <a:rPr sz="1000" dirty="0">
                <a:solidFill>
                  <a:srgbClr val="FFFFFF"/>
                </a:solidFill>
                <a:latin typeface="Microsoft Sans Serif"/>
                <a:cs typeface="Microsoft Sans Serif"/>
              </a:rPr>
              <a:t>J</a:t>
            </a:r>
            <a:r>
              <a:rPr sz="1000" spc="-90" dirty="0">
                <a:solidFill>
                  <a:srgbClr val="FFFFFF"/>
                </a:solidFill>
                <a:latin typeface="Microsoft Sans Serif"/>
                <a:cs typeface="Microsoft Sans Serif"/>
              </a:rPr>
              <a:t> </a:t>
            </a:r>
            <a:r>
              <a:rPr sz="1000" spc="-114" dirty="0">
                <a:solidFill>
                  <a:srgbClr val="FFFFFF"/>
                </a:solidFill>
                <a:latin typeface="Microsoft Sans Serif"/>
                <a:cs typeface="Microsoft Sans Serif"/>
              </a:rPr>
              <a:t>E</a:t>
            </a:r>
            <a:r>
              <a:rPr sz="1000" spc="-90" dirty="0">
                <a:solidFill>
                  <a:srgbClr val="FFFFFF"/>
                </a:solidFill>
                <a:latin typeface="Microsoft Sans Serif"/>
                <a:cs typeface="Microsoft Sans Serif"/>
              </a:rPr>
              <a:t> </a:t>
            </a:r>
            <a:r>
              <a:rPr sz="1000" spc="-55" dirty="0">
                <a:solidFill>
                  <a:srgbClr val="FFFFFF"/>
                </a:solidFill>
                <a:latin typeface="Microsoft Sans Serif"/>
                <a:cs typeface="Microsoft Sans Serif"/>
              </a:rPr>
              <a:t>C</a:t>
            </a:r>
            <a:r>
              <a:rPr sz="1000" spc="-90" dirty="0">
                <a:solidFill>
                  <a:srgbClr val="FFFFFF"/>
                </a:solidFill>
                <a:latin typeface="Microsoft Sans Serif"/>
                <a:cs typeface="Microsoft Sans Serif"/>
              </a:rPr>
              <a:t> </a:t>
            </a:r>
            <a:r>
              <a:rPr sz="1000" dirty="0">
                <a:solidFill>
                  <a:srgbClr val="FFFFFF"/>
                </a:solidFill>
                <a:latin typeface="Microsoft Sans Serif"/>
                <a:cs typeface="Microsoft Sans Serif"/>
              </a:rPr>
              <a:t>T</a:t>
            </a:r>
            <a:r>
              <a:rPr sz="1000" spc="285" dirty="0">
                <a:solidFill>
                  <a:srgbClr val="FFFFFF"/>
                </a:solidFill>
                <a:latin typeface="Microsoft Sans Serif"/>
                <a:cs typeface="Microsoft Sans Serif"/>
              </a:rPr>
              <a:t> </a:t>
            </a:r>
            <a:r>
              <a:rPr sz="1000" spc="80" dirty="0">
                <a:solidFill>
                  <a:srgbClr val="FFFFFF"/>
                </a:solidFill>
                <a:latin typeface="Microsoft Sans Serif"/>
                <a:cs typeface="Microsoft Sans Serif"/>
              </a:rPr>
              <a:t>-</a:t>
            </a:r>
            <a:r>
              <a:rPr sz="1000" spc="280" dirty="0">
                <a:solidFill>
                  <a:srgbClr val="FFFFFF"/>
                </a:solidFill>
                <a:latin typeface="Microsoft Sans Serif"/>
                <a:cs typeface="Microsoft Sans Serif"/>
              </a:rPr>
              <a:t> </a:t>
            </a:r>
            <a:r>
              <a:rPr sz="1000" spc="-20" dirty="0">
                <a:solidFill>
                  <a:srgbClr val="FFFFFF"/>
                </a:solidFill>
                <a:latin typeface="Microsoft Sans Serif"/>
                <a:cs typeface="Microsoft Sans Serif"/>
              </a:rPr>
              <a:t>FA</a:t>
            </a:r>
            <a:r>
              <a:rPr sz="1000" spc="-90" dirty="0">
                <a:solidFill>
                  <a:srgbClr val="FFFFFF"/>
                </a:solidFill>
                <a:latin typeface="Microsoft Sans Serif"/>
                <a:cs typeface="Microsoft Sans Serif"/>
              </a:rPr>
              <a:t> </a:t>
            </a:r>
            <a:r>
              <a:rPr sz="1000" spc="-40" dirty="0">
                <a:solidFill>
                  <a:srgbClr val="FFFFFF"/>
                </a:solidFill>
                <a:latin typeface="Microsoft Sans Serif"/>
                <a:cs typeface="Microsoft Sans Serif"/>
              </a:rPr>
              <a:t>L</a:t>
            </a:r>
            <a:r>
              <a:rPr sz="1000" spc="-90" dirty="0">
                <a:solidFill>
                  <a:srgbClr val="FFFFFF"/>
                </a:solidFill>
                <a:latin typeface="Microsoft Sans Serif"/>
                <a:cs typeface="Microsoft Sans Serif"/>
              </a:rPr>
              <a:t> </a:t>
            </a:r>
            <a:r>
              <a:rPr sz="1000" dirty="0">
                <a:solidFill>
                  <a:srgbClr val="FFFFFF"/>
                </a:solidFill>
                <a:latin typeface="Microsoft Sans Serif"/>
                <a:cs typeface="Microsoft Sans Serif"/>
              </a:rPr>
              <a:t>L</a:t>
            </a:r>
            <a:r>
              <a:rPr sz="1000" spc="285" dirty="0">
                <a:solidFill>
                  <a:srgbClr val="FFFFFF"/>
                </a:solidFill>
                <a:latin typeface="Microsoft Sans Serif"/>
                <a:cs typeface="Microsoft Sans Serif"/>
              </a:rPr>
              <a:t> </a:t>
            </a:r>
            <a:r>
              <a:rPr sz="1000" spc="-10" dirty="0">
                <a:solidFill>
                  <a:srgbClr val="FFFFFF"/>
                </a:solidFill>
                <a:latin typeface="Microsoft Sans Serif"/>
                <a:cs typeface="Microsoft Sans Serif"/>
              </a:rPr>
              <a:t>2</a:t>
            </a:r>
            <a:r>
              <a:rPr sz="1000" spc="-90" dirty="0">
                <a:solidFill>
                  <a:srgbClr val="FFFFFF"/>
                </a:solidFill>
                <a:latin typeface="Microsoft Sans Serif"/>
                <a:cs typeface="Microsoft Sans Serif"/>
              </a:rPr>
              <a:t> </a:t>
            </a:r>
            <a:r>
              <a:rPr sz="1000" dirty="0">
                <a:solidFill>
                  <a:srgbClr val="FFFFFF"/>
                </a:solidFill>
                <a:latin typeface="Microsoft Sans Serif"/>
                <a:cs typeface="Microsoft Sans Serif"/>
              </a:rPr>
              <a:t>0</a:t>
            </a:r>
            <a:r>
              <a:rPr sz="1000" spc="-90" dirty="0">
                <a:solidFill>
                  <a:srgbClr val="FFFFFF"/>
                </a:solidFill>
                <a:latin typeface="Microsoft Sans Serif"/>
                <a:cs typeface="Microsoft Sans Serif"/>
              </a:rPr>
              <a:t> </a:t>
            </a:r>
            <a:r>
              <a:rPr sz="1000" spc="-10" dirty="0">
                <a:solidFill>
                  <a:srgbClr val="FFFFFF"/>
                </a:solidFill>
                <a:latin typeface="Microsoft Sans Serif"/>
                <a:cs typeface="Microsoft Sans Serif"/>
              </a:rPr>
              <a:t>2</a:t>
            </a:r>
            <a:r>
              <a:rPr sz="1000" spc="-90" dirty="0">
                <a:solidFill>
                  <a:srgbClr val="FFFFFF"/>
                </a:solidFill>
                <a:latin typeface="Microsoft Sans Serif"/>
                <a:cs typeface="Microsoft Sans Serif"/>
              </a:rPr>
              <a:t> </a:t>
            </a:r>
            <a:r>
              <a:rPr sz="1000" spc="-50" dirty="0">
                <a:solidFill>
                  <a:srgbClr val="FFFFFF"/>
                </a:solidFill>
                <a:latin typeface="Microsoft Sans Serif"/>
                <a:cs typeface="Microsoft Sans Serif"/>
              </a:rPr>
              <a:t>5</a:t>
            </a:r>
            <a:endParaRPr sz="1000" dirty="0">
              <a:latin typeface="Microsoft Sans Serif"/>
              <a:cs typeface="Microsoft Sans Serif"/>
            </a:endParaRPr>
          </a:p>
          <a:p>
            <a:pPr>
              <a:lnSpc>
                <a:spcPct val="100000"/>
              </a:lnSpc>
            </a:pPr>
            <a:endParaRPr sz="1000" dirty="0">
              <a:latin typeface="Microsoft Sans Serif"/>
              <a:cs typeface="Microsoft Sans Serif"/>
            </a:endParaRPr>
          </a:p>
          <a:p>
            <a:pPr>
              <a:lnSpc>
                <a:spcPct val="100000"/>
              </a:lnSpc>
              <a:spcBef>
                <a:spcPts val="229"/>
              </a:spcBef>
            </a:pPr>
            <a:endParaRPr sz="1000" dirty="0">
              <a:latin typeface="Microsoft Sans Serif"/>
              <a:cs typeface="Microsoft Sans Serif"/>
            </a:endParaRPr>
          </a:p>
          <a:p>
            <a:pPr marR="20320" algn="ctr">
              <a:lnSpc>
                <a:spcPct val="100000"/>
              </a:lnSpc>
            </a:pPr>
            <a:r>
              <a:rPr sz="2800" spc="-130" dirty="0">
                <a:solidFill>
                  <a:srgbClr val="FFFFFF"/>
                </a:solidFill>
                <a:latin typeface="Microsoft Sans Serif"/>
                <a:cs typeface="Microsoft Sans Serif"/>
              </a:rPr>
              <a:t>G</a:t>
            </a:r>
            <a:r>
              <a:rPr sz="2800" spc="25" dirty="0">
                <a:solidFill>
                  <a:srgbClr val="FFFFFF"/>
                </a:solidFill>
                <a:latin typeface="Microsoft Sans Serif"/>
                <a:cs typeface="Microsoft Sans Serif"/>
              </a:rPr>
              <a:t> </a:t>
            </a:r>
            <a:r>
              <a:rPr sz="2800" dirty="0">
                <a:solidFill>
                  <a:srgbClr val="FFFFFF"/>
                </a:solidFill>
                <a:latin typeface="Microsoft Sans Serif"/>
                <a:cs typeface="Microsoft Sans Serif"/>
              </a:rPr>
              <a:t>O</a:t>
            </a:r>
            <a:r>
              <a:rPr sz="2800" spc="-90" dirty="0">
                <a:solidFill>
                  <a:srgbClr val="FFFFFF"/>
                </a:solidFill>
                <a:latin typeface="Microsoft Sans Serif"/>
                <a:cs typeface="Microsoft Sans Serif"/>
              </a:rPr>
              <a:t> </a:t>
            </a:r>
            <a:r>
              <a:rPr sz="2800" dirty="0">
                <a:solidFill>
                  <a:srgbClr val="FFFFFF"/>
                </a:solidFill>
                <a:latin typeface="Microsoft Sans Serif"/>
                <a:cs typeface="Microsoft Sans Serif"/>
              </a:rPr>
              <a:t>L</a:t>
            </a:r>
            <a:r>
              <a:rPr sz="2800" spc="-45" dirty="0">
                <a:solidFill>
                  <a:srgbClr val="FFFFFF"/>
                </a:solidFill>
                <a:latin typeface="Microsoft Sans Serif"/>
                <a:cs typeface="Microsoft Sans Serif"/>
              </a:rPr>
              <a:t> </a:t>
            </a:r>
            <a:r>
              <a:rPr sz="2800" dirty="0">
                <a:solidFill>
                  <a:srgbClr val="FFFFFF"/>
                </a:solidFill>
                <a:latin typeface="Microsoft Sans Serif"/>
                <a:cs typeface="Microsoft Sans Serif"/>
              </a:rPr>
              <a:t>D</a:t>
            </a:r>
            <a:r>
              <a:rPr sz="2800" spc="-10" dirty="0">
                <a:solidFill>
                  <a:srgbClr val="FFFFFF"/>
                </a:solidFill>
                <a:latin typeface="Microsoft Sans Serif"/>
                <a:cs typeface="Microsoft Sans Serif"/>
              </a:rPr>
              <a:t> </a:t>
            </a:r>
            <a:r>
              <a:rPr sz="2800" spc="-155" dirty="0">
                <a:solidFill>
                  <a:srgbClr val="FFFFFF"/>
                </a:solidFill>
                <a:latin typeface="Microsoft Sans Serif"/>
                <a:cs typeface="Microsoft Sans Serif"/>
              </a:rPr>
              <a:t>E</a:t>
            </a:r>
            <a:r>
              <a:rPr sz="2800" spc="25" dirty="0">
                <a:solidFill>
                  <a:srgbClr val="FFFFFF"/>
                </a:solidFill>
                <a:latin typeface="Microsoft Sans Serif"/>
                <a:cs typeface="Microsoft Sans Serif"/>
              </a:rPr>
              <a:t> </a:t>
            </a:r>
            <a:r>
              <a:rPr sz="2800" dirty="0">
                <a:solidFill>
                  <a:srgbClr val="FFFFFF"/>
                </a:solidFill>
                <a:latin typeface="Microsoft Sans Serif"/>
                <a:cs typeface="Microsoft Sans Serif"/>
              </a:rPr>
              <a:t>N</a:t>
            </a:r>
            <a:r>
              <a:rPr sz="2800" spc="-15" dirty="0">
                <a:solidFill>
                  <a:srgbClr val="FFFFFF"/>
                </a:solidFill>
                <a:latin typeface="Microsoft Sans Serif"/>
                <a:cs typeface="Microsoft Sans Serif"/>
              </a:rPr>
              <a:t> </a:t>
            </a:r>
            <a:r>
              <a:rPr sz="2800" spc="-155" dirty="0">
                <a:solidFill>
                  <a:srgbClr val="FFFFFF"/>
                </a:solidFill>
                <a:latin typeface="Microsoft Sans Serif"/>
                <a:cs typeface="Microsoft Sans Serif"/>
              </a:rPr>
              <a:t>E</a:t>
            </a:r>
            <a:r>
              <a:rPr sz="2800" spc="25" dirty="0">
                <a:solidFill>
                  <a:srgbClr val="FFFFFF"/>
                </a:solidFill>
                <a:latin typeface="Microsoft Sans Serif"/>
                <a:cs typeface="Microsoft Sans Serif"/>
              </a:rPr>
              <a:t> </a:t>
            </a:r>
            <a:r>
              <a:rPr sz="2800" dirty="0">
                <a:solidFill>
                  <a:srgbClr val="FFFFFF"/>
                </a:solidFill>
                <a:latin typeface="Microsoft Sans Serif"/>
                <a:cs typeface="Microsoft Sans Serif"/>
              </a:rPr>
              <a:t>Y</a:t>
            </a:r>
            <a:r>
              <a:rPr sz="2800" spc="-10" dirty="0">
                <a:solidFill>
                  <a:srgbClr val="FFFFFF"/>
                </a:solidFill>
                <a:latin typeface="Microsoft Sans Serif"/>
                <a:cs typeface="Microsoft Sans Serif"/>
              </a:rPr>
              <a:t> </a:t>
            </a:r>
            <a:r>
              <a:rPr sz="2800" spc="-50" dirty="0">
                <a:solidFill>
                  <a:srgbClr val="FFFFFF"/>
                </a:solidFill>
                <a:latin typeface="Microsoft Sans Serif"/>
                <a:cs typeface="Microsoft Sans Serif"/>
              </a:rPr>
              <a:t>E</a:t>
            </a:r>
            <a:endParaRPr sz="2800" dirty="0">
              <a:latin typeface="Microsoft Sans Serif"/>
              <a:cs typeface="Microsoft Sans Serif"/>
            </a:endParaRPr>
          </a:p>
        </p:txBody>
      </p:sp>
      <p:sp>
        <p:nvSpPr>
          <p:cNvPr id="3" name="object 3"/>
          <p:cNvSpPr txBox="1"/>
          <p:nvPr/>
        </p:nvSpPr>
        <p:spPr>
          <a:xfrm>
            <a:off x="3128019" y="3846612"/>
            <a:ext cx="4440555" cy="252095"/>
          </a:xfrm>
          <a:prstGeom prst="rect">
            <a:avLst/>
          </a:prstGeom>
        </p:spPr>
        <p:txBody>
          <a:bodyPr vert="horz" wrap="square" lIns="0" tIns="17145" rIns="0" bIns="0" rtlCol="0">
            <a:spAutoFit/>
          </a:bodyPr>
          <a:lstStyle/>
          <a:p>
            <a:pPr marL="12700">
              <a:lnSpc>
                <a:spcPct val="100000"/>
              </a:lnSpc>
              <a:spcBef>
                <a:spcPts val="135"/>
              </a:spcBef>
            </a:pPr>
            <a:r>
              <a:rPr sz="1450" spc="-20" dirty="0">
                <a:solidFill>
                  <a:srgbClr val="FFFFFF"/>
                </a:solidFill>
                <a:latin typeface="Microsoft Sans Serif"/>
                <a:cs typeface="Microsoft Sans Serif"/>
              </a:rPr>
              <a:t>Autonomous</a:t>
            </a:r>
            <a:r>
              <a:rPr sz="1450" spc="-35" dirty="0">
                <a:solidFill>
                  <a:srgbClr val="FFFFFF"/>
                </a:solidFill>
                <a:latin typeface="Microsoft Sans Serif"/>
                <a:cs typeface="Microsoft Sans Serif"/>
              </a:rPr>
              <a:t> </a:t>
            </a:r>
            <a:r>
              <a:rPr sz="1450" spc="-25" dirty="0">
                <a:solidFill>
                  <a:srgbClr val="FFFFFF"/>
                </a:solidFill>
                <a:latin typeface="Microsoft Sans Serif"/>
                <a:cs typeface="Microsoft Sans Serif"/>
              </a:rPr>
              <a:t>Human</a:t>
            </a:r>
            <a:r>
              <a:rPr sz="1450" spc="-30" dirty="0">
                <a:solidFill>
                  <a:srgbClr val="FFFFFF"/>
                </a:solidFill>
                <a:latin typeface="Microsoft Sans Serif"/>
                <a:cs typeface="Microsoft Sans Serif"/>
              </a:rPr>
              <a:t> </a:t>
            </a:r>
            <a:r>
              <a:rPr sz="1450" spc="-20" dirty="0">
                <a:solidFill>
                  <a:srgbClr val="FFFFFF"/>
                </a:solidFill>
                <a:latin typeface="Microsoft Sans Serif"/>
                <a:cs typeface="Microsoft Sans Serif"/>
              </a:rPr>
              <a:t>Detection</a:t>
            </a:r>
            <a:r>
              <a:rPr sz="1450" spc="-30" dirty="0">
                <a:solidFill>
                  <a:srgbClr val="FFFFFF"/>
                </a:solidFill>
                <a:latin typeface="Microsoft Sans Serif"/>
                <a:cs typeface="Microsoft Sans Serif"/>
              </a:rPr>
              <a:t> </a:t>
            </a:r>
            <a:r>
              <a:rPr sz="1450" dirty="0">
                <a:solidFill>
                  <a:srgbClr val="FFFFFF"/>
                </a:solidFill>
                <a:latin typeface="Microsoft Sans Serif"/>
                <a:cs typeface="Microsoft Sans Serif"/>
              </a:rPr>
              <a:t>for</a:t>
            </a:r>
            <a:r>
              <a:rPr sz="1450" spc="-30" dirty="0">
                <a:solidFill>
                  <a:srgbClr val="FFFFFF"/>
                </a:solidFill>
                <a:latin typeface="Microsoft Sans Serif"/>
                <a:cs typeface="Microsoft Sans Serif"/>
              </a:rPr>
              <a:t> </a:t>
            </a:r>
            <a:r>
              <a:rPr sz="1450" spc="-20" dirty="0">
                <a:solidFill>
                  <a:srgbClr val="FFFFFF"/>
                </a:solidFill>
                <a:latin typeface="Microsoft Sans Serif"/>
                <a:cs typeface="Microsoft Sans Serif"/>
              </a:rPr>
              <a:t>Desert</a:t>
            </a:r>
            <a:r>
              <a:rPr sz="1450" spc="5" dirty="0">
                <a:solidFill>
                  <a:srgbClr val="FFFFFF"/>
                </a:solidFill>
                <a:latin typeface="Microsoft Sans Serif"/>
                <a:cs typeface="Microsoft Sans Serif"/>
              </a:rPr>
              <a:t> </a:t>
            </a:r>
            <a:r>
              <a:rPr sz="1450" spc="-30" dirty="0">
                <a:solidFill>
                  <a:srgbClr val="FFFFFF"/>
                </a:solidFill>
                <a:latin typeface="Microsoft Sans Serif"/>
                <a:cs typeface="Microsoft Sans Serif"/>
              </a:rPr>
              <a:t>Environments</a:t>
            </a:r>
            <a:endParaRPr sz="1450" dirty="0">
              <a:latin typeface="Microsoft Sans Serif"/>
              <a:cs typeface="Microsoft Sans Serif"/>
            </a:endParaRPr>
          </a:p>
        </p:txBody>
      </p:sp>
      <p:grpSp>
        <p:nvGrpSpPr>
          <p:cNvPr id="4" name="object 4"/>
          <p:cNvGrpSpPr/>
          <p:nvPr/>
        </p:nvGrpSpPr>
        <p:grpSpPr>
          <a:xfrm>
            <a:off x="1362074" y="4375150"/>
            <a:ext cx="7972425" cy="406400"/>
            <a:chOff x="1362074" y="4375150"/>
            <a:chExt cx="7972425" cy="406400"/>
          </a:xfrm>
        </p:grpSpPr>
        <p:pic>
          <p:nvPicPr>
            <p:cNvPr id="5" name="object 5"/>
            <p:cNvPicPr/>
            <p:nvPr/>
          </p:nvPicPr>
          <p:blipFill>
            <a:blip r:embed="rId2" cstate="print"/>
            <a:stretch>
              <a:fillRect/>
            </a:stretch>
          </p:blipFill>
          <p:spPr>
            <a:xfrm>
              <a:off x="2601366" y="4375150"/>
              <a:ext cx="123825" cy="127000"/>
            </a:xfrm>
            <a:prstGeom prst="rect">
              <a:avLst/>
            </a:prstGeom>
          </p:spPr>
        </p:pic>
        <p:pic>
          <p:nvPicPr>
            <p:cNvPr id="6" name="object 6"/>
            <p:cNvPicPr/>
            <p:nvPr/>
          </p:nvPicPr>
          <p:blipFill>
            <a:blip r:embed="rId3" cstate="print"/>
            <a:stretch>
              <a:fillRect/>
            </a:stretch>
          </p:blipFill>
          <p:spPr>
            <a:xfrm>
              <a:off x="4221311" y="4384675"/>
              <a:ext cx="146050" cy="111125"/>
            </a:xfrm>
            <a:prstGeom prst="rect">
              <a:avLst/>
            </a:prstGeom>
          </p:spPr>
        </p:pic>
        <p:pic>
          <p:nvPicPr>
            <p:cNvPr id="7" name="object 7"/>
            <p:cNvPicPr/>
            <p:nvPr/>
          </p:nvPicPr>
          <p:blipFill>
            <a:blip r:embed="rId4" cstate="print"/>
            <a:stretch>
              <a:fillRect/>
            </a:stretch>
          </p:blipFill>
          <p:spPr>
            <a:xfrm>
              <a:off x="7164734" y="4375150"/>
              <a:ext cx="95250" cy="127000"/>
            </a:xfrm>
            <a:prstGeom prst="rect">
              <a:avLst/>
            </a:prstGeom>
          </p:spPr>
        </p:pic>
        <p:sp>
          <p:nvSpPr>
            <p:cNvPr id="8" name="object 8"/>
            <p:cNvSpPr/>
            <p:nvPr/>
          </p:nvSpPr>
          <p:spPr>
            <a:xfrm>
              <a:off x="1362074" y="4772024"/>
              <a:ext cx="7972425" cy="9525"/>
            </a:xfrm>
            <a:custGeom>
              <a:avLst/>
              <a:gdLst/>
              <a:ahLst/>
              <a:cxnLst/>
              <a:rect l="l" t="t" r="r" b="b"/>
              <a:pathLst>
                <a:path w="7972425" h="9525">
                  <a:moveTo>
                    <a:pt x="7972424" y="9524"/>
                  </a:moveTo>
                  <a:lnTo>
                    <a:pt x="0" y="9524"/>
                  </a:lnTo>
                  <a:lnTo>
                    <a:pt x="0" y="0"/>
                  </a:lnTo>
                  <a:lnTo>
                    <a:pt x="7972424" y="0"/>
                  </a:lnTo>
                  <a:lnTo>
                    <a:pt x="7972424" y="9524"/>
                  </a:lnTo>
                  <a:close/>
                </a:path>
              </a:pathLst>
            </a:custGeom>
            <a:solidFill>
              <a:srgbClr val="FFFFFF">
                <a:alpha val="11918"/>
              </a:srgbClr>
            </a:solidFill>
          </p:spPr>
          <p:txBody>
            <a:bodyPr wrap="square" lIns="0" tIns="0" rIns="0" bIns="0" rtlCol="0"/>
            <a:lstStyle/>
            <a:p>
              <a:endParaRPr/>
            </a:p>
          </p:txBody>
        </p:sp>
      </p:grpSp>
      <p:sp>
        <p:nvSpPr>
          <p:cNvPr id="9" name="object 9"/>
          <p:cNvSpPr txBox="1"/>
          <p:nvPr/>
        </p:nvSpPr>
        <p:spPr>
          <a:xfrm>
            <a:off x="2788691" y="4335610"/>
            <a:ext cx="1163320" cy="191135"/>
          </a:xfrm>
          <a:prstGeom prst="rect">
            <a:avLst/>
          </a:prstGeom>
        </p:spPr>
        <p:txBody>
          <a:bodyPr vert="horz" wrap="square" lIns="0" tIns="17145" rIns="0" bIns="0" rtlCol="0">
            <a:spAutoFit/>
          </a:bodyPr>
          <a:lstStyle/>
          <a:p>
            <a:pPr marL="12700">
              <a:lnSpc>
                <a:spcPct val="100000"/>
              </a:lnSpc>
              <a:spcBef>
                <a:spcPts val="135"/>
              </a:spcBef>
            </a:pPr>
            <a:r>
              <a:rPr sz="1050" spc="-20" dirty="0">
                <a:solidFill>
                  <a:srgbClr val="FFFFFF"/>
                </a:solidFill>
                <a:latin typeface="Microsoft Sans Serif"/>
                <a:cs typeface="Microsoft Sans Serif"/>
              </a:rPr>
              <a:t>Edge</a:t>
            </a:r>
            <a:r>
              <a:rPr sz="1050" spc="-50" dirty="0">
                <a:solidFill>
                  <a:srgbClr val="FFFFFF"/>
                </a:solidFill>
                <a:latin typeface="Microsoft Sans Serif"/>
                <a:cs typeface="Microsoft Sans Serif"/>
              </a:rPr>
              <a:t> </a:t>
            </a:r>
            <a:r>
              <a:rPr sz="1050" dirty="0">
                <a:solidFill>
                  <a:srgbClr val="FFFFFF"/>
                </a:solidFill>
                <a:latin typeface="Microsoft Sans Serif"/>
                <a:cs typeface="Microsoft Sans Serif"/>
              </a:rPr>
              <a:t>AI</a:t>
            </a:r>
            <a:r>
              <a:rPr sz="1050" spc="-55" dirty="0">
                <a:solidFill>
                  <a:srgbClr val="FFFFFF"/>
                </a:solidFill>
                <a:latin typeface="Microsoft Sans Serif"/>
                <a:cs typeface="Microsoft Sans Serif"/>
              </a:rPr>
              <a:t> </a:t>
            </a:r>
            <a:r>
              <a:rPr sz="1050" spc="-10" dirty="0">
                <a:solidFill>
                  <a:srgbClr val="FFFFFF"/>
                </a:solidFill>
                <a:latin typeface="Microsoft Sans Serif"/>
                <a:cs typeface="Microsoft Sans Serif"/>
              </a:rPr>
              <a:t>Processing</a:t>
            </a:r>
            <a:endParaRPr sz="1050">
              <a:latin typeface="Microsoft Sans Serif"/>
              <a:cs typeface="Microsoft Sans Serif"/>
            </a:endParaRPr>
          </a:p>
        </p:txBody>
      </p:sp>
      <p:sp>
        <p:nvSpPr>
          <p:cNvPr id="10" name="object 10"/>
          <p:cNvSpPr txBox="1"/>
          <p:nvPr/>
        </p:nvSpPr>
        <p:spPr>
          <a:xfrm>
            <a:off x="4427289" y="4335610"/>
            <a:ext cx="1104265" cy="191135"/>
          </a:xfrm>
          <a:prstGeom prst="rect">
            <a:avLst/>
          </a:prstGeom>
        </p:spPr>
        <p:txBody>
          <a:bodyPr vert="horz" wrap="square" lIns="0" tIns="17145" rIns="0" bIns="0" rtlCol="0">
            <a:spAutoFit/>
          </a:bodyPr>
          <a:lstStyle/>
          <a:p>
            <a:pPr marL="12700">
              <a:lnSpc>
                <a:spcPct val="100000"/>
              </a:lnSpc>
              <a:spcBef>
                <a:spcPts val="135"/>
              </a:spcBef>
            </a:pPr>
            <a:r>
              <a:rPr sz="1050" spc="-40" dirty="0">
                <a:solidFill>
                  <a:srgbClr val="FFFFFF"/>
                </a:solidFill>
                <a:latin typeface="Microsoft Sans Serif"/>
                <a:cs typeface="Microsoft Sans Serif"/>
              </a:rPr>
              <a:t>YOLOv</a:t>
            </a:r>
            <a:r>
              <a:rPr sz="1050" spc="-40" dirty="0">
                <a:solidFill>
                  <a:srgbClr val="FFFFFF"/>
                </a:solidFill>
                <a:latin typeface="Trebuchet MS"/>
                <a:cs typeface="Trebuchet MS"/>
              </a:rPr>
              <a:t>8</a:t>
            </a:r>
            <a:r>
              <a:rPr sz="1050" spc="-25" dirty="0">
                <a:solidFill>
                  <a:srgbClr val="FFFFFF"/>
                </a:solidFill>
                <a:latin typeface="Trebuchet MS"/>
                <a:cs typeface="Trebuchet MS"/>
              </a:rPr>
              <a:t> </a:t>
            </a:r>
            <a:r>
              <a:rPr sz="1050" spc="-10" dirty="0">
                <a:solidFill>
                  <a:srgbClr val="FFFFFF"/>
                </a:solidFill>
                <a:latin typeface="Microsoft Sans Serif"/>
                <a:cs typeface="Microsoft Sans Serif"/>
              </a:rPr>
              <a:t>Detection</a:t>
            </a:r>
            <a:endParaRPr sz="1050">
              <a:latin typeface="Microsoft Sans Serif"/>
              <a:cs typeface="Microsoft Sans Serif"/>
            </a:endParaRPr>
          </a:p>
        </p:txBody>
      </p:sp>
      <p:sp>
        <p:nvSpPr>
          <p:cNvPr id="11" name="object 11"/>
          <p:cNvSpPr txBox="1"/>
          <p:nvPr/>
        </p:nvSpPr>
        <p:spPr>
          <a:xfrm>
            <a:off x="5867796" y="4335610"/>
            <a:ext cx="1024255" cy="191135"/>
          </a:xfrm>
          <a:prstGeom prst="rect">
            <a:avLst/>
          </a:prstGeom>
        </p:spPr>
        <p:txBody>
          <a:bodyPr vert="horz" wrap="square" lIns="0" tIns="17145" rIns="0" bIns="0" rtlCol="0">
            <a:spAutoFit/>
          </a:bodyPr>
          <a:lstStyle/>
          <a:p>
            <a:pPr marL="12700">
              <a:lnSpc>
                <a:spcPct val="100000"/>
              </a:lnSpc>
              <a:spcBef>
                <a:spcPts val="135"/>
              </a:spcBef>
            </a:pPr>
            <a:r>
              <a:rPr sz="1050" dirty="0">
                <a:solidFill>
                  <a:srgbClr val="FFFFFF"/>
                </a:solidFill>
                <a:latin typeface="Microsoft Sans Serif"/>
                <a:cs typeface="Microsoft Sans Serif"/>
              </a:rPr>
              <a:t>Offline</a:t>
            </a:r>
            <a:r>
              <a:rPr sz="1050" spc="-5" dirty="0">
                <a:solidFill>
                  <a:srgbClr val="FFFFFF"/>
                </a:solidFill>
                <a:latin typeface="Microsoft Sans Serif"/>
                <a:cs typeface="Microsoft Sans Serif"/>
              </a:rPr>
              <a:t> </a:t>
            </a:r>
            <a:r>
              <a:rPr sz="1050" spc="-10" dirty="0">
                <a:solidFill>
                  <a:srgbClr val="FFFFFF"/>
                </a:solidFill>
                <a:latin typeface="Microsoft Sans Serif"/>
                <a:cs typeface="Microsoft Sans Serif"/>
              </a:rPr>
              <a:t>Operation</a:t>
            </a:r>
            <a:endParaRPr sz="1050">
              <a:latin typeface="Microsoft Sans Serif"/>
              <a:cs typeface="Microsoft Sans Serif"/>
            </a:endParaRPr>
          </a:p>
        </p:txBody>
      </p:sp>
      <p:sp>
        <p:nvSpPr>
          <p:cNvPr id="12" name="object 12"/>
          <p:cNvSpPr txBox="1"/>
          <p:nvPr/>
        </p:nvSpPr>
        <p:spPr>
          <a:xfrm>
            <a:off x="7321103" y="4335610"/>
            <a:ext cx="786765" cy="191135"/>
          </a:xfrm>
          <a:prstGeom prst="rect">
            <a:avLst/>
          </a:prstGeom>
        </p:spPr>
        <p:txBody>
          <a:bodyPr vert="horz" wrap="square" lIns="0" tIns="17145" rIns="0" bIns="0" rtlCol="0">
            <a:spAutoFit/>
          </a:bodyPr>
          <a:lstStyle/>
          <a:p>
            <a:pPr marL="12700">
              <a:lnSpc>
                <a:spcPct val="100000"/>
              </a:lnSpc>
              <a:spcBef>
                <a:spcPts val="135"/>
              </a:spcBef>
            </a:pPr>
            <a:r>
              <a:rPr sz="1050" spc="-90" dirty="0">
                <a:solidFill>
                  <a:srgbClr val="FFFFFF"/>
                </a:solidFill>
                <a:latin typeface="Microsoft Sans Serif"/>
                <a:cs typeface="Microsoft Sans Serif"/>
              </a:rPr>
              <a:t>GPS</a:t>
            </a:r>
            <a:r>
              <a:rPr sz="1050" spc="5" dirty="0">
                <a:solidFill>
                  <a:srgbClr val="FFFFFF"/>
                </a:solidFill>
                <a:latin typeface="Microsoft Sans Serif"/>
                <a:cs typeface="Microsoft Sans Serif"/>
              </a:rPr>
              <a:t> </a:t>
            </a:r>
            <a:r>
              <a:rPr sz="1050" spc="-10" dirty="0">
                <a:solidFill>
                  <a:srgbClr val="FFFFFF"/>
                </a:solidFill>
                <a:latin typeface="Microsoft Sans Serif"/>
                <a:cs typeface="Microsoft Sans Serif"/>
              </a:rPr>
              <a:t>Logging</a:t>
            </a:r>
            <a:endParaRPr sz="1050">
              <a:latin typeface="Microsoft Sans Serif"/>
              <a:cs typeface="Microsoft Sans Serif"/>
            </a:endParaRPr>
          </a:p>
        </p:txBody>
      </p:sp>
      <p:sp>
        <p:nvSpPr>
          <p:cNvPr id="13" name="object 13"/>
          <p:cNvSpPr txBox="1"/>
          <p:nvPr/>
        </p:nvSpPr>
        <p:spPr>
          <a:xfrm>
            <a:off x="3550354" y="4992216"/>
            <a:ext cx="3962400" cy="415691"/>
          </a:xfrm>
          <a:prstGeom prst="rect">
            <a:avLst/>
          </a:prstGeom>
        </p:spPr>
        <p:txBody>
          <a:bodyPr vert="horz" wrap="square" lIns="0" tIns="12065" rIns="0" bIns="0" rtlCol="0">
            <a:spAutoFit/>
          </a:bodyPr>
          <a:lstStyle/>
          <a:p>
            <a:pPr marL="768985" marR="5080" indent="-756920">
              <a:lnSpc>
                <a:spcPct val="113599"/>
              </a:lnSpc>
              <a:spcBef>
                <a:spcPts val="95"/>
              </a:spcBef>
            </a:pPr>
            <a:r>
              <a:rPr sz="1200" b="1" spc="-70" dirty="0">
                <a:solidFill>
                  <a:srgbClr val="FFFFFF"/>
                </a:solidFill>
                <a:latin typeface="Arial"/>
                <a:cs typeface="Arial"/>
              </a:rPr>
              <a:t>Team:</a:t>
            </a:r>
            <a:r>
              <a:rPr sz="1200" b="1" spc="-35" dirty="0">
                <a:solidFill>
                  <a:srgbClr val="FFFFFF"/>
                </a:solidFill>
                <a:latin typeface="Arial"/>
                <a:cs typeface="Arial"/>
              </a:rPr>
              <a:t> </a:t>
            </a:r>
            <a:r>
              <a:rPr sz="1100" spc="-20" dirty="0">
                <a:solidFill>
                  <a:srgbClr val="FFFFFF"/>
                </a:solidFill>
                <a:latin typeface="Microsoft Sans Serif"/>
                <a:cs typeface="Microsoft Sans Serif"/>
              </a:rPr>
              <a:t>Hamza</a:t>
            </a:r>
            <a:r>
              <a:rPr sz="1100" spc="-30" dirty="0">
                <a:solidFill>
                  <a:srgbClr val="FFFFFF"/>
                </a:solidFill>
                <a:latin typeface="Microsoft Sans Serif"/>
                <a:cs typeface="Microsoft Sans Serif"/>
              </a:rPr>
              <a:t> </a:t>
            </a:r>
            <a:r>
              <a:rPr sz="1100" dirty="0">
                <a:solidFill>
                  <a:srgbClr val="FFFFFF"/>
                </a:solidFill>
                <a:latin typeface="Microsoft Sans Serif"/>
                <a:cs typeface="Microsoft Sans Serif"/>
              </a:rPr>
              <a:t>Jad</a:t>
            </a:r>
            <a:r>
              <a:rPr sz="1100" spc="-10" dirty="0">
                <a:solidFill>
                  <a:srgbClr val="FFFFFF"/>
                </a:solidFill>
                <a:latin typeface="Microsoft Sans Serif"/>
                <a:cs typeface="Microsoft Sans Serif"/>
              </a:rPr>
              <a:t> Allah </a:t>
            </a:r>
            <a:r>
              <a:rPr sz="1100" spc="-240" dirty="0">
                <a:solidFill>
                  <a:srgbClr val="FFFFFF"/>
                </a:solidFill>
                <a:latin typeface="Trebuchet MS"/>
                <a:cs typeface="Trebuchet MS"/>
              </a:rPr>
              <a:t>|</a:t>
            </a:r>
            <a:r>
              <a:rPr sz="1100" spc="-45" dirty="0">
                <a:solidFill>
                  <a:srgbClr val="FFFFFF"/>
                </a:solidFill>
                <a:latin typeface="Trebuchet MS"/>
                <a:cs typeface="Trebuchet MS"/>
              </a:rPr>
              <a:t> </a:t>
            </a:r>
            <a:r>
              <a:rPr sz="1100" spc="-20" dirty="0">
                <a:solidFill>
                  <a:srgbClr val="FFFFFF"/>
                </a:solidFill>
                <a:latin typeface="Microsoft Sans Serif"/>
                <a:cs typeface="Microsoft Sans Serif"/>
              </a:rPr>
              <a:t>Suhaib</a:t>
            </a:r>
            <a:r>
              <a:rPr sz="1100" spc="-10" dirty="0">
                <a:solidFill>
                  <a:srgbClr val="FFFFFF"/>
                </a:solidFill>
                <a:latin typeface="Microsoft Sans Serif"/>
                <a:cs typeface="Microsoft Sans Serif"/>
              </a:rPr>
              <a:t> Alajami </a:t>
            </a:r>
            <a:r>
              <a:rPr sz="1100" spc="-240" dirty="0">
                <a:solidFill>
                  <a:srgbClr val="FFFFFF"/>
                </a:solidFill>
                <a:latin typeface="Trebuchet MS"/>
                <a:cs typeface="Trebuchet MS"/>
              </a:rPr>
              <a:t>|</a:t>
            </a:r>
            <a:r>
              <a:rPr sz="1100" spc="-45" dirty="0">
                <a:solidFill>
                  <a:srgbClr val="FFFFFF"/>
                </a:solidFill>
                <a:latin typeface="Trebuchet MS"/>
                <a:cs typeface="Trebuchet MS"/>
              </a:rPr>
              <a:t> </a:t>
            </a:r>
            <a:r>
              <a:rPr sz="1100" spc="-20" dirty="0">
                <a:solidFill>
                  <a:srgbClr val="FFFFFF"/>
                </a:solidFill>
                <a:latin typeface="Microsoft Sans Serif"/>
                <a:cs typeface="Microsoft Sans Serif"/>
              </a:rPr>
              <a:t>Omar</a:t>
            </a:r>
            <a:r>
              <a:rPr sz="1100" spc="-10" dirty="0">
                <a:solidFill>
                  <a:srgbClr val="FFFFFF"/>
                </a:solidFill>
                <a:latin typeface="Microsoft Sans Serif"/>
                <a:cs typeface="Microsoft Sans Serif"/>
              </a:rPr>
              <a:t> Malkawi </a:t>
            </a:r>
            <a:r>
              <a:rPr sz="1200" b="1" spc="-55" dirty="0">
                <a:solidFill>
                  <a:srgbClr val="FFFFFF"/>
                </a:solidFill>
                <a:latin typeface="Arial"/>
                <a:cs typeface="Arial"/>
              </a:rPr>
              <a:t>Supervisor:</a:t>
            </a:r>
            <a:r>
              <a:rPr sz="1200" b="1" spc="-5" dirty="0">
                <a:solidFill>
                  <a:srgbClr val="FFFFFF"/>
                </a:solidFill>
                <a:latin typeface="Arial"/>
                <a:cs typeface="Arial"/>
              </a:rPr>
              <a:t> </a:t>
            </a:r>
            <a:r>
              <a:rPr sz="1100" spc="-80" dirty="0">
                <a:solidFill>
                  <a:srgbClr val="FFFFFF"/>
                </a:solidFill>
                <a:latin typeface="Microsoft Sans Serif"/>
                <a:cs typeface="Microsoft Sans Serif"/>
              </a:rPr>
              <a:t>Dr</a:t>
            </a:r>
            <a:r>
              <a:rPr sz="1100" spc="-80" dirty="0">
                <a:solidFill>
                  <a:srgbClr val="FFFFFF"/>
                </a:solidFill>
                <a:latin typeface="Trebuchet MS"/>
                <a:cs typeface="Trebuchet MS"/>
              </a:rPr>
              <a:t>.</a:t>
            </a:r>
            <a:r>
              <a:rPr sz="1100" spc="-10" dirty="0">
                <a:solidFill>
                  <a:srgbClr val="FFFFFF"/>
                </a:solidFill>
                <a:latin typeface="Trebuchet MS"/>
                <a:cs typeface="Trebuchet MS"/>
              </a:rPr>
              <a:t> </a:t>
            </a:r>
            <a:r>
              <a:rPr sz="1100" spc="-50" dirty="0">
                <a:solidFill>
                  <a:srgbClr val="FFFFFF"/>
                </a:solidFill>
                <a:latin typeface="Microsoft Sans Serif"/>
                <a:cs typeface="Microsoft Sans Serif"/>
              </a:rPr>
              <a:t>Rami</a:t>
            </a:r>
            <a:r>
              <a:rPr sz="1100" spc="30" dirty="0">
                <a:solidFill>
                  <a:srgbClr val="FFFFFF"/>
                </a:solidFill>
                <a:latin typeface="Microsoft Sans Serif"/>
                <a:cs typeface="Microsoft Sans Serif"/>
              </a:rPr>
              <a:t> </a:t>
            </a:r>
            <a:r>
              <a:rPr sz="1100" dirty="0">
                <a:solidFill>
                  <a:srgbClr val="FFFFFF"/>
                </a:solidFill>
                <a:latin typeface="Microsoft Sans Serif"/>
                <a:cs typeface="Microsoft Sans Serif"/>
              </a:rPr>
              <a:t>Al</a:t>
            </a:r>
            <a:r>
              <a:rPr sz="1100" dirty="0">
                <a:solidFill>
                  <a:srgbClr val="FFFFFF"/>
                </a:solidFill>
                <a:latin typeface="Trebuchet MS"/>
                <a:cs typeface="Trebuchet MS"/>
              </a:rPr>
              <a:t>-</a:t>
            </a:r>
            <a:r>
              <a:rPr sz="1100" spc="-20" dirty="0">
                <a:solidFill>
                  <a:srgbClr val="FFFFFF"/>
                </a:solidFill>
                <a:latin typeface="Microsoft Sans Serif"/>
                <a:cs typeface="Microsoft Sans Serif"/>
              </a:rPr>
              <a:t>Ouran</a:t>
            </a:r>
            <a:endParaRPr sz="1100" dirty="0">
              <a:latin typeface="Microsoft Sans Serif"/>
              <a:cs typeface="Microsoft Sans Serif"/>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76324" y="1285874"/>
            <a:ext cx="8543925" cy="28575"/>
          </a:xfrm>
          <a:custGeom>
            <a:avLst/>
            <a:gdLst/>
            <a:ahLst/>
            <a:cxnLst/>
            <a:rect l="l" t="t" r="r" b="b"/>
            <a:pathLst>
              <a:path w="8543925" h="28575">
                <a:moveTo>
                  <a:pt x="8543924" y="28574"/>
                </a:moveTo>
                <a:lnTo>
                  <a:pt x="0" y="28574"/>
                </a:lnTo>
                <a:lnTo>
                  <a:pt x="0" y="0"/>
                </a:lnTo>
                <a:lnTo>
                  <a:pt x="8543924" y="0"/>
                </a:lnTo>
                <a:lnTo>
                  <a:pt x="8543924" y="28574"/>
                </a:lnTo>
                <a:close/>
              </a:path>
            </a:pathLst>
          </a:custGeom>
          <a:solidFill>
            <a:srgbClr val="BF382A"/>
          </a:solidFill>
        </p:spPr>
        <p:txBody>
          <a:bodyPr wrap="square" lIns="0" tIns="0" rIns="0" bIns="0" rtlCol="0"/>
          <a:lstStyle/>
          <a:p>
            <a:endParaRPr/>
          </a:p>
        </p:txBody>
      </p:sp>
      <p:pic>
        <p:nvPicPr>
          <p:cNvPr id="3" name="object 3"/>
          <p:cNvPicPr/>
          <p:nvPr/>
        </p:nvPicPr>
        <p:blipFill>
          <a:blip r:embed="rId2" cstate="print"/>
          <a:stretch>
            <a:fillRect/>
          </a:stretch>
        </p:blipFill>
        <p:spPr>
          <a:xfrm>
            <a:off x="1079896" y="962025"/>
            <a:ext cx="209550" cy="187325"/>
          </a:xfrm>
          <a:prstGeom prst="rect">
            <a:avLst/>
          </a:prstGeom>
        </p:spPr>
      </p:pic>
      <p:sp>
        <p:nvSpPr>
          <p:cNvPr id="4" name="object 4"/>
          <p:cNvSpPr txBox="1">
            <a:spLocks noGrp="1"/>
          </p:cNvSpPr>
          <p:nvPr>
            <p:ph type="title"/>
          </p:nvPr>
        </p:nvSpPr>
        <p:spPr>
          <a:xfrm>
            <a:off x="1371996" y="883762"/>
            <a:ext cx="2061210" cy="298450"/>
          </a:xfrm>
          <a:prstGeom prst="rect">
            <a:avLst/>
          </a:prstGeom>
        </p:spPr>
        <p:txBody>
          <a:bodyPr vert="horz" wrap="square" lIns="0" tIns="11430" rIns="0" bIns="0" rtlCol="0">
            <a:spAutoFit/>
          </a:bodyPr>
          <a:lstStyle/>
          <a:p>
            <a:pPr marL="12700">
              <a:lnSpc>
                <a:spcPct val="100000"/>
              </a:lnSpc>
              <a:spcBef>
                <a:spcPts val="90"/>
              </a:spcBef>
            </a:pPr>
            <a:r>
              <a:rPr sz="1800" spc="-100" dirty="0">
                <a:solidFill>
                  <a:srgbClr val="BF382A"/>
                </a:solidFill>
              </a:rPr>
              <a:t>Presentation</a:t>
            </a:r>
            <a:r>
              <a:rPr sz="1800" spc="-155" dirty="0">
                <a:solidFill>
                  <a:srgbClr val="BF382A"/>
                </a:solidFill>
              </a:rPr>
              <a:t> </a:t>
            </a:r>
            <a:r>
              <a:rPr sz="1800" spc="-100" dirty="0">
                <a:solidFill>
                  <a:srgbClr val="BF382A"/>
                </a:solidFill>
              </a:rPr>
              <a:t>Agenda</a:t>
            </a:r>
            <a:endParaRPr sz="1800"/>
          </a:p>
        </p:txBody>
      </p:sp>
      <p:grpSp>
        <p:nvGrpSpPr>
          <p:cNvPr id="5" name="object 5"/>
          <p:cNvGrpSpPr/>
          <p:nvPr/>
        </p:nvGrpSpPr>
        <p:grpSpPr>
          <a:xfrm>
            <a:off x="1076324" y="1457324"/>
            <a:ext cx="4238625" cy="428625"/>
            <a:chOff x="1076324" y="1457324"/>
            <a:chExt cx="4238625" cy="428625"/>
          </a:xfrm>
        </p:grpSpPr>
        <p:sp>
          <p:nvSpPr>
            <p:cNvPr id="6" name="object 6"/>
            <p:cNvSpPr/>
            <p:nvPr/>
          </p:nvSpPr>
          <p:spPr>
            <a:xfrm>
              <a:off x="1076324" y="1457324"/>
              <a:ext cx="4238625" cy="428625"/>
            </a:xfrm>
            <a:custGeom>
              <a:avLst/>
              <a:gdLst/>
              <a:ahLst/>
              <a:cxnLst/>
              <a:rect l="l" t="t" r="r" b="b"/>
              <a:pathLst>
                <a:path w="4238625" h="428625">
                  <a:moveTo>
                    <a:pt x="4185226" y="428624"/>
                  </a:moveTo>
                  <a:lnTo>
                    <a:pt x="53397" y="428624"/>
                  </a:lnTo>
                  <a:lnTo>
                    <a:pt x="49680" y="428258"/>
                  </a:lnTo>
                  <a:lnTo>
                    <a:pt x="14085" y="409231"/>
                  </a:lnTo>
                  <a:lnTo>
                    <a:pt x="0" y="375227"/>
                  </a:lnTo>
                  <a:lnTo>
                    <a:pt x="0" y="371474"/>
                  </a:lnTo>
                  <a:lnTo>
                    <a:pt x="0" y="53397"/>
                  </a:lnTo>
                  <a:lnTo>
                    <a:pt x="19392" y="14084"/>
                  </a:lnTo>
                  <a:lnTo>
                    <a:pt x="53397" y="0"/>
                  </a:lnTo>
                  <a:lnTo>
                    <a:pt x="4185226" y="0"/>
                  </a:lnTo>
                  <a:lnTo>
                    <a:pt x="4224538" y="19392"/>
                  </a:lnTo>
                  <a:lnTo>
                    <a:pt x="4238624" y="53397"/>
                  </a:lnTo>
                  <a:lnTo>
                    <a:pt x="4238624" y="375227"/>
                  </a:lnTo>
                  <a:lnTo>
                    <a:pt x="4219232" y="414539"/>
                  </a:lnTo>
                  <a:lnTo>
                    <a:pt x="4188943" y="428258"/>
                  </a:lnTo>
                  <a:lnTo>
                    <a:pt x="4185226" y="428624"/>
                  </a:lnTo>
                  <a:close/>
                </a:path>
              </a:pathLst>
            </a:custGeom>
            <a:solidFill>
              <a:srgbClr val="F7F9FA"/>
            </a:solidFill>
          </p:spPr>
          <p:txBody>
            <a:bodyPr wrap="square" lIns="0" tIns="0" rIns="0" bIns="0" rtlCol="0"/>
            <a:lstStyle/>
            <a:p>
              <a:endParaRPr/>
            </a:p>
          </p:txBody>
        </p:sp>
        <p:pic>
          <p:nvPicPr>
            <p:cNvPr id="7" name="object 7"/>
            <p:cNvPicPr/>
            <p:nvPr/>
          </p:nvPicPr>
          <p:blipFill>
            <a:blip r:embed="rId3" cstate="print"/>
            <a:stretch>
              <a:fillRect/>
            </a:stretch>
          </p:blipFill>
          <p:spPr>
            <a:xfrm>
              <a:off x="1209674" y="1552574"/>
              <a:ext cx="238124" cy="238124"/>
            </a:xfrm>
            <a:prstGeom prst="rect">
              <a:avLst/>
            </a:prstGeom>
          </p:spPr>
        </p:pic>
      </p:grpSp>
      <p:sp>
        <p:nvSpPr>
          <p:cNvPr id="8" name="object 8"/>
          <p:cNvSpPr txBox="1"/>
          <p:nvPr/>
        </p:nvSpPr>
        <p:spPr>
          <a:xfrm>
            <a:off x="1294903" y="1574448"/>
            <a:ext cx="1201420" cy="178435"/>
          </a:xfrm>
          <a:prstGeom prst="rect">
            <a:avLst/>
          </a:prstGeom>
        </p:spPr>
        <p:txBody>
          <a:bodyPr vert="horz" wrap="square" lIns="0" tIns="12700" rIns="0" bIns="0" rtlCol="0">
            <a:spAutoFit/>
          </a:bodyPr>
          <a:lstStyle/>
          <a:p>
            <a:pPr marL="12700">
              <a:lnSpc>
                <a:spcPct val="100000"/>
              </a:lnSpc>
              <a:spcBef>
                <a:spcPts val="100"/>
              </a:spcBef>
              <a:tabLst>
                <a:tab pos="251460" algn="l"/>
              </a:tabLst>
            </a:pPr>
            <a:r>
              <a:rPr sz="950" b="1" spc="-50" dirty="0">
                <a:solidFill>
                  <a:srgbClr val="FFFFFF"/>
                </a:solidFill>
                <a:latin typeface="Arial"/>
                <a:cs typeface="Arial"/>
              </a:rPr>
              <a:t>1</a:t>
            </a:r>
            <a:r>
              <a:rPr sz="950" b="1" dirty="0">
                <a:solidFill>
                  <a:srgbClr val="FFFFFF"/>
                </a:solidFill>
                <a:latin typeface="Arial"/>
                <a:cs typeface="Arial"/>
              </a:rPr>
              <a:t>	</a:t>
            </a:r>
            <a:r>
              <a:rPr sz="1000" spc="-10" dirty="0">
                <a:solidFill>
                  <a:srgbClr val="333333"/>
                </a:solidFill>
                <a:latin typeface="Microsoft Sans Serif"/>
                <a:cs typeface="Microsoft Sans Serif"/>
              </a:rPr>
              <a:t>Brief</a:t>
            </a:r>
            <a:r>
              <a:rPr sz="1000" spc="-25" dirty="0">
                <a:solidFill>
                  <a:srgbClr val="333333"/>
                </a:solidFill>
                <a:latin typeface="Microsoft Sans Serif"/>
                <a:cs typeface="Microsoft Sans Serif"/>
              </a:rPr>
              <a:t> </a:t>
            </a:r>
            <a:r>
              <a:rPr sz="1000" spc="-10" dirty="0">
                <a:solidFill>
                  <a:srgbClr val="333333"/>
                </a:solidFill>
                <a:latin typeface="Microsoft Sans Serif"/>
                <a:cs typeface="Microsoft Sans Serif"/>
              </a:rPr>
              <a:t>Introduction</a:t>
            </a:r>
            <a:endParaRPr sz="1000">
              <a:latin typeface="Microsoft Sans Serif"/>
              <a:cs typeface="Microsoft Sans Serif"/>
            </a:endParaRPr>
          </a:p>
        </p:txBody>
      </p:sp>
      <p:grpSp>
        <p:nvGrpSpPr>
          <p:cNvPr id="9" name="object 9"/>
          <p:cNvGrpSpPr/>
          <p:nvPr/>
        </p:nvGrpSpPr>
        <p:grpSpPr>
          <a:xfrm>
            <a:off x="5391149" y="1457324"/>
            <a:ext cx="4229100" cy="428625"/>
            <a:chOff x="5391149" y="1457324"/>
            <a:chExt cx="4229100" cy="428625"/>
          </a:xfrm>
        </p:grpSpPr>
        <p:sp>
          <p:nvSpPr>
            <p:cNvPr id="10" name="object 10"/>
            <p:cNvSpPr/>
            <p:nvPr/>
          </p:nvSpPr>
          <p:spPr>
            <a:xfrm>
              <a:off x="5391149" y="1457324"/>
              <a:ext cx="4229100" cy="428625"/>
            </a:xfrm>
            <a:custGeom>
              <a:avLst/>
              <a:gdLst/>
              <a:ahLst/>
              <a:cxnLst/>
              <a:rect l="l" t="t" r="r" b="b"/>
              <a:pathLst>
                <a:path w="4229100" h="428625">
                  <a:moveTo>
                    <a:pt x="4175701" y="428624"/>
                  </a:moveTo>
                  <a:lnTo>
                    <a:pt x="53397" y="428624"/>
                  </a:lnTo>
                  <a:lnTo>
                    <a:pt x="49680" y="428258"/>
                  </a:lnTo>
                  <a:lnTo>
                    <a:pt x="14084" y="409231"/>
                  </a:lnTo>
                  <a:lnTo>
                    <a:pt x="0" y="375227"/>
                  </a:lnTo>
                  <a:lnTo>
                    <a:pt x="0" y="371474"/>
                  </a:lnTo>
                  <a:lnTo>
                    <a:pt x="0" y="53397"/>
                  </a:lnTo>
                  <a:lnTo>
                    <a:pt x="19392" y="14084"/>
                  </a:lnTo>
                  <a:lnTo>
                    <a:pt x="53397" y="0"/>
                  </a:lnTo>
                  <a:lnTo>
                    <a:pt x="4175701" y="0"/>
                  </a:lnTo>
                  <a:lnTo>
                    <a:pt x="4215013" y="19392"/>
                  </a:lnTo>
                  <a:lnTo>
                    <a:pt x="4229099" y="53397"/>
                  </a:lnTo>
                  <a:lnTo>
                    <a:pt x="4229099" y="375227"/>
                  </a:lnTo>
                  <a:lnTo>
                    <a:pt x="4209706" y="414539"/>
                  </a:lnTo>
                  <a:lnTo>
                    <a:pt x="4179417" y="428258"/>
                  </a:lnTo>
                  <a:lnTo>
                    <a:pt x="4175701" y="428624"/>
                  </a:lnTo>
                  <a:close/>
                </a:path>
              </a:pathLst>
            </a:custGeom>
            <a:solidFill>
              <a:srgbClr val="F7F9FA"/>
            </a:solidFill>
          </p:spPr>
          <p:txBody>
            <a:bodyPr wrap="square" lIns="0" tIns="0" rIns="0" bIns="0" rtlCol="0"/>
            <a:lstStyle/>
            <a:p>
              <a:endParaRPr/>
            </a:p>
          </p:txBody>
        </p:sp>
        <p:pic>
          <p:nvPicPr>
            <p:cNvPr id="11" name="object 11"/>
            <p:cNvPicPr/>
            <p:nvPr/>
          </p:nvPicPr>
          <p:blipFill>
            <a:blip r:embed="rId4" cstate="print"/>
            <a:stretch>
              <a:fillRect/>
            </a:stretch>
          </p:blipFill>
          <p:spPr>
            <a:xfrm>
              <a:off x="5524499" y="1552574"/>
              <a:ext cx="238124" cy="238124"/>
            </a:xfrm>
            <a:prstGeom prst="rect">
              <a:avLst/>
            </a:prstGeom>
          </p:spPr>
        </p:pic>
      </p:grpSp>
      <p:sp>
        <p:nvSpPr>
          <p:cNvPr id="12" name="object 12"/>
          <p:cNvSpPr txBox="1"/>
          <p:nvPr/>
        </p:nvSpPr>
        <p:spPr>
          <a:xfrm>
            <a:off x="5590083" y="1574448"/>
            <a:ext cx="2137410" cy="178435"/>
          </a:xfrm>
          <a:prstGeom prst="rect">
            <a:avLst/>
          </a:prstGeom>
        </p:spPr>
        <p:txBody>
          <a:bodyPr vert="horz" wrap="square" lIns="0" tIns="12700" rIns="0" bIns="0" rtlCol="0">
            <a:spAutoFit/>
          </a:bodyPr>
          <a:lstStyle/>
          <a:p>
            <a:pPr marL="12700">
              <a:lnSpc>
                <a:spcPct val="100000"/>
              </a:lnSpc>
              <a:spcBef>
                <a:spcPts val="100"/>
              </a:spcBef>
              <a:tabLst>
                <a:tab pos="262890" algn="l"/>
              </a:tabLst>
            </a:pPr>
            <a:r>
              <a:rPr sz="950" b="1" spc="-50" dirty="0">
                <a:solidFill>
                  <a:srgbClr val="FFFFFF"/>
                </a:solidFill>
                <a:latin typeface="Arial"/>
                <a:cs typeface="Arial"/>
              </a:rPr>
              <a:t>2</a:t>
            </a:r>
            <a:r>
              <a:rPr sz="950" b="1" dirty="0">
                <a:solidFill>
                  <a:srgbClr val="FFFFFF"/>
                </a:solidFill>
                <a:latin typeface="Arial"/>
                <a:cs typeface="Arial"/>
              </a:rPr>
              <a:t>	</a:t>
            </a:r>
            <a:r>
              <a:rPr sz="1000" spc="-10" dirty="0">
                <a:solidFill>
                  <a:srgbClr val="333333"/>
                </a:solidFill>
                <a:latin typeface="Microsoft Sans Serif"/>
                <a:cs typeface="Microsoft Sans Serif"/>
              </a:rPr>
              <a:t>Motivation</a:t>
            </a:r>
            <a:r>
              <a:rPr sz="1000" spc="-35" dirty="0">
                <a:solidFill>
                  <a:srgbClr val="333333"/>
                </a:solidFill>
                <a:latin typeface="Microsoft Sans Serif"/>
                <a:cs typeface="Microsoft Sans Serif"/>
              </a:rPr>
              <a:t> </a:t>
            </a:r>
            <a:r>
              <a:rPr sz="1000" spc="-20" dirty="0">
                <a:solidFill>
                  <a:srgbClr val="333333"/>
                </a:solidFill>
                <a:latin typeface="Microsoft Sans Serif"/>
                <a:cs typeface="Microsoft Sans Serif"/>
              </a:rPr>
              <a:t>and</a:t>
            </a:r>
            <a:r>
              <a:rPr sz="1000" spc="-35" dirty="0">
                <a:solidFill>
                  <a:srgbClr val="333333"/>
                </a:solidFill>
                <a:latin typeface="Microsoft Sans Serif"/>
                <a:cs typeface="Microsoft Sans Serif"/>
              </a:rPr>
              <a:t> </a:t>
            </a:r>
            <a:r>
              <a:rPr sz="1000" spc="-30" dirty="0">
                <a:solidFill>
                  <a:srgbClr val="333333"/>
                </a:solidFill>
                <a:latin typeface="Microsoft Sans Serif"/>
                <a:cs typeface="Microsoft Sans Serif"/>
              </a:rPr>
              <a:t>Problem </a:t>
            </a:r>
            <a:r>
              <a:rPr sz="1000" spc="-10" dirty="0">
                <a:solidFill>
                  <a:srgbClr val="333333"/>
                </a:solidFill>
                <a:latin typeface="Microsoft Sans Serif"/>
                <a:cs typeface="Microsoft Sans Serif"/>
              </a:rPr>
              <a:t>Statement</a:t>
            </a:r>
            <a:endParaRPr sz="1000">
              <a:latin typeface="Microsoft Sans Serif"/>
              <a:cs typeface="Microsoft Sans Serif"/>
            </a:endParaRPr>
          </a:p>
        </p:txBody>
      </p:sp>
      <p:grpSp>
        <p:nvGrpSpPr>
          <p:cNvPr id="13" name="object 13"/>
          <p:cNvGrpSpPr/>
          <p:nvPr/>
        </p:nvGrpSpPr>
        <p:grpSpPr>
          <a:xfrm>
            <a:off x="1076324" y="1962150"/>
            <a:ext cx="4238625" cy="428625"/>
            <a:chOff x="1076324" y="1962150"/>
            <a:chExt cx="4238625" cy="428625"/>
          </a:xfrm>
        </p:grpSpPr>
        <p:sp>
          <p:nvSpPr>
            <p:cNvPr id="14" name="object 14"/>
            <p:cNvSpPr/>
            <p:nvPr/>
          </p:nvSpPr>
          <p:spPr>
            <a:xfrm>
              <a:off x="1076324" y="1962150"/>
              <a:ext cx="4238625" cy="428625"/>
            </a:xfrm>
            <a:custGeom>
              <a:avLst/>
              <a:gdLst/>
              <a:ahLst/>
              <a:cxnLst/>
              <a:rect l="l" t="t" r="r" b="b"/>
              <a:pathLst>
                <a:path w="4238625" h="428625">
                  <a:moveTo>
                    <a:pt x="4185226" y="428623"/>
                  </a:moveTo>
                  <a:lnTo>
                    <a:pt x="53397" y="428623"/>
                  </a:lnTo>
                  <a:lnTo>
                    <a:pt x="49680" y="428257"/>
                  </a:lnTo>
                  <a:lnTo>
                    <a:pt x="14085" y="409231"/>
                  </a:lnTo>
                  <a:lnTo>
                    <a:pt x="0" y="375226"/>
                  </a:lnTo>
                  <a:lnTo>
                    <a:pt x="0" y="371474"/>
                  </a:lnTo>
                  <a:lnTo>
                    <a:pt x="0" y="53396"/>
                  </a:lnTo>
                  <a:lnTo>
                    <a:pt x="19392" y="14083"/>
                  </a:lnTo>
                  <a:lnTo>
                    <a:pt x="53397" y="0"/>
                  </a:lnTo>
                  <a:lnTo>
                    <a:pt x="4185226" y="0"/>
                  </a:lnTo>
                  <a:lnTo>
                    <a:pt x="4224538" y="19390"/>
                  </a:lnTo>
                  <a:lnTo>
                    <a:pt x="4238624" y="53396"/>
                  </a:lnTo>
                  <a:lnTo>
                    <a:pt x="4238624" y="375226"/>
                  </a:lnTo>
                  <a:lnTo>
                    <a:pt x="4219232" y="414538"/>
                  </a:lnTo>
                  <a:lnTo>
                    <a:pt x="4188943" y="428257"/>
                  </a:lnTo>
                  <a:lnTo>
                    <a:pt x="4185226" y="428623"/>
                  </a:lnTo>
                  <a:close/>
                </a:path>
              </a:pathLst>
            </a:custGeom>
            <a:solidFill>
              <a:srgbClr val="F7F9FA"/>
            </a:solidFill>
          </p:spPr>
          <p:txBody>
            <a:bodyPr wrap="square" lIns="0" tIns="0" rIns="0" bIns="0" rtlCol="0"/>
            <a:lstStyle/>
            <a:p>
              <a:endParaRPr/>
            </a:p>
          </p:txBody>
        </p:sp>
        <p:pic>
          <p:nvPicPr>
            <p:cNvPr id="15" name="object 15"/>
            <p:cNvPicPr/>
            <p:nvPr/>
          </p:nvPicPr>
          <p:blipFill>
            <a:blip r:embed="rId5" cstate="print"/>
            <a:stretch>
              <a:fillRect/>
            </a:stretch>
          </p:blipFill>
          <p:spPr>
            <a:xfrm>
              <a:off x="1209674" y="2057399"/>
              <a:ext cx="238124" cy="238124"/>
            </a:xfrm>
            <a:prstGeom prst="rect">
              <a:avLst/>
            </a:prstGeom>
          </p:spPr>
        </p:pic>
      </p:grpSp>
      <p:sp>
        <p:nvSpPr>
          <p:cNvPr id="16" name="object 16"/>
          <p:cNvSpPr/>
          <p:nvPr/>
        </p:nvSpPr>
        <p:spPr>
          <a:xfrm>
            <a:off x="5391149" y="1962150"/>
            <a:ext cx="4229100" cy="428625"/>
          </a:xfrm>
          <a:custGeom>
            <a:avLst/>
            <a:gdLst/>
            <a:ahLst/>
            <a:cxnLst/>
            <a:rect l="l" t="t" r="r" b="b"/>
            <a:pathLst>
              <a:path w="4229100" h="428625">
                <a:moveTo>
                  <a:pt x="4175701" y="428623"/>
                </a:moveTo>
                <a:lnTo>
                  <a:pt x="53397" y="428623"/>
                </a:lnTo>
                <a:lnTo>
                  <a:pt x="49680" y="428257"/>
                </a:lnTo>
                <a:lnTo>
                  <a:pt x="14084" y="409231"/>
                </a:lnTo>
                <a:lnTo>
                  <a:pt x="0" y="375226"/>
                </a:lnTo>
                <a:lnTo>
                  <a:pt x="0" y="371474"/>
                </a:lnTo>
                <a:lnTo>
                  <a:pt x="0" y="53396"/>
                </a:lnTo>
                <a:lnTo>
                  <a:pt x="19392" y="14083"/>
                </a:lnTo>
                <a:lnTo>
                  <a:pt x="53397" y="0"/>
                </a:lnTo>
                <a:lnTo>
                  <a:pt x="4175701" y="0"/>
                </a:lnTo>
                <a:lnTo>
                  <a:pt x="4215013" y="19390"/>
                </a:lnTo>
                <a:lnTo>
                  <a:pt x="4229099" y="53396"/>
                </a:lnTo>
                <a:lnTo>
                  <a:pt x="4229099" y="375226"/>
                </a:lnTo>
                <a:lnTo>
                  <a:pt x="4209706" y="414538"/>
                </a:lnTo>
                <a:lnTo>
                  <a:pt x="4179417" y="428257"/>
                </a:lnTo>
                <a:lnTo>
                  <a:pt x="4175701" y="428623"/>
                </a:lnTo>
                <a:close/>
              </a:path>
            </a:pathLst>
          </a:custGeom>
          <a:solidFill>
            <a:srgbClr val="F7F9FA"/>
          </a:solidFill>
        </p:spPr>
        <p:txBody>
          <a:bodyPr wrap="square" lIns="0" tIns="0" rIns="0" bIns="0" rtlCol="0"/>
          <a:lstStyle/>
          <a:p>
            <a:endParaRPr/>
          </a:p>
        </p:txBody>
      </p:sp>
      <p:pic>
        <p:nvPicPr>
          <p:cNvPr id="17" name="object 17"/>
          <p:cNvPicPr/>
          <p:nvPr/>
        </p:nvPicPr>
        <p:blipFill>
          <a:blip r:embed="rId6" cstate="print"/>
          <a:stretch>
            <a:fillRect/>
          </a:stretch>
        </p:blipFill>
        <p:spPr>
          <a:xfrm>
            <a:off x="5524499" y="2057400"/>
            <a:ext cx="238124" cy="238124"/>
          </a:xfrm>
          <a:prstGeom prst="rect">
            <a:avLst/>
          </a:prstGeom>
        </p:spPr>
      </p:pic>
      <p:grpSp>
        <p:nvGrpSpPr>
          <p:cNvPr id="18" name="object 18"/>
          <p:cNvGrpSpPr/>
          <p:nvPr/>
        </p:nvGrpSpPr>
        <p:grpSpPr>
          <a:xfrm>
            <a:off x="1076324" y="2466975"/>
            <a:ext cx="4238625" cy="428625"/>
            <a:chOff x="1076324" y="2466975"/>
            <a:chExt cx="4238625" cy="428625"/>
          </a:xfrm>
        </p:grpSpPr>
        <p:sp>
          <p:nvSpPr>
            <p:cNvPr id="19" name="object 19"/>
            <p:cNvSpPr/>
            <p:nvPr/>
          </p:nvSpPr>
          <p:spPr>
            <a:xfrm>
              <a:off x="1076324" y="2466975"/>
              <a:ext cx="4238625" cy="428625"/>
            </a:xfrm>
            <a:custGeom>
              <a:avLst/>
              <a:gdLst/>
              <a:ahLst/>
              <a:cxnLst/>
              <a:rect l="l" t="t" r="r" b="b"/>
              <a:pathLst>
                <a:path w="4238625" h="428625">
                  <a:moveTo>
                    <a:pt x="4185226" y="428622"/>
                  </a:moveTo>
                  <a:lnTo>
                    <a:pt x="53397" y="428622"/>
                  </a:lnTo>
                  <a:lnTo>
                    <a:pt x="49680" y="428256"/>
                  </a:lnTo>
                  <a:lnTo>
                    <a:pt x="14085" y="409231"/>
                  </a:lnTo>
                  <a:lnTo>
                    <a:pt x="0" y="375225"/>
                  </a:lnTo>
                  <a:lnTo>
                    <a:pt x="0" y="371473"/>
                  </a:lnTo>
                  <a:lnTo>
                    <a:pt x="0" y="53395"/>
                  </a:lnTo>
                  <a:lnTo>
                    <a:pt x="19392" y="14082"/>
                  </a:lnTo>
                  <a:lnTo>
                    <a:pt x="53397" y="0"/>
                  </a:lnTo>
                  <a:lnTo>
                    <a:pt x="4185226" y="0"/>
                  </a:lnTo>
                  <a:lnTo>
                    <a:pt x="4224538" y="19390"/>
                  </a:lnTo>
                  <a:lnTo>
                    <a:pt x="4238624" y="53395"/>
                  </a:lnTo>
                  <a:lnTo>
                    <a:pt x="4238624" y="375225"/>
                  </a:lnTo>
                  <a:lnTo>
                    <a:pt x="4219232" y="414538"/>
                  </a:lnTo>
                  <a:lnTo>
                    <a:pt x="4188943" y="428256"/>
                  </a:lnTo>
                  <a:lnTo>
                    <a:pt x="4185226" y="428622"/>
                  </a:lnTo>
                  <a:close/>
                </a:path>
              </a:pathLst>
            </a:custGeom>
            <a:solidFill>
              <a:srgbClr val="F7F9FA"/>
            </a:solidFill>
          </p:spPr>
          <p:txBody>
            <a:bodyPr wrap="square" lIns="0" tIns="0" rIns="0" bIns="0" rtlCol="0"/>
            <a:lstStyle/>
            <a:p>
              <a:endParaRPr/>
            </a:p>
          </p:txBody>
        </p:sp>
        <p:pic>
          <p:nvPicPr>
            <p:cNvPr id="20" name="object 20"/>
            <p:cNvPicPr/>
            <p:nvPr/>
          </p:nvPicPr>
          <p:blipFill>
            <a:blip r:embed="rId3" cstate="print"/>
            <a:stretch>
              <a:fillRect/>
            </a:stretch>
          </p:blipFill>
          <p:spPr>
            <a:xfrm>
              <a:off x="1209674" y="2562224"/>
              <a:ext cx="238124" cy="238124"/>
            </a:xfrm>
            <a:prstGeom prst="rect">
              <a:avLst/>
            </a:prstGeom>
          </p:spPr>
        </p:pic>
      </p:grpSp>
      <p:sp>
        <p:nvSpPr>
          <p:cNvPr id="21" name="object 21"/>
          <p:cNvSpPr/>
          <p:nvPr/>
        </p:nvSpPr>
        <p:spPr>
          <a:xfrm>
            <a:off x="5391149" y="2466975"/>
            <a:ext cx="4229100" cy="428625"/>
          </a:xfrm>
          <a:custGeom>
            <a:avLst/>
            <a:gdLst/>
            <a:ahLst/>
            <a:cxnLst/>
            <a:rect l="l" t="t" r="r" b="b"/>
            <a:pathLst>
              <a:path w="4229100" h="428625">
                <a:moveTo>
                  <a:pt x="4175701" y="428622"/>
                </a:moveTo>
                <a:lnTo>
                  <a:pt x="53397" y="428622"/>
                </a:lnTo>
                <a:lnTo>
                  <a:pt x="49680" y="428256"/>
                </a:lnTo>
                <a:lnTo>
                  <a:pt x="14084" y="409231"/>
                </a:lnTo>
                <a:lnTo>
                  <a:pt x="0" y="375225"/>
                </a:lnTo>
                <a:lnTo>
                  <a:pt x="0" y="371473"/>
                </a:lnTo>
                <a:lnTo>
                  <a:pt x="0" y="53395"/>
                </a:lnTo>
                <a:lnTo>
                  <a:pt x="19392" y="14082"/>
                </a:lnTo>
                <a:lnTo>
                  <a:pt x="53397" y="0"/>
                </a:lnTo>
                <a:lnTo>
                  <a:pt x="4175701" y="0"/>
                </a:lnTo>
                <a:lnTo>
                  <a:pt x="4215013" y="19390"/>
                </a:lnTo>
                <a:lnTo>
                  <a:pt x="4229099" y="53395"/>
                </a:lnTo>
                <a:lnTo>
                  <a:pt x="4229099" y="375225"/>
                </a:lnTo>
                <a:lnTo>
                  <a:pt x="4209706" y="414538"/>
                </a:lnTo>
                <a:lnTo>
                  <a:pt x="4179417" y="428256"/>
                </a:lnTo>
                <a:lnTo>
                  <a:pt x="4175701" y="428622"/>
                </a:lnTo>
                <a:close/>
              </a:path>
            </a:pathLst>
          </a:custGeom>
          <a:solidFill>
            <a:srgbClr val="F7F9FA"/>
          </a:solidFill>
        </p:spPr>
        <p:txBody>
          <a:bodyPr wrap="square" lIns="0" tIns="0" rIns="0" bIns="0" rtlCol="0"/>
          <a:lstStyle/>
          <a:p>
            <a:endParaRPr/>
          </a:p>
        </p:txBody>
      </p:sp>
      <p:pic>
        <p:nvPicPr>
          <p:cNvPr id="22" name="object 22"/>
          <p:cNvPicPr/>
          <p:nvPr/>
        </p:nvPicPr>
        <p:blipFill>
          <a:blip r:embed="rId4" cstate="print"/>
          <a:stretch>
            <a:fillRect/>
          </a:stretch>
        </p:blipFill>
        <p:spPr>
          <a:xfrm>
            <a:off x="5524499" y="2562224"/>
            <a:ext cx="238124" cy="238124"/>
          </a:xfrm>
          <a:prstGeom prst="rect">
            <a:avLst/>
          </a:prstGeom>
        </p:spPr>
      </p:pic>
      <p:grpSp>
        <p:nvGrpSpPr>
          <p:cNvPr id="23" name="object 23"/>
          <p:cNvGrpSpPr/>
          <p:nvPr/>
        </p:nvGrpSpPr>
        <p:grpSpPr>
          <a:xfrm>
            <a:off x="1076324" y="2971799"/>
            <a:ext cx="4238625" cy="428625"/>
            <a:chOff x="1076324" y="2971799"/>
            <a:chExt cx="4238625" cy="428625"/>
          </a:xfrm>
        </p:grpSpPr>
        <p:sp>
          <p:nvSpPr>
            <p:cNvPr id="24" name="object 24"/>
            <p:cNvSpPr/>
            <p:nvPr/>
          </p:nvSpPr>
          <p:spPr>
            <a:xfrm>
              <a:off x="1076324" y="2971799"/>
              <a:ext cx="4238625" cy="428625"/>
            </a:xfrm>
            <a:custGeom>
              <a:avLst/>
              <a:gdLst/>
              <a:ahLst/>
              <a:cxnLst/>
              <a:rect l="l" t="t" r="r" b="b"/>
              <a:pathLst>
                <a:path w="4238625" h="428625">
                  <a:moveTo>
                    <a:pt x="4185226" y="428624"/>
                  </a:moveTo>
                  <a:lnTo>
                    <a:pt x="53397" y="428624"/>
                  </a:lnTo>
                  <a:lnTo>
                    <a:pt x="49680" y="428258"/>
                  </a:lnTo>
                  <a:lnTo>
                    <a:pt x="14085" y="409231"/>
                  </a:lnTo>
                  <a:lnTo>
                    <a:pt x="0" y="375227"/>
                  </a:lnTo>
                  <a:lnTo>
                    <a:pt x="0" y="371474"/>
                  </a:lnTo>
                  <a:lnTo>
                    <a:pt x="0" y="53397"/>
                  </a:lnTo>
                  <a:lnTo>
                    <a:pt x="19392" y="14084"/>
                  </a:lnTo>
                  <a:lnTo>
                    <a:pt x="53397" y="0"/>
                  </a:lnTo>
                  <a:lnTo>
                    <a:pt x="4185226" y="0"/>
                  </a:lnTo>
                  <a:lnTo>
                    <a:pt x="4224538" y="19391"/>
                  </a:lnTo>
                  <a:lnTo>
                    <a:pt x="4238624" y="53397"/>
                  </a:lnTo>
                  <a:lnTo>
                    <a:pt x="4238624" y="375227"/>
                  </a:lnTo>
                  <a:lnTo>
                    <a:pt x="4219232" y="414538"/>
                  </a:lnTo>
                  <a:lnTo>
                    <a:pt x="4188943" y="428258"/>
                  </a:lnTo>
                  <a:lnTo>
                    <a:pt x="4185226" y="428624"/>
                  </a:lnTo>
                  <a:close/>
                </a:path>
              </a:pathLst>
            </a:custGeom>
            <a:solidFill>
              <a:srgbClr val="F7F9FA"/>
            </a:solidFill>
          </p:spPr>
          <p:txBody>
            <a:bodyPr wrap="square" lIns="0" tIns="0" rIns="0" bIns="0" rtlCol="0"/>
            <a:lstStyle/>
            <a:p>
              <a:endParaRPr/>
            </a:p>
          </p:txBody>
        </p:sp>
        <p:pic>
          <p:nvPicPr>
            <p:cNvPr id="25" name="object 25"/>
            <p:cNvPicPr/>
            <p:nvPr/>
          </p:nvPicPr>
          <p:blipFill>
            <a:blip r:embed="rId5" cstate="print"/>
            <a:stretch>
              <a:fillRect/>
            </a:stretch>
          </p:blipFill>
          <p:spPr>
            <a:xfrm>
              <a:off x="1209674" y="3067049"/>
              <a:ext cx="238124" cy="238124"/>
            </a:xfrm>
            <a:prstGeom prst="rect">
              <a:avLst/>
            </a:prstGeom>
          </p:spPr>
        </p:pic>
      </p:grpSp>
      <p:sp>
        <p:nvSpPr>
          <p:cNvPr id="26" name="object 26"/>
          <p:cNvSpPr/>
          <p:nvPr/>
        </p:nvSpPr>
        <p:spPr>
          <a:xfrm>
            <a:off x="5391149" y="2971799"/>
            <a:ext cx="4229100" cy="428625"/>
          </a:xfrm>
          <a:custGeom>
            <a:avLst/>
            <a:gdLst/>
            <a:ahLst/>
            <a:cxnLst/>
            <a:rect l="l" t="t" r="r" b="b"/>
            <a:pathLst>
              <a:path w="4229100" h="428625">
                <a:moveTo>
                  <a:pt x="4175701" y="428624"/>
                </a:moveTo>
                <a:lnTo>
                  <a:pt x="53397" y="428624"/>
                </a:lnTo>
                <a:lnTo>
                  <a:pt x="49680" y="428258"/>
                </a:lnTo>
                <a:lnTo>
                  <a:pt x="14084" y="409231"/>
                </a:lnTo>
                <a:lnTo>
                  <a:pt x="0" y="375227"/>
                </a:lnTo>
                <a:lnTo>
                  <a:pt x="0" y="371474"/>
                </a:lnTo>
                <a:lnTo>
                  <a:pt x="0" y="53397"/>
                </a:lnTo>
                <a:lnTo>
                  <a:pt x="19392" y="14084"/>
                </a:lnTo>
                <a:lnTo>
                  <a:pt x="53397" y="0"/>
                </a:lnTo>
                <a:lnTo>
                  <a:pt x="4175701" y="0"/>
                </a:lnTo>
                <a:lnTo>
                  <a:pt x="4215013" y="19391"/>
                </a:lnTo>
                <a:lnTo>
                  <a:pt x="4229099" y="53397"/>
                </a:lnTo>
                <a:lnTo>
                  <a:pt x="4229099" y="375227"/>
                </a:lnTo>
                <a:lnTo>
                  <a:pt x="4209706" y="414538"/>
                </a:lnTo>
                <a:lnTo>
                  <a:pt x="4179417" y="428258"/>
                </a:lnTo>
                <a:lnTo>
                  <a:pt x="4175701" y="428624"/>
                </a:lnTo>
                <a:close/>
              </a:path>
            </a:pathLst>
          </a:custGeom>
          <a:solidFill>
            <a:srgbClr val="F7F9FA"/>
          </a:solidFill>
        </p:spPr>
        <p:txBody>
          <a:bodyPr wrap="square" lIns="0" tIns="0" rIns="0" bIns="0" rtlCol="0"/>
          <a:lstStyle/>
          <a:p>
            <a:endParaRPr/>
          </a:p>
        </p:txBody>
      </p:sp>
      <p:pic>
        <p:nvPicPr>
          <p:cNvPr id="27" name="object 27"/>
          <p:cNvPicPr/>
          <p:nvPr/>
        </p:nvPicPr>
        <p:blipFill>
          <a:blip r:embed="rId6" cstate="print"/>
          <a:stretch>
            <a:fillRect/>
          </a:stretch>
        </p:blipFill>
        <p:spPr>
          <a:xfrm>
            <a:off x="5524499" y="3067049"/>
            <a:ext cx="238124" cy="238124"/>
          </a:xfrm>
          <a:prstGeom prst="rect">
            <a:avLst/>
          </a:prstGeom>
        </p:spPr>
      </p:pic>
      <p:grpSp>
        <p:nvGrpSpPr>
          <p:cNvPr id="28" name="object 28"/>
          <p:cNvGrpSpPr/>
          <p:nvPr/>
        </p:nvGrpSpPr>
        <p:grpSpPr>
          <a:xfrm>
            <a:off x="1076324" y="3476624"/>
            <a:ext cx="4238625" cy="428625"/>
            <a:chOff x="1076324" y="3476624"/>
            <a:chExt cx="4238625" cy="428625"/>
          </a:xfrm>
        </p:grpSpPr>
        <p:sp>
          <p:nvSpPr>
            <p:cNvPr id="29" name="object 29"/>
            <p:cNvSpPr/>
            <p:nvPr/>
          </p:nvSpPr>
          <p:spPr>
            <a:xfrm>
              <a:off x="1076324" y="3476624"/>
              <a:ext cx="4238625" cy="428625"/>
            </a:xfrm>
            <a:custGeom>
              <a:avLst/>
              <a:gdLst/>
              <a:ahLst/>
              <a:cxnLst/>
              <a:rect l="l" t="t" r="r" b="b"/>
              <a:pathLst>
                <a:path w="4238625" h="428625">
                  <a:moveTo>
                    <a:pt x="4185226" y="428623"/>
                  </a:moveTo>
                  <a:lnTo>
                    <a:pt x="53397" y="428623"/>
                  </a:lnTo>
                  <a:lnTo>
                    <a:pt x="49680" y="428257"/>
                  </a:lnTo>
                  <a:lnTo>
                    <a:pt x="14085" y="409231"/>
                  </a:lnTo>
                  <a:lnTo>
                    <a:pt x="0" y="375227"/>
                  </a:lnTo>
                  <a:lnTo>
                    <a:pt x="0" y="371474"/>
                  </a:lnTo>
                  <a:lnTo>
                    <a:pt x="0" y="53397"/>
                  </a:lnTo>
                  <a:lnTo>
                    <a:pt x="19392" y="14085"/>
                  </a:lnTo>
                  <a:lnTo>
                    <a:pt x="53397" y="0"/>
                  </a:lnTo>
                  <a:lnTo>
                    <a:pt x="4185226" y="0"/>
                  </a:lnTo>
                  <a:lnTo>
                    <a:pt x="4224538" y="19390"/>
                  </a:lnTo>
                  <a:lnTo>
                    <a:pt x="4238624" y="53397"/>
                  </a:lnTo>
                  <a:lnTo>
                    <a:pt x="4238624" y="375227"/>
                  </a:lnTo>
                  <a:lnTo>
                    <a:pt x="4219232" y="414537"/>
                  </a:lnTo>
                  <a:lnTo>
                    <a:pt x="4188943" y="428257"/>
                  </a:lnTo>
                  <a:lnTo>
                    <a:pt x="4185226" y="428623"/>
                  </a:lnTo>
                  <a:close/>
                </a:path>
              </a:pathLst>
            </a:custGeom>
            <a:solidFill>
              <a:srgbClr val="F7F9FA"/>
            </a:solidFill>
          </p:spPr>
          <p:txBody>
            <a:bodyPr wrap="square" lIns="0" tIns="0" rIns="0" bIns="0" rtlCol="0"/>
            <a:lstStyle/>
            <a:p>
              <a:endParaRPr/>
            </a:p>
          </p:txBody>
        </p:sp>
        <p:pic>
          <p:nvPicPr>
            <p:cNvPr id="30" name="object 30"/>
            <p:cNvPicPr/>
            <p:nvPr/>
          </p:nvPicPr>
          <p:blipFill>
            <a:blip r:embed="rId3" cstate="print"/>
            <a:stretch>
              <a:fillRect/>
            </a:stretch>
          </p:blipFill>
          <p:spPr>
            <a:xfrm>
              <a:off x="1209674" y="3571874"/>
              <a:ext cx="238124" cy="238124"/>
            </a:xfrm>
            <a:prstGeom prst="rect">
              <a:avLst/>
            </a:prstGeom>
          </p:spPr>
        </p:pic>
      </p:grpSp>
      <p:sp>
        <p:nvSpPr>
          <p:cNvPr id="31" name="object 31"/>
          <p:cNvSpPr/>
          <p:nvPr/>
        </p:nvSpPr>
        <p:spPr>
          <a:xfrm>
            <a:off x="5391149" y="3476624"/>
            <a:ext cx="4229100" cy="428625"/>
          </a:xfrm>
          <a:custGeom>
            <a:avLst/>
            <a:gdLst/>
            <a:ahLst/>
            <a:cxnLst/>
            <a:rect l="l" t="t" r="r" b="b"/>
            <a:pathLst>
              <a:path w="4229100" h="428625">
                <a:moveTo>
                  <a:pt x="4175701" y="428623"/>
                </a:moveTo>
                <a:lnTo>
                  <a:pt x="53397" y="428623"/>
                </a:lnTo>
                <a:lnTo>
                  <a:pt x="49680" y="428257"/>
                </a:lnTo>
                <a:lnTo>
                  <a:pt x="14084" y="409231"/>
                </a:lnTo>
                <a:lnTo>
                  <a:pt x="0" y="375227"/>
                </a:lnTo>
                <a:lnTo>
                  <a:pt x="0" y="371474"/>
                </a:lnTo>
                <a:lnTo>
                  <a:pt x="0" y="53397"/>
                </a:lnTo>
                <a:lnTo>
                  <a:pt x="19392" y="14085"/>
                </a:lnTo>
                <a:lnTo>
                  <a:pt x="53397" y="0"/>
                </a:lnTo>
                <a:lnTo>
                  <a:pt x="4175701" y="0"/>
                </a:lnTo>
                <a:lnTo>
                  <a:pt x="4215013" y="19390"/>
                </a:lnTo>
                <a:lnTo>
                  <a:pt x="4229099" y="53397"/>
                </a:lnTo>
                <a:lnTo>
                  <a:pt x="4229099" y="375227"/>
                </a:lnTo>
                <a:lnTo>
                  <a:pt x="4209706" y="414537"/>
                </a:lnTo>
                <a:lnTo>
                  <a:pt x="4179417" y="428257"/>
                </a:lnTo>
                <a:lnTo>
                  <a:pt x="4175701" y="428623"/>
                </a:lnTo>
                <a:close/>
              </a:path>
            </a:pathLst>
          </a:custGeom>
          <a:solidFill>
            <a:srgbClr val="F7F9FA"/>
          </a:solidFill>
        </p:spPr>
        <p:txBody>
          <a:bodyPr wrap="square" lIns="0" tIns="0" rIns="0" bIns="0" rtlCol="0"/>
          <a:lstStyle/>
          <a:p>
            <a:endParaRPr/>
          </a:p>
        </p:txBody>
      </p:sp>
      <p:pic>
        <p:nvPicPr>
          <p:cNvPr id="32" name="object 32"/>
          <p:cNvPicPr/>
          <p:nvPr/>
        </p:nvPicPr>
        <p:blipFill>
          <a:blip r:embed="rId4" cstate="print"/>
          <a:stretch>
            <a:fillRect/>
          </a:stretch>
        </p:blipFill>
        <p:spPr>
          <a:xfrm>
            <a:off x="5524499" y="3571875"/>
            <a:ext cx="238124" cy="238124"/>
          </a:xfrm>
          <a:prstGeom prst="rect">
            <a:avLst/>
          </a:prstGeom>
        </p:spPr>
      </p:pic>
      <p:grpSp>
        <p:nvGrpSpPr>
          <p:cNvPr id="33" name="object 33"/>
          <p:cNvGrpSpPr/>
          <p:nvPr/>
        </p:nvGrpSpPr>
        <p:grpSpPr>
          <a:xfrm>
            <a:off x="1076324" y="3981449"/>
            <a:ext cx="4238625" cy="428625"/>
            <a:chOff x="1076324" y="3981449"/>
            <a:chExt cx="4238625" cy="428625"/>
          </a:xfrm>
        </p:grpSpPr>
        <p:sp>
          <p:nvSpPr>
            <p:cNvPr id="34" name="object 34"/>
            <p:cNvSpPr/>
            <p:nvPr/>
          </p:nvSpPr>
          <p:spPr>
            <a:xfrm>
              <a:off x="1076324" y="3981449"/>
              <a:ext cx="4238625" cy="428625"/>
            </a:xfrm>
            <a:custGeom>
              <a:avLst/>
              <a:gdLst/>
              <a:ahLst/>
              <a:cxnLst/>
              <a:rect l="l" t="t" r="r" b="b"/>
              <a:pathLst>
                <a:path w="4238625" h="428625">
                  <a:moveTo>
                    <a:pt x="4185226" y="428624"/>
                  </a:moveTo>
                  <a:lnTo>
                    <a:pt x="53397" y="428624"/>
                  </a:lnTo>
                  <a:lnTo>
                    <a:pt x="49680" y="428258"/>
                  </a:lnTo>
                  <a:lnTo>
                    <a:pt x="14085" y="409230"/>
                  </a:lnTo>
                  <a:lnTo>
                    <a:pt x="0" y="375227"/>
                  </a:lnTo>
                  <a:lnTo>
                    <a:pt x="0" y="371474"/>
                  </a:lnTo>
                  <a:lnTo>
                    <a:pt x="0" y="53396"/>
                  </a:lnTo>
                  <a:lnTo>
                    <a:pt x="19392" y="14085"/>
                  </a:lnTo>
                  <a:lnTo>
                    <a:pt x="53397" y="0"/>
                  </a:lnTo>
                  <a:lnTo>
                    <a:pt x="4185226" y="0"/>
                  </a:lnTo>
                  <a:lnTo>
                    <a:pt x="4224538" y="19392"/>
                  </a:lnTo>
                  <a:lnTo>
                    <a:pt x="4238624" y="53396"/>
                  </a:lnTo>
                  <a:lnTo>
                    <a:pt x="4238624" y="375227"/>
                  </a:lnTo>
                  <a:lnTo>
                    <a:pt x="4219232" y="414539"/>
                  </a:lnTo>
                  <a:lnTo>
                    <a:pt x="4188943" y="428258"/>
                  </a:lnTo>
                  <a:lnTo>
                    <a:pt x="4185226" y="428624"/>
                  </a:lnTo>
                  <a:close/>
                </a:path>
              </a:pathLst>
            </a:custGeom>
            <a:solidFill>
              <a:srgbClr val="F7F9FA"/>
            </a:solidFill>
          </p:spPr>
          <p:txBody>
            <a:bodyPr wrap="square" lIns="0" tIns="0" rIns="0" bIns="0" rtlCol="0"/>
            <a:lstStyle/>
            <a:p>
              <a:endParaRPr/>
            </a:p>
          </p:txBody>
        </p:sp>
        <p:pic>
          <p:nvPicPr>
            <p:cNvPr id="35" name="object 35"/>
            <p:cNvPicPr/>
            <p:nvPr/>
          </p:nvPicPr>
          <p:blipFill>
            <a:blip r:embed="rId5" cstate="print"/>
            <a:stretch>
              <a:fillRect/>
            </a:stretch>
          </p:blipFill>
          <p:spPr>
            <a:xfrm>
              <a:off x="1209674" y="4076699"/>
              <a:ext cx="238124" cy="238124"/>
            </a:xfrm>
            <a:prstGeom prst="rect">
              <a:avLst/>
            </a:prstGeom>
          </p:spPr>
        </p:pic>
      </p:grpSp>
      <p:grpSp>
        <p:nvGrpSpPr>
          <p:cNvPr id="36" name="object 36"/>
          <p:cNvGrpSpPr/>
          <p:nvPr/>
        </p:nvGrpSpPr>
        <p:grpSpPr>
          <a:xfrm>
            <a:off x="5391149" y="3981449"/>
            <a:ext cx="4229100" cy="428625"/>
            <a:chOff x="5391149" y="3981449"/>
            <a:chExt cx="4229100" cy="428625"/>
          </a:xfrm>
        </p:grpSpPr>
        <p:sp>
          <p:nvSpPr>
            <p:cNvPr id="37" name="object 37"/>
            <p:cNvSpPr/>
            <p:nvPr/>
          </p:nvSpPr>
          <p:spPr>
            <a:xfrm>
              <a:off x="5391149" y="3981449"/>
              <a:ext cx="4229100" cy="428625"/>
            </a:xfrm>
            <a:custGeom>
              <a:avLst/>
              <a:gdLst/>
              <a:ahLst/>
              <a:cxnLst/>
              <a:rect l="l" t="t" r="r" b="b"/>
              <a:pathLst>
                <a:path w="4229100" h="428625">
                  <a:moveTo>
                    <a:pt x="4175701" y="428624"/>
                  </a:moveTo>
                  <a:lnTo>
                    <a:pt x="53397" y="428624"/>
                  </a:lnTo>
                  <a:lnTo>
                    <a:pt x="49680" y="428258"/>
                  </a:lnTo>
                  <a:lnTo>
                    <a:pt x="14084" y="409230"/>
                  </a:lnTo>
                  <a:lnTo>
                    <a:pt x="0" y="375227"/>
                  </a:lnTo>
                  <a:lnTo>
                    <a:pt x="0" y="371474"/>
                  </a:lnTo>
                  <a:lnTo>
                    <a:pt x="0" y="53396"/>
                  </a:lnTo>
                  <a:lnTo>
                    <a:pt x="19392" y="14085"/>
                  </a:lnTo>
                  <a:lnTo>
                    <a:pt x="53397" y="0"/>
                  </a:lnTo>
                  <a:lnTo>
                    <a:pt x="4175701" y="0"/>
                  </a:lnTo>
                  <a:lnTo>
                    <a:pt x="4215013" y="19392"/>
                  </a:lnTo>
                  <a:lnTo>
                    <a:pt x="4229099" y="53396"/>
                  </a:lnTo>
                  <a:lnTo>
                    <a:pt x="4229099" y="375227"/>
                  </a:lnTo>
                  <a:lnTo>
                    <a:pt x="4209706" y="414539"/>
                  </a:lnTo>
                  <a:lnTo>
                    <a:pt x="4179417" y="428258"/>
                  </a:lnTo>
                  <a:lnTo>
                    <a:pt x="4175701" y="428624"/>
                  </a:lnTo>
                  <a:close/>
                </a:path>
              </a:pathLst>
            </a:custGeom>
            <a:solidFill>
              <a:srgbClr val="F7F9FA"/>
            </a:solidFill>
          </p:spPr>
          <p:txBody>
            <a:bodyPr wrap="square" lIns="0" tIns="0" rIns="0" bIns="0" rtlCol="0"/>
            <a:lstStyle/>
            <a:p>
              <a:endParaRPr/>
            </a:p>
          </p:txBody>
        </p:sp>
        <p:pic>
          <p:nvPicPr>
            <p:cNvPr id="38" name="object 38"/>
            <p:cNvPicPr/>
            <p:nvPr/>
          </p:nvPicPr>
          <p:blipFill>
            <a:blip r:embed="rId6" cstate="print"/>
            <a:stretch>
              <a:fillRect/>
            </a:stretch>
          </p:blipFill>
          <p:spPr>
            <a:xfrm>
              <a:off x="5524499" y="4076699"/>
              <a:ext cx="238124" cy="238124"/>
            </a:xfrm>
            <a:prstGeom prst="rect">
              <a:avLst/>
            </a:prstGeom>
          </p:spPr>
        </p:pic>
      </p:grpSp>
      <p:graphicFrame>
        <p:nvGraphicFramePr>
          <p:cNvPr id="39" name="object 39"/>
          <p:cNvGraphicFramePr>
            <a:graphicFrameLocks noGrp="1"/>
          </p:cNvGraphicFramePr>
          <p:nvPr>
            <p:extLst>
              <p:ext uri="{D42A27DB-BD31-4B8C-83A1-F6EECF244321}">
                <p14:modId xmlns:p14="http://schemas.microsoft.com/office/powerpoint/2010/main" val="4006028909"/>
              </p:ext>
            </p:extLst>
          </p:nvPr>
        </p:nvGraphicFramePr>
        <p:xfrm>
          <a:off x="1251148" y="1927454"/>
          <a:ext cx="6494779" cy="2332990"/>
        </p:xfrm>
        <a:graphic>
          <a:graphicData uri="http://schemas.openxmlformats.org/drawingml/2006/table">
            <a:tbl>
              <a:tblPr firstRow="1" bandRow="1">
                <a:tableStyleId>{2D5ABB26-0587-4C30-8999-92F81FD0307C}</a:tableStyleId>
              </a:tblPr>
              <a:tblGrid>
                <a:gridCol w="3215640">
                  <a:extLst>
                    <a:ext uri="{9D8B030D-6E8A-4147-A177-3AD203B41FA5}">
                      <a16:colId xmlns:a16="http://schemas.microsoft.com/office/drawing/2014/main" val="20000"/>
                    </a:ext>
                  </a:extLst>
                </a:gridCol>
                <a:gridCol w="1310639">
                  <a:extLst>
                    <a:ext uri="{9D8B030D-6E8A-4147-A177-3AD203B41FA5}">
                      <a16:colId xmlns:a16="http://schemas.microsoft.com/office/drawing/2014/main" val="20001"/>
                    </a:ext>
                  </a:extLst>
                </a:gridCol>
                <a:gridCol w="1968500">
                  <a:extLst>
                    <a:ext uri="{9D8B030D-6E8A-4147-A177-3AD203B41FA5}">
                      <a16:colId xmlns:a16="http://schemas.microsoft.com/office/drawing/2014/main" val="20002"/>
                    </a:ext>
                  </a:extLst>
                </a:gridCol>
              </a:tblGrid>
              <a:tr h="504190">
                <a:tc>
                  <a:txBody>
                    <a:bodyPr/>
                    <a:lstStyle/>
                    <a:p>
                      <a:pPr>
                        <a:lnSpc>
                          <a:spcPct val="100000"/>
                        </a:lnSpc>
                        <a:spcBef>
                          <a:spcPts val="260"/>
                        </a:spcBef>
                      </a:pPr>
                      <a:endParaRPr sz="900">
                        <a:latin typeface="Times New Roman"/>
                        <a:cs typeface="Times New Roman"/>
                      </a:endParaRPr>
                    </a:p>
                    <a:p>
                      <a:pPr marL="43815">
                        <a:lnSpc>
                          <a:spcPct val="100000"/>
                        </a:lnSpc>
                        <a:tabLst>
                          <a:tab pos="295275" algn="l"/>
                        </a:tabLst>
                      </a:pPr>
                      <a:r>
                        <a:rPr sz="950" b="1" dirty="0">
                          <a:solidFill>
                            <a:srgbClr val="FFFFFF"/>
                          </a:solidFill>
                          <a:latin typeface="Arial"/>
                          <a:cs typeface="Arial"/>
                        </a:rPr>
                        <a:t>3	</a:t>
                      </a:r>
                      <a:r>
                        <a:rPr sz="1000" spc="-40" dirty="0">
                          <a:solidFill>
                            <a:srgbClr val="333333"/>
                          </a:solidFill>
                          <a:latin typeface="Microsoft Sans Serif"/>
                          <a:cs typeface="Microsoft Sans Serif"/>
                        </a:rPr>
                        <a:t>Related</a:t>
                      </a:r>
                      <a:r>
                        <a:rPr sz="1000" spc="-15" dirty="0">
                          <a:solidFill>
                            <a:srgbClr val="333333"/>
                          </a:solidFill>
                          <a:latin typeface="Microsoft Sans Serif"/>
                          <a:cs typeface="Microsoft Sans Serif"/>
                        </a:rPr>
                        <a:t> </a:t>
                      </a:r>
                      <a:r>
                        <a:rPr sz="1000" spc="-35" dirty="0">
                          <a:solidFill>
                            <a:srgbClr val="333333"/>
                          </a:solidFill>
                          <a:latin typeface="Microsoft Sans Serif"/>
                          <a:cs typeface="Microsoft Sans Serif"/>
                        </a:rPr>
                        <a:t>Work</a:t>
                      </a:r>
                      <a:r>
                        <a:rPr sz="1000" spc="-15" dirty="0">
                          <a:solidFill>
                            <a:srgbClr val="333333"/>
                          </a:solidFill>
                          <a:latin typeface="Microsoft Sans Serif"/>
                          <a:cs typeface="Microsoft Sans Serif"/>
                        </a:rPr>
                        <a:t> </a:t>
                      </a:r>
                      <a:r>
                        <a:rPr sz="950" spc="55" dirty="0">
                          <a:solidFill>
                            <a:srgbClr val="333333"/>
                          </a:solidFill>
                          <a:latin typeface="Microsoft Sans Serif"/>
                          <a:cs typeface="Microsoft Sans Serif"/>
                        </a:rPr>
                        <a:t>/</a:t>
                      </a:r>
                      <a:r>
                        <a:rPr sz="950" spc="5" dirty="0">
                          <a:solidFill>
                            <a:srgbClr val="333333"/>
                          </a:solidFill>
                          <a:latin typeface="Microsoft Sans Serif"/>
                          <a:cs typeface="Microsoft Sans Serif"/>
                        </a:rPr>
                        <a:t> </a:t>
                      </a:r>
                      <a:r>
                        <a:rPr sz="1000" spc="-10" dirty="0">
                          <a:solidFill>
                            <a:srgbClr val="333333"/>
                          </a:solidFill>
                          <a:latin typeface="Microsoft Sans Serif"/>
                          <a:cs typeface="Microsoft Sans Serif"/>
                        </a:rPr>
                        <a:t>Applications</a:t>
                      </a:r>
                      <a:endParaRPr sz="1000">
                        <a:latin typeface="Microsoft Sans Serif"/>
                        <a:cs typeface="Microsoft Sans Serif"/>
                      </a:endParaRPr>
                    </a:p>
                  </a:txBody>
                  <a:tcPr marL="0" marR="0" marT="33020" marB="0"/>
                </a:tc>
                <a:tc>
                  <a:txBody>
                    <a:bodyPr/>
                    <a:lstStyle/>
                    <a:p>
                      <a:pPr>
                        <a:lnSpc>
                          <a:spcPct val="100000"/>
                        </a:lnSpc>
                        <a:spcBef>
                          <a:spcPts val="310"/>
                        </a:spcBef>
                      </a:pPr>
                      <a:endParaRPr sz="900">
                        <a:latin typeface="Times New Roman"/>
                        <a:cs typeface="Times New Roman"/>
                      </a:endParaRPr>
                    </a:p>
                    <a:p>
                      <a:pPr marR="92075" algn="r">
                        <a:lnSpc>
                          <a:spcPct val="100000"/>
                        </a:lnSpc>
                      </a:pPr>
                      <a:r>
                        <a:rPr sz="950" b="1" spc="25" dirty="0">
                          <a:solidFill>
                            <a:srgbClr val="FFFFFF"/>
                          </a:solidFill>
                          <a:latin typeface="Arial"/>
                          <a:cs typeface="Arial"/>
                        </a:rPr>
                        <a:t>4</a:t>
                      </a:r>
                      <a:endParaRPr sz="950">
                        <a:latin typeface="Arial"/>
                        <a:cs typeface="Arial"/>
                      </a:endParaRPr>
                    </a:p>
                  </a:txBody>
                  <a:tcPr marL="0" marR="0" marT="39370" marB="0"/>
                </a:tc>
                <a:tc>
                  <a:txBody>
                    <a:bodyPr/>
                    <a:lstStyle/>
                    <a:p>
                      <a:pPr>
                        <a:lnSpc>
                          <a:spcPct val="100000"/>
                        </a:lnSpc>
                        <a:spcBef>
                          <a:spcPts val="260"/>
                        </a:spcBef>
                      </a:pPr>
                      <a:endParaRPr sz="900">
                        <a:latin typeface="Times New Roman"/>
                        <a:cs typeface="Times New Roman"/>
                      </a:endParaRPr>
                    </a:p>
                    <a:p>
                      <a:pPr marL="75565">
                        <a:lnSpc>
                          <a:spcPct val="100000"/>
                        </a:lnSpc>
                      </a:pPr>
                      <a:r>
                        <a:rPr sz="1000" spc="-25" dirty="0">
                          <a:solidFill>
                            <a:srgbClr val="333333"/>
                          </a:solidFill>
                          <a:latin typeface="Microsoft Sans Serif"/>
                          <a:cs typeface="Microsoft Sans Serif"/>
                        </a:rPr>
                        <a:t>Proposed</a:t>
                      </a:r>
                      <a:r>
                        <a:rPr sz="1000" spc="-20" dirty="0">
                          <a:solidFill>
                            <a:srgbClr val="333333"/>
                          </a:solidFill>
                          <a:latin typeface="Microsoft Sans Serif"/>
                          <a:cs typeface="Microsoft Sans Serif"/>
                        </a:rPr>
                        <a:t> </a:t>
                      </a:r>
                      <a:r>
                        <a:rPr sz="1000" spc="-25" dirty="0">
                          <a:solidFill>
                            <a:srgbClr val="333333"/>
                          </a:solidFill>
                          <a:latin typeface="Microsoft Sans Serif"/>
                          <a:cs typeface="Microsoft Sans Serif"/>
                        </a:rPr>
                        <a:t>Solution</a:t>
                      </a:r>
                      <a:r>
                        <a:rPr sz="1000" spc="-20" dirty="0">
                          <a:solidFill>
                            <a:srgbClr val="333333"/>
                          </a:solidFill>
                          <a:latin typeface="Microsoft Sans Serif"/>
                          <a:cs typeface="Microsoft Sans Serif"/>
                        </a:rPr>
                        <a:t> </a:t>
                      </a:r>
                      <a:r>
                        <a:rPr sz="950" spc="-20" dirty="0">
                          <a:solidFill>
                            <a:srgbClr val="333333"/>
                          </a:solidFill>
                          <a:latin typeface="Microsoft Sans Serif"/>
                          <a:cs typeface="Microsoft Sans Serif"/>
                        </a:rPr>
                        <a:t>(</a:t>
                      </a:r>
                      <a:r>
                        <a:rPr sz="1000" spc="-20" dirty="0">
                          <a:solidFill>
                            <a:srgbClr val="333333"/>
                          </a:solidFill>
                          <a:latin typeface="Microsoft Sans Serif"/>
                          <a:cs typeface="Microsoft Sans Serif"/>
                        </a:rPr>
                        <a:t>Our Work</a:t>
                      </a:r>
                      <a:r>
                        <a:rPr sz="950" spc="-20" dirty="0">
                          <a:solidFill>
                            <a:srgbClr val="333333"/>
                          </a:solidFill>
                          <a:latin typeface="Microsoft Sans Serif"/>
                          <a:cs typeface="Microsoft Sans Serif"/>
                        </a:rPr>
                        <a:t>)</a:t>
                      </a:r>
                      <a:endParaRPr sz="950">
                        <a:latin typeface="Microsoft Sans Serif"/>
                        <a:cs typeface="Microsoft Sans Serif"/>
                      </a:endParaRPr>
                    </a:p>
                  </a:txBody>
                  <a:tcPr marL="0" marR="0" marT="33020" marB="0"/>
                </a:tc>
                <a:extLst>
                  <a:ext uri="{0D108BD9-81ED-4DB2-BD59-A6C34878D82A}">
                    <a16:rowId xmlns:a16="http://schemas.microsoft.com/office/drawing/2014/main" val="10000"/>
                  </a:ext>
                </a:extLst>
              </a:tr>
              <a:tr h="504190">
                <a:tc>
                  <a:txBody>
                    <a:bodyPr/>
                    <a:lstStyle/>
                    <a:p>
                      <a:pPr>
                        <a:lnSpc>
                          <a:spcPct val="100000"/>
                        </a:lnSpc>
                        <a:spcBef>
                          <a:spcPts val="260"/>
                        </a:spcBef>
                      </a:pPr>
                      <a:endParaRPr sz="900">
                        <a:latin typeface="Times New Roman"/>
                        <a:cs typeface="Times New Roman"/>
                      </a:endParaRPr>
                    </a:p>
                    <a:p>
                      <a:pPr marL="45085">
                        <a:lnSpc>
                          <a:spcPct val="100000"/>
                        </a:lnSpc>
                        <a:tabLst>
                          <a:tab pos="295275" algn="l"/>
                        </a:tabLst>
                      </a:pPr>
                      <a:r>
                        <a:rPr sz="950" b="1" spc="-50" dirty="0">
                          <a:solidFill>
                            <a:srgbClr val="FFFFFF"/>
                          </a:solidFill>
                          <a:latin typeface="Arial"/>
                          <a:cs typeface="Arial"/>
                        </a:rPr>
                        <a:t>5</a:t>
                      </a:r>
                      <a:r>
                        <a:rPr sz="950" b="1" dirty="0">
                          <a:solidFill>
                            <a:srgbClr val="FFFFFF"/>
                          </a:solidFill>
                          <a:latin typeface="Arial"/>
                          <a:cs typeface="Arial"/>
                        </a:rPr>
                        <a:t>	</a:t>
                      </a:r>
                      <a:r>
                        <a:rPr sz="1000" spc="-30" dirty="0">
                          <a:solidFill>
                            <a:srgbClr val="333333"/>
                          </a:solidFill>
                          <a:latin typeface="Microsoft Sans Serif"/>
                          <a:cs typeface="Microsoft Sans Serif"/>
                        </a:rPr>
                        <a:t>System </a:t>
                      </a:r>
                      <a:r>
                        <a:rPr sz="1000" spc="-10" dirty="0">
                          <a:solidFill>
                            <a:srgbClr val="333333"/>
                          </a:solidFill>
                          <a:latin typeface="Microsoft Sans Serif"/>
                          <a:cs typeface="Microsoft Sans Serif"/>
                        </a:rPr>
                        <a:t>Overview</a:t>
                      </a:r>
                      <a:endParaRPr sz="1000">
                        <a:latin typeface="Microsoft Sans Serif"/>
                        <a:cs typeface="Microsoft Sans Serif"/>
                      </a:endParaRPr>
                    </a:p>
                  </a:txBody>
                  <a:tcPr marL="0" marR="0" marT="33020" marB="0"/>
                </a:tc>
                <a:tc>
                  <a:txBody>
                    <a:bodyPr/>
                    <a:lstStyle/>
                    <a:p>
                      <a:pPr>
                        <a:lnSpc>
                          <a:spcPct val="100000"/>
                        </a:lnSpc>
                        <a:spcBef>
                          <a:spcPts val="310"/>
                        </a:spcBef>
                      </a:pPr>
                      <a:endParaRPr sz="900">
                        <a:latin typeface="Times New Roman"/>
                        <a:cs typeface="Times New Roman"/>
                      </a:endParaRPr>
                    </a:p>
                    <a:p>
                      <a:pPr marR="93980" algn="r">
                        <a:lnSpc>
                          <a:spcPct val="100000"/>
                        </a:lnSpc>
                      </a:pPr>
                      <a:r>
                        <a:rPr sz="950" b="1" dirty="0">
                          <a:solidFill>
                            <a:srgbClr val="FFFFFF"/>
                          </a:solidFill>
                          <a:latin typeface="Arial"/>
                          <a:cs typeface="Arial"/>
                        </a:rPr>
                        <a:t>6</a:t>
                      </a:r>
                      <a:endParaRPr sz="950">
                        <a:latin typeface="Arial"/>
                        <a:cs typeface="Arial"/>
                      </a:endParaRPr>
                    </a:p>
                  </a:txBody>
                  <a:tcPr marL="0" marR="0" marT="39370" marB="0"/>
                </a:tc>
                <a:tc>
                  <a:txBody>
                    <a:bodyPr/>
                    <a:lstStyle/>
                    <a:p>
                      <a:pPr>
                        <a:lnSpc>
                          <a:spcPct val="100000"/>
                        </a:lnSpc>
                        <a:spcBef>
                          <a:spcPts val="260"/>
                        </a:spcBef>
                      </a:pPr>
                      <a:endParaRPr sz="900">
                        <a:latin typeface="Times New Roman"/>
                        <a:cs typeface="Times New Roman"/>
                      </a:endParaRPr>
                    </a:p>
                    <a:p>
                      <a:pPr marL="75565">
                        <a:lnSpc>
                          <a:spcPct val="100000"/>
                        </a:lnSpc>
                      </a:pPr>
                      <a:r>
                        <a:rPr sz="1000" spc="-60" dirty="0">
                          <a:solidFill>
                            <a:srgbClr val="333333"/>
                          </a:solidFill>
                          <a:latin typeface="Microsoft Sans Serif"/>
                          <a:cs typeface="Microsoft Sans Serif"/>
                        </a:rPr>
                        <a:t>Key</a:t>
                      </a:r>
                      <a:r>
                        <a:rPr sz="1000" spc="10" dirty="0">
                          <a:solidFill>
                            <a:srgbClr val="333333"/>
                          </a:solidFill>
                          <a:latin typeface="Microsoft Sans Serif"/>
                          <a:cs typeface="Microsoft Sans Serif"/>
                        </a:rPr>
                        <a:t> </a:t>
                      </a:r>
                      <a:r>
                        <a:rPr sz="1000" spc="-10" dirty="0">
                          <a:solidFill>
                            <a:srgbClr val="333333"/>
                          </a:solidFill>
                          <a:latin typeface="Microsoft Sans Serif"/>
                          <a:cs typeface="Microsoft Sans Serif"/>
                        </a:rPr>
                        <a:t>Functionalities</a:t>
                      </a:r>
                      <a:endParaRPr sz="1000">
                        <a:latin typeface="Microsoft Sans Serif"/>
                        <a:cs typeface="Microsoft Sans Serif"/>
                      </a:endParaRPr>
                    </a:p>
                  </a:txBody>
                  <a:tcPr marL="0" marR="0" marT="33020" marB="0"/>
                </a:tc>
                <a:extLst>
                  <a:ext uri="{0D108BD9-81ED-4DB2-BD59-A6C34878D82A}">
                    <a16:rowId xmlns:a16="http://schemas.microsoft.com/office/drawing/2014/main" val="10001"/>
                  </a:ext>
                </a:extLst>
              </a:tr>
              <a:tr h="504190">
                <a:tc>
                  <a:txBody>
                    <a:bodyPr/>
                    <a:lstStyle/>
                    <a:p>
                      <a:pPr>
                        <a:lnSpc>
                          <a:spcPct val="100000"/>
                        </a:lnSpc>
                        <a:spcBef>
                          <a:spcPts val="260"/>
                        </a:spcBef>
                      </a:pPr>
                      <a:endParaRPr sz="900">
                        <a:latin typeface="Times New Roman"/>
                        <a:cs typeface="Times New Roman"/>
                      </a:endParaRPr>
                    </a:p>
                    <a:p>
                      <a:pPr marL="47625">
                        <a:lnSpc>
                          <a:spcPct val="100000"/>
                        </a:lnSpc>
                        <a:tabLst>
                          <a:tab pos="295275" algn="l"/>
                        </a:tabLst>
                      </a:pPr>
                      <a:r>
                        <a:rPr sz="950" b="1" spc="-50" dirty="0">
                          <a:solidFill>
                            <a:srgbClr val="FFFFFF"/>
                          </a:solidFill>
                          <a:latin typeface="Arial"/>
                          <a:cs typeface="Arial"/>
                        </a:rPr>
                        <a:t>7</a:t>
                      </a:r>
                      <a:r>
                        <a:rPr sz="950" b="1" dirty="0">
                          <a:solidFill>
                            <a:srgbClr val="FFFFFF"/>
                          </a:solidFill>
                          <a:latin typeface="Arial"/>
                          <a:cs typeface="Arial"/>
                        </a:rPr>
                        <a:t>	</a:t>
                      </a:r>
                      <a:r>
                        <a:rPr sz="1000" spc="-45" dirty="0">
                          <a:solidFill>
                            <a:srgbClr val="333333"/>
                          </a:solidFill>
                          <a:latin typeface="Microsoft Sans Serif"/>
                          <a:cs typeface="Microsoft Sans Serif"/>
                        </a:rPr>
                        <a:t>UML</a:t>
                      </a:r>
                      <a:r>
                        <a:rPr sz="1000" spc="-25" dirty="0">
                          <a:solidFill>
                            <a:srgbClr val="333333"/>
                          </a:solidFill>
                          <a:latin typeface="Microsoft Sans Serif"/>
                          <a:cs typeface="Microsoft Sans Serif"/>
                        </a:rPr>
                        <a:t> </a:t>
                      </a:r>
                      <a:r>
                        <a:rPr sz="950" spc="55" dirty="0">
                          <a:solidFill>
                            <a:srgbClr val="333333"/>
                          </a:solidFill>
                          <a:latin typeface="Microsoft Sans Serif"/>
                          <a:cs typeface="Microsoft Sans Serif"/>
                        </a:rPr>
                        <a:t>/</a:t>
                      </a:r>
                      <a:r>
                        <a:rPr sz="950" spc="-15" dirty="0">
                          <a:solidFill>
                            <a:srgbClr val="333333"/>
                          </a:solidFill>
                          <a:latin typeface="Microsoft Sans Serif"/>
                          <a:cs typeface="Microsoft Sans Serif"/>
                        </a:rPr>
                        <a:t> </a:t>
                      </a:r>
                      <a:r>
                        <a:rPr sz="1000" spc="-10" dirty="0">
                          <a:solidFill>
                            <a:srgbClr val="333333"/>
                          </a:solidFill>
                          <a:latin typeface="Microsoft Sans Serif"/>
                          <a:cs typeface="Microsoft Sans Serif"/>
                        </a:rPr>
                        <a:t>Architecture</a:t>
                      </a:r>
                      <a:r>
                        <a:rPr sz="1000" spc="-25" dirty="0">
                          <a:solidFill>
                            <a:srgbClr val="333333"/>
                          </a:solidFill>
                          <a:latin typeface="Microsoft Sans Serif"/>
                          <a:cs typeface="Microsoft Sans Serif"/>
                        </a:rPr>
                        <a:t> </a:t>
                      </a:r>
                      <a:r>
                        <a:rPr sz="1000" spc="-10" dirty="0">
                          <a:solidFill>
                            <a:srgbClr val="333333"/>
                          </a:solidFill>
                          <a:latin typeface="Microsoft Sans Serif"/>
                          <a:cs typeface="Microsoft Sans Serif"/>
                        </a:rPr>
                        <a:t>Diagrams</a:t>
                      </a:r>
                      <a:endParaRPr sz="1000">
                        <a:latin typeface="Microsoft Sans Serif"/>
                        <a:cs typeface="Microsoft Sans Serif"/>
                      </a:endParaRPr>
                    </a:p>
                  </a:txBody>
                  <a:tcPr marL="0" marR="0" marT="33020" marB="0"/>
                </a:tc>
                <a:tc>
                  <a:txBody>
                    <a:bodyPr/>
                    <a:lstStyle/>
                    <a:p>
                      <a:pPr>
                        <a:lnSpc>
                          <a:spcPct val="100000"/>
                        </a:lnSpc>
                        <a:spcBef>
                          <a:spcPts val="310"/>
                        </a:spcBef>
                      </a:pPr>
                      <a:endParaRPr sz="900">
                        <a:latin typeface="Times New Roman"/>
                        <a:cs typeface="Times New Roman"/>
                      </a:endParaRPr>
                    </a:p>
                    <a:p>
                      <a:pPr marR="93345" algn="r">
                        <a:lnSpc>
                          <a:spcPct val="100000"/>
                        </a:lnSpc>
                      </a:pPr>
                      <a:r>
                        <a:rPr sz="950" b="1" dirty="0">
                          <a:solidFill>
                            <a:srgbClr val="FFFFFF"/>
                          </a:solidFill>
                          <a:latin typeface="Arial"/>
                          <a:cs typeface="Arial"/>
                        </a:rPr>
                        <a:t>8</a:t>
                      </a:r>
                      <a:endParaRPr sz="950">
                        <a:latin typeface="Arial"/>
                        <a:cs typeface="Arial"/>
                      </a:endParaRPr>
                    </a:p>
                  </a:txBody>
                  <a:tcPr marL="0" marR="0" marT="39370" marB="0"/>
                </a:tc>
                <a:tc>
                  <a:txBody>
                    <a:bodyPr/>
                    <a:lstStyle/>
                    <a:p>
                      <a:pPr>
                        <a:lnSpc>
                          <a:spcPct val="100000"/>
                        </a:lnSpc>
                        <a:spcBef>
                          <a:spcPts val="260"/>
                        </a:spcBef>
                      </a:pPr>
                      <a:endParaRPr sz="900">
                        <a:latin typeface="Times New Roman"/>
                        <a:cs typeface="Times New Roman"/>
                      </a:endParaRPr>
                    </a:p>
                    <a:p>
                      <a:pPr marL="75565">
                        <a:lnSpc>
                          <a:spcPct val="100000"/>
                        </a:lnSpc>
                      </a:pPr>
                      <a:r>
                        <a:rPr sz="1000" spc="-10" dirty="0">
                          <a:solidFill>
                            <a:srgbClr val="333333"/>
                          </a:solidFill>
                          <a:latin typeface="Microsoft Sans Serif"/>
                          <a:cs typeface="Microsoft Sans Serif"/>
                        </a:rPr>
                        <a:t>Methodology</a:t>
                      </a:r>
                      <a:r>
                        <a:rPr sz="1000" spc="-15" dirty="0">
                          <a:solidFill>
                            <a:srgbClr val="333333"/>
                          </a:solidFill>
                          <a:latin typeface="Microsoft Sans Serif"/>
                          <a:cs typeface="Microsoft Sans Serif"/>
                        </a:rPr>
                        <a:t> </a:t>
                      </a:r>
                      <a:r>
                        <a:rPr sz="950" spc="55" dirty="0">
                          <a:solidFill>
                            <a:srgbClr val="333333"/>
                          </a:solidFill>
                          <a:latin typeface="Microsoft Sans Serif"/>
                          <a:cs typeface="Microsoft Sans Serif"/>
                        </a:rPr>
                        <a:t>/</a:t>
                      </a:r>
                      <a:r>
                        <a:rPr sz="950" dirty="0">
                          <a:solidFill>
                            <a:srgbClr val="333333"/>
                          </a:solidFill>
                          <a:latin typeface="Microsoft Sans Serif"/>
                          <a:cs typeface="Microsoft Sans Serif"/>
                        </a:rPr>
                        <a:t> </a:t>
                      </a:r>
                      <a:r>
                        <a:rPr sz="1000" spc="-30" dirty="0">
                          <a:solidFill>
                            <a:srgbClr val="333333"/>
                          </a:solidFill>
                          <a:latin typeface="Microsoft Sans Serif"/>
                          <a:cs typeface="Microsoft Sans Serif"/>
                        </a:rPr>
                        <a:t>Development</a:t>
                      </a:r>
                      <a:r>
                        <a:rPr sz="1000" spc="-10" dirty="0">
                          <a:solidFill>
                            <a:srgbClr val="333333"/>
                          </a:solidFill>
                          <a:latin typeface="Microsoft Sans Serif"/>
                          <a:cs typeface="Microsoft Sans Serif"/>
                        </a:rPr>
                        <a:t> </a:t>
                      </a:r>
                      <a:r>
                        <a:rPr sz="1000" spc="-20" dirty="0">
                          <a:solidFill>
                            <a:srgbClr val="333333"/>
                          </a:solidFill>
                          <a:latin typeface="Microsoft Sans Serif"/>
                          <a:cs typeface="Microsoft Sans Serif"/>
                        </a:rPr>
                        <a:t>Plan</a:t>
                      </a:r>
                      <a:endParaRPr sz="1000">
                        <a:latin typeface="Microsoft Sans Serif"/>
                        <a:cs typeface="Microsoft Sans Serif"/>
                      </a:endParaRPr>
                    </a:p>
                  </a:txBody>
                  <a:tcPr marL="0" marR="0" marT="33020" marB="0"/>
                </a:tc>
                <a:extLst>
                  <a:ext uri="{0D108BD9-81ED-4DB2-BD59-A6C34878D82A}">
                    <a16:rowId xmlns:a16="http://schemas.microsoft.com/office/drawing/2014/main" val="10002"/>
                  </a:ext>
                </a:extLst>
              </a:tr>
              <a:tr h="504190">
                <a:tc>
                  <a:txBody>
                    <a:bodyPr/>
                    <a:lstStyle/>
                    <a:p>
                      <a:pPr>
                        <a:lnSpc>
                          <a:spcPct val="100000"/>
                        </a:lnSpc>
                        <a:spcBef>
                          <a:spcPts val="260"/>
                        </a:spcBef>
                      </a:pPr>
                      <a:endParaRPr sz="900">
                        <a:latin typeface="Times New Roman"/>
                        <a:cs typeface="Times New Roman"/>
                      </a:endParaRPr>
                    </a:p>
                    <a:p>
                      <a:pPr marL="43815">
                        <a:lnSpc>
                          <a:spcPct val="100000"/>
                        </a:lnSpc>
                        <a:tabLst>
                          <a:tab pos="295275" algn="l"/>
                        </a:tabLst>
                      </a:pPr>
                      <a:r>
                        <a:rPr sz="950" b="1" dirty="0">
                          <a:solidFill>
                            <a:srgbClr val="FFFFFF"/>
                          </a:solidFill>
                          <a:latin typeface="Arial"/>
                          <a:cs typeface="Arial"/>
                        </a:rPr>
                        <a:t>9	</a:t>
                      </a:r>
                      <a:r>
                        <a:rPr sz="1000" spc="-25" dirty="0">
                          <a:solidFill>
                            <a:srgbClr val="333333"/>
                          </a:solidFill>
                          <a:latin typeface="Microsoft Sans Serif"/>
                          <a:cs typeface="Microsoft Sans Serif"/>
                        </a:rPr>
                        <a:t>Tools</a:t>
                      </a:r>
                      <a:r>
                        <a:rPr sz="950" spc="-25" dirty="0">
                          <a:solidFill>
                            <a:srgbClr val="333333"/>
                          </a:solidFill>
                          <a:latin typeface="Microsoft Sans Serif"/>
                          <a:cs typeface="Microsoft Sans Serif"/>
                        </a:rPr>
                        <a:t>,</a:t>
                      </a:r>
                      <a:r>
                        <a:rPr sz="950" spc="-10" dirty="0">
                          <a:solidFill>
                            <a:srgbClr val="333333"/>
                          </a:solidFill>
                          <a:latin typeface="Microsoft Sans Serif"/>
                          <a:cs typeface="Microsoft Sans Serif"/>
                        </a:rPr>
                        <a:t> </a:t>
                      </a:r>
                      <a:r>
                        <a:rPr sz="1000" spc="-35" dirty="0">
                          <a:solidFill>
                            <a:srgbClr val="333333"/>
                          </a:solidFill>
                          <a:latin typeface="Microsoft Sans Serif"/>
                          <a:cs typeface="Microsoft Sans Serif"/>
                        </a:rPr>
                        <a:t>Frameworks</a:t>
                      </a:r>
                      <a:r>
                        <a:rPr sz="1000" spc="-25" dirty="0">
                          <a:solidFill>
                            <a:srgbClr val="333333"/>
                          </a:solidFill>
                          <a:latin typeface="Microsoft Sans Serif"/>
                          <a:cs typeface="Microsoft Sans Serif"/>
                        </a:rPr>
                        <a:t> </a:t>
                      </a:r>
                      <a:r>
                        <a:rPr sz="1000" spc="-20" dirty="0">
                          <a:solidFill>
                            <a:srgbClr val="333333"/>
                          </a:solidFill>
                          <a:latin typeface="Microsoft Sans Serif"/>
                          <a:cs typeface="Microsoft Sans Serif"/>
                        </a:rPr>
                        <a:t>and </a:t>
                      </a:r>
                      <a:r>
                        <a:rPr sz="1000" spc="-10" dirty="0">
                          <a:solidFill>
                            <a:srgbClr val="333333"/>
                          </a:solidFill>
                          <a:latin typeface="Microsoft Sans Serif"/>
                          <a:cs typeface="Microsoft Sans Serif"/>
                        </a:rPr>
                        <a:t>Approach</a:t>
                      </a:r>
                      <a:endParaRPr sz="1000">
                        <a:latin typeface="Microsoft Sans Serif"/>
                        <a:cs typeface="Microsoft Sans Serif"/>
                      </a:endParaRPr>
                    </a:p>
                  </a:txBody>
                  <a:tcPr marL="0" marR="0" marT="33020" marB="0"/>
                </a:tc>
                <a:tc>
                  <a:txBody>
                    <a:bodyPr/>
                    <a:lstStyle/>
                    <a:p>
                      <a:pPr>
                        <a:lnSpc>
                          <a:spcPct val="100000"/>
                        </a:lnSpc>
                        <a:spcBef>
                          <a:spcPts val="310"/>
                        </a:spcBef>
                      </a:pPr>
                      <a:endParaRPr sz="900">
                        <a:latin typeface="Times New Roman"/>
                        <a:cs typeface="Times New Roman"/>
                      </a:endParaRPr>
                    </a:p>
                    <a:p>
                      <a:pPr marR="67945" algn="r">
                        <a:lnSpc>
                          <a:spcPct val="100000"/>
                        </a:lnSpc>
                      </a:pPr>
                      <a:r>
                        <a:rPr sz="950" b="1" spc="-25" dirty="0">
                          <a:solidFill>
                            <a:srgbClr val="FFFFFF"/>
                          </a:solidFill>
                          <a:latin typeface="Arial"/>
                          <a:cs typeface="Arial"/>
                        </a:rPr>
                        <a:t>10</a:t>
                      </a:r>
                      <a:endParaRPr sz="950">
                        <a:latin typeface="Arial"/>
                        <a:cs typeface="Arial"/>
                      </a:endParaRPr>
                    </a:p>
                  </a:txBody>
                  <a:tcPr marL="0" marR="0" marT="39370" marB="0"/>
                </a:tc>
                <a:tc>
                  <a:txBody>
                    <a:bodyPr/>
                    <a:lstStyle/>
                    <a:p>
                      <a:pPr>
                        <a:lnSpc>
                          <a:spcPct val="100000"/>
                        </a:lnSpc>
                        <a:spcBef>
                          <a:spcPts val="260"/>
                        </a:spcBef>
                      </a:pPr>
                      <a:endParaRPr sz="900">
                        <a:latin typeface="Times New Roman"/>
                        <a:cs typeface="Times New Roman"/>
                      </a:endParaRPr>
                    </a:p>
                    <a:p>
                      <a:pPr marL="75565">
                        <a:lnSpc>
                          <a:spcPct val="100000"/>
                        </a:lnSpc>
                      </a:pPr>
                      <a:r>
                        <a:rPr sz="1000" spc="-25" dirty="0">
                          <a:solidFill>
                            <a:srgbClr val="333333"/>
                          </a:solidFill>
                          <a:latin typeface="Microsoft Sans Serif"/>
                          <a:cs typeface="Microsoft Sans Serif"/>
                        </a:rPr>
                        <a:t>Expected</a:t>
                      </a:r>
                      <a:r>
                        <a:rPr sz="1000" spc="-15" dirty="0">
                          <a:solidFill>
                            <a:srgbClr val="333333"/>
                          </a:solidFill>
                          <a:latin typeface="Microsoft Sans Serif"/>
                          <a:cs typeface="Microsoft Sans Serif"/>
                        </a:rPr>
                        <a:t> </a:t>
                      </a:r>
                      <a:r>
                        <a:rPr sz="1000" spc="-10" dirty="0">
                          <a:solidFill>
                            <a:srgbClr val="333333"/>
                          </a:solidFill>
                          <a:latin typeface="Microsoft Sans Serif"/>
                          <a:cs typeface="Microsoft Sans Serif"/>
                        </a:rPr>
                        <a:t>Outcomes</a:t>
                      </a:r>
                      <a:endParaRPr sz="1000">
                        <a:latin typeface="Microsoft Sans Serif"/>
                        <a:cs typeface="Microsoft Sans Serif"/>
                      </a:endParaRPr>
                    </a:p>
                  </a:txBody>
                  <a:tcPr marL="0" marR="0" marT="33020" marB="0"/>
                </a:tc>
                <a:extLst>
                  <a:ext uri="{0D108BD9-81ED-4DB2-BD59-A6C34878D82A}">
                    <a16:rowId xmlns:a16="http://schemas.microsoft.com/office/drawing/2014/main" val="10003"/>
                  </a:ext>
                </a:extLst>
              </a:tr>
              <a:tr h="316230">
                <a:tc>
                  <a:txBody>
                    <a:bodyPr/>
                    <a:lstStyle/>
                    <a:p>
                      <a:pPr>
                        <a:lnSpc>
                          <a:spcPct val="100000"/>
                        </a:lnSpc>
                        <a:spcBef>
                          <a:spcPts val="260"/>
                        </a:spcBef>
                      </a:pPr>
                      <a:endParaRPr sz="900" dirty="0">
                        <a:latin typeface="Times New Roman"/>
                        <a:cs typeface="Times New Roman"/>
                      </a:endParaRPr>
                    </a:p>
                    <a:p>
                      <a:pPr marL="31750">
                        <a:lnSpc>
                          <a:spcPts val="1095"/>
                        </a:lnSpc>
                        <a:tabLst>
                          <a:tab pos="295275" algn="l"/>
                        </a:tabLst>
                      </a:pPr>
                      <a:r>
                        <a:rPr sz="950" b="1" spc="-25" dirty="0">
                          <a:solidFill>
                            <a:srgbClr val="FFFFFF"/>
                          </a:solidFill>
                          <a:latin typeface="Arial"/>
                          <a:cs typeface="Arial"/>
                        </a:rPr>
                        <a:t>11</a:t>
                      </a:r>
                      <a:r>
                        <a:rPr sz="950" b="1" dirty="0">
                          <a:solidFill>
                            <a:srgbClr val="FFFFFF"/>
                          </a:solidFill>
                          <a:latin typeface="Arial"/>
                          <a:cs typeface="Arial"/>
                        </a:rPr>
                        <a:t>	</a:t>
                      </a:r>
                      <a:r>
                        <a:rPr sz="1000" spc="-25" dirty="0">
                          <a:solidFill>
                            <a:srgbClr val="333333"/>
                          </a:solidFill>
                          <a:latin typeface="Microsoft Sans Serif"/>
                          <a:cs typeface="Microsoft Sans Serif"/>
                        </a:rPr>
                        <a:t>Scope</a:t>
                      </a:r>
                      <a:r>
                        <a:rPr sz="1000" spc="-40" dirty="0">
                          <a:solidFill>
                            <a:srgbClr val="333333"/>
                          </a:solidFill>
                          <a:latin typeface="Microsoft Sans Serif"/>
                          <a:cs typeface="Microsoft Sans Serif"/>
                        </a:rPr>
                        <a:t> </a:t>
                      </a:r>
                      <a:r>
                        <a:rPr sz="1000" spc="-20" dirty="0">
                          <a:solidFill>
                            <a:srgbClr val="333333"/>
                          </a:solidFill>
                          <a:latin typeface="Microsoft Sans Serif"/>
                          <a:cs typeface="Microsoft Sans Serif"/>
                        </a:rPr>
                        <a:t>and</a:t>
                      </a:r>
                      <a:r>
                        <a:rPr sz="1000" spc="-35" dirty="0">
                          <a:solidFill>
                            <a:srgbClr val="333333"/>
                          </a:solidFill>
                          <a:latin typeface="Microsoft Sans Serif"/>
                          <a:cs typeface="Microsoft Sans Serif"/>
                        </a:rPr>
                        <a:t> </a:t>
                      </a:r>
                      <a:r>
                        <a:rPr sz="1000" spc="-10" dirty="0">
                          <a:solidFill>
                            <a:srgbClr val="333333"/>
                          </a:solidFill>
                          <a:latin typeface="Microsoft Sans Serif"/>
                          <a:cs typeface="Microsoft Sans Serif"/>
                        </a:rPr>
                        <a:t>Limitations</a:t>
                      </a:r>
                      <a:endParaRPr sz="1000" dirty="0">
                        <a:latin typeface="Microsoft Sans Serif"/>
                        <a:cs typeface="Microsoft Sans Serif"/>
                      </a:endParaRPr>
                    </a:p>
                  </a:txBody>
                  <a:tcPr marL="0" marR="0" marT="33020" marB="0"/>
                </a:tc>
                <a:tc>
                  <a:txBody>
                    <a:bodyPr/>
                    <a:lstStyle/>
                    <a:p>
                      <a:pPr>
                        <a:lnSpc>
                          <a:spcPct val="100000"/>
                        </a:lnSpc>
                        <a:spcBef>
                          <a:spcPts val="310"/>
                        </a:spcBef>
                      </a:pPr>
                      <a:endParaRPr sz="900">
                        <a:latin typeface="Times New Roman"/>
                        <a:cs typeface="Times New Roman"/>
                      </a:endParaRPr>
                    </a:p>
                    <a:p>
                      <a:pPr marR="70485" algn="r">
                        <a:lnSpc>
                          <a:spcPts val="1045"/>
                        </a:lnSpc>
                      </a:pPr>
                      <a:r>
                        <a:rPr sz="950" b="1" spc="-25" dirty="0">
                          <a:solidFill>
                            <a:srgbClr val="FFFFFF"/>
                          </a:solidFill>
                          <a:latin typeface="Arial"/>
                          <a:cs typeface="Arial"/>
                        </a:rPr>
                        <a:t>12</a:t>
                      </a:r>
                      <a:endParaRPr sz="950">
                        <a:latin typeface="Arial"/>
                        <a:cs typeface="Arial"/>
                      </a:endParaRPr>
                    </a:p>
                  </a:txBody>
                  <a:tcPr marL="0" marR="0" marT="39370" marB="0"/>
                </a:tc>
                <a:tc>
                  <a:txBody>
                    <a:bodyPr/>
                    <a:lstStyle/>
                    <a:p>
                      <a:pPr>
                        <a:lnSpc>
                          <a:spcPct val="100000"/>
                        </a:lnSpc>
                        <a:spcBef>
                          <a:spcPts val="260"/>
                        </a:spcBef>
                      </a:pPr>
                      <a:endParaRPr sz="900" dirty="0">
                        <a:latin typeface="Times New Roman"/>
                        <a:cs typeface="Times New Roman"/>
                      </a:endParaRPr>
                    </a:p>
                    <a:p>
                      <a:pPr marL="75565">
                        <a:lnSpc>
                          <a:spcPts val="1095"/>
                        </a:lnSpc>
                      </a:pPr>
                      <a:r>
                        <a:rPr sz="1000" spc="-10" dirty="0">
                          <a:solidFill>
                            <a:srgbClr val="333333"/>
                          </a:solidFill>
                          <a:latin typeface="Microsoft Sans Serif"/>
                          <a:cs typeface="Microsoft Sans Serif"/>
                        </a:rPr>
                        <a:t>References</a:t>
                      </a:r>
                      <a:endParaRPr sz="1000" dirty="0">
                        <a:latin typeface="Microsoft Sans Serif"/>
                        <a:cs typeface="Microsoft Sans Serif"/>
                      </a:endParaRPr>
                    </a:p>
                  </a:txBody>
                  <a:tcPr marL="0" marR="0" marT="33020" marB="0"/>
                </a:tc>
                <a:extLst>
                  <a:ext uri="{0D108BD9-81ED-4DB2-BD59-A6C34878D82A}">
                    <a16:rowId xmlns:a16="http://schemas.microsoft.com/office/drawing/2014/main" val="10004"/>
                  </a:ext>
                </a:extLst>
              </a:tr>
            </a:tbl>
          </a:graphicData>
        </a:graphic>
      </p:graphicFrame>
      <p:sp>
        <p:nvSpPr>
          <p:cNvPr id="40" name="object 40"/>
          <p:cNvSpPr/>
          <p:nvPr/>
        </p:nvSpPr>
        <p:spPr>
          <a:xfrm>
            <a:off x="1076324" y="6515099"/>
            <a:ext cx="8543925" cy="9525"/>
          </a:xfrm>
          <a:custGeom>
            <a:avLst/>
            <a:gdLst/>
            <a:ahLst/>
            <a:cxnLst/>
            <a:rect l="l" t="t" r="r" b="b"/>
            <a:pathLst>
              <a:path w="8543925" h="9525">
                <a:moveTo>
                  <a:pt x="8543924" y="9524"/>
                </a:moveTo>
                <a:lnTo>
                  <a:pt x="0" y="9524"/>
                </a:lnTo>
                <a:lnTo>
                  <a:pt x="0" y="0"/>
                </a:lnTo>
                <a:lnTo>
                  <a:pt x="8543924" y="0"/>
                </a:lnTo>
                <a:lnTo>
                  <a:pt x="8543924" y="9524"/>
                </a:lnTo>
                <a:close/>
              </a:path>
            </a:pathLst>
          </a:custGeom>
          <a:solidFill>
            <a:srgbClr val="EDEDED"/>
          </a:solidFill>
        </p:spPr>
        <p:txBody>
          <a:bodyPr wrap="square" lIns="0" tIns="0" rIns="0" bIns="0" rtlCol="0"/>
          <a:lstStyle/>
          <a:p>
            <a:endParaRPr/>
          </a:p>
        </p:txBody>
      </p:sp>
      <p:sp>
        <p:nvSpPr>
          <p:cNvPr id="41" name="object 41"/>
          <p:cNvSpPr txBox="1"/>
          <p:nvPr/>
        </p:nvSpPr>
        <p:spPr>
          <a:xfrm>
            <a:off x="1067196" y="6601817"/>
            <a:ext cx="1574800" cy="158115"/>
          </a:xfrm>
          <a:prstGeom prst="rect">
            <a:avLst/>
          </a:prstGeom>
        </p:spPr>
        <p:txBody>
          <a:bodyPr vert="horz" wrap="square" lIns="0" tIns="14604" rIns="0" bIns="0" rtlCol="0">
            <a:spAutoFit/>
          </a:bodyPr>
          <a:lstStyle/>
          <a:p>
            <a:pPr marL="12700">
              <a:lnSpc>
                <a:spcPct val="100000"/>
              </a:lnSpc>
              <a:spcBef>
                <a:spcPts val="114"/>
              </a:spcBef>
            </a:pPr>
            <a:r>
              <a:rPr sz="800" spc="-20" dirty="0">
                <a:solidFill>
                  <a:srgbClr val="878787"/>
                </a:solidFill>
                <a:latin typeface="Microsoft Sans Serif"/>
                <a:cs typeface="Microsoft Sans Serif"/>
              </a:rPr>
              <a:t>GoldenEye </a:t>
            </a:r>
            <a:r>
              <a:rPr sz="850" spc="-45" dirty="0">
                <a:solidFill>
                  <a:srgbClr val="878787"/>
                </a:solidFill>
                <a:latin typeface="Verdana"/>
                <a:cs typeface="Verdana"/>
              </a:rPr>
              <a:t>-</a:t>
            </a:r>
            <a:r>
              <a:rPr sz="850" spc="-90" dirty="0">
                <a:solidFill>
                  <a:srgbClr val="878787"/>
                </a:solidFill>
                <a:latin typeface="Verdana"/>
                <a:cs typeface="Verdana"/>
              </a:rPr>
              <a:t> </a:t>
            </a:r>
            <a:r>
              <a:rPr sz="800" dirty="0">
                <a:solidFill>
                  <a:srgbClr val="878787"/>
                </a:solidFill>
                <a:latin typeface="Microsoft Sans Serif"/>
                <a:cs typeface="Microsoft Sans Serif"/>
              </a:rPr>
              <a:t>AI</a:t>
            </a:r>
            <a:r>
              <a:rPr sz="800" spc="-10" dirty="0">
                <a:solidFill>
                  <a:srgbClr val="878787"/>
                </a:solidFill>
                <a:latin typeface="Microsoft Sans Serif"/>
                <a:cs typeface="Microsoft Sans Serif"/>
              </a:rPr>
              <a:t> </a:t>
            </a:r>
            <a:r>
              <a:rPr sz="800" spc="-55" dirty="0">
                <a:solidFill>
                  <a:srgbClr val="878787"/>
                </a:solidFill>
                <a:latin typeface="Microsoft Sans Serif"/>
                <a:cs typeface="Microsoft Sans Serif"/>
              </a:rPr>
              <a:t>SAR</a:t>
            </a:r>
            <a:r>
              <a:rPr sz="800" spc="-5" dirty="0">
                <a:solidFill>
                  <a:srgbClr val="878787"/>
                </a:solidFill>
                <a:latin typeface="Microsoft Sans Serif"/>
                <a:cs typeface="Microsoft Sans Serif"/>
              </a:rPr>
              <a:t> </a:t>
            </a:r>
            <a:r>
              <a:rPr sz="800" dirty="0">
                <a:solidFill>
                  <a:srgbClr val="878787"/>
                </a:solidFill>
                <a:latin typeface="Microsoft Sans Serif"/>
                <a:cs typeface="Microsoft Sans Serif"/>
              </a:rPr>
              <a:t>Drone</a:t>
            </a:r>
            <a:r>
              <a:rPr sz="800" spc="-10" dirty="0">
                <a:solidFill>
                  <a:srgbClr val="878787"/>
                </a:solidFill>
                <a:latin typeface="Microsoft Sans Serif"/>
                <a:cs typeface="Microsoft Sans Serif"/>
              </a:rPr>
              <a:t> System</a:t>
            </a:r>
            <a:endParaRPr sz="800">
              <a:latin typeface="Microsoft Sans Serif"/>
              <a:cs typeface="Microsoft Sans Serif"/>
            </a:endParaRPr>
          </a:p>
        </p:txBody>
      </p:sp>
      <p:pic>
        <p:nvPicPr>
          <p:cNvPr id="42" name="object 42"/>
          <p:cNvPicPr/>
          <p:nvPr/>
        </p:nvPicPr>
        <p:blipFill>
          <a:blip r:embed="rId7" cstate="print"/>
          <a:stretch>
            <a:fillRect/>
          </a:stretch>
        </p:blipFill>
        <p:spPr>
          <a:xfrm>
            <a:off x="9410699" y="6619874"/>
            <a:ext cx="209549" cy="209548"/>
          </a:xfrm>
          <a:prstGeom prst="rect">
            <a:avLst/>
          </a:prstGeom>
        </p:spPr>
      </p:pic>
      <p:sp>
        <p:nvSpPr>
          <p:cNvPr id="43" name="object 43"/>
          <p:cNvSpPr txBox="1"/>
          <p:nvPr/>
        </p:nvSpPr>
        <p:spPr>
          <a:xfrm>
            <a:off x="9469436" y="6645350"/>
            <a:ext cx="85090" cy="151130"/>
          </a:xfrm>
          <a:prstGeom prst="rect">
            <a:avLst/>
          </a:prstGeom>
        </p:spPr>
        <p:txBody>
          <a:bodyPr vert="horz" wrap="square" lIns="0" tIns="15875" rIns="0" bIns="0" rtlCol="0">
            <a:spAutoFit/>
          </a:bodyPr>
          <a:lstStyle/>
          <a:p>
            <a:pPr marL="12700">
              <a:lnSpc>
                <a:spcPct val="100000"/>
              </a:lnSpc>
              <a:spcBef>
                <a:spcPts val="125"/>
              </a:spcBef>
            </a:pPr>
            <a:r>
              <a:rPr sz="800" b="1" spc="-50" dirty="0">
                <a:solidFill>
                  <a:srgbClr val="FFFFFF"/>
                </a:solidFill>
                <a:latin typeface="Arial"/>
                <a:cs typeface="Arial"/>
              </a:rPr>
              <a:t>2</a:t>
            </a:r>
            <a:endParaRPr sz="80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7433309">
              <a:lnSpc>
                <a:spcPct val="100000"/>
              </a:lnSpc>
              <a:spcBef>
                <a:spcPts val="100"/>
              </a:spcBef>
            </a:pPr>
            <a:r>
              <a:rPr spc="-305" dirty="0"/>
              <a:t>01</a:t>
            </a:r>
          </a:p>
        </p:txBody>
      </p:sp>
      <p:sp>
        <p:nvSpPr>
          <p:cNvPr id="3" name="object 3"/>
          <p:cNvSpPr txBox="1"/>
          <p:nvPr/>
        </p:nvSpPr>
        <p:spPr>
          <a:xfrm>
            <a:off x="3073896" y="3321050"/>
            <a:ext cx="4545608" cy="1134285"/>
          </a:xfrm>
          <a:prstGeom prst="rect">
            <a:avLst/>
          </a:prstGeom>
        </p:spPr>
        <p:txBody>
          <a:bodyPr vert="horz" wrap="square" lIns="0" tIns="13335" rIns="0" bIns="0" rtlCol="0">
            <a:spAutoFit/>
          </a:bodyPr>
          <a:lstStyle/>
          <a:p>
            <a:pPr algn="ctr">
              <a:lnSpc>
                <a:spcPct val="100000"/>
              </a:lnSpc>
              <a:spcBef>
                <a:spcPts val="105"/>
              </a:spcBef>
            </a:pPr>
            <a:r>
              <a:rPr sz="4400" b="1" spc="-140" dirty="0">
                <a:solidFill>
                  <a:srgbClr val="FFFFFF"/>
                </a:solidFill>
                <a:latin typeface="Arial"/>
                <a:cs typeface="Arial"/>
              </a:rPr>
              <a:t>Brief</a:t>
            </a:r>
            <a:r>
              <a:rPr sz="4400" b="1" spc="-365" dirty="0">
                <a:solidFill>
                  <a:srgbClr val="FFFFFF"/>
                </a:solidFill>
                <a:latin typeface="Arial"/>
                <a:cs typeface="Arial"/>
              </a:rPr>
              <a:t> </a:t>
            </a:r>
            <a:r>
              <a:rPr sz="4400" b="1" spc="-185" dirty="0">
                <a:solidFill>
                  <a:srgbClr val="FFFFFF"/>
                </a:solidFill>
                <a:latin typeface="Arial"/>
                <a:cs typeface="Arial"/>
              </a:rPr>
              <a:t>Introduction</a:t>
            </a:r>
            <a:endParaRPr sz="4400" dirty="0">
              <a:latin typeface="Arial"/>
              <a:cs typeface="Arial"/>
            </a:endParaRPr>
          </a:p>
          <a:p>
            <a:pPr algn="ctr">
              <a:lnSpc>
                <a:spcPct val="100000"/>
              </a:lnSpc>
              <a:spcBef>
                <a:spcPts val="1320"/>
              </a:spcBef>
            </a:pPr>
            <a:r>
              <a:rPr spc="-30" dirty="0">
                <a:solidFill>
                  <a:srgbClr val="FFFFFF"/>
                </a:solidFill>
                <a:latin typeface="Microsoft Sans Serif"/>
                <a:cs typeface="Microsoft Sans Serif"/>
              </a:rPr>
              <a:t>Project</a:t>
            </a:r>
            <a:r>
              <a:rPr spc="-40" dirty="0">
                <a:solidFill>
                  <a:srgbClr val="FFFFFF"/>
                </a:solidFill>
                <a:latin typeface="Microsoft Sans Serif"/>
                <a:cs typeface="Microsoft Sans Serif"/>
              </a:rPr>
              <a:t> </a:t>
            </a:r>
            <a:r>
              <a:rPr spc="-20" dirty="0">
                <a:solidFill>
                  <a:srgbClr val="FFFFFF"/>
                </a:solidFill>
                <a:latin typeface="Microsoft Sans Serif"/>
                <a:cs typeface="Microsoft Sans Serif"/>
              </a:rPr>
              <a:t>overview</a:t>
            </a:r>
            <a:r>
              <a:rPr spc="-40" dirty="0">
                <a:solidFill>
                  <a:srgbClr val="FFFFFF"/>
                </a:solidFill>
                <a:latin typeface="Microsoft Sans Serif"/>
                <a:cs typeface="Microsoft Sans Serif"/>
              </a:rPr>
              <a:t> </a:t>
            </a:r>
            <a:r>
              <a:rPr spc="-35" dirty="0">
                <a:solidFill>
                  <a:srgbClr val="FFFFFF"/>
                </a:solidFill>
                <a:latin typeface="Microsoft Sans Serif"/>
                <a:cs typeface="Microsoft Sans Serif"/>
              </a:rPr>
              <a:t>and</a:t>
            </a:r>
            <a:r>
              <a:rPr spc="-40" dirty="0">
                <a:solidFill>
                  <a:srgbClr val="FFFFFF"/>
                </a:solidFill>
                <a:latin typeface="Microsoft Sans Serif"/>
                <a:cs typeface="Microsoft Sans Serif"/>
              </a:rPr>
              <a:t> </a:t>
            </a:r>
            <a:r>
              <a:rPr spc="-10" dirty="0">
                <a:solidFill>
                  <a:srgbClr val="FFFFFF"/>
                </a:solidFill>
                <a:latin typeface="Microsoft Sans Serif"/>
                <a:cs typeface="Microsoft Sans Serif"/>
              </a:rPr>
              <a:t>context</a:t>
            </a:r>
            <a:endParaRPr dirty="0">
              <a:latin typeface="Microsoft Sans Serif"/>
              <a:cs typeface="Microsoft Sans Serif"/>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79896" y="949325"/>
            <a:ext cx="209550" cy="212725"/>
          </a:xfrm>
          <a:prstGeom prst="rect">
            <a:avLst/>
          </a:prstGeom>
        </p:spPr>
      </p:pic>
      <p:sp>
        <p:nvSpPr>
          <p:cNvPr id="3" name="object 3"/>
          <p:cNvSpPr txBox="1">
            <a:spLocks noGrp="1"/>
          </p:cNvSpPr>
          <p:nvPr>
            <p:ph type="title"/>
          </p:nvPr>
        </p:nvSpPr>
        <p:spPr>
          <a:xfrm>
            <a:off x="1384300" y="807738"/>
            <a:ext cx="3441304" cy="442429"/>
          </a:xfrm>
          <a:prstGeom prst="rect">
            <a:avLst/>
          </a:prstGeom>
        </p:spPr>
        <p:txBody>
          <a:bodyPr vert="horz" wrap="square" lIns="0" tIns="11430" rIns="0" bIns="0" rtlCol="0">
            <a:spAutoFit/>
          </a:bodyPr>
          <a:lstStyle/>
          <a:p>
            <a:pPr marL="12700">
              <a:lnSpc>
                <a:spcPct val="100000"/>
              </a:lnSpc>
              <a:spcBef>
                <a:spcPts val="90"/>
              </a:spcBef>
            </a:pPr>
            <a:r>
              <a:rPr sz="2800" spc="-100" dirty="0">
                <a:solidFill>
                  <a:srgbClr val="BF382A"/>
                </a:solidFill>
              </a:rPr>
              <a:t>Project</a:t>
            </a:r>
            <a:r>
              <a:rPr sz="2800" spc="-130" dirty="0">
                <a:solidFill>
                  <a:srgbClr val="BF382A"/>
                </a:solidFill>
              </a:rPr>
              <a:t> </a:t>
            </a:r>
            <a:r>
              <a:rPr sz="2800" spc="-95" dirty="0">
                <a:solidFill>
                  <a:srgbClr val="BF382A"/>
                </a:solidFill>
              </a:rPr>
              <a:t>Introduction</a:t>
            </a:r>
            <a:endParaRPr sz="2800" dirty="0"/>
          </a:p>
        </p:txBody>
      </p:sp>
      <p:sp>
        <p:nvSpPr>
          <p:cNvPr id="4" name="object 4"/>
          <p:cNvSpPr txBox="1"/>
          <p:nvPr/>
        </p:nvSpPr>
        <p:spPr>
          <a:xfrm>
            <a:off x="1056342" y="1404627"/>
            <a:ext cx="2498024" cy="386003"/>
          </a:xfrm>
          <a:prstGeom prst="rect">
            <a:avLst/>
          </a:prstGeom>
        </p:spPr>
        <p:txBody>
          <a:bodyPr vert="horz" wrap="square" lIns="0" tIns="16510" rIns="0" bIns="0" rtlCol="0">
            <a:spAutoFit/>
          </a:bodyPr>
          <a:lstStyle/>
          <a:p>
            <a:pPr marL="12700">
              <a:lnSpc>
                <a:spcPct val="100000"/>
              </a:lnSpc>
              <a:spcBef>
                <a:spcPts val="130"/>
              </a:spcBef>
            </a:pPr>
            <a:r>
              <a:rPr sz="2400" b="1" spc="-65" dirty="0">
                <a:solidFill>
                  <a:srgbClr val="1A1A2E"/>
                </a:solidFill>
                <a:latin typeface="Arial"/>
                <a:cs typeface="Arial"/>
              </a:rPr>
              <a:t>The</a:t>
            </a:r>
            <a:r>
              <a:rPr sz="2400" b="1" spc="-110" dirty="0">
                <a:solidFill>
                  <a:srgbClr val="1A1A2E"/>
                </a:solidFill>
                <a:latin typeface="Arial"/>
                <a:cs typeface="Arial"/>
              </a:rPr>
              <a:t> </a:t>
            </a:r>
            <a:r>
              <a:rPr sz="2400" b="1" spc="-60" dirty="0">
                <a:solidFill>
                  <a:srgbClr val="1A1A2E"/>
                </a:solidFill>
                <a:latin typeface="Arial"/>
                <a:cs typeface="Arial"/>
              </a:rPr>
              <a:t>Challenge</a:t>
            </a:r>
            <a:endParaRPr sz="2400" dirty="0">
              <a:latin typeface="Arial"/>
              <a:cs typeface="Arial"/>
            </a:endParaRPr>
          </a:p>
        </p:txBody>
      </p:sp>
      <p:sp>
        <p:nvSpPr>
          <p:cNvPr id="5" name="object 5"/>
          <p:cNvSpPr txBox="1"/>
          <p:nvPr/>
        </p:nvSpPr>
        <p:spPr>
          <a:xfrm>
            <a:off x="1289447" y="1885880"/>
            <a:ext cx="9238854" cy="646203"/>
          </a:xfrm>
          <a:prstGeom prst="rect">
            <a:avLst/>
          </a:prstGeom>
        </p:spPr>
        <p:txBody>
          <a:bodyPr vert="horz" wrap="square" lIns="0" tIns="12700" rIns="0" bIns="0" rtlCol="0">
            <a:spAutoFit/>
          </a:bodyPr>
          <a:lstStyle/>
          <a:p>
            <a:pPr marL="12700" marR="5080">
              <a:lnSpc>
                <a:spcPct val="107100"/>
              </a:lnSpc>
              <a:spcBef>
                <a:spcPts val="100"/>
              </a:spcBef>
            </a:pPr>
            <a:r>
              <a:rPr spc="-25" dirty="0">
                <a:solidFill>
                  <a:srgbClr val="545454"/>
                </a:solidFill>
                <a:latin typeface="Microsoft Sans Serif"/>
                <a:cs typeface="Microsoft Sans Serif"/>
              </a:rPr>
              <a:t>Desert</a:t>
            </a:r>
            <a:r>
              <a:rPr spc="-10" dirty="0">
                <a:solidFill>
                  <a:srgbClr val="545454"/>
                </a:solidFill>
                <a:latin typeface="Microsoft Sans Serif"/>
                <a:cs typeface="Microsoft Sans Serif"/>
              </a:rPr>
              <a:t> </a:t>
            </a:r>
            <a:r>
              <a:rPr spc="-25" dirty="0">
                <a:solidFill>
                  <a:srgbClr val="545454"/>
                </a:solidFill>
                <a:latin typeface="Microsoft Sans Serif"/>
                <a:cs typeface="Microsoft Sans Serif"/>
              </a:rPr>
              <a:t>landscapes</a:t>
            </a:r>
            <a:r>
              <a:rPr spc="-5" dirty="0">
                <a:solidFill>
                  <a:srgbClr val="545454"/>
                </a:solidFill>
                <a:latin typeface="Microsoft Sans Serif"/>
                <a:cs typeface="Microsoft Sans Serif"/>
              </a:rPr>
              <a:t> </a:t>
            </a:r>
            <a:r>
              <a:rPr dirty="0">
                <a:solidFill>
                  <a:srgbClr val="545454"/>
                </a:solidFill>
                <a:latin typeface="Microsoft Sans Serif"/>
                <a:cs typeface="Microsoft Sans Serif"/>
              </a:rPr>
              <a:t>of</a:t>
            </a:r>
            <a:r>
              <a:rPr spc="-5" dirty="0">
                <a:solidFill>
                  <a:srgbClr val="545454"/>
                </a:solidFill>
                <a:latin typeface="Microsoft Sans Serif"/>
                <a:cs typeface="Microsoft Sans Serif"/>
              </a:rPr>
              <a:t> </a:t>
            </a:r>
            <a:r>
              <a:rPr dirty="0">
                <a:solidFill>
                  <a:srgbClr val="545454"/>
                </a:solidFill>
                <a:latin typeface="Microsoft Sans Serif"/>
                <a:cs typeface="Microsoft Sans Serif"/>
              </a:rPr>
              <a:t>the</a:t>
            </a:r>
            <a:r>
              <a:rPr spc="-5" dirty="0">
                <a:solidFill>
                  <a:srgbClr val="545454"/>
                </a:solidFill>
                <a:latin typeface="Microsoft Sans Serif"/>
                <a:cs typeface="Microsoft Sans Serif"/>
              </a:rPr>
              <a:t> </a:t>
            </a:r>
            <a:r>
              <a:rPr spc="-10" dirty="0">
                <a:solidFill>
                  <a:srgbClr val="545454"/>
                </a:solidFill>
                <a:latin typeface="Microsoft Sans Serif"/>
                <a:cs typeface="Microsoft Sans Serif"/>
              </a:rPr>
              <a:t>Middle</a:t>
            </a:r>
            <a:r>
              <a:rPr spc="-5" dirty="0">
                <a:solidFill>
                  <a:srgbClr val="545454"/>
                </a:solidFill>
                <a:latin typeface="Microsoft Sans Serif"/>
                <a:cs typeface="Microsoft Sans Serif"/>
              </a:rPr>
              <a:t> </a:t>
            </a:r>
            <a:r>
              <a:rPr spc="-55" dirty="0">
                <a:solidFill>
                  <a:srgbClr val="545454"/>
                </a:solidFill>
                <a:latin typeface="Microsoft Sans Serif"/>
                <a:cs typeface="Microsoft Sans Serif"/>
              </a:rPr>
              <a:t>East</a:t>
            </a:r>
            <a:r>
              <a:rPr spc="-5" dirty="0">
                <a:solidFill>
                  <a:srgbClr val="545454"/>
                </a:solidFill>
                <a:latin typeface="Microsoft Sans Serif"/>
                <a:cs typeface="Microsoft Sans Serif"/>
              </a:rPr>
              <a:t> </a:t>
            </a:r>
            <a:r>
              <a:rPr sz="2000" spc="-55" dirty="0">
                <a:solidFill>
                  <a:srgbClr val="545454"/>
                </a:solidFill>
                <a:latin typeface="Microsoft Sans Serif"/>
                <a:cs typeface="Microsoft Sans Serif"/>
              </a:rPr>
              <a:t>(</a:t>
            </a:r>
            <a:r>
              <a:rPr spc="-55" dirty="0">
                <a:solidFill>
                  <a:srgbClr val="545454"/>
                </a:solidFill>
                <a:latin typeface="Microsoft Sans Serif"/>
                <a:cs typeface="Microsoft Sans Serif"/>
              </a:rPr>
              <a:t>Rub</a:t>
            </a:r>
            <a:r>
              <a:rPr spc="-5" dirty="0">
                <a:solidFill>
                  <a:srgbClr val="545454"/>
                </a:solidFill>
                <a:latin typeface="Microsoft Sans Serif"/>
                <a:cs typeface="Microsoft Sans Serif"/>
              </a:rPr>
              <a:t> </a:t>
            </a:r>
            <a:r>
              <a:rPr spc="-10" dirty="0">
                <a:solidFill>
                  <a:srgbClr val="545454"/>
                </a:solidFill>
                <a:latin typeface="Microsoft Sans Serif"/>
                <a:cs typeface="Microsoft Sans Serif"/>
              </a:rPr>
              <a:t>al</a:t>
            </a:r>
            <a:r>
              <a:rPr spc="-5" dirty="0">
                <a:solidFill>
                  <a:srgbClr val="545454"/>
                </a:solidFill>
                <a:latin typeface="Microsoft Sans Serif"/>
                <a:cs typeface="Microsoft Sans Serif"/>
              </a:rPr>
              <a:t> </a:t>
            </a:r>
            <a:r>
              <a:rPr spc="-35" dirty="0">
                <a:solidFill>
                  <a:srgbClr val="545454"/>
                </a:solidFill>
                <a:latin typeface="Microsoft Sans Serif"/>
                <a:cs typeface="Microsoft Sans Serif"/>
              </a:rPr>
              <a:t>Khali</a:t>
            </a:r>
            <a:r>
              <a:rPr sz="2000" spc="-35" dirty="0">
                <a:solidFill>
                  <a:srgbClr val="545454"/>
                </a:solidFill>
                <a:latin typeface="Microsoft Sans Serif"/>
                <a:cs typeface="Microsoft Sans Serif"/>
              </a:rPr>
              <a:t>,</a:t>
            </a:r>
            <a:r>
              <a:rPr sz="2000" spc="-20" dirty="0">
                <a:solidFill>
                  <a:srgbClr val="545454"/>
                </a:solidFill>
                <a:latin typeface="Microsoft Sans Serif"/>
                <a:cs typeface="Microsoft Sans Serif"/>
              </a:rPr>
              <a:t> </a:t>
            </a:r>
            <a:r>
              <a:rPr spc="-80" dirty="0">
                <a:solidFill>
                  <a:srgbClr val="545454"/>
                </a:solidFill>
                <a:latin typeface="Microsoft Sans Serif"/>
                <a:cs typeface="Microsoft Sans Serif"/>
              </a:rPr>
              <a:t>UAE</a:t>
            </a:r>
            <a:r>
              <a:rPr sz="2000" spc="-80" dirty="0">
                <a:solidFill>
                  <a:srgbClr val="545454"/>
                </a:solidFill>
                <a:latin typeface="Microsoft Sans Serif"/>
                <a:cs typeface="Microsoft Sans Serif"/>
              </a:rPr>
              <a:t>,</a:t>
            </a:r>
            <a:r>
              <a:rPr sz="2000" spc="-20" dirty="0">
                <a:solidFill>
                  <a:srgbClr val="545454"/>
                </a:solidFill>
                <a:latin typeface="Microsoft Sans Serif"/>
                <a:cs typeface="Microsoft Sans Serif"/>
              </a:rPr>
              <a:t> </a:t>
            </a:r>
            <a:r>
              <a:rPr spc="-50" dirty="0">
                <a:solidFill>
                  <a:srgbClr val="545454"/>
                </a:solidFill>
                <a:latin typeface="Microsoft Sans Serif"/>
                <a:cs typeface="Microsoft Sans Serif"/>
              </a:rPr>
              <a:t>Wadi</a:t>
            </a:r>
            <a:r>
              <a:rPr spc="-5" dirty="0">
                <a:solidFill>
                  <a:srgbClr val="545454"/>
                </a:solidFill>
                <a:latin typeface="Microsoft Sans Serif"/>
                <a:cs typeface="Microsoft Sans Serif"/>
              </a:rPr>
              <a:t> </a:t>
            </a:r>
            <a:r>
              <a:rPr spc="-70" dirty="0">
                <a:solidFill>
                  <a:srgbClr val="545454"/>
                </a:solidFill>
                <a:latin typeface="Microsoft Sans Serif"/>
                <a:cs typeface="Microsoft Sans Serif"/>
              </a:rPr>
              <a:t>Rum</a:t>
            </a:r>
            <a:r>
              <a:rPr sz="2000" spc="-70" dirty="0">
                <a:solidFill>
                  <a:srgbClr val="545454"/>
                </a:solidFill>
                <a:latin typeface="Microsoft Sans Serif"/>
                <a:cs typeface="Microsoft Sans Serif"/>
              </a:rPr>
              <a:t>)</a:t>
            </a:r>
            <a:r>
              <a:rPr sz="2000" spc="-20" dirty="0">
                <a:solidFill>
                  <a:srgbClr val="545454"/>
                </a:solidFill>
                <a:latin typeface="Microsoft Sans Serif"/>
                <a:cs typeface="Microsoft Sans Serif"/>
              </a:rPr>
              <a:t> </a:t>
            </a:r>
            <a:r>
              <a:rPr spc="-20" dirty="0">
                <a:solidFill>
                  <a:srgbClr val="545454"/>
                </a:solidFill>
                <a:latin typeface="Microsoft Sans Serif"/>
                <a:cs typeface="Microsoft Sans Serif"/>
              </a:rPr>
              <a:t>pose </a:t>
            </a:r>
            <a:r>
              <a:rPr spc="-30" dirty="0">
                <a:solidFill>
                  <a:srgbClr val="545454"/>
                </a:solidFill>
                <a:latin typeface="Microsoft Sans Serif"/>
                <a:cs typeface="Microsoft Sans Serif"/>
              </a:rPr>
              <a:t>severe</a:t>
            </a:r>
            <a:r>
              <a:rPr spc="-15" dirty="0">
                <a:solidFill>
                  <a:srgbClr val="545454"/>
                </a:solidFill>
                <a:latin typeface="Microsoft Sans Serif"/>
                <a:cs typeface="Microsoft Sans Serif"/>
              </a:rPr>
              <a:t> </a:t>
            </a:r>
            <a:r>
              <a:rPr spc="-25" dirty="0">
                <a:solidFill>
                  <a:srgbClr val="545454"/>
                </a:solidFill>
                <a:latin typeface="Microsoft Sans Serif"/>
                <a:cs typeface="Microsoft Sans Serif"/>
              </a:rPr>
              <a:t>challenges</a:t>
            </a:r>
            <a:r>
              <a:rPr spc="-10" dirty="0">
                <a:solidFill>
                  <a:srgbClr val="545454"/>
                </a:solidFill>
                <a:latin typeface="Microsoft Sans Serif"/>
                <a:cs typeface="Microsoft Sans Serif"/>
              </a:rPr>
              <a:t> </a:t>
            </a:r>
            <a:r>
              <a:rPr dirty="0">
                <a:solidFill>
                  <a:srgbClr val="545454"/>
                </a:solidFill>
                <a:latin typeface="Microsoft Sans Serif"/>
                <a:cs typeface="Microsoft Sans Serif"/>
              </a:rPr>
              <a:t>to</a:t>
            </a:r>
            <a:r>
              <a:rPr spc="-15" dirty="0">
                <a:solidFill>
                  <a:srgbClr val="545454"/>
                </a:solidFill>
                <a:latin typeface="Microsoft Sans Serif"/>
                <a:cs typeface="Microsoft Sans Serif"/>
              </a:rPr>
              <a:t> </a:t>
            </a:r>
            <a:r>
              <a:rPr spc="-35" dirty="0">
                <a:solidFill>
                  <a:srgbClr val="545454"/>
                </a:solidFill>
                <a:latin typeface="Microsoft Sans Serif"/>
                <a:cs typeface="Microsoft Sans Serif"/>
              </a:rPr>
              <a:t>Search</a:t>
            </a:r>
            <a:r>
              <a:rPr spc="-10" dirty="0">
                <a:solidFill>
                  <a:srgbClr val="545454"/>
                </a:solidFill>
                <a:latin typeface="Microsoft Sans Serif"/>
                <a:cs typeface="Microsoft Sans Serif"/>
              </a:rPr>
              <a:t> </a:t>
            </a:r>
            <a:r>
              <a:rPr spc="-20" dirty="0">
                <a:solidFill>
                  <a:srgbClr val="545454"/>
                </a:solidFill>
                <a:latin typeface="Microsoft Sans Serif"/>
                <a:cs typeface="Microsoft Sans Serif"/>
              </a:rPr>
              <a:t>and</a:t>
            </a:r>
            <a:r>
              <a:rPr spc="-10" dirty="0">
                <a:solidFill>
                  <a:srgbClr val="545454"/>
                </a:solidFill>
                <a:latin typeface="Microsoft Sans Serif"/>
                <a:cs typeface="Microsoft Sans Serif"/>
              </a:rPr>
              <a:t> </a:t>
            </a:r>
            <a:r>
              <a:rPr spc="-45" dirty="0">
                <a:solidFill>
                  <a:srgbClr val="545454"/>
                </a:solidFill>
                <a:latin typeface="Microsoft Sans Serif"/>
                <a:cs typeface="Microsoft Sans Serif"/>
              </a:rPr>
              <a:t>Rescue</a:t>
            </a:r>
            <a:r>
              <a:rPr spc="-15" dirty="0">
                <a:solidFill>
                  <a:srgbClr val="545454"/>
                </a:solidFill>
                <a:latin typeface="Microsoft Sans Serif"/>
                <a:cs typeface="Microsoft Sans Serif"/>
              </a:rPr>
              <a:t> </a:t>
            </a:r>
            <a:r>
              <a:rPr spc="-10" dirty="0">
                <a:solidFill>
                  <a:srgbClr val="545454"/>
                </a:solidFill>
                <a:latin typeface="Microsoft Sans Serif"/>
                <a:cs typeface="Microsoft Sans Serif"/>
              </a:rPr>
              <a:t>operations</a:t>
            </a:r>
            <a:r>
              <a:rPr sz="2000" spc="-10" dirty="0">
                <a:solidFill>
                  <a:srgbClr val="545454"/>
                </a:solidFill>
                <a:latin typeface="Microsoft Sans Serif"/>
                <a:cs typeface="Microsoft Sans Serif"/>
              </a:rPr>
              <a:t>.</a:t>
            </a:r>
            <a:endParaRPr sz="2000" dirty="0">
              <a:latin typeface="Microsoft Sans Serif"/>
              <a:cs typeface="Microsoft Sans Serif"/>
            </a:endParaRPr>
          </a:p>
        </p:txBody>
      </p:sp>
      <p:grpSp>
        <p:nvGrpSpPr>
          <p:cNvPr id="6" name="object 6"/>
          <p:cNvGrpSpPr/>
          <p:nvPr/>
        </p:nvGrpSpPr>
        <p:grpSpPr>
          <a:xfrm>
            <a:off x="730251" y="4991098"/>
            <a:ext cx="4172266" cy="1247775"/>
            <a:chOff x="5448299" y="1790699"/>
            <a:chExt cx="4172266" cy="1247775"/>
          </a:xfrm>
        </p:grpSpPr>
        <p:sp>
          <p:nvSpPr>
            <p:cNvPr id="7" name="object 7"/>
            <p:cNvSpPr/>
            <p:nvPr/>
          </p:nvSpPr>
          <p:spPr>
            <a:xfrm>
              <a:off x="5462586" y="1790699"/>
              <a:ext cx="4157979" cy="1247775"/>
            </a:xfrm>
            <a:custGeom>
              <a:avLst/>
              <a:gdLst/>
              <a:ahLst/>
              <a:cxnLst/>
              <a:rect l="l" t="t" r="r" b="b"/>
              <a:pathLst>
                <a:path w="4157979" h="1247775">
                  <a:moveTo>
                    <a:pt x="4086465" y="1247772"/>
                  </a:moveTo>
                  <a:lnTo>
                    <a:pt x="57847" y="1247772"/>
                  </a:lnTo>
                  <a:lnTo>
                    <a:pt x="53821" y="1247284"/>
                  </a:lnTo>
                  <a:lnTo>
                    <a:pt x="15258" y="1221916"/>
                  </a:lnTo>
                  <a:lnTo>
                    <a:pt x="396" y="1181532"/>
                  </a:lnTo>
                  <a:lnTo>
                    <a:pt x="0" y="1176576"/>
                  </a:lnTo>
                  <a:lnTo>
                    <a:pt x="0" y="1171574"/>
                  </a:lnTo>
                  <a:lnTo>
                    <a:pt x="0" y="71198"/>
                  </a:lnTo>
                  <a:lnTo>
                    <a:pt x="12692" y="29702"/>
                  </a:lnTo>
                  <a:lnTo>
                    <a:pt x="41975" y="3883"/>
                  </a:lnTo>
                  <a:lnTo>
                    <a:pt x="57847" y="0"/>
                  </a:lnTo>
                  <a:lnTo>
                    <a:pt x="4086465" y="0"/>
                  </a:lnTo>
                  <a:lnTo>
                    <a:pt x="4127955" y="15617"/>
                  </a:lnTo>
                  <a:lnTo>
                    <a:pt x="4153774" y="51659"/>
                  </a:lnTo>
                  <a:lnTo>
                    <a:pt x="4157661" y="71198"/>
                  </a:lnTo>
                  <a:lnTo>
                    <a:pt x="4157661" y="1176576"/>
                  </a:lnTo>
                  <a:lnTo>
                    <a:pt x="4142039" y="1218065"/>
                  </a:lnTo>
                  <a:lnTo>
                    <a:pt x="4105999" y="1243886"/>
                  </a:lnTo>
                  <a:lnTo>
                    <a:pt x="4091420" y="1247284"/>
                  </a:lnTo>
                  <a:lnTo>
                    <a:pt x="4086465" y="1247772"/>
                  </a:lnTo>
                  <a:close/>
                </a:path>
              </a:pathLst>
            </a:custGeom>
            <a:solidFill>
              <a:srgbClr val="F7F9FA"/>
            </a:solidFill>
          </p:spPr>
          <p:txBody>
            <a:bodyPr wrap="square" lIns="0" tIns="0" rIns="0" bIns="0" rtlCol="0"/>
            <a:lstStyle/>
            <a:p>
              <a:endParaRPr sz="2800"/>
            </a:p>
          </p:txBody>
        </p:sp>
        <p:sp>
          <p:nvSpPr>
            <p:cNvPr id="8" name="object 8"/>
            <p:cNvSpPr/>
            <p:nvPr/>
          </p:nvSpPr>
          <p:spPr>
            <a:xfrm>
              <a:off x="5448299" y="1791077"/>
              <a:ext cx="69215" cy="1247140"/>
            </a:xfrm>
            <a:custGeom>
              <a:avLst/>
              <a:gdLst/>
              <a:ahLst/>
              <a:cxnLst/>
              <a:rect l="l" t="t" r="r" b="b"/>
              <a:pathLst>
                <a:path w="69214" h="1247139">
                  <a:moveTo>
                    <a:pt x="68698" y="1247019"/>
                  </a:moveTo>
                  <a:lnTo>
                    <a:pt x="27882" y="1230130"/>
                  </a:lnTo>
                  <a:lnTo>
                    <a:pt x="3262" y="1193283"/>
                  </a:lnTo>
                  <a:lnTo>
                    <a:pt x="0" y="1171197"/>
                  </a:lnTo>
                  <a:lnTo>
                    <a:pt x="0" y="75822"/>
                  </a:lnTo>
                  <a:lnTo>
                    <a:pt x="12829" y="33479"/>
                  </a:lnTo>
                  <a:lnTo>
                    <a:pt x="47038" y="5422"/>
                  </a:lnTo>
                  <a:lnTo>
                    <a:pt x="68698" y="0"/>
                  </a:lnTo>
                  <a:lnTo>
                    <a:pt x="63809" y="1555"/>
                  </a:lnTo>
                  <a:lnTo>
                    <a:pt x="52139" y="9289"/>
                  </a:lnTo>
                  <a:lnTo>
                    <a:pt x="32199" y="46661"/>
                  </a:lnTo>
                  <a:lnTo>
                    <a:pt x="28575" y="75822"/>
                  </a:lnTo>
                  <a:lnTo>
                    <a:pt x="28575" y="1171197"/>
                  </a:lnTo>
                  <a:lnTo>
                    <a:pt x="36593" y="1213539"/>
                  </a:lnTo>
                  <a:lnTo>
                    <a:pt x="63809" y="1245463"/>
                  </a:lnTo>
                  <a:lnTo>
                    <a:pt x="68698" y="1247019"/>
                  </a:lnTo>
                  <a:close/>
                </a:path>
              </a:pathLst>
            </a:custGeom>
            <a:solidFill>
              <a:srgbClr val="BF382A"/>
            </a:solidFill>
          </p:spPr>
          <p:txBody>
            <a:bodyPr wrap="square" lIns="0" tIns="0" rIns="0" bIns="0" rtlCol="0"/>
            <a:lstStyle/>
            <a:p>
              <a:endParaRPr sz="2800"/>
            </a:p>
          </p:txBody>
        </p:sp>
        <p:pic>
          <p:nvPicPr>
            <p:cNvPr id="9" name="object 9"/>
            <p:cNvPicPr/>
            <p:nvPr/>
          </p:nvPicPr>
          <p:blipFill>
            <a:blip r:embed="rId3" cstate="print"/>
            <a:stretch>
              <a:fillRect/>
            </a:stretch>
          </p:blipFill>
          <p:spPr>
            <a:xfrm>
              <a:off x="5619749" y="1933574"/>
              <a:ext cx="333374" cy="333374"/>
            </a:xfrm>
            <a:prstGeom prst="rect">
              <a:avLst/>
            </a:prstGeom>
          </p:spPr>
        </p:pic>
      </p:grpSp>
      <p:grpSp>
        <p:nvGrpSpPr>
          <p:cNvPr id="10" name="object 10"/>
          <p:cNvGrpSpPr/>
          <p:nvPr/>
        </p:nvGrpSpPr>
        <p:grpSpPr>
          <a:xfrm>
            <a:off x="5346700" y="4991098"/>
            <a:ext cx="4317504" cy="1228725"/>
            <a:chOff x="5448299" y="3133723"/>
            <a:chExt cx="4171950" cy="1085850"/>
          </a:xfrm>
        </p:grpSpPr>
        <p:sp>
          <p:nvSpPr>
            <p:cNvPr id="11" name="object 11"/>
            <p:cNvSpPr/>
            <p:nvPr/>
          </p:nvSpPr>
          <p:spPr>
            <a:xfrm>
              <a:off x="5462586" y="3133723"/>
              <a:ext cx="4157979" cy="1085850"/>
            </a:xfrm>
            <a:custGeom>
              <a:avLst/>
              <a:gdLst/>
              <a:ahLst/>
              <a:cxnLst/>
              <a:rect l="l" t="t" r="r" b="b"/>
              <a:pathLst>
                <a:path w="4157979" h="1085850">
                  <a:moveTo>
                    <a:pt x="4086465" y="1085848"/>
                  </a:moveTo>
                  <a:lnTo>
                    <a:pt x="57847" y="1085848"/>
                  </a:lnTo>
                  <a:lnTo>
                    <a:pt x="53821" y="1085359"/>
                  </a:lnTo>
                  <a:lnTo>
                    <a:pt x="15258" y="1059991"/>
                  </a:lnTo>
                  <a:lnTo>
                    <a:pt x="396" y="1019607"/>
                  </a:lnTo>
                  <a:lnTo>
                    <a:pt x="0" y="1014651"/>
                  </a:lnTo>
                  <a:lnTo>
                    <a:pt x="0" y="1009649"/>
                  </a:lnTo>
                  <a:lnTo>
                    <a:pt x="0" y="71195"/>
                  </a:lnTo>
                  <a:lnTo>
                    <a:pt x="12692" y="29697"/>
                  </a:lnTo>
                  <a:lnTo>
                    <a:pt x="41975" y="3883"/>
                  </a:lnTo>
                  <a:lnTo>
                    <a:pt x="57847" y="0"/>
                  </a:lnTo>
                  <a:lnTo>
                    <a:pt x="4086465" y="0"/>
                  </a:lnTo>
                  <a:lnTo>
                    <a:pt x="4127955" y="15617"/>
                  </a:lnTo>
                  <a:lnTo>
                    <a:pt x="4153774" y="51656"/>
                  </a:lnTo>
                  <a:lnTo>
                    <a:pt x="4157661" y="71195"/>
                  </a:lnTo>
                  <a:lnTo>
                    <a:pt x="4157661" y="1014651"/>
                  </a:lnTo>
                  <a:lnTo>
                    <a:pt x="4142039" y="1056140"/>
                  </a:lnTo>
                  <a:lnTo>
                    <a:pt x="4105999" y="1081961"/>
                  </a:lnTo>
                  <a:lnTo>
                    <a:pt x="4091420" y="1085359"/>
                  </a:lnTo>
                  <a:lnTo>
                    <a:pt x="4086465" y="1085848"/>
                  </a:lnTo>
                  <a:close/>
                </a:path>
              </a:pathLst>
            </a:custGeom>
            <a:solidFill>
              <a:srgbClr val="F7F9FA"/>
            </a:solidFill>
          </p:spPr>
          <p:txBody>
            <a:bodyPr wrap="square" lIns="0" tIns="0" rIns="0" bIns="0" rtlCol="0"/>
            <a:lstStyle/>
            <a:p>
              <a:endParaRPr sz="2800"/>
            </a:p>
          </p:txBody>
        </p:sp>
        <p:sp>
          <p:nvSpPr>
            <p:cNvPr id="12" name="object 12"/>
            <p:cNvSpPr/>
            <p:nvPr/>
          </p:nvSpPr>
          <p:spPr>
            <a:xfrm>
              <a:off x="5448299" y="3134102"/>
              <a:ext cx="69215" cy="1085215"/>
            </a:xfrm>
            <a:custGeom>
              <a:avLst/>
              <a:gdLst/>
              <a:ahLst/>
              <a:cxnLst/>
              <a:rect l="l" t="t" r="r" b="b"/>
              <a:pathLst>
                <a:path w="69214" h="1085214">
                  <a:moveTo>
                    <a:pt x="68698" y="1085094"/>
                  </a:moveTo>
                  <a:lnTo>
                    <a:pt x="27882" y="1068204"/>
                  </a:lnTo>
                  <a:lnTo>
                    <a:pt x="3262" y="1031358"/>
                  </a:lnTo>
                  <a:lnTo>
                    <a:pt x="0" y="1009272"/>
                  </a:lnTo>
                  <a:lnTo>
                    <a:pt x="0" y="75822"/>
                  </a:lnTo>
                  <a:lnTo>
                    <a:pt x="12829" y="33479"/>
                  </a:lnTo>
                  <a:lnTo>
                    <a:pt x="47038" y="5422"/>
                  </a:lnTo>
                  <a:lnTo>
                    <a:pt x="68698" y="0"/>
                  </a:lnTo>
                  <a:lnTo>
                    <a:pt x="63809" y="1555"/>
                  </a:lnTo>
                  <a:lnTo>
                    <a:pt x="52139" y="9289"/>
                  </a:lnTo>
                  <a:lnTo>
                    <a:pt x="32199" y="46661"/>
                  </a:lnTo>
                  <a:lnTo>
                    <a:pt x="28575" y="75822"/>
                  </a:lnTo>
                  <a:lnTo>
                    <a:pt x="28575" y="1009272"/>
                  </a:lnTo>
                  <a:lnTo>
                    <a:pt x="36593" y="1051614"/>
                  </a:lnTo>
                  <a:lnTo>
                    <a:pt x="63809" y="1083538"/>
                  </a:lnTo>
                  <a:lnTo>
                    <a:pt x="68698" y="1085094"/>
                  </a:lnTo>
                  <a:close/>
                </a:path>
              </a:pathLst>
            </a:custGeom>
            <a:solidFill>
              <a:srgbClr val="BF382A"/>
            </a:solidFill>
          </p:spPr>
          <p:txBody>
            <a:bodyPr wrap="square" lIns="0" tIns="0" rIns="0" bIns="0" rtlCol="0"/>
            <a:lstStyle/>
            <a:p>
              <a:endParaRPr sz="2800"/>
            </a:p>
          </p:txBody>
        </p:sp>
        <p:pic>
          <p:nvPicPr>
            <p:cNvPr id="13" name="object 13"/>
            <p:cNvPicPr/>
            <p:nvPr/>
          </p:nvPicPr>
          <p:blipFill>
            <a:blip r:embed="rId4" cstate="print"/>
            <a:stretch>
              <a:fillRect/>
            </a:stretch>
          </p:blipFill>
          <p:spPr>
            <a:xfrm>
              <a:off x="5619749" y="3276599"/>
              <a:ext cx="333374" cy="333374"/>
            </a:xfrm>
            <a:prstGeom prst="rect">
              <a:avLst/>
            </a:prstGeom>
          </p:spPr>
        </p:pic>
        <p:pic>
          <p:nvPicPr>
            <p:cNvPr id="14" name="object 14"/>
            <p:cNvPicPr/>
            <p:nvPr/>
          </p:nvPicPr>
          <p:blipFill>
            <a:blip r:embed="rId5" cstate="print"/>
            <a:stretch>
              <a:fillRect/>
            </a:stretch>
          </p:blipFill>
          <p:spPr>
            <a:xfrm>
              <a:off x="5714999" y="3368674"/>
              <a:ext cx="133350" cy="136525"/>
            </a:xfrm>
            <a:prstGeom prst="rect">
              <a:avLst/>
            </a:prstGeom>
          </p:spPr>
        </p:pic>
      </p:grpSp>
      <p:sp>
        <p:nvSpPr>
          <p:cNvPr id="15" name="object 15"/>
          <p:cNvSpPr txBox="1"/>
          <p:nvPr/>
        </p:nvSpPr>
        <p:spPr>
          <a:xfrm>
            <a:off x="712789" y="4647202"/>
            <a:ext cx="1438081" cy="293670"/>
          </a:xfrm>
          <a:prstGeom prst="rect">
            <a:avLst/>
          </a:prstGeom>
        </p:spPr>
        <p:txBody>
          <a:bodyPr vert="horz" wrap="square" lIns="0" tIns="16510" rIns="0" bIns="0" rtlCol="0">
            <a:spAutoFit/>
          </a:bodyPr>
          <a:lstStyle/>
          <a:p>
            <a:pPr marL="12700">
              <a:lnSpc>
                <a:spcPct val="100000"/>
              </a:lnSpc>
              <a:spcBef>
                <a:spcPts val="130"/>
              </a:spcBef>
            </a:pPr>
            <a:r>
              <a:rPr b="1" spc="-50" dirty="0">
                <a:solidFill>
                  <a:srgbClr val="1A1A2E"/>
                </a:solidFill>
                <a:latin typeface="Arial"/>
                <a:cs typeface="Arial"/>
              </a:rPr>
              <a:t>Our</a:t>
            </a:r>
            <a:r>
              <a:rPr b="1" spc="-114" dirty="0">
                <a:solidFill>
                  <a:srgbClr val="1A1A2E"/>
                </a:solidFill>
                <a:latin typeface="Arial"/>
                <a:cs typeface="Arial"/>
              </a:rPr>
              <a:t> </a:t>
            </a:r>
            <a:r>
              <a:rPr b="1" spc="-75" dirty="0">
                <a:solidFill>
                  <a:srgbClr val="1A1A2E"/>
                </a:solidFill>
                <a:latin typeface="Arial"/>
                <a:cs typeface="Arial"/>
              </a:rPr>
              <a:t>Solution</a:t>
            </a:r>
            <a:endParaRPr dirty="0">
              <a:latin typeface="Arial"/>
              <a:cs typeface="Arial"/>
            </a:endParaRPr>
          </a:p>
        </p:txBody>
      </p:sp>
      <p:sp>
        <p:nvSpPr>
          <p:cNvPr id="16" name="object 16"/>
          <p:cNvSpPr txBox="1"/>
          <p:nvPr/>
        </p:nvSpPr>
        <p:spPr>
          <a:xfrm>
            <a:off x="884238" y="5442892"/>
            <a:ext cx="3776662" cy="741100"/>
          </a:xfrm>
          <a:prstGeom prst="rect">
            <a:avLst/>
          </a:prstGeom>
        </p:spPr>
        <p:txBody>
          <a:bodyPr vert="horz" wrap="square" lIns="0" tIns="100330" rIns="0" bIns="0" rtlCol="0">
            <a:spAutoFit/>
          </a:bodyPr>
          <a:lstStyle/>
          <a:p>
            <a:pPr marL="12700">
              <a:lnSpc>
                <a:spcPct val="100000"/>
              </a:lnSpc>
              <a:spcBef>
                <a:spcPts val="790"/>
              </a:spcBef>
            </a:pPr>
            <a:r>
              <a:rPr sz="1400" b="1" spc="-90" dirty="0">
                <a:solidFill>
                  <a:srgbClr val="1A1A2E"/>
                </a:solidFill>
                <a:latin typeface="Arial"/>
                <a:cs typeface="Arial"/>
              </a:rPr>
              <a:t>Autonomous</a:t>
            </a:r>
            <a:r>
              <a:rPr sz="1400" b="1" spc="-65" dirty="0">
                <a:solidFill>
                  <a:srgbClr val="1A1A2E"/>
                </a:solidFill>
                <a:latin typeface="Arial"/>
                <a:cs typeface="Arial"/>
              </a:rPr>
              <a:t> </a:t>
            </a:r>
            <a:r>
              <a:rPr sz="1400" b="1" spc="-95" dirty="0">
                <a:solidFill>
                  <a:srgbClr val="1A1A2E"/>
                </a:solidFill>
                <a:latin typeface="Arial"/>
                <a:cs typeface="Arial"/>
              </a:rPr>
              <a:t>UAV</a:t>
            </a:r>
            <a:r>
              <a:rPr sz="1400" b="1" spc="-65" dirty="0">
                <a:solidFill>
                  <a:srgbClr val="1A1A2E"/>
                </a:solidFill>
                <a:latin typeface="Arial"/>
                <a:cs typeface="Arial"/>
              </a:rPr>
              <a:t> </a:t>
            </a:r>
            <a:r>
              <a:rPr sz="1400" b="1" spc="-45" dirty="0">
                <a:solidFill>
                  <a:srgbClr val="1A1A2E"/>
                </a:solidFill>
                <a:latin typeface="Arial"/>
                <a:cs typeface="Arial"/>
              </a:rPr>
              <a:t>with</a:t>
            </a:r>
            <a:r>
              <a:rPr sz="1400" b="1" spc="-65" dirty="0">
                <a:solidFill>
                  <a:srgbClr val="1A1A2E"/>
                </a:solidFill>
                <a:latin typeface="Arial"/>
                <a:cs typeface="Arial"/>
              </a:rPr>
              <a:t> </a:t>
            </a:r>
            <a:r>
              <a:rPr sz="1400" b="1" spc="-80" dirty="0">
                <a:solidFill>
                  <a:srgbClr val="1A1A2E"/>
                </a:solidFill>
                <a:latin typeface="Arial"/>
                <a:cs typeface="Arial"/>
              </a:rPr>
              <a:t>Edge</a:t>
            </a:r>
            <a:r>
              <a:rPr sz="1400" b="1" spc="-100" dirty="0">
                <a:solidFill>
                  <a:srgbClr val="1A1A2E"/>
                </a:solidFill>
                <a:latin typeface="Arial"/>
                <a:cs typeface="Arial"/>
              </a:rPr>
              <a:t> </a:t>
            </a:r>
            <a:r>
              <a:rPr sz="1400" b="1" spc="-25" dirty="0">
                <a:solidFill>
                  <a:srgbClr val="1A1A2E"/>
                </a:solidFill>
                <a:latin typeface="Arial"/>
                <a:cs typeface="Arial"/>
              </a:rPr>
              <a:t>AI</a:t>
            </a:r>
            <a:endParaRPr sz="1400" dirty="0">
              <a:latin typeface="Arial"/>
              <a:cs typeface="Arial"/>
            </a:endParaRPr>
          </a:p>
          <a:p>
            <a:pPr marL="12700" marR="5080">
              <a:lnSpc>
                <a:spcPct val="111100"/>
              </a:lnSpc>
              <a:spcBef>
                <a:spcPts val="495"/>
              </a:spcBef>
            </a:pPr>
            <a:r>
              <a:rPr sz="1100" spc="-10" dirty="0">
                <a:solidFill>
                  <a:srgbClr val="666666"/>
                </a:solidFill>
                <a:latin typeface="Microsoft Sans Serif"/>
                <a:cs typeface="Microsoft Sans Serif"/>
              </a:rPr>
              <a:t>Self-contained</a:t>
            </a:r>
            <a:r>
              <a:rPr sz="1100" spc="5" dirty="0">
                <a:solidFill>
                  <a:srgbClr val="666666"/>
                </a:solidFill>
                <a:latin typeface="Microsoft Sans Serif"/>
                <a:cs typeface="Microsoft Sans Serif"/>
              </a:rPr>
              <a:t> </a:t>
            </a:r>
            <a:r>
              <a:rPr sz="1100" spc="-20" dirty="0">
                <a:solidFill>
                  <a:srgbClr val="666666"/>
                </a:solidFill>
                <a:latin typeface="Microsoft Sans Serif"/>
                <a:cs typeface="Microsoft Sans Serif"/>
              </a:rPr>
              <a:t>payload</a:t>
            </a:r>
            <a:r>
              <a:rPr sz="1100" spc="5" dirty="0">
                <a:solidFill>
                  <a:srgbClr val="666666"/>
                </a:solidFill>
                <a:latin typeface="Microsoft Sans Serif"/>
                <a:cs typeface="Microsoft Sans Serif"/>
              </a:rPr>
              <a:t> </a:t>
            </a:r>
            <a:r>
              <a:rPr sz="1100" dirty="0">
                <a:solidFill>
                  <a:srgbClr val="666666"/>
                </a:solidFill>
                <a:latin typeface="Microsoft Sans Serif"/>
                <a:cs typeface="Microsoft Sans Serif"/>
              </a:rPr>
              <a:t>with</a:t>
            </a:r>
            <a:r>
              <a:rPr sz="1100" spc="5" dirty="0">
                <a:solidFill>
                  <a:srgbClr val="666666"/>
                </a:solidFill>
                <a:latin typeface="Microsoft Sans Serif"/>
                <a:cs typeface="Microsoft Sans Serif"/>
              </a:rPr>
              <a:t> </a:t>
            </a:r>
            <a:r>
              <a:rPr sz="1100" spc="-10" dirty="0">
                <a:solidFill>
                  <a:srgbClr val="666666"/>
                </a:solidFill>
                <a:latin typeface="Microsoft Sans Serif"/>
                <a:cs typeface="Microsoft Sans Serif"/>
              </a:rPr>
              <a:t>onboard</a:t>
            </a:r>
            <a:r>
              <a:rPr sz="1100" spc="5" dirty="0">
                <a:solidFill>
                  <a:srgbClr val="666666"/>
                </a:solidFill>
                <a:latin typeface="Microsoft Sans Serif"/>
                <a:cs typeface="Microsoft Sans Serif"/>
              </a:rPr>
              <a:t> </a:t>
            </a:r>
            <a:r>
              <a:rPr sz="1100" spc="-10" dirty="0">
                <a:solidFill>
                  <a:srgbClr val="666666"/>
                </a:solidFill>
                <a:latin typeface="Microsoft Sans Serif"/>
                <a:cs typeface="Microsoft Sans Serif"/>
              </a:rPr>
              <a:t>processing</a:t>
            </a:r>
            <a:r>
              <a:rPr sz="1100" spc="5" dirty="0">
                <a:solidFill>
                  <a:srgbClr val="666666"/>
                </a:solidFill>
                <a:latin typeface="Microsoft Sans Serif"/>
                <a:cs typeface="Microsoft Sans Serif"/>
              </a:rPr>
              <a:t> </a:t>
            </a:r>
            <a:r>
              <a:rPr sz="1100" dirty="0">
                <a:solidFill>
                  <a:srgbClr val="666666"/>
                </a:solidFill>
                <a:latin typeface="Microsoft Sans Serif"/>
                <a:cs typeface="Microsoft Sans Serif"/>
              </a:rPr>
              <a:t>for</a:t>
            </a:r>
            <a:r>
              <a:rPr sz="1100" spc="5" dirty="0">
                <a:solidFill>
                  <a:srgbClr val="666666"/>
                </a:solidFill>
                <a:latin typeface="Microsoft Sans Serif"/>
                <a:cs typeface="Microsoft Sans Serif"/>
              </a:rPr>
              <a:t> </a:t>
            </a:r>
            <a:r>
              <a:rPr sz="1100" spc="-10" dirty="0">
                <a:solidFill>
                  <a:srgbClr val="666666"/>
                </a:solidFill>
                <a:latin typeface="Microsoft Sans Serif"/>
                <a:cs typeface="Microsoft Sans Serif"/>
              </a:rPr>
              <a:t>signal-denied environments.</a:t>
            </a:r>
            <a:endParaRPr sz="1100" dirty="0">
              <a:latin typeface="Microsoft Sans Serif"/>
              <a:cs typeface="Microsoft Sans Serif"/>
            </a:endParaRPr>
          </a:p>
        </p:txBody>
      </p:sp>
      <p:sp>
        <p:nvSpPr>
          <p:cNvPr id="17" name="object 17"/>
          <p:cNvSpPr txBox="1"/>
          <p:nvPr/>
        </p:nvSpPr>
        <p:spPr>
          <a:xfrm>
            <a:off x="5481650" y="5501938"/>
            <a:ext cx="4119560" cy="708527"/>
          </a:xfrm>
          <a:prstGeom prst="rect">
            <a:avLst/>
          </a:prstGeom>
        </p:spPr>
        <p:txBody>
          <a:bodyPr vert="horz" wrap="square" lIns="0" tIns="89535" rIns="0" bIns="0" rtlCol="0">
            <a:spAutoFit/>
          </a:bodyPr>
          <a:lstStyle/>
          <a:p>
            <a:pPr marL="12700">
              <a:lnSpc>
                <a:spcPct val="100000"/>
              </a:lnSpc>
              <a:spcBef>
                <a:spcPts val="705"/>
              </a:spcBef>
            </a:pPr>
            <a:r>
              <a:rPr sz="1400" b="1" spc="-50" dirty="0">
                <a:solidFill>
                  <a:srgbClr val="1A1A2E"/>
                </a:solidFill>
                <a:latin typeface="Arial"/>
                <a:cs typeface="Arial"/>
              </a:rPr>
              <a:t>Real-</a:t>
            </a:r>
            <a:r>
              <a:rPr sz="1400" b="1" spc="-55" dirty="0">
                <a:solidFill>
                  <a:srgbClr val="1A1A2E"/>
                </a:solidFill>
                <a:latin typeface="Arial"/>
                <a:cs typeface="Arial"/>
              </a:rPr>
              <a:t>Time</a:t>
            </a:r>
            <a:r>
              <a:rPr sz="1400" b="1" spc="-45" dirty="0">
                <a:solidFill>
                  <a:srgbClr val="1A1A2E"/>
                </a:solidFill>
                <a:latin typeface="Arial"/>
                <a:cs typeface="Arial"/>
              </a:rPr>
              <a:t> </a:t>
            </a:r>
            <a:r>
              <a:rPr sz="1400" b="1" spc="-10" dirty="0">
                <a:solidFill>
                  <a:srgbClr val="1A1A2E"/>
                </a:solidFill>
                <a:latin typeface="Arial"/>
                <a:cs typeface="Arial"/>
              </a:rPr>
              <a:t>Detection</a:t>
            </a:r>
            <a:endParaRPr sz="1400" dirty="0">
              <a:latin typeface="Arial"/>
              <a:cs typeface="Arial"/>
            </a:endParaRPr>
          </a:p>
          <a:p>
            <a:pPr marL="12700">
              <a:lnSpc>
                <a:spcPct val="100000"/>
              </a:lnSpc>
              <a:spcBef>
                <a:spcPts val="540"/>
              </a:spcBef>
            </a:pPr>
            <a:r>
              <a:rPr sz="1100" spc="-50" dirty="0">
                <a:solidFill>
                  <a:srgbClr val="666666"/>
                </a:solidFill>
                <a:latin typeface="Microsoft Sans Serif"/>
                <a:cs typeface="Microsoft Sans Serif"/>
              </a:rPr>
              <a:t>YOLO-</a:t>
            </a:r>
            <a:r>
              <a:rPr sz="1100" spc="-20" dirty="0">
                <a:solidFill>
                  <a:srgbClr val="666666"/>
                </a:solidFill>
                <a:latin typeface="Microsoft Sans Serif"/>
                <a:cs typeface="Microsoft Sans Serif"/>
              </a:rPr>
              <a:t>based</a:t>
            </a:r>
            <a:r>
              <a:rPr sz="1100" spc="-15" dirty="0">
                <a:solidFill>
                  <a:srgbClr val="666666"/>
                </a:solidFill>
                <a:latin typeface="Microsoft Sans Serif"/>
                <a:cs typeface="Microsoft Sans Serif"/>
              </a:rPr>
              <a:t> </a:t>
            </a:r>
            <a:r>
              <a:rPr sz="1100" spc="-10" dirty="0">
                <a:solidFill>
                  <a:srgbClr val="666666"/>
                </a:solidFill>
                <a:latin typeface="Microsoft Sans Serif"/>
                <a:cs typeface="Microsoft Sans Serif"/>
              </a:rPr>
              <a:t>model </a:t>
            </a:r>
            <a:r>
              <a:rPr sz="1100" dirty="0">
                <a:solidFill>
                  <a:srgbClr val="666666"/>
                </a:solidFill>
                <a:latin typeface="Microsoft Sans Serif"/>
                <a:cs typeface="Microsoft Sans Serif"/>
              </a:rPr>
              <a:t>runs</a:t>
            </a:r>
            <a:r>
              <a:rPr sz="1100" spc="-10" dirty="0">
                <a:solidFill>
                  <a:srgbClr val="666666"/>
                </a:solidFill>
                <a:latin typeface="Microsoft Sans Serif"/>
                <a:cs typeface="Microsoft Sans Serif"/>
              </a:rPr>
              <a:t> locally</a:t>
            </a:r>
            <a:r>
              <a:rPr sz="1100" spc="-15" dirty="0">
                <a:solidFill>
                  <a:srgbClr val="666666"/>
                </a:solidFill>
                <a:latin typeface="Microsoft Sans Serif"/>
                <a:cs typeface="Microsoft Sans Serif"/>
              </a:rPr>
              <a:t> </a:t>
            </a:r>
            <a:r>
              <a:rPr sz="1100" dirty="0">
                <a:solidFill>
                  <a:srgbClr val="666666"/>
                </a:solidFill>
                <a:latin typeface="Microsoft Sans Serif"/>
                <a:cs typeface="Microsoft Sans Serif"/>
              </a:rPr>
              <a:t>at</a:t>
            </a:r>
            <a:r>
              <a:rPr sz="1100" spc="-10" dirty="0">
                <a:solidFill>
                  <a:srgbClr val="666666"/>
                </a:solidFill>
                <a:latin typeface="Microsoft Sans Serif"/>
                <a:cs typeface="Microsoft Sans Serif"/>
              </a:rPr>
              <a:t> </a:t>
            </a:r>
            <a:r>
              <a:rPr sz="1100" dirty="0">
                <a:solidFill>
                  <a:srgbClr val="666666"/>
                </a:solidFill>
                <a:latin typeface="Microsoft Sans Serif"/>
                <a:cs typeface="Microsoft Sans Serif"/>
              </a:rPr>
              <a:t>60</a:t>
            </a:r>
            <a:r>
              <a:rPr sz="1100" spc="-10" dirty="0">
                <a:solidFill>
                  <a:srgbClr val="666666"/>
                </a:solidFill>
                <a:latin typeface="Microsoft Sans Serif"/>
                <a:cs typeface="Microsoft Sans Serif"/>
              </a:rPr>
              <a:t> </a:t>
            </a:r>
            <a:r>
              <a:rPr sz="1100" spc="-80" dirty="0">
                <a:solidFill>
                  <a:srgbClr val="666666"/>
                </a:solidFill>
                <a:latin typeface="Microsoft Sans Serif"/>
                <a:cs typeface="Microsoft Sans Serif"/>
              </a:rPr>
              <a:t>FPS</a:t>
            </a:r>
            <a:r>
              <a:rPr sz="1100" spc="-10" dirty="0">
                <a:solidFill>
                  <a:srgbClr val="666666"/>
                </a:solidFill>
                <a:latin typeface="Microsoft Sans Serif"/>
                <a:cs typeface="Microsoft Sans Serif"/>
              </a:rPr>
              <a:t> </a:t>
            </a:r>
            <a:r>
              <a:rPr sz="1100" dirty="0">
                <a:solidFill>
                  <a:srgbClr val="666666"/>
                </a:solidFill>
                <a:latin typeface="Microsoft Sans Serif"/>
                <a:cs typeface="Microsoft Sans Serif"/>
              </a:rPr>
              <a:t>without</a:t>
            </a:r>
            <a:r>
              <a:rPr sz="1100" spc="-10" dirty="0">
                <a:solidFill>
                  <a:srgbClr val="666666"/>
                </a:solidFill>
                <a:latin typeface="Microsoft Sans Serif"/>
                <a:cs typeface="Microsoft Sans Serif"/>
              </a:rPr>
              <a:t> internet</a:t>
            </a:r>
            <a:r>
              <a:rPr sz="1100" spc="-15" dirty="0">
                <a:solidFill>
                  <a:srgbClr val="666666"/>
                </a:solidFill>
                <a:latin typeface="Microsoft Sans Serif"/>
                <a:cs typeface="Microsoft Sans Serif"/>
              </a:rPr>
              <a:t> </a:t>
            </a:r>
            <a:r>
              <a:rPr sz="1100" spc="-10" dirty="0">
                <a:solidFill>
                  <a:srgbClr val="666666"/>
                </a:solidFill>
                <a:latin typeface="Microsoft Sans Serif"/>
                <a:cs typeface="Microsoft Sans Serif"/>
              </a:rPr>
              <a:t>connectivity.</a:t>
            </a:r>
            <a:endParaRPr sz="1100" dirty="0">
              <a:latin typeface="Microsoft Sans Serif"/>
              <a:cs typeface="Microsoft Sans Serif"/>
            </a:endParaRPr>
          </a:p>
        </p:txBody>
      </p:sp>
      <p:sp>
        <p:nvSpPr>
          <p:cNvPr id="18" name="object 18"/>
          <p:cNvSpPr/>
          <p:nvPr/>
        </p:nvSpPr>
        <p:spPr>
          <a:xfrm>
            <a:off x="1076324" y="6515098"/>
            <a:ext cx="8543925" cy="9525"/>
          </a:xfrm>
          <a:custGeom>
            <a:avLst/>
            <a:gdLst/>
            <a:ahLst/>
            <a:cxnLst/>
            <a:rect l="l" t="t" r="r" b="b"/>
            <a:pathLst>
              <a:path w="8543925" h="9525">
                <a:moveTo>
                  <a:pt x="8543924" y="9524"/>
                </a:moveTo>
                <a:lnTo>
                  <a:pt x="0" y="9524"/>
                </a:lnTo>
                <a:lnTo>
                  <a:pt x="0" y="0"/>
                </a:lnTo>
                <a:lnTo>
                  <a:pt x="8543924" y="0"/>
                </a:lnTo>
                <a:lnTo>
                  <a:pt x="8543924" y="9524"/>
                </a:lnTo>
                <a:close/>
              </a:path>
            </a:pathLst>
          </a:custGeom>
          <a:solidFill>
            <a:srgbClr val="EDEDED"/>
          </a:solidFill>
        </p:spPr>
        <p:txBody>
          <a:bodyPr wrap="square" lIns="0" tIns="0" rIns="0" bIns="0" rtlCol="0"/>
          <a:lstStyle/>
          <a:p>
            <a:endParaRPr sz="2000"/>
          </a:p>
        </p:txBody>
      </p:sp>
      <p:sp>
        <p:nvSpPr>
          <p:cNvPr id="19" name="object 19"/>
          <p:cNvSpPr txBox="1"/>
          <p:nvPr/>
        </p:nvSpPr>
        <p:spPr>
          <a:xfrm>
            <a:off x="1057448" y="6641857"/>
            <a:ext cx="1574800" cy="158115"/>
          </a:xfrm>
          <a:prstGeom prst="rect">
            <a:avLst/>
          </a:prstGeom>
        </p:spPr>
        <p:txBody>
          <a:bodyPr vert="horz" wrap="square" lIns="0" tIns="14604" rIns="0" bIns="0" rtlCol="0">
            <a:spAutoFit/>
          </a:bodyPr>
          <a:lstStyle/>
          <a:p>
            <a:pPr marL="12700">
              <a:lnSpc>
                <a:spcPct val="100000"/>
              </a:lnSpc>
              <a:spcBef>
                <a:spcPts val="114"/>
              </a:spcBef>
            </a:pPr>
            <a:r>
              <a:rPr sz="800" spc="-20" dirty="0">
                <a:solidFill>
                  <a:srgbClr val="878787"/>
                </a:solidFill>
                <a:latin typeface="Microsoft Sans Serif"/>
                <a:cs typeface="Microsoft Sans Serif"/>
              </a:rPr>
              <a:t>GoldenEye </a:t>
            </a:r>
            <a:r>
              <a:rPr sz="850" spc="-45" dirty="0">
                <a:solidFill>
                  <a:srgbClr val="878787"/>
                </a:solidFill>
                <a:latin typeface="Verdana"/>
                <a:cs typeface="Verdana"/>
              </a:rPr>
              <a:t>-</a:t>
            </a:r>
            <a:r>
              <a:rPr sz="850" spc="-90" dirty="0">
                <a:solidFill>
                  <a:srgbClr val="878787"/>
                </a:solidFill>
                <a:latin typeface="Verdana"/>
                <a:cs typeface="Verdana"/>
              </a:rPr>
              <a:t> </a:t>
            </a:r>
            <a:r>
              <a:rPr sz="800" dirty="0">
                <a:solidFill>
                  <a:srgbClr val="878787"/>
                </a:solidFill>
                <a:latin typeface="Microsoft Sans Serif"/>
                <a:cs typeface="Microsoft Sans Serif"/>
              </a:rPr>
              <a:t>AI</a:t>
            </a:r>
            <a:r>
              <a:rPr sz="800" spc="-10" dirty="0">
                <a:solidFill>
                  <a:srgbClr val="878787"/>
                </a:solidFill>
                <a:latin typeface="Microsoft Sans Serif"/>
                <a:cs typeface="Microsoft Sans Serif"/>
              </a:rPr>
              <a:t> </a:t>
            </a:r>
            <a:r>
              <a:rPr sz="800" spc="-55" dirty="0">
                <a:solidFill>
                  <a:srgbClr val="878787"/>
                </a:solidFill>
                <a:latin typeface="Microsoft Sans Serif"/>
                <a:cs typeface="Microsoft Sans Serif"/>
              </a:rPr>
              <a:t>SAR</a:t>
            </a:r>
            <a:r>
              <a:rPr sz="800" spc="-5" dirty="0">
                <a:solidFill>
                  <a:srgbClr val="878787"/>
                </a:solidFill>
                <a:latin typeface="Microsoft Sans Serif"/>
                <a:cs typeface="Microsoft Sans Serif"/>
              </a:rPr>
              <a:t> </a:t>
            </a:r>
            <a:r>
              <a:rPr sz="800" dirty="0">
                <a:solidFill>
                  <a:srgbClr val="878787"/>
                </a:solidFill>
                <a:latin typeface="Microsoft Sans Serif"/>
                <a:cs typeface="Microsoft Sans Serif"/>
              </a:rPr>
              <a:t>Drone</a:t>
            </a:r>
            <a:r>
              <a:rPr sz="800" spc="-10" dirty="0">
                <a:solidFill>
                  <a:srgbClr val="878787"/>
                </a:solidFill>
                <a:latin typeface="Microsoft Sans Serif"/>
                <a:cs typeface="Microsoft Sans Serif"/>
              </a:rPr>
              <a:t> System</a:t>
            </a:r>
            <a:endParaRPr sz="800" dirty="0">
              <a:latin typeface="Microsoft Sans Serif"/>
              <a:cs typeface="Microsoft Sans Serif"/>
            </a:endParaRPr>
          </a:p>
        </p:txBody>
      </p:sp>
      <p:pic>
        <p:nvPicPr>
          <p:cNvPr id="20" name="object 20"/>
          <p:cNvPicPr/>
          <p:nvPr/>
        </p:nvPicPr>
        <p:blipFill>
          <a:blip r:embed="rId6" cstate="print"/>
          <a:stretch>
            <a:fillRect/>
          </a:stretch>
        </p:blipFill>
        <p:spPr>
          <a:xfrm>
            <a:off x="9410699" y="6619873"/>
            <a:ext cx="209549" cy="209548"/>
          </a:xfrm>
          <a:prstGeom prst="rect">
            <a:avLst/>
          </a:prstGeom>
        </p:spPr>
      </p:pic>
      <p:sp>
        <p:nvSpPr>
          <p:cNvPr id="21" name="object 21"/>
          <p:cNvSpPr txBox="1"/>
          <p:nvPr/>
        </p:nvSpPr>
        <p:spPr>
          <a:xfrm>
            <a:off x="9467353" y="6645350"/>
            <a:ext cx="88900" cy="151130"/>
          </a:xfrm>
          <a:prstGeom prst="rect">
            <a:avLst/>
          </a:prstGeom>
        </p:spPr>
        <p:txBody>
          <a:bodyPr vert="horz" wrap="square" lIns="0" tIns="15875" rIns="0" bIns="0" rtlCol="0">
            <a:spAutoFit/>
          </a:bodyPr>
          <a:lstStyle/>
          <a:p>
            <a:pPr marL="12700">
              <a:lnSpc>
                <a:spcPct val="100000"/>
              </a:lnSpc>
              <a:spcBef>
                <a:spcPts val="125"/>
              </a:spcBef>
            </a:pPr>
            <a:r>
              <a:rPr sz="800" b="1" spc="5" dirty="0">
                <a:solidFill>
                  <a:srgbClr val="FFFFFF"/>
                </a:solidFill>
                <a:latin typeface="Arial"/>
                <a:cs typeface="Arial"/>
              </a:rPr>
              <a:t>4</a:t>
            </a:r>
            <a:endParaRPr sz="800">
              <a:latin typeface="Arial"/>
              <a:cs typeface="Arial"/>
            </a:endParaRPr>
          </a:p>
        </p:txBody>
      </p:sp>
      <p:sp>
        <p:nvSpPr>
          <p:cNvPr id="22" name="object 22"/>
          <p:cNvSpPr/>
          <p:nvPr/>
        </p:nvSpPr>
        <p:spPr>
          <a:xfrm>
            <a:off x="1612899" y="3141357"/>
            <a:ext cx="9933264" cy="9525"/>
          </a:xfrm>
          <a:custGeom>
            <a:avLst/>
            <a:gdLst/>
            <a:ahLst/>
            <a:cxnLst/>
            <a:rect l="l" t="t" r="r" b="b"/>
            <a:pathLst>
              <a:path w="4181475" h="9525">
                <a:moveTo>
                  <a:pt x="4181474" y="9524"/>
                </a:moveTo>
                <a:lnTo>
                  <a:pt x="0" y="9524"/>
                </a:lnTo>
                <a:lnTo>
                  <a:pt x="0" y="0"/>
                </a:lnTo>
                <a:lnTo>
                  <a:pt x="4181474" y="0"/>
                </a:lnTo>
                <a:lnTo>
                  <a:pt x="4181474" y="9524"/>
                </a:lnTo>
                <a:close/>
              </a:path>
            </a:pathLst>
          </a:custGeom>
          <a:solidFill>
            <a:srgbClr val="F0F0F0"/>
          </a:solidFill>
        </p:spPr>
        <p:txBody>
          <a:bodyPr wrap="square" lIns="0" tIns="0" rIns="0" bIns="0" rtlCol="0"/>
          <a:lstStyle/>
          <a:p>
            <a:endParaRPr sz="4000"/>
          </a:p>
        </p:txBody>
      </p:sp>
      <p:sp>
        <p:nvSpPr>
          <p:cNvPr id="23" name="object 23"/>
          <p:cNvSpPr txBox="1"/>
          <p:nvPr/>
        </p:nvSpPr>
        <p:spPr>
          <a:xfrm>
            <a:off x="1612899" y="2562678"/>
            <a:ext cx="6785091" cy="289823"/>
          </a:xfrm>
          <a:prstGeom prst="rect">
            <a:avLst/>
          </a:prstGeom>
        </p:spPr>
        <p:txBody>
          <a:bodyPr vert="horz" wrap="square" lIns="0" tIns="12700" rIns="0" bIns="0" rtlCol="0">
            <a:spAutoFit/>
          </a:bodyPr>
          <a:lstStyle/>
          <a:p>
            <a:pPr marL="12700">
              <a:lnSpc>
                <a:spcPct val="100000"/>
              </a:lnSpc>
              <a:spcBef>
                <a:spcPts val="100"/>
              </a:spcBef>
            </a:pPr>
            <a:r>
              <a:rPr spc="-25" dirty="0">
                <a:solidFill>
                  <a:srgbClr val="333333"/>
                </a:solidFill>
                <a:latin typeface="Microsoft Sans Serif"/>
                <a:cs typeface="Microsoft Sans Serif"/>
              </a:rPr>
              <a:t>Traditional</a:t>
            </a:r>
            <a:r>
              <a:rPr spc="-10" dirty="0">
                <a:solidFill>
                  <a:srgbClr val="333333"/>
                </a:solidFill>
                <a:latin typeface="Microsoft Sans Serif"/>
                <a:cs typeface="Microsoft Sans Serif"/>
              </a:rPr>
              <a:t> </a:t>
            </a:r>
            <a:r>
              <a:rPr spc="-20" dirty="0">
                <a:solidFill>
                  <a:srgbClr val="333333"/>
                </a:solidFill>
                <a:latin typeface="Microsoft Sans Serif"/>
                <a:cs typeface="Microsoft Sans Serif"/>
              </a:rPr>
              <a:t>methods</a:t>
            </a:r>
            <a:r>
              <a:rPr spc="-10" dirty="0">
                <a:solidFill>
                  <a:srgbClr val="333333"/>
                </a:solidFill>
                <a:latin typeface="Microsoft Sans Serif"/>
                <a:cs typeface="Microsoft Sans Serif"/>
              </a:rPr>
              <a:t> </a:t>
            </a:r>
            <a:r>
              <a:rPr spc="-25" dirty="0">
                <a:solidFill>
                  <a:srgbClr val="333333"/>
                </a:solidFill>
                <a:latin typeface="Microsoft Sans Serif"/>
                <a:cs typeface="Microsoft Sans Serif"/>
              </a:rPr>
              <a:t>are</a:t>
            </a:r>
            <a:r>
              <a:rPr spc="-10" dirty="0">
                <a:solidFill>
                  <a:srgbClr val="333333"/>
                </a:solidFill>
                <a:latin typeface="Microsoft Sans Serif"/>
                <a:cs typeface="Microsoft Sans Serif"/>
              </a:rPr>
              <a:t> resource</a:t>
            </a:r>
            <a:r>
              <a:rPr sz="1600" spc="-10" dirty="0">
                <a:solidFill>
                  <a:srgbClr val="333333"/>
                </a:solidFill>
                <a:latin typeface="Microsoft Sans Serif"/>
                <a:cs typeface="Microsoft Sans Serif"/>
              </a:rPr>
              <a:t>-</a:t>
            </a:r>
            <a:r>
              <a:rPr spc="-20" dirty="0">
                <a:solidFill>
                  <a:srgbClr val="333333"/>
                </a:solidFill>
                <a:latin typeface="Microsoft Sans Serif"/>
                <a:cs typeface="Microsoft Sans Serif"/>
              </a:rPr>
              <a:t>intensive</a:t>
            </a:r>
            <a:r>
              <a:rPr spc="-10" dirty="0">
                <a:solidFill>
                  <a:srgbClr val="333333"/>
                </a:solidFill>
                <a:latin typeface="Microsoft Sans Serif"/>
                <a:cs typeface="Microsoft Sans Serif"/>
              </a:rPr>
              <a:t> </a:t>
            </a:r>
            <a:r>
              <a:rPr spc="-20" dirty="0">
                <a:solidFill>
                  <a:srgbClr val="333333"/>
                </a:solidFill>
                <a:latin typeface="Microsoft Sans Serif"/>
                <a:cs typeface="Microsoft Sans Serif"/>
              </a:rPr>
              <a:t>and</a:t>
            </a:r>
            <a:r>
              <a:rPr spc="-10" dirty="0">
                <a:solidFill>
                  <a:srgbClr val="333333"/>
                </a:solidFill>
                <a:latin typeface="Microsoft Sans Serif"/>
                <a:cs typeface="Microsoft Sans Serif"/>
              </a:rPr>
              <a:t> </a:t>
            </a:r>
            <a:r>
              <a:rPr spc="-20" dirty="0">
                <a:solidFill>
                  <a:srgbClr val="333333"/>
                </a:solidFill>
                <a:latin typeface="Microsoft Sans Serif"/>
                <a:cs typeface="Microsoft Sans Serif"/>
              </a:rPr>
              <a:t>slow</a:t>
            </a:r>
            <a:endParaRPr dirty="0">
              <a:latin typeface="Microsoft Sans Serif"/>
              <a:cs typeface="Microsoft Sans Serif"/>
            </a:endParaRPr>
          </a:p>
        </p:txBody>
      </p:sp>
      <p:sp>
        <p:nvSpPr>
          <p:cNvPr id="24" name="object 24"/>
          <p:cNvSpPr/>
          <p:nvPr/>
        </p:nvSpPr>
        <p:spPr>
          <a:xfrm>
            <a:off x="1612899" y="3443450"/>
            <a:ext cx="9933264" cy="9525"/>
          </a:xfrm>
          <a:custGeom>
            <a:avLst/>
            <a:gdLst/>
            <a:ahLst/>
            <a:cxnLst/>
            <a:rect l="l" t="t" r="r" b="b"/>
            <a:pathLst>
              <a:path w="4181475" h="9525">
                <a:moveTo>
                  <a:pt x="4181474" y="9524"/>
                </a:moveTo>
                <a:lnTo>
                  <a:pt x="0" y="9524"/>
                </a:lnTo>
                <a:lnTo>
                  <a:pt x="0" y="0"/>
                </a:lnTo>
                <a:lnTo>
                  <a:pt x="4181474" y="0"/>
                </a:lnTo>
                <a:lnTo>
                  <a:pt x="4181474" y="9524"/>
                </a:lnTo>
                <a:close/>
              </a:path>
            </a:pathLst>
          </a:custGeom>
          <a:solidFill>
            <a:srgbClr val="F0F0F0"/>
          </a:solidFill>
        </p:spPr>
        <p:txBody>
          <a:bodyPr wrap="square" lIns="0" tIns="0" rIns="0" bIns="0" rtlCol="0"/>
          <a:lstStyle/>
          <a:p>
            <a:endParaRPr sz="4000"/>
          </a:p>
        </p:txBody>
      </p:sp>
      <p:sp>
        <p:nvSpPr>
          <p:cNvPr id="25" name="object 25"/>
          <p:cNvSpPr txBox="1"/>
          <p:nvPr/>
        </p:nvSpPr>
        <p:spPr>
          <a:xfrm>
            <a:off x="1612900" y="2857953"/>
            <a:ext cx="6065551" cy="289823"/>
          </a:xfrm>
          <a:prstGeom prst="rect">
            <a:avLst/>
          </a:prstGeom>
        </p:spPr>
        <p:txBody>
          <a:bodyPr vert="horz" wrap="square" lIns="0" tIns="12700" rIns="0" bIns="0" rtlCol="0">
            <a:spAutoFit/>
          </a:bodyPr>
          <a:lstStyle/>
          <a:p>
            <a:pPr marL="12700">
              <a:lnSpc>
                <a:spcPct val="100000"/>
              </a:lnSpc>
              <a:spcBef>
                <a:spcPts val="100"/>
              </a:spcBef>
            </a:pPr>
            <a:r>
              <a:rPr spc="-55" dirty="0">
                <a:solidFill>
                  <a:srgbClr val="333333"/>
                </a:solidFill>
                <a:latin typeface="Microsoft Sans Serif"/>
                <a:cs typeface="Microsoft Sans Serif"/>
              </a:rPr>
              <a:t>Remote</a:t>
            </a:r>
            <a:r>
              <a:rPr spc="-15" dirty="0">
                <a:solidFill>
                  <a:srgbClr val="333333"/>
                </a:solidFill>
                <a:latin typeface="Microsoft Sans Serif"/>
                <a:cs typeface="Microsoft Sans Serif"/>
              </a:rPr>
              <a:t> </a:t>
            </a:r>
            <a:r>
              <a:rPr spc="-20" dirty="0">
                <a:solidFill>
                  <a:srgbClr val="333333"/>
                </a:solidFill>
                <a:latin typeface="Microsoft Sans Serif"/>
                <a:cs typeface="Microsoft Sans Serif"/>
              </a:rPr>
              <a:t>regions</a:t>
            </a:r>
            <a:r>
              <a:rPr spc="-15" dirty="0">
                <a:solidFill>
                  <a:srgbClr val="333333"/>
                </a:solidFill>
                <a:latin typeface="Microsoft Sans Serif"/>
                <a:cs typeface="Microsoft Sans Serif"/>
              </a:rPr>
              <a:t> </a:t>
            </a:r>
            <a:r>
              <a:rPr spc="-10" dirty="0">
                <a:solidFill>
                  <a:srgbClr val="333333"/>
                </a:solidFill>
                <a:latin typeface="Microsoft Sans Serif"/>
                <a:cs typeface="Microsoft Sans Serif"/>
              </a:rPr>
              <a:t>lack cellular</a:t>
            </a:r>
            <a:r>
              <a:rPr spc="-15" dirty="0">
                <a:solidFill>
                  <a:srgbClr val="333333"/>
                </a:solidFill>
                <a:latin typeface="Microsoft Sans Serif"/>
                <a:cs typeface="Microsoft Sans Serif"/>
              </a:rPr>
              <a:t> </a:t>
            </a:r>
            <a:r>
              <a:rPr spc="-10" dirty="0">
                <a:solidFill>
                  <a:srgbClr val="333333"/>
                </a:solidFill>
                <a:latin typeface="Microsoft Sans Serif"/>
                <a:cs typeface="Microsoft Sans Serif"/>
              </a:rPr>
              <a:t>network</a:t>
            </a:r>
            <a:r>
              <a:rPr spc="-15" dirty="0">
                <a:solidFill>
                  <a:srgbClr val="333333"/>
                </a:solidFill>
                <a:latin typeface="Microsoft Sans Serif"/>
                <a:cs typeface="Microsoft Sans Serif"/>
              </a:rPr>
              <a:t> </a:t>
            </a:r>
            <a:r>
              <a:rPr spc="-10" dirty="0">
                <a:solidFill>
                  <a:srgbClr val="333333"/>
                </a:solidFill>
                <a:latin typeface="Microsoft Sans Serif"/>
                <a:cs typeface="Microsoft Sans Serif"/>
              </a:rPr>
              <a:t>coverage</a:t>
            </a:r>
            <a:endParaRPr dirty="0">
              <a:latin typeface="Microsoft Sans Serif"/>
              <a:cs typeface="Microsoft Sans Serif"/>
            </a:endParaRPr>
          </a:p>
        </p:txBody>
      </p:sp>
      <p:sp>
        <p:nvSpPr>
          <p:cNvPr id="26" name="object 26"/>
          <p:cNvSpPr/>
          <p:nvPr/>
        </p:nvSpPr>
        <p:spPr>
          <a:xfrm>
            <a:off x="1612899" y="3788439"/>
            <a:ext cx="9933264" cy="9525"/>
          </a:xfrm>
          <a:custGeom>
            <a:avLst/>
            <a:gdLst/>
            <a:ahLst/>
            <a:cxnLst/>
            <a:rect l="l" t="t" r="r" b="b"/>
            <a:pathLst>
              <a:path w="4181475" h="9525">
                <a:moveTo>
                  <a:pt x="4181474" y="9524"/>
                </a:moveTo>
                <a:lnTo>
                  <a:pt x="0" y="9524"/>
                </a:lnTo>
                <a:lnTo>
                  <a:pt x="0" y="0"/>
                </a:lnTo>
                <a:lnTo>
                  <a:pt x="4181474" y="0"/>
                </a:lnTo>
                <a:lnTo>
                  <a:pt x="4181474" y="9524"/>
                </a:lnTo>
                <a:close/>
              </a:path>
            </a:pathLst>
          </a:custGeom>
          <a:solidFill>
            <a:srgbClr val="F0F0F0"/>
          </a:solidFill>
        </p:spPr>
        <p:txBody>
          <a:bodyPr wrap="square" lIns="0" tIns="0" rIns="0" bIns="0" rtlCol="0"/>
          <a:lstStyle/>
          <a:p>
            <a:endParaRPr sz="4000"/>
          </a:p>
        </p:txBody>
      </p:sp>
      <p:sp>
        <p:nvSpPr>
          <p:cNvPr id="27" name="object 27"/>
          <p:cNvSpPr txBox="1"/>
          <p:nvPr/>
        </p:nvSpPr>
        <p:spPr>
          <a:xfrm>
            <a:off x="1612900" y="3153228"/>
            <a:ext cx="6077619" cy="289823"/>
          </a:xfrm>
          <a:prstGeom prst="rect">
            <a:avLst/>
          </a:prstGeom>
        </p:spPr>
        <p:txBody>
          <a:bodyPr vert="horz" wrap="square" lIns="0" tIns="12700" rIns="0" bIns="0" rtlCol="0">
            <a:spAutoFit/>
          </a:bodyPr>
          <a:lstStyle/>
          <a:p>
            <a:pPr marL="12700">
              <a:lnSpc>
                <a:spcPct val="100000"/>
              </a:lnSpc>
              <a:spcBef>
                <a:spcPts val="100"/>
              </a:spcBef>
            </a:pPr>
            <a:r>
              <a:rPr spc="-10" dirty="0">
                <a:solidFill>
                  <a:srgbClr val="333333"/>
                </a:solidFill>
                <a:latin typeface="Microsoft Sans Serif"/>
                <a:cs typeface="Microsoft Sans Serif"/>
              </a:rPr>
              <a:t>Cloud</a:t>
            </a:r>
            <a:r>
              <a:rPr sz="1600" spc="-10" dirty="0">
                <a:solidFill>
                  <a:srgbClr val="333333"/>
                </a:solidFill>
                <a:latin typeface="Microsoft Sans Serif"/>
                <a:cs typeface="Microsoft Sans Serif"/>
              </a:rPr>
              <a:t>-</a:t>
            </a:r>
            <a:r>
              <a:rPr spc="-20" dirty="0">
                <a:solidFill>
                  <a:srgbClr val="333333"/>
                </a:solidFill>
                <a:latin typeface="Microsoft Sans Serif"/>
                <a:cs typeface="Microsoft Sans Serif"/>
              </a:rPr>
              <a:t>based</a:t>
            </a:r>
            <a:r>
              <a:rPr spc="5" dirty="0">
                <a:solidFill>
                  <a:srgbClr val="333333"/>
                </a:solidFill>
                <a:latin typeface="Microsoft Sans Serif"/>
                <a:cs typeface="Microsoft Sans Serif"/>
              </a:rPr>
              <a:t> </a:t>
            </a:r>
            <a:r>
              <a:rPr spc="-20" dirty="0">
                <a:solidFill>
                  <a:srgbClr val="333333"/>
                </a:solidFill>
                <a:latin typeface="Microsoft Sans Serif"/>
                <a:cs typeface="Microsoft Sans Serif"/>
              </a:rPr>
              <a:t>drone</a:t>
            </a:r>
            <a:r>
              <a:rPr spc="5" dirty="0">
                <a:solidFill>
                  <a:srgbClr val="333333"/>
                </a:solidFill>
                <a:latin typeface="Microsoft Sans Serif"/>
                <a:cs typeface="Microsoft Sans Serif"/>
              </a:rPr>
              <a:t> </a:t>
            </a:r>
            <a:r>
              <a:rPr spc="-20" dirty="0">
                <a:solidFill>
                  <a:srgbClr val="333333"/>
                </a:solidFill>
                <a:latin typeface="Microsoft Sans Serif"/>
                <a:cs typeface="Microsoft Sans Serif"/>
              </a:rPr>
              <a:t>solutions</a:t>
            </a:r>
            <a:r>
              <a:rPr spc="5" dirty="0">
                <a:solidFill>
                  <a:srgbClr val="333333"/>
                </a:solidFill>
                <a:latin typeface="Microsoft Sans Serif"/>
                <a:cs typeface="Microsoft Sans Serif"/>
              </a:rPr>
              <a:t> </a:t>
            </a:r>
            <a:r>
              <a:rPr spc="-10" dirty="0">
                <a:solidFill>
                  <a:srgbClr val="333333"/>
                </a:solidFill>
                <a:latin typeface="Microsoft Sans Serif"/>
                <a:cs typeface="Microsoft Sans Serif"/>
              </a:rPr>
              <a:t>ineffective</a:t>
            </a:r>
            <a:r>
              <a:rPr spc="10" dirty="0">
                <a:solidFill>
                  <a:srgbClr val="333333"/>
                </a:solidFill>
                <a:latin typeface="Microsoft Sans Serif"/>
                <a:cs typeface="Microsoft Sans Serif"/>
              </a:rPr>
              <a:t> </a:t>
            </a:r>
            <a:r>
              <a:rPr spc="-10" dirty="0">
                <a:solidFill>
                  <a:srgbClr val="333333"/>
                </a:solidFill>
                <a:latin typeface="Microsoft Sans Serif"/>
                <a:cs typeface="Microsoft Sans Serif"/>
              </a:rPr>
              <a:t>offline</a:t>
            </a:r>
            <a:endParaRPr dirty="0">
              <a:latin typeface="Microsoft Sans Serif"/>
              <a:cs typeface="Microsoft Sans Serif"/>
            </a:endParaRPr>
          </a:p>
        </p:txBody>
      </p:sp>
      <p:sp>
        <p:nvSpPr>
          <p:cNvPr id="28" name="object 28"/>
          <p:cNvSpPr txBox="1"/>
          <p:nvPr/>
        </p:nvSpPr>
        <p:spPr>
          <a:xfrm>
            <a:off x="1612900" y="3448503"/>
            <a:ext cx="6279754" cy="289823"/>
          </a:xfrm>
          <a:prstGeom prst="rect">
            <a:avLst/>
          </a:prstGeom>
        </p:spPr>
        <p:txBody>
          <a:bodyPr vert="horz" wrap="square" lIns="0" tIns="12700" rIns="0" bIns="0" rtlCol="0">
            <a:spAutoFit/>
          </a:bodyPr>
          <a:lstStyle/>
          <a:p>
            <a:pPr marL="12700">
              <a:lnSpc>
                <a:spcPct val="100000"/>
              </a:lnSpc>
              <a:spcBef>
                <a:spcPts val="100"/>
              </a:spcBef>
            </a:pPr>
            <a:r>
              <a:rPr spc="-50" dirty="0">
                <a:solidFill>
                  <a:srgbClr val="333333"/>
                </a:solidFill>
                <a:latin typeface="Microsoft Sans Serif"/>
                <a:cs typeface="Microsoft Sans Serif"/>
              </a:rPr>
              <a:t>Human</a:t>
            </a:r>
            <a:r>
              <a:rPr spc="-20" dirty="0">
                <a:solidFill>
                  <a:srgbClr val="333333"/>
                </a:solidFill>
                <a:latin typeface="Microsoft Sans Serif"/>
                <a:cs typeface="Microsoft Sans Serif"/>
              </a:rPr>
              <a:t> </a:t>
            </a:r>
            <a:r>
              <a:rPr spc="-10" dirty="0">
                <a:solidFill>
                  <a:srgbClr val="333333"/>
                </a:solidFill>
                <a:latin typeface="Microsoft Sans Serif"/>
                <a:cs typeface="Microsoft Sans Serif"/>
              </a:rPr>
              <a:t>fatigue</a:t>
            </a:r>
            <a:r>
              <a:rPr spc="-30" dirty="0">
                <a:solidFill>
                  <a:srgbClr val="333333"/>
                </a:solidFill>
                <a:latin typeface="Microsoft Sans Serif"/>
                <a:cs typeface="Microsoft Sans Serif"/>
              </a:rPr>
              <a:t> </a:t>
            </a:r>
            <a:r>
              <a:rPr spc="-10" dirty="0">
                <a:solidFill>
                  <a:srgbClr val="333333"/>
                </a:solidFill>
                <a:latin typeface="Microsoft Sans Serif"/>
                <a:cs typeface="Microsoft Sans Serif"/>
              </a:rPr>
              <a:t>limits</a:t>
            </a:r>
            <a:r>
              <a:rPr spc="-25" dirty="0">
                <a:solidFill>
                  <a:srgbClr val="333333"/>
                </a:solidFill>
                <a:latin typeface="Microsoft Sans Serif"/>
                <a:cs typeface="Microsoft Sans Serif"/>
              </a:rPr>
              <a:t> </a:t>
            </a:r>
            <a:r>
              <a:rPr spc="-10" dirty="0">
                <a:solidFill>
                  <a:srgbClr val="333333"/>
                </a:solidFill>
                <a:latin typeface="Microsoft Sans Serif"/>
                <a:cs typeface="Microsoft Sans Serif"/>
              </a:rPr>
              <a:t>ground</a:t>
            </a:r>
            <a:r>
              <a:rPr spc="-25" dirty="0">
                <a:solidFill>
                  <a:srgbClr val="333333"/>
                </a:solidFill>
                <a:latin typeface="Microsoft Sans Serif"/>
                <a:cs typeface="Microsoft Sans Serif"/>
              </a:rPr>
              <a:t> </a:t>
            </a:r>
            <a:r>
              <a:rPr spc="-10" dirty="0">
                <a:solidFill>
                  <a:srgbClr val="333333"/>
                </a:solidFill>
                <a:latin typeface="Microsoft Sans Serif"/>
                <a:cs typeface="Microsoft Sans Serif"/>
              </a:rPr>
              <a:t>patrol</a:t>
            </a:r>
            <a:r>
              <a:rPr spc="-25" dirty="0">
                <a:solidFill>
                  <a:srgbClr val="333333"/>
                </a:solidFill>
                <a:latin typeface="Microsoft Sans Serif"/>
                <a:cs typeface="Microsoft Sans Serif"/>
              </a:rPr>
              <a:t> </a:t>
            </a:r>
            <a:r>
              <a:rPr spc="-10" dirty="0">
                <a:solidFill>
                  <a:srgbClr val="333333"/>
                </a:solidFill>
                <a:latin typeface="Microsoft Sans Serif"/>
                <a:cs typeface="Microsoft Sans Serif"/>
              </a:rPr>
              <a:t>effectiveness</a:t>
            </a:r>
            <a:endParaRPr dirty="0">
              <a:latin typeface="Microsoft Sans Serif"/>
              <a:cs typeface="Microsoft Sans Serif"/>
            </a:endParaRPr>
          </a:p>
        </p:txBody>
      </p:sp>
      <p:sp>
        <p:nvSpPr>
          <p:cNvPr id="29" name="object 26">
            <a:extLst>
              <a:ext uri="{FF2B5EF4-FFF2-40B4-BE49-F238E27FC236}">
                <a16:creationId xmlns:a16="http://schemas.microsoft.com/office/drawing/2014/main" id="{008098CA-972A-226E-2331-76AE941F6EBB}"/>
              </a:ext>
            </a:extLst>
          </p:cNvPr>
          <p:cNvSpPr/>
          <p:nvPr/>
        </p:nvSpPr>
        <p:spPr>
          <a:xfrm>
            <a:off x="1655131" y="2846959"/>
            <a:ext cx="9933264" cy="9525"/>
          </a:xfrm>
          <a:custGeom>
            <a:avLst/>
            <a:gdLst/>
            <a:ahLst/>
            <a:cxnLst/>
            <a:rect l="l" t="t" r="r" b="b"/>
            <a:pathLst>
              <a:path w="4181475" h="9525">
                <a:moveTo>
                  <a:pt x="4181474" y="9524"/>
                </a:moveTo>
                <a:lnTo>
                  <a:pt x="0" y="9524"/>
                </a:lnTo>
                <a:lnTo>
                  <a:pt x="0" y="0"/>
                </a:lnTo>
                <a:lnTo>
                  <a:pt x="4181474" y="0"/>
                </a:lnTo>
                <a:lnTo>
                  <a:pt x="4181474" y="9524"/>
                </a:lnTo>
                <a:close/>
              </a:path>
            </a:pathLst>
          </a:custGeom>
          <a:solidFill>
            <a:srgbClr val="F0F0F0"/>
          </a:solidFill>
        </p:spPr>
        <p:txBody>
          <a:bodyPr wrap="square" lIns="0" tIns="0" rIns="0" bIns="0" rtlCol="0"/>
          <a:lstStyle/>
          <a:p>
            <a:endParaRPr sz="4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7283450">
              <a:lnSpc>
                <a:spcPct val="100000"/>
              </a:lnSpc>
              <a:spcBef>
                <a:spcPts val="100"/>
              </a:spcBef>
            </a:pPr>
            <a:r>
              <a:rPr spc="285" dirty="0"/>
              <a:t>02</a:t>
            </a:r>
          </a:p>
        </p:txBody>
      </p:sp>
      <p:sp>
        <p:nvSpPr>
          <p:cNvPr id="3" name="object 3"/>
          <p:cNvSpPr txBox="1"/>
          <p:nvPr/>
        </p:nvSpPr>
        <p:spPr>
          <a:xfrm>
            <a:off x="1648817" y="3348588"/>
            <a:ext cx="7399020" cy="1017269"/>
          </a:xfrm>
          <a:prstGeom prst="rect">
            <a:avLst/>
          </a:prstGeom>
        </p:spPr>
        <p:txBody>
          <a:bodyPr vert="horz" wrap="square" lIns="0" tIns="13335" rIns="0" bIns="0" rtlCol="0">
            <a:spAutoFit/>
          </a:bodyPr>
          <a:lstStyle/>
          <a:p>
            <a:pPr algn="ctr">
              <a:lnSpc>
                <a:spcPct val="100000"/>
              </a:lnSpc>
              <a:spcBef>
                <a:spcPts val="105"/>
              </a:spcBef>
            </a:pPr>
            <a:r>
              <a:rPr sz="3900" b="1" spc="-165" dirty="0">
                <a:solidFill>
                  <a:srgbClr val="FFFFFF"/>
                </a:solidFill>
                <a:latin typeface="Arial"/>
                <a:cs typeface="Arial"/>
              </a:rPr>
              <a:t>Motivation</a:t>
            </a:r>
            <a:r>
              <a:rPr sz="3900" b="1" spc="-350" dirty="0">
                <a:solidFill>
                  <a:srgbClr val="FFFFFF"/>
                </a:solidFill>
                <a:latin typeface="Arial"/>
                <a:cs typeface="Arial"/>
              </a:rPr>
              <a:t> </a:t>
            </a:r>
            <a:r>
              <a:rPr sz="3900" b="1" spc="-220" dirty="0">
                <a:solidFill>
                  <a:srgbClr val="FFFFFF"/>
                </a:solidFill>
                <a:latin typeface="Arial"/>
                <a:cs typeface="Arial"/>
              </a:rPr>
              <a:t>and</a:t>
            </a:r>
            <a:r>
              <a:rPr sz="3900" b="1" spc="-350" dirty="0">
                <a:solidFill>
                  <a:srgbClr val="FFFFFF"/>
                </a:solidFill>
                <a:latin typeface="Arial"/>
                <a:cs typeface="Arial"/>
              </a:rPr>
              <a:t> </a:t>
            </a:r>
            <a:r>
              <a:rPr sz="3900" b="1" spc="-245" dirty="0">
                <a:solidFill>
                  <a:srgbClr val="FFFFFF"/>
                </a:solidFill>
                <a:latin typeface="Arial"/>
                <a:cs typeface="Arial"/>
              </a:rPr>
              <a:t>Problem</a:t>
            </a:r>
            <a:r>
              <a:rPr sz="3900" b="1" spc="-345" dirty="0">
                <a:solidFill>
                  <a:srgbClr val="FFFFFF"/>
                </a:solidFill>
                <a:latin typeface="Arial"/>
                <a:cs typeface="Arial"/>
              </a:rPr>
              <a:t> </a:t>
            </a:r>
            <a:r>
              <a:rPr sz="3900" b="1" spc="-114" dirty="0">
                <a:solidFill>
                  <a:srgbClr val="FFFFFF"/>
                </a:solidFill>
                <a:latin typeface="Arial"/>
                <a:cs typeface="Arial"/>
              </a:rPr>
              <a:t>Statement</a:t>
            </a:r>
            <a:endParaRPr sz="3900" dirty="0">
              <a:latin typeface="Arial"/>
              <a:cs typeface="Arial"/>
            </a:endParaRPr>
          </a:p>
          <a:p>
            <a:pPr algn="ctr">
              <a:lnSpc>
                <a:spcPct val="100000"/>
              </a:lnSpc>
              <a:spcBef>
                <a:spcPts val="1320"/>
              </a:spcBef>
            </a:pPr>
            <a:r>
              <a:rPr sz="1500" spc="-40" dirty="0">
                <a:solidFill>
                  <a:srgbClr val="FFFFFF"/>
                </a:solidFill>
                <a:latin typeface="Microsoft Sans Serif"/>
                <a:cs typeface="Microsoft Sans Serif"/>
              </a:rPr>
              <a:t>Why</a:t>
            </a:r>
            <a:r>
              <a:rPr sz="1500" spc="-60" dirty="0">
                <a:solidFill>
                  <a:srgbClr val="FFFFFF"/>
                </a:solidFill>
                <a:latin typeface="Microsoft Sans Serif"/>
                <a:cs typeface="Microsoft Sans Serif"/>
              </a:rPr>
              <a:t> </a:t>
            </a:r>
            <a:r>
              <a:rPr sz="1500" dirty="0">
                <a:solidFill>
                  <a:srgbClr val="FFFFFF"/>
                </a:solidFill>
                <a:latin typeface="Microsoft Sans Serif"/>
                <a:cs typeface="Microsoft Sans Serif"/>
              </a:rPr>
              <a:t>this</a:t>
            </a:r>
            <a:r>
              <a:rPr sz="1500" spc="-95" dirty="0">
                <a:solidFill>
                  <a:srgbClr val="FFFFFF"/>
                </a:solidFill>
                <a:latin typeface="Microsoft Sans Serif"/>
                <a:cs typeface="Microsoft Sans Serif"/>
              </a:rPr>
              <a:t> </a:t>
            </a:r>
            <a:r>
              <a:rPr sz="1500" spc="-20" dirty="0">
                <a:solidFill>
                  <a:srgbClr val="FFFFFF"/>
                </a:solidFill>
                <a:latin typeface="Microsoft Sans Serif"/>
                <a:cs typeface="Microsoft Sans Serif"/>
              </a:rPr>
              <a:t>solution</a:t>
            </a:r>
            <a:r>
              <a:rPr sz="1500" spc="-75" dirty="0">
                <a:solidFill>
                  <a:srgbClr val="FFFFFF"/>
                </a:solidFill>
                <a:latin typeface="Microsoft Sans Serif"/>
                <a:cs typeface="Microsoft Sans Serif"/>
              </a:rPr>
              <a:t> </a:t>
            </a:r>
            <a:r>
              <a:rPr sz="1500" dirty="0">
                <a:solidFill>
                  <a:srgbClr val="FFFFFF"/>
                </a:solidFill>
                <a:latin typeface="Microsoft Sans Serif"/>
                <a:cs typeface="Microsoft Sans Serif"/>
              </a:rPr>
              <a:t>is</a:t>
            </a:r>
            <a:r>
              <a:rPr sz="1500" spc="-75" dirty="0">
                <a:solidFill>
                  <a:srgbClr val="FFFFFF"/>
                </a:solidFill>
                <a:latin typeface="Microsoft Sans Serif"/>
                <a:cs typeface="Microsoft Sans Serif"/>
              </a:rPr>
              <a:t> </a:t>
            </a:r>
            <a:r>
              <a:rPr sz="1500" dirty="0">
                <a:solidFill>
                  <a:srgbClr val="FFFFFF"/>
                </a:solidFill>
                <a:latin typeface="Microsoft Sans Serif"/>
                <a:cs typeface="Microsoft Sans Serif"/>
              </a:rPr>
              <a:t>critically</a:t>
            </a:r>
            <a:r>
              <a:rPr sz="1500" spc="-75" dirty="0">
                <a:solidFill>
                  <a:srgbClr val="FFFFFF"/>
                </a:solidFill>
                <a:latin typeface="Microsoft Sans Serif"/>
                <a:cs typeface="Microsoft Sans Serif"/>
              </a:rPr>
              <a:t> </a:t>
            </a:r>
            <a:r>
              <a:rPr sz="1500" spc="-10" dirty="0">
                <a:solidFill>
                  <a:srgbClr val="FFFFFF"/>
                </a:solidFill>
                <a:latin typeface="Microsoft Sans Serif"/>
                <a:cs typeface="Microsoft Sans Serif"/>
              </a:rPr>
              <a:t>needed</a:t>
            </a:r>
            <a:endParaRPr sz="1500" dirty="0">
              <a:latin typeface="Microsoft Sans Serif"/>
              <a:cs typeface="Microsoft Sans Serif"/>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79896" y="965200"/>
            <a:ext cx="209550" cy="184150"/>
          </a:xfrm>
          <a:prstGeom prst="rect">
            <a:avLst/>
          </a:prstGeom>
        </p:spPr>
      </p:pic>
      <p:sp>
        <p:nvSpPr>
          <p:cNvPr id="3" name="object 3"/>
          <p:cNvSpPr txBox="1">
            <a:spLocks noGrp="1"/>
          </p:cNvSpPr>
          <p:nvPr>
            <p:ph type="title"/>
          </p:nvPr>
        </p:nvSpPr>
        <p:spPr>
          <a:xfrm>
            <a:off x="1371996" y="883762"/>
            <a:ext cx="5803504" cy="442429"/>
          </a:xfrm>
          <a:prstGeom prst="rect">
            <a:avLst/>
          </a:prstGeom>
        </p:spPr>
        <p:txBody>
          <a:bodyPr vert="horz" wrap="square" lIns="0" tIns="11430" rIns="0" bIns="0" rtlCol="0">
            <a:spAutoFit/>
          </a:bodyPr>
          <a:lstStyle/>
          <a:p>
            <a:pPr marL="12700">
              <a:lnSpc>
                <a:spcPct val="100000"/>
              </a:lnSpc>
              <a:spcBef>
                <a:spcPts val="90"/>
              </a:spcBef>
            </a:pPr>
            <a:r>
              <a:rPr sz="2800" spc="-90" dirty="0">
                <a:solidFill>
                  <a:srgbClr val="BF382A"/>
                </a:solidFill>
              </a:rPr>
              <a:t>Motivation:</a:t>
            </a:r>
            <a:r>
              <a:rPr sz="2800" spc="-155" dirty="0">
                <a:solidFill>
                  <a:srgbClr val="BF382A"/>
                </a:solidFill>
              </a:rPr>
              <a:t> </a:t>
            </a:r>
            <a:r>
              <a:rPr sz="2800" spc="-110" dirty="0">
                <a:solidFill>
                  <a:srgbClr val="BF382A"/>
                </a:solidFill>
              </a:rPr>
              <a:t>The</a:t>
            </a:r>
            <a:r>
              <a:rPr sz="2800" spc="-120" dirty="0">
                <a:solidFill>
                  <a:srgbClr val="BF382A"/>
                </a:solidFill>
              </a:rPr>
              <a:t> </a:t>
            </a:r>
            <a:r>
              <a:rPr sz="2800" spc="-90" dirty="0">
                <a:solidFill>
                  <a:srgbClr val="BF382A"/>
                </a:solidFill>
              </a:rPr>
              <a:t>Humanitarian</a:t>
            </a:r>
            <a:r>
              <a:rPr sz="2800" spc="-120" dirty="0">
                <a:solidFill>
                  <a:srgbClr val="BF382A"/>
                </a:solidFill>
              </a:rPr>
              <a:t> </a:t>
            </a:r>
            <a:r>
              <a:rPr sz="2800" spc="-110" dirty="0">
                <a:solidFill>
                  <a:srgbClr val="BF382A"/>
                </a:solidFill>
              </a:rPr>
              <a:t>Crisis</a:t>
            </a:r>
            <a:endParaRPr sz="2800" dirty="0"/>
          </a:p>
        </p:txBody>
      </p:sp>
      <p:pic>
        <p:nvPicPr>
          <p:cNvPr id="4" name="object 4"/>
          <p:cNvPicPr/>
          <p:nvPr/>
        </p:nvPicPr>
        <p:blipFill>
          <a:blip r:embed="rId3" cstate="print"/>
          <a:stretch>
            <a:fillRect/>
          </a:stretch>
        </p:blipFill>
        <p:spPr>
          <a:xfrm>
            <a:off x="469900" y="1371599"/>
            <a:ext cx="9753599" cy="3035295"/>
          </a:xfrm>
          <a:prstGeom prst="rect">
            <a:avLst/>
          </a:prstGeom>
        </p:spPr>
      </p:pic>
      <p:sp>
        <p:nvSpPr>
          <p:cNvPr id="5" name="object 5"/>
          <p:cNvSpPr txBox="1"/>
          <p:nvPr/>
        </p:nvSpPr>
        <p:spPr>
          <a:xfrm>
            <a:off x="1030647" y="2287253"/>
            <a:ext cx="1412542" cy="1023935"/>
          </a:xfrm>
          <a:prstGeom prst="rect">
            <a:avLst/>
          </a:prstGeom>
        </p:spPr>
        <p:txBody>
          <a:bodyPr vert="horz" wrap="square" lIns="0" tIns="160655" rIns="0" bIns="0" rtlCol="0">
            <a:spAutoFit/>
          </a:bodyPr>
          <a:lstStyle/>
          <a:p>
            <a:pPr marL="4445" algn="ctr">
              <a:lnSpc>
                <a:spcPct val="100000"/>
              </a:lnSpc>
              <a:spcBef>
                <a:spcPts val="1265"/>
              </a:spcBef>
            </a:pPr>
            <a:r>
              <a:rPr sz="3200" b="1" spc="-20" dirty="0">
                <a:solidFill>
                  <a:srgbClr val="BF382A"/>
                </a:solidFill>
                <a:latin typeface="Arial"/>
                <a:cs typeface="Arial"/>
              </a:rPr>
              <a:t>142+</a:t>
            </a:r>
            <a:endParaRPr sz="3200" dirty="0">
              <a:latin typeface="Arial"/>
              <a:cs typeface="Arial"/>
            </a:endParaRPr>
          </a:p>
          <a:p>
            <a:pPr marL="12700" marR="5080" algn="ctr">
              <a:lnSpc>
                <a:spcPct val="116700"/>
              </a:lnSpc>
              <a:spcBef>
                <a:spcPts val="215"/>
              </a:spcBef>
            </a:pPr>
            <a:r>
              <a:rPr sz="1000" spc="-10" dirty="0">
                <a:solidFill>
                  <a:srgbClr val="666666"/>
                </a:solidFill>
                <a:latin typeface="Microsoft Sans Serif"/>
                <a:cs typeface="Microsoft Sans Serif"/>
              </a:rPr>
              <a:t>MISSING</a:t>
            </a:r>
            <a:r>
              <a:rPr sz="1000" spc="15" dirty="0">
                <a:solidFill>
                  <a:srgbClr val="666666"/>
                </a:solidFill>
                <a:latin typeface="Microsoft Sans Serif"/>
                <a:cs typeface="Microsoft Sans Serif"/>
              </a:rPr>
              <a:t> </a:t>
            </a:r>
            <a:r>
              <a:rPr sz="1000" spc="-50" dirty="0">
                <a:solidFill>
                  <a:srgbClr val="666666"/>
                </a:solidFill>
                <a:latin typeface="Microsoft Sans Serif"/>
                <a:cs typeface="Microsoft Sans Serif"/>
              </a:rPr>
              <a:t>PERSONS</a:t>
            </a:r>
            <a:r>
              <a:rPr sz="1000" spc="500" dirty="0">
                <a:solidFill>
                  <a:srgbClr val="666666"/>
                </a:solidFill>
                <a:latin typeface="Microsoft Sans Serif"/>
                <a:cs typeface="Microsoft Sans Serif"/>
              </a:rPr>
              <a:t> </a:t>
            </a:r>
            <a:r>
              <a:rPr sz="1000" dirty="0">
                <a:solidFill>
                  <a:srgbClr val="666666"/>
                </a:solidFill>
                <a:latin typeface="Microsoft Sans Serif"/>
                <a:cs typeface="Microsoft Sans Serif"/>
              </a:rPr>
              <a:t>(SAUDI, </a:t>
            </a:r>
            <a:r>
              <a:rPr sz="1000" spc="-10" dirty="0">
                <a:solidFill>
                  <a:srgbClr val="666666"/>
                </a:solidFill>
                <a:latin typeface="Microsoft Sans Serif"/>
                <a:cs typeface="Microsoft Sans Serif"/>
              </a:rPr>
              <a:t>ANNUAL)</a:t>
            </a:r>
            <a:endParaRPr sz="1000" dirty="0">
              <a:latin typeface="Microsoft Sans Serif"/>
              <a:cs typeface="Microsoft Sans Serif"/>
            </a:endParaRPr>
          </a:p>
        </p:txBody>
      </p:sp>
      <p:sp>
        <p:nvSpPr>
          <p:cNvPr id="6" name="object 6"/>
          <p:cNvSpPr txBox="1"/>
          <p:nvPr/>
        </p:nvSpPr>
        <p:spPr>
          <a:xfrm>
            <a:off x="3556647" y="2262430"/>
            <a:ext cx="1030605" cy="1384033"/>
          </a:xfrm>
          <a:prstGeom prst="rect">
            <a:avLst/>
          </a:prstGeom>
        </p:spPr>
        <p:txBody>
          <a:bodyPr vert="horz" wrap="square" lIns="0" tIns="160655" rIns="0" bIns="0" rtlCol="0">
            <a:spAutoFit/>
          </a:bodyPr>
          <a:lstStyle/>
          <a:p>
            <a:pPr marL="4445" algn="ctr">
              <a:lnSpc>
                <a:spcPct val="100000"/>
              </a:lnSpc>
              <a:spcBef>
                <a:spcPts val="1265"/>
              </a:spcBef>
            </a:pPr>
            <a:r>
              <a:rPr sz="3200" b="1" spc="60" dirty="0">
                <a:solidFill>
                  <a:srgbClr val="BF382A"/>
                </a:solidFill>
                <a:latin typeface="Arial"/>
                <a:cs typeface="Arial"/>
              </a:rPr>
              <a:t>28</a:t>
            </a:r>
            <a:endParaRPr sz="3200" dirty="0">
              <a:latin typeface="Arial"/>
              <a:cs typeface="Arial"/>
            </a:endParaRPr>
          </a:p>
          <a:p>
            <a:pPr marL="12700" marR="5080" indent="-635" algn="ctr">
              <a:lnSpc>
                <a:spcPct val="116700"/>
              </a:lnSpc>
              <a:spcBef>
                <a:spcPts val="215"/>
              </a:spcBef>
            </a:pPr>
            <a:r>
              <a:rPr lang="en-US" sz="1000" spc="-25" dirty="0">
                <a:solidFill>
                  <a:srgbClr val="666666"/>
                </a:solidFill>
                <a:latin typeface="Microsoft Sans Serif"/>
                <a:cs typeface="Microsoft Sans Serif"/>
              </a:rPr>
              <a:t>CONFIRMED</a:t>
            </a:r>
            <a:r>
              <a:rPr lang="en-US" sz="1000" spc="25" dirty="0">
                <a:solidFill>
                  <a:srgbClr val="666666"/>
                </a:solidFill>
                <a:latin typeface="Microsoft Sans Serif"/>
                <a:cs typeface="Microsoft Sans Serif"/>
              </a:rPr>
              <a:t> </a:t>
            </a:r>
            <a:r>
              <a:rPr lang="en-US" sz="1000" spc="-10" dirty="0">
                <a:solidFill>
                  <a:srgbClr val="666666"/>
                </a:solidFill>
                <a:latin typeface="Microsoft Sans Serif"/>
                <a:cs typeface="Microsoft Sans Serif"/>
              </a:rPr>
              <a:t>DEATHS</a:t>
            </a:r>
            <a:r>
              <a:rPr lang="en-US" sz="1000" spc="500" dirty="0">
                <a:solidFill>
                  <a:srgbClr val="666666"/>
                </a:solidFill>
                <a:latin typeface="Microsoft Sans Serif"/>
                <a:cs typeface="Microsoft Sans Serif"/>
              </a:rPr>
              <a:t> </a:t>
            </a:r>
            <a:r>
              <a:rPr lang="en-US" sz="1000" spc="-25" dirty="0">
                <a:solidFill>
                  <a:srgbClr val="666666"/>
                </a:solidFill>
                <a:latin typeface="Microsoft Sans Serif"/>
                <a:cs typeface="Microsoft Sans Serif"/>
              </a:rPr>
              <a:t>(HEAT/DEHYDRATION)</a:t>
            </a:r>
            <a:endParaRPr sz="1000" dirty="0">
              <a:latin typeface="Microsoft Sans Serif"/>
              <a:cs typeface="Microsoft Sans Serif"/>
            </a:endParaRPr>
          </a:p>
        </p:txBody>
      </p:sp>
      <p:sp>
        <p:nvSpPr>
          <p:cNvPr id="7" name="object 7"/>
          <p:cNvSpPr txBox="1"/>
          <p:nvPr/>
        </p:nvSpPr>
        <p:spPr>
          <a:xfrm>
            <a:off x="6036119" y="2287253"/>
            <a:ext cx="1139381" cy="1203984"/>
          </a:xfrm>
          <a:prstGeom prst="rect">
            <a:avLst/>
          </a:prstGeom>
        </p:spPr>
        <p:txBody>
          <a:bodyPr vert="horz" wrap="square" lIns="0" tIns="160655" rIns="0" bIns="0" rtlCol="0">
            <a:spAutoFit/>
          </a:bodyPr>
          <a:lstStyle/>
          <a:p>
            <a:pPr marL="4445" algn="ctr">
              <a:lnSpc>
                <a:spcPct val="100000"/>
              </a:lnSpc>
              <a:spcBef>
                <a:spcPts val="1265"/>
              </a:spcBef>
            </a:pPr>
            <a:r>
              <a:rPr sz="3200" b="1" spc="120" dirty="0">
                <a:solidFill>
                  <a:srgbClr val="BF382A"/>
                </a:solidFill>
                <a:latin typeface="Arial"/>
                <a:cs typeface="Arial"/>
              </a:rPr>
              <a:t>60</a:t>
            </a:r>
            <a:endParaRPr sz="3200" dirty="0">
              <a:latin typeface="Arial"/>
              <a:cs typeface="Arial"/>
            </a:endParaRPr>
          </a:p>
          <a:p>
            <a:pPr marL="12700" marR="5080" algn="ctr">
              <a:lnSpc>
                <a:spcPct val="116700"/>
              </a:lnSpc>
              <a:spcBef>
                <a:spcPts val="215"/>
              </a:spcBef>
            </a:pPr>
            <a:r>
              <a:rPr sz="1000" spc="-10" dirty="0">
                <a:solidFill>
                  <a:srgbClr val="666666"/>
                </a:solidFill>
                <a:latin typeface="Microsoft Sans Serif"/>
                <a:cs typeface="Microsoft Sans Serif"/>
              </a:rPr>
              <a:t>CRITICAL MINUTES</a:t>
            </a:r>
            <a:r>
              <a:rPr sz="1000" spc="500" dirty="0">
                <a:solidFill>
                  <a:srgbClr val="666666"/>
                </a:solidFill>
                <a:latin typeface="Microsoft Sans Serif"/>
                <a:cs typeface="Microsoft Sans Serif"/>
              </a:rPr>
              <a:t> </a:t>
            </a:r>
            <a:r>
              <a:rPr sz="1000" spc="-20" dirty="0">
                <a:solidFill>
                  <a:srgbClr val="666666"/>
                </a:solidFill>
                <a:latin typeface="Microsoft Sans Serif"/>
                <a:cs typeface="Microsoft Sans Serif"/>
              </a:rPr>
              <a:t>(GOLDEN</a:t>
            </a:r>
            <a:r>
              <a:rPr sz="1000" spc="25" dirty="0">
                <a:solidFill>
                  <a:srgbClr val="666666"/>
                </a:solidFill>
                <a:latin typeface="Microsoft Sans Serif"/>
                <a:cs typeface="Microsoft Sans Serif"/>
              </a:rPr>
              <a:t> </a:t>
            </a:r>
            <a:r>
              <a:rPr sz="1000" spc="-10" dirty="0">
                <a:solidFill>
                  <a:srgbClr val="666666"/>
                </a:solidFill>
                <a:latin typeface="Microsoft Sans Serif"/>
                <a:cs typeface="Microsoft Sans Serif"/>
              </a:rPr>
              <a:t>HOUR)</a:t>
            </a:r>
            <a:endParaRPr sz="1000" dirty="0">
              <a:latin typeface="Microsoft Sans Serif"/>
              <a:cs typeface="Microsoft Sans Serif"/>
            </a:endParaRPr>
          </a:p>
        </p:txBody>
      </p:sp>
      <p:sp>
        <p:nvSpPr>
          <p:cNvPr id="8" name="object 8"/>
          <p:cNvSpPr txBox="1"/>
          <p:nvPr/>
        </p:nvSpPr>
        <p:spPr>
          <a:xfrm>
            <a:off x="8318500" y="2287253"/>
            <a:ext cx="1478729" cy="1023935"/>
          </a:xfrm>
          <a:prstGeom prst="rect">
            <a:avLst/>
          </a:prstGeom>
        </p:spPr>
        <p:txBody>
          <a:bodyPr vert="horz" wrap="square" lIns="0" tIns="160655" rIns="0" bIns="0" rtlCol="0">
            <a:spAutoFit/>
          </a:bodyPr>
          <a:lstStyle/>
          <a:p>
            <a:pPr marL="4445" algn="ctr">
              <a:lnSpc>
                <a:spcPct val="100000"/>
              </a:lnSpc>
              <a:spcBef>
                <a:spcPts val="1265"/>
              </a:spcBef>
            </a:pPr>
            <a:r>
              <a:rPr lang="en-US" sz="3200" b="1" spc="150" dirty="0">
                <a:solidFill>
                  <a:srgbClr val="BF382A"/>
                </a:solidFill>
                <a:latin typeface="Arial"/>
                <a:cs typeface="Arial"/>
              </a:rPr>
              <a:t>$4</a:t>
            </a:r>
            <a:r>
              <a:rPr sz="3200" b="1" spc="150" dirty="0">
                <a:solidFill>
                  <a:srgbClr val="BF382A"/>
                </a:solidFill>
                <a:latin typeface="Arial"/>
                <a:cs typeface="Arial"/>
              </a:rPr>
              <a:t>000</a:t>
            </a:r>
            <a:endParaRPr sz="3200" dirty="0">
              <a:latin typeface="Arial"/>
              <a:cs typeface="Arial"/>
            </a:endParaRPr>
          </a:p>
          <a:p>
            <a:pPr marL="12700" marR="5080" algn="ctr">
              <a:lnSpc>
                <a:spcPct val="116700"/>
              </a:lnSpc>
              <a:spcBef>
                <a:spcPts val="215"/>
              </a:spcBef>
            </a:pPr>
            <a:r>
              <a:rPr sz="1000" spc="-30" dirty="0">
                <a:solidFill>
                  <a:srgbClr val="666666"/>
                </a:solidFill>
                <a:latin typeface="Microsoft Sans Serif"/>
                <a:cs typeface="Microsoft Sans Serif"/>
              </a:rPr>
              <a:t>HELICOPTER</a:t>
            </a:r>
            <a:r>
              <a:rPr sz="1000" spc="30" dirty="0">
                <a:solidFill>
                  <a:srgbClr val="666666"/>
                </a:solidFill>
                <a:latin typeface="Microsoft Sans Serif"/>
                <a:cs typeface="Microsoft Sans Serif"/>
              </a:rPr>
              <a:t> </a:t>
            </a:r>
            <a:r>
              <a:rPr sz="1000" spc="-25" dirty="0">
                <a:solidFill>
                  <a:srgbClr val="666666"/>
                </a:solidFill>
                <a:latin typeface="Microsoft Sans Serif"/>
                <a:cs typeface="Microsoft Sans Serif"/>
              </a:rPr>
              <a:t>COST</a:t>
            </a:r>
            <a:r>
              <a:rPr sz="1000" spc="500" dirty="0">
                <a:solidFill>
                  <a:srgbClr val="666666"/>
                </a:solidFill>
                <a:latin typeface="Microsoft Sans Serif"/>
                <a:cs typeface="Microsoft Sans Serif"/>
              </a:rPr>
              <a:t> </a:t>
            </a:r>
            <a:r>
              <a:rPr sz="1000" spc="-60" dirty="0">
                <a:solidFill>
                  <a:srgbClr val="666666"/>
                </a:solidFill>
                <a:latin typeface="Microsoft Sans Serif"/>
                <a:cs typeface="Microsoft Sans Serif"/>
              </a:rPr>
              <a:t>PER</a:t>
            </a:r>
            <a:r>
              <a:rPr sz="1000" spc="25" dirty="0">
                <a:solidFill>
                  <a:srgbClr val="666666"/>
                </a:solidFill>
                <a:latin typeface="Microsoft Sans Serif"/>
                <a:cs typeface="Microsoft Sans Serif"/>
              </a:rPr>
              <a:t> </a:t>
            </a:r>
            <a:r>
              <a:rPr sz="1000" spc="-20" dirty="0">
                <a:solidFill>
                  <a:srgbClr val="666666"/>
                </a:solidFill>
                <a:latin typeface="Microsoft Sans Serif"/>
                <a:cs typeface="Microsoft Sans Serif"/>
              </a:rPr>
              <a:t>HOUR</a:t>
            </a:r>
            <a:endParaRPr sz="1000" dirty="0">
              <a:latin typeface="Microsoft Sans Serif"/>
              <a:cs typeface="Microsoft Sans Serif"/>
            </a:endParaRPr>
          </a:p>
        </p:txBody>
      </p:sp>
      <p:grpSp>
        <p:nvGrpSpPr>
          <p:cNvPr id="9" name="object 9"/>
          <p:cNvGrpSpPr/>
          <p:nvPr/>
        </p:nvGrpSpPr>
        <p:grpSpPr>
          <a:xfrm>
            <a:off x="927100" y="4959549"/>
            <a:ext cx="4613684" cy="1054362"/>
            <a:chOff x="1076324" y="2609844"/>
            <a:chExt cx="4181475" cy="752475"/>
          </a:xfrm>
        </p:grpSpPr>
        <p:pic>
          <p:nvPicPr>
            <p:cNvPr id="10" name="object 10"/>
            <p:cNvPicPr/>
            <p:nvPr/>
          </p:nvPicPr>
          <p:blipFill>
            <a:blip r:embed="rId4" cstate="print"/>
            <a:stretch>
              <a:fillRect/>
            </a:stretch>
          </p:blipFill>
          <p:spPr>
            <a:xfrm>
              <a:off x="1114424" y="2609844"/>
              <a:ext cx="4143374" cy="752474"/>
            </a:xfrm>
            <a:prstGeom prst="rect">
              <a:avLst/>
            </a:prstGeom>
          </p:spPr>
        </p:pic>
        <p:sp>
          <p:nvSpPr>
            <p:cNvPr id="11" name="object 11"/>
            <p:cNvSpPr/>
            <p:nvPr/>
          </p:nvSpPr>
          <p:spPr>
            <a:xfrm>
              <a:off x="1076324" y="2609848"/>
              <a:ext cx="38100" cy="752475"/>
            </a:xfrm>
            <a:custGeom>
              <a:avLst/>
              <a:gdLst/>
              <a:ahLst/>
              <a:cxnLst/>
              <a:rect l="l" t="t" r="r" b="b"/>
              <a:pathLst>
                <a:path w="38100" h="752475">
                  <a:moveTo>
                    <a:pt x="38099" y="752474"/>
                  </a:moveTo>
                  <a:lnTo>
                    <a:pt x="0" y="752474"/>
                  </a:lnTo>
                  <a:lnTo>
                    <a:pt x="0" y="0"/>
                  </a:lnTo>
                  <a:lnTo>
                    <a:pt x="38099" y="0"/>
                  </a:lnTo>
                  <a:lnTo>
                    <a:pt x="38099" y="752474"/>
                  </a:lnTo>
                  <a:close/>
                </a:path>
              </a:pathLst>
            </a:custGeom>
            <a:solidFill>
              <a:srgbClr val="BF382A"/>
            </a:solidFill>
          </p:spPr>
          <p:txBody>
            <a:bodyPr wrap="square" lIns="0" tIns="0" rIns="0" bIns="0" rtlCol="0"/>
            <a:lstStyle/>
            <a:p>
              <a:endParaRPr sz="3200"/>
            </a:p>
          </p:txBody>
        </p:sp>
        <p:pic>
          <p:nvPicPr>
            <p:cNvPr id="12" name="object 12"/>
            <p:cNvPicPr/>
            <p:nvPr/>
          </p:nvPicPr>
          <p:blipFill>
            <a:blip r:embed="rId5" cstate="print"/>
            <a:stretch>
              <a:fillRect/>
            </a:stretch>
          </p:blipFill>
          <p:spPr>
            <a:xfrm>
              <a:off x="1260871" y="2746374"/>
              <a:ext cx="114300" cy="117475"/>
            </a:xfrm>
            <a:prstGeom prst="rect">
              <a:avLst/>
            </a:prstGeom>
          </p:spPr>
        </p:pic>
      </p:grpSp>
      <p:sp>
        <p:nvSpPr>
          <p:cNvPr id="13" name="object 13"/>
          <p:cNvSpPr txBox="1"/>
          <p:nvPr/>
        </p:nvSpPr>
        <p:spPr>
          <a:xfrm>
            <a:off x="1175831" y="5056524"/>
            <a:ext cx="4069991" cy="935449"/>
          </a:xfrm>
          <a:prstGeom prst="rect">
            <a:avLst/>
          </a:prstGeom>
        </p:spPr>
        <p:txBody>
          <a:bodyPr vert="horz" wrap="square" lIns="0" tIns="78105" rIns="0" bIns="0" rtlCol="0">
            <a:spAutoFit/>
          </a:bodyPr>
          <a:lstStyle/>
          <a:p>
            <a:pPr marL="146685">
              <a:lnSpc>
                <a:spcPct val="100000"/>
              </a:lnSpc>
              <a:spcBef>
                <a:spcPts val="615"/>
              </a:spcBef>
            </a:pPr>
            <a:r>
              <a:rPr sz="1200" b="1" spc="-40" dirty="0">
                <a:solidFill>
                  <a:srgbClr val="333333"/>
                </a:solidFill>
                <a:latin typeface="Arial"/>
                <a:cs typeface="Arial"/>
              </a:rPr>
              <a:t>Time</a:t>
            </a:r>
            <a:r>
              <a:rPr sz="1200" b="1" spc="-75" dirty="0">
                <a:solidFill>
                  <a:srgbClr val="333333"/>
                </a:solidFill>
                <a:latin typeface="Arial"/>
                <a:cs typeface="Arial"/>
              </a:rPr>
              <a:t> </a:t>
            </a:r>
            <a:r>
              <a:rPr sz="1200" b="1" spc="-80" dirty="0">
                <a:solidFill>
                  <a:srgbClr val="333333"/>
                </a:solidFill>
                <a:latin typeface="Arial"/>
                <a:cs typeface="Arial"/>
              </a:rPr>
              <a:t>is</a:t>
            </a:r>
            <a:r>
              <a:rPr sz="1200" b="1" spc="-75" dirty="0">
                <a:solidFill>
                  <a:srgbClr val="333333"/>
                </a:solidFill>
                <a:latin typeface="Arial"/>
                <a:cs typeface="Arial"/>
              </a:rPr>
              <a:t> </a:t>
            </a:r>
            <a:r>
              <a:rPr sz="1200" b="1" spc="-10" dirty="0">
                <a:solidFill>
                  <a:srgbClr val="333333"/>
                </a:solidFill>
                <a:latin typeface="Arial"/>
                <a:cs typeface="Arial"/>
              </a:rPr>
              <a:t>Critical</a:t>
            </a:r>
            <a:endParaRPr sz="1200" dirty="0">
              <a:latin typeface="Arial"/>
              <a:cs typeface="Arial"/>
            </a:endParaRPr>
          </a:p>
          <a:p>
            <a:pPr marL="12700" marR="5080">
              <a:lnSpc>
                <a:spcPct val="118100"/>
              </a:lnSpc>
              <a:spcBef>
                <a:spcPts val="290"/>
              </a:spcBef>
            </a:pPr>
            <a:r>
              <a:rPr sz="1200" dirty="0">
                <a:solidFill>
                  <a:srgbClr val="545454"/>
                </a:solidFill>
                <a:latin typeface="Microsoft Sans Serif"/>
                <a:cs typeface="Microsoft Sans Serif"/>
              </a:rPr>
              <a:t>Most</a:t>
            </a:r>
            <a:r>
              <a:rPr sz="1200" spc="-20" dirty="0">
                <a:solidFill>
                  <a:srgbClr val="545454"/>
                </a:solidFill>
                <a:latin typeface="Microsoft Sans Serif"/>
                <a:cs typeface="Microsoft Sans Serif"/>
              </a:rPr>
              <a:t> </a:t>
            </a:r>
            <a:r>
              <a:rPr sz="1200" spc="-10" dirty="0">
                <a:solidFill>
                  <a:srgbClr val="545454"/>
                </a:solidFill>
                <a:latin typeface="Microsoft Sans Serif"/>
                <a:cs typeface="Microsoft Sans Serif"/>
              </a:rPr>
              <a:t>deaths</a:t>
            </a:r>
            <a:r>
              <a:rPr sz="1200" spc="-15" dirty="0">
                <a:solidFill>
                  <a:srgbClr val="545454"/>
                </a:solidFill>
                <a:latin typeface="Microsoft Sans Serif"/>
                <a:cs typeface="Microsoft Sans Serif"/>
              </a:rPr>
              <a:t> </a:t>
            </a:r>
            <a:r>
              <a:rPr sz="1200" dirty="0">
                <a:solidFill>
                  <a:srgbClr val="545454"/>
                </a:solidFill>
                <a:latin typeface="Microsoft Sans Serif"/>
                <a:cs typeface="Microsoft Sans Serif"/>
              </a:rPr>
              <a:t>occur</a:t>
            </a:r>
            <a:r>
              <a:rPr sz="1200" spc="-15" dirty="0">
                <a:solidFill>
                  <a:srgbClr val="545454"/>
                </a:solidFill>
                <a:latin typeface="Microsoft Sans Serif"/>
                <a:cs typeface="Microsoft Sans Serif"/>
              </a:rPr>
              <a:t> </a:t>
            </a:r>
            <a:r>
              <a:rPr sz="1200" spc="-20" dirty="0">
                <a:solidFill>
                  <a:srgbClr val="545454"/>
                </a:solidFill>
                <a:latin typeface="Microsoft Sans Serif"/>
                <a:cs typeface="Microsoft Sans Serif"/>
              </a:rPr>
              <a:t>because</a:t>
            </a:r>
            <a:r>
              <a:rPr sz="1200" spc="-15" dirty="0">
                <a:solidFill>
                  <a:srgbClr val="545454"/>
                </a:solidFill>
                <a:latin typeface="Microsoft Sans Serif"/>
                <a:cs typeface="Microsoft Sans Serif"/>
              </a:rPr>
              <a:t> </a:t>
            </a:r>
            <a:r>
              <a:rPr sz="1200" dirty="0">
                <a:solidFill>
                  <a:srgbClr val="545454"/>
                </a:solidFill>
                <a:latin typeface="Microsoft Sans Serif"/>
                <a:cs typeface="Microsoft Sans Serif"/>
              </a:rPr>
              <a:t>victims</a:t>
            </a:r>
            <a:r>
              <a:rPr sz="1200" spc="-20" dirty="0">
                <a:solidFill>
                  <a:srgbClr val="545454"/>
                </a:solidFill>
                <a:latin typeface="Microsoft Sans Serif"/>
                <a:cs typeface="Microsoft Sans Serif"/>
              </a:rPr>
              <a:t> </a:t>
            </a:r>
            <a:r>
              <a:rPr sz="1200" spc="-10" dirty="0">
                <a:solidFill>
                  <a:srgbClr val="545454"/>
                </a:solidFill>
                <a:latin typeface="Microsoft Sans Serif"/>
                <a:cs typeface="Microsoft Sans Serif"/>
              </a:rPr>
              <a:t>cannot</a:t>
            </a:r>
            <a:r>
              <a:rPr sz="1200" spc="-15" dirty="0">
                <a:solidFill>
                  <a:srgbClr val="545454"/>
                </a:solidFill>
                <a:latin typeface="Microsoft Sans Serif"/>
                <a:cs typeface="Microsoft Sans Serif"/>
              </a:rPr>
              <a:t> </a:t>
            </a:r>
            <a:r>
              <a:rPr sz="1200" dirty="0">
                <a:solidFill>
                  <a:srgbClr val="545454"/>
                </a:solidFill>
                <a:latin typeface="Microsoft Sans Serif"/>
                <a:cs typeface="Microsoft Sans Serif"/>
              </a:rPr>
              <a:t>be</a:t>
            </a:r>
            <a:r>
              <a:rPr sz="1200" spc="-15" dirty="0">
                <a:solidFill>
                  <a:srgbClr val="545454"/>
                </a:solidFill>
                <a:latin typeface="Microsoft Sans Serif"/>
                <a:cs typeface="Microsoft Sans Serif"/>
              </a:rPr>
              <a:t> </a:t>
            </a:r>
            <a:r>
              <a:rPr sz="1200" spc="-10" dirty="0">
                <a:solidFill>
                  <a:srgbClr val="545454"/>
                </a:solidFill>
                <a:latin typeface="Microsoft Sans Serif"/>
                <a:cs typeface="Microsoft Sans Serif"/>
              </a:rPr>
              <a:t>located</a:t>
            </a:r>
            <a:r>
              <a:rPr sz="1200" spc="-15" dirty="0">
                <a:solidFill>
                  <a:srgbClr val="545454"/>
                </a:solidFill>
                <a:latin typeface="Microsoft Sans Serif"/>
                <a:cs typeface="Microsoft Sans Serif"/>
              </a:rPr>
              <a:t> </a:t>
            </a:r>
            <a:r>
              <a:rPr sz="1200" dirty="0">
                <a:solidFill>
                  <a:srgbClr val="545454"/>
                </a:solidFill>
                <a:latin typeface="Microsoft Sans Serif"/>
                <a:cs typeface="Microsoft Sans Serif"/>
              </a:rPr>
              <a:t>within</a:t>
            </a:r>
            <a:r>
              <a:rPr sz="1200" spc="-15" dirty="0">
                <a:solidFill>
                  <a:srgbClr val="545454"/>
                </a:solidFill>
                <a:latin typeface="Microsoft Sans Serif"/>
                <a:cs typeface="Microsoft Sans Serif"/>
              </a:rPr>
              <a:t> </a:t>
            </a:r>
            <a:r>
              <a:rPr sz="1200" dirty="0">
                <a:solidFill>
                  <a:srgbClr val="545454"/>
                </a:solidFill>
                <a:latin typeface="Microsoft Sans Serif"/>
                <a:cs typeface="Microsoft Sans Serif"/>
              </a:rPr>
              <a:t>60</a:t>
            </a:r>
            <a:r>
              <a:rPr sz="1200" spc="-20" dirty="0">
                <a:solidFill>
                  <a:srgbClr val="545454"/>
                </a:solidFill>
                <a:latin typeface="Microsoft Sans Serif"/>
                <a:cs typeface="Microsoft Sans Serif"/>
              </a:rPr>
              <a:t> minutes</a:t>
            </a:r>
            <a:r>
              <a:rPr lang="en-US" sz="1200" spc="-15" dirty="0">
                <a:solidFill>
                  <a:srgbClr val="545454"/>
                </a:solidFill>
                <a:latin typeface="Microsoft Sans Serif"/>
                <a:cs typeface="Microsoft Sans Serif"/>
              </a:rPr>
              <a:t>,</a:t>
            </a:r>
            <a:r>
              <a:rPr sz="1200" spc="30" dirty="0">
                <a:solidFill>
                  <a:srgbClr val="545454"/>
                </a:solidFill>
                <a:latin typeface="Microsoft Sans Serif"/>
                <a:cs typeface="Microsoft Sans Serif"/>
              </a:rPr>
              <a:t> </a:t>
            </a:r>
            <a:r>
              <a:rPr sz="1200" dirty="0">
                <a:solidFill>
                  <a:srgbClr val="545454"/>
                </a:solidFill>
                <a:latin typeface="Microsoft Sans Serif"/>
                <a:cs typeface="Microsoft Sans Serif"/>
              </a:rPr>
              <a:t>the</a:t>
            </a:r>
            <a:r>
              <a:rPr sz="1200" spc="-40" dirty="0">
                <a:solidFill>
                  <a:srgbClr val="545454"/>
                </a:solidFill>
                <a:latin typeface="Microsoft Sans Serif"/>
                <a:cs typeface="Microsoft Sans Serif"/>
              </a:rPr>
              <a:t> </a:t>
            </a:r>
            <a:r>
              <a:rPr sz="1200" dirty="0">
                <a:solidFill>
                  <a:srgbClr val="545454"/>
                </a:solidFill>
                <a:latin typeface="Microsoft Sans Serif"/>
                <a:cs typeface="Microsoft Sans Serif"/>
              </a:rPr>
              <a:t>window</a:t>
            </a:r>
            <a:r>
              <a:rPr sz="1200" spc="-40" dirty="0">
                <a:solidFill>
                  <a:srgbClr val="545454"/>
                </a:solidFill>
                <a:latin typeface="Microsoft Sans Serif"/>
                <a:cs typeface="Microsoft Sans Serif"/>
              </a:rPr>
              <a:t> </a:t>
            </a:r>
            <a:r>
              <a:rPr sz="1200" dirty="0">
                <a:solidFill>
                  <a:srgbClr val="545454"/>
                </a:solidFill>
                <a:latin typeface="Microsoft Sans Serif"/>
                <a:cs typeface="Microsoft Sans Serif"/>
              </a:rPr>
              <a:t>where</a:t>
            </a:r>
            <a:r>
              <a:rPr sz="1200" spc="-35" dirty="0">
                <a:solidFill>
                  <a:srgbClr val="545454"/>
                </a:solidFill>
                <a:latin typeface="Microsoft Sans Serif"/>
                <a:cs typeface="Microsoft Sans Serif"/>
              </a:rPr>
              <a:t> </a:t>
            </a:r>
            <a:r>
              <a:rPr sz="1200" spc="-10" dirty="0">
                <a:solidFill>
                  <a:srgbClr val="545454"/>
                </a:solidFill>
                <a:latin typeface="Microsoft Sans Serif"/>
                <a:cs typeface="Microsoft Sans Serif"/>
              </a:rPr>
              <a:t>medical</a:t>
            </a:r>
            <a:r>
              <a:rPr sz="1200" spc="-40" dirty="0">
                <a:solidFill>
                  <a:srgbClr val="545454"/>
                </a:solidFill>
                <a:latin typeface="Microsoft Sans Serif"/>
                <a:cs typeface="Microsoft Sans Serif"/>
              </a:rPr>
              <a:t> </a:t>
            </a:r>
            <a:r>
              <a:rPr sz="1200" spc="-10" dirty="0">
                <a:solidFill>
                  <a:srgbClr val="545454"/>
                </a:solidFill>
                <a:latin typeface="Microsoft Sans Serif"/>
                <a:cs typeface="Microsoft Sans Serif"/>
              </a:rPr>
              <a:t>intervention</a:t>
            </a:r>
            <a:r>
              <a:rPr sz="1200" spc="-35" dirty="0">
                <a:solidFill>
                  <a:srgbClr val="545454"/>
                </a:solidFill>
                <a:latin typeface="Microsoft Sans Serif"/>
                <a:cs typeface="Microsoft Sans Serif"/>
              </a:rPr>
              <a:t> </a:t>
            </a:r>
            <a:r>
              <a:rPr sz="1200" dirty="0">
                <a:solidFill>
                  <a:srgbClr val="545454"/>
                </a:solidFill>
                <a:latin typeface="Microsoft Sans Serif"/>
                <a:cs typeface="Microsoft Sans Serif"/>
              </a:rPr>
              <a:t>is</a:t>
            </a:r>
            <a:r>
              <a:rPr sz="1200" spc="-40" dirty="0">
                <a:solidFill>
                  <a:srgbClr val="545454"/>
                </a:solidFill>
                <a:latin typeface="Microsoft Sans Serif"/>
                <a:cs typeface="Microsoft Sans Serif"/>
              </a:rPr>
              <a:t> </a:t>
            </a:r>
            <a:r>
              <a:rPr sz="1200" dirty="0">
                <a:solidFill>
                  <a:srgbClr val="545454"/>
                </a:solidFill>
                <a:latin typeface="Microsoft Sans Serif"/>
                <a:cs typeface="Microsoft Sans Serif"/>
              </a:rPr>
              <a:t>most</a:t>
            </a:r>
            <a:r>
              <a:rPr sz="1200" spc="-35" dirty="0">
                <a:solidFill>
                  <a:srgbClr val="545454"/>
                </a:solidFill>
                <a:latin typeface="Microsoft Sans Serif"/>
                <a:cs typeface="Microsoft Sans Serif"/>
              </a:rPr>
              <a:t> </a:t>
            </a:r>
            <a:r>
              <a:rPr sz="1200" spc="-10" dirty="0">
                <a:solidFill>
                  <a:srgbClr val="545454"/>
                </a:solidFill>
                <a:latin typeface="Microsoft Sans Serif"/>
                <a:cs typeface="Microsoft Sans Serif"/>
              </a:rPr>
              <a:t>effective.</a:t>
            </a:r>
            <a:endParaRPr sz="1200" dirty="0">
              <a:latin typeface="Microsoft Sans Serif"/>
              <a:cs typeface="Microsoft Sans Serif"/>
            </a:endParaRPr>
          </a:p>
        </p:txBody>
      </p:sp>
      <p:grpSp>
        <p:nvGrpSpPr>
          <p:cNvPr id="14" name="object 14"/>
          <p:cNvGrpSpPr/>
          <p:nvPr/>
        </p:nvGrpSpPr>
        <p:grpSpPr>
          <a:xfrm>
            <a:off x="5670592" y="4948580"/>
            <a:ext cx="4603174" cy="1054362"/>
            <a:chOff x="5448299" y="2609844"/>
            <a:chExt cx="4171950" cy="752475"/>
          </a:xfrm>
        </p:grpSpPr>
        <p:pic>
          <p:nvPicPr>
            <p:cNvPr id="15" name="object 15"/>
            <p:cNvPicPr/>
            <p:nvPr/>
          </p:nvPicPr>
          <p:blipFill>
            <a:blip r:embed="rId6" cstate="print"/>
            <a:stretch>
              <a:fillRect/>
            </a:stretch>
          </p:blipFill>
          <p:spPr>
            <a:xfrm>
              <a:off x="5486399" y="2609844"/>
              <a:ext cx="4133849" cy="752474"/>
            </a:xfrm>
            <a:prstGeom prst="rect">
              <a:avLst/>
            </a:prstGeom>
          </p:spPr>
        </p:pic>
        <p:sp>
          <p:nvSpPr>
            <p:cNvPr id="16" name="object 16"/>
            <p:cNvSpPr/>
            <p:nvPr/>
          </p:nvSpPr>
          <p:spPr>
            <a:xfrm>
              <a:off x="5448299" y="2609848"/>
              <a:ext cx="38100" cy="752475"/>
            </a:xfrm>
            <a:custGeom>
              <a:avLst/>
              <a:gdLst/>
              <a:ahLst/>
              <a:cxnLst/>
              <a:rect l="l" t="t" r="r" b="b"/>
              <a:pathLst>
                <a:path w="38100" h="752475">
                  <a:moveTo>
                    <a:pt x="38099" y="752474"/>
                  </a:moveTo>
                  <a:lnTo>
                    <a:pt x="0" y="752474"/>
                  </a:lnTo>
                  <a:lnTo>
                    <a:pt x="0" y="0"/>
                  </a:lnTo>
                  <a:lnTo>
                    <a:pt x="38099" y="0"/>
                  </a:lnTo>
                  <a:lnTo>
                    <a:pt x="38099" y="752474"/>
                  </a:lnTo>
                  <a:close/>
                </a:path>
              </a:pathLst>
            </a:custGeom>
            <a:solidFill>
              <a:srgbClr val="F29C12"/>
            </a:solidFill>
          </p:spPr>
          <p:txBody>
            <a:bodyPr wrap="square" lIns="0" tIns="0" rIns="0" bIns="0" rtlCol="0"/>
            <a:lstStyle/>
            <a:p>
              <a:endParaRPr sz="3200"/>
            </a:p>
          </p:txBody>
        </p:sp>
        <p:pic>
          <p:nvPicPr>
            <p:cNvPr id="17" name="object 17"/>
            <p:cNvPicPr/>
            <p:nvPr/>
          </p:nvPicPr>
          <p:blipFill>
            <a:blip r:embed="rId7" cstate="print"/>
            <a:stretch>
              <a:fillRect/>
            </a:stretch>
          </p:blipFill>
          <p:spPr>
            <a:xfrm>
              <a:off x="5624512" y="2746374"/>
              <a:ext cx="114300" cy="117475"/>
            </a:xfrm>
            <a:prstGeom prst="rect">
              <a:avLst/>
            </a:prstGeom>
          </p:spPr>
        </p:pic>
      </p:grpSp>
      <p:sp>
        <p:nvSpPr>
          <p:cNvPr id="18" name="object 18"/>
          <p:cNvSpPr txBox="1"/>
          <p:nvPr/>
        </p:nvSpPr>
        <p:spPr>
          <a:xfrm>
            <a:off x="5962836" y="5029445"/>
            <a:ext cx="3828271" cy="714363"/>
          </a:xfrm>
          <a:prstGeom prst="rect">
            <a:avLst/>
          </a:prstGeom>
        </p:spPr>
        <p:txBody>
          <a:bodyPr vert="horz" wrap="square" lIns="0" tIns="74930" rIns="0" bIns="0" rtlCol="0">
            <a:spAutoFit/>
          </a:bodyPr>
          <a:lstStyle/>
          <a:p>
            <a:pPr marL="148590">
              <a:lnSpc>
                <a:spcPct val="100000"/>
              </a:lnSpc>
              <a:spcBef>
                <a:spcPts val="590"/>
              </a:spcBef>
            </a:pPr>
            <a:r>
              <a:rPr sz="1200" b="1" spc="-60" dirty="0">
                <a:solidFill>
                  <a:srgbClr val="333333"/>
                </a:solidFill>
                <a:latin typeface="Arial"/>
                <a:cs typeface="Arial"/>
              </a:rPr>
              <a:t>Cost</a:t>
            </a:r>
            <a:r>
              <a:rPr sz="1200" b="1" spc="-100" dirty="0">
                <a:solidFill>
                  <a:srgbClr val="333333"/>
                </a:solidFill>
                <a:latin typeface="Arial"/>
                <a:cs typeface="Arial"/>
              </a:rPr>
              <a:t> </a:t>
            </a:r>
            <a:r>
              <a:rPr sz="1200" b="1" spc="-10" dirty="0">
                <a:solidFill>
                  <a:srgbClr val="333333"/>
                </a:solidFill>
                <a:latin typeface="Arial"/>
                <a:cs typeface="Arial"/>
              </a:rPr>
              <a:t>Asymmetry</a:t>
            </a:r>
            <a:endParaRPr sz="1200" dirty="0">
              <a:latin typeface="Arial"/>
              <a:cs typeface="Arial"/>
            </a:endParaRPr>
          </a:p>
          <a:p>
            <a:pPr marL="12700" marR="5080">
              <a:lnSpc>
                <a:spcPct val="118100"/>
              </a:lnSpc>
              <a:spcBef>
                <a:spcPts val="290"/>
              </a:spcBef>
            </a:pPr>
            <a:r>
              <a:rPr sz="1200" spc="-20" dirty="0">
                <a:solidFill>
                  <a:srgbClr val="545454"/>
                </a:solidFill>
                <a:latin typeface="Microsoft Sans Serif"/>
                <a:cs typeface="Microsoft Sans Serif"/>
              </a:rPr>
              <a:t>Our</a:t>
            </a:r>
            <a:r>
              <a:rPr sz="1200" spc="-10" dirty="0">
                <a:solidFill>
                  <a:srgbClr val="545454"/>
                </a:solidFill>
                <a:latin typeface="Microsoft Sans Serif"/>
                <a:cs typeface="Microsoft Sans Serif"/>
              </a:rPr>
              <a:t> drone</a:t>
            </a:r>
            <a:r>
              <a:rPr sz="1200" spc="-5" dirty="0">
                <a:solidFill>
                  <a:srgbClr val="545454"/>
                </a:solidFill>
                <a:latin typeface="Microsoft Sans Serif"/>
                <a:cs typeface="Microsoft Sans Serif"/>
              </a:rPr>
              <a:t> </a:t>
            </a:r>
            <a:r>
              <a:rPr sz="1200" spc="-10" dirty="0">
                <a:solidFill>
                  <a:srgbClr val="545454"/>
                </a:solidFill>
                <a:latin typeface="Microsoft Sans Serif"/>
                <a:cs typeface="Microsoft Sans Serif"/>
              </a:rPr>
              <a:t>operates</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at</a:t>
            </a:r>
            <a:r>
              <a:rPr sz="1200" spc="-5" dirty="0">
                <a:solidFill>
                  <a:srgbClr val="545454"/>
                </a:solidFill>
                <a:latin typeface="Microsoft Sans Serif"/>
                <a:cs typeface="Microsoft Sans Serif"/>
              </a:rPr>
              <a:t> </a:t>
            </a:r>
            <a:r>
              <a:rPr sz="1200" b="1" spc="-40" dirty="0">
                <a:solidFill>
                  <a:srgbClr val="545454"/>
                </a:solidFill>
                <a:latin typeface="Arial"/>
                <a:cs typeface="Arial"/>
              </a:rPr>
              <a:t>less</a:t>
            </a:r>
            <a:r>
              <a:rPr sz="1200" b="1" spc="-55" dirty="0">
                <a:solidFill>
                  <a:srgbClr val="545454"/>
                </a:solidFill>
                <a:latin typeface="Arial"/>
                <a:cs typeface="Arial"/>
              </a:rPr>
              <a:t> </a:t>
            </a:r>
            <a:r>
              <a:rPr sz="1200" b="1" spc="-30" dirty="0">
                <a:solidFill>
                  <a:srgbClr val="545454"/>
                </a:solidFill>
                <a:latin typeface="Arial"/>
                <a:cs typeface="Arial"/>
              </a:rPr>
              <a:t>than</a:t>
            </a:r>
            <a:r>
              <a:rPr sz="1200" b="1" spc="-50" dirty="0">
                <a:solidFill>
                  <a:srgbClr val="545454"/>
                </a:solidFill>
                <a:latin typeface="Arial"/>
                <a:cs typeface="Arial"/>
              </a:rPr>
              <a:t> </a:t>
            </a:r>
            <a:r>
              <a:rPr sz="1200" b="1" spc="-25" dirty="0">
                <a:solidFill>
                  <a:srgbClr val="545454"/>
                </a:solidFill>
                <a:latin typeface="Arial"/>
                <a:cs typeface="Arial"/>
              </a:rPr>
              <a:t>per</a:t>
            </a:r>
            <a:r>
              <a:rPr sz="1200" b="1" spc="-50" dirty="0">
                <a:solidFill>
                  <a:srgbClr val="545454"/>
                </a:solidFill>
                <a:latin typeface="Arial"/>
                <a:cs typeface="Arial"/>
              </a:rPr>
              <a:t> </a:t>
            </a:r>
            <a:r>
              <a:rPr sz="1200" b="1" spc="-30" dirty="0">
                <a:solidFill>
                  <a:srgbClr val="545454"/>
                </a:solidFill>
                <a:latin typeface="Arial"/>
                <a:cs typeface="Arial"/>
              </a:rPr>
              <a:t>charge</a:t>
            </a:r>
            <a:r>
              <a:rPr sz="1200" b="1" spc="-15" dirty="0">
                <a:solidFill>
                  <a:srgbClr val="545454"/>
                </a:solidFill>
                <a:latin typeface="Arial"/>
                <a:cs typeface="Arial"/>
              </a:rPr>
              <a:t> </a:t>
            </a:r>
            <a:r>
              <a:rPr sz="1200" dirty="0">
                <a:solidFill>
                  <a:srgbClr val="545454"/>
                </a:solidFill>
                <a:latin typeface="Microsoft Sans Serif"/>
                <a:cs typeface="Microsoft Sans Serif"/>
              </a:rPr>
              <a:t>vs</a:t>
            </a:r>
            <a:r>
              <a:rPr sz="1200" spc="-10" dirty="0">
                <a:solidFill>
                  <a:srgbClr val="545454"/>
                </a:solidFill>
                <a:latin typeface="Microsoft Sans Serif"/>
                <a:cs typeface="Microsoft Sans Serif"/>
              </a:rPr>
              <a:t> </a:t>
            </a:r>
            <a:r>
              <a:rPr lang="ar-JO" sz="1200" spc="-10" dirty="0">
                <a:solidFill>
                  <a:srgbClr val="545454"/>
                </a:solidFill>
                <a:latin typeface="Microsoft Sans Serif"/>
                <a:cs typeface="Microsoft Sans Serif"/>
              </a:rPr>
              <a:t>4</a:t>
            </a:r>
            <a:r>
              <a:rPr sz="1200" dirty="0">
                <a:solidFill>
                  <a:srgbClr val="545454"/>
                </a:solidFill>
                <a:latin typeface="Microsoft Sans Serif"/>
                <a:cs typeface="Microsoft Sans Serif"/>
              </a:rPr>
              <a:t>000/hr</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for</a:t>
            </a:r>
            <a:r>
              <a:rPr sz="1200" spc="-5" dirty="0">
                <a:solidFill>
                  <a:srgbClr val="545454"/>
                </a:solidFill>
                <a:latin typeface="Microsoft Sans Serif"/>
                <a:cs typeface="Microsoft Sans Serif"/>
              </a:rPr>
              <a:t> </a:t>
            </a:r>
            <a:r>
              <a:rPr sz="1200" spc="-10" dirty="0">
                <a:solidFill>
                  <a:srgbClr val="545454"/>
                </a:solidFill>
                <a:latin typeface="Microsoft Sans Serif"/>
                <a:cs typeface="Microsoft Sans Serif"/>
              </a:rPr>
              <a:t>helicopters. </a:t>
            </a:r>
            <a:r>
              <a:rPr sz="1200" spc="-35" dirty="0">
                <a:solidFill>
                  <a:srgbClr val="545454"/>
                </a:solidFill>
                <a:latin typeface="Microsoft Sans Serif"/>
                <a:cs typeface="Microsoft Sans Serif"/>
              </a:rPr>
              <a:t>Enables</a:t>
            </a:r>
            <a:r>
              <a:rPr sz="1200" dirty="0">
                <a:solidFill>
                  <a:srgbClr val="545454"/>
                </a:solidFill>
                <a:latin typeface="Microsoft Sans Serif"/>
                <a:cs typeface="Microsoft Sans Serif"/>
              </a:rPr>
              <a:t> </a:t>
            </a:r>
            <a:r>
              <a:rPr sz="1200" spc="-10" dirty="0">
                <a:solidFill>
                  <a:srgbClr val="545454"/>
                </a:solidFill>
                <a:latin typeface="Microsoft Sans Serif"/>
                <a:cs typeface="Microsoft Sans Serif"/>
              </a:rPr>
              <a:t>proactive</a:t>
            </a:r>
            <a:r>
              <a:rPr sz="1200" dirty="0">
                <a:solidFill>
                  <a:srgbClr val="545454"/>
                </a:solidFill>
                <a:latin typeface="Microsoft Sans Serif"/>
                <a:cs typeface="Microsoft Sans Serif"/>
              </a:rPr>
              <a:t> </a:t>
            </a:r>
            <a:r>
              <a:rPr sz="1200" spc="-10" dirty="0">
                <a:solidFill>
                  <a:srgbClr val="545454"/>
                </a:solidFill>
                <a:latin typeface="Microsoft Sans Serif"/>
                <a:cs typeface="Microsoft Sans Serif"/>
              </a:rPr>
              <a:t>patrol</a:t>
            </a:r>
            <a:r>
              <a:rPr sz="1200" dirty="0">
                <a:solidFill>
                  <a:srgbClr val="545454"/>
                </a:solidFill>
                <a:latin typeface="Microsoft Sans Serif"/>
                <a:cs typeface="Microsoft Sans Serif"/>
              </a:rPr>
              <a:t> </a:t>
            </a:r>
            <a:r>
              <a:rPr sz="1200" spc="-10" dirty="0">
                <a:solidFill>
                  <a:srgbClr val="545454"/>
                </a:solidFill>
                <a:latin typeface="Microsoft Sans Serif"/>
                <a:cs typeface="Microsoft Sans Serif"/>
              </a:rPr>
              <a:t>swarms.</a:t>
            </a:r>
            <a:endParaRPr sz="1200" dirty="0">
              <a:latin typeface="Microsoft Sans Serif"/>
              <a:cs typeface="Microsoft Sans Serif"/>
            </a:endParaRPr>
          </a:p>
        </p:txBody>
      </p:sp>
      <p:sp>
        <p:nvSpPr>
          <p:cNvPr id="19" name="object 19"/>
          <p:cNvSpPr/>
          <p:nvPr/>
        </p:nvSpPr>
        <p:spPr>
          <a:xfrm>
            <a:off x="1076324" y="6515098"/>
            <a:ext cx="8543925" cy="9525"/>
          </a:xfrm>
          <a:custGeom>
            <a:avLst/>
            <a:gdLst/>
            <a:ahLst/>
            <a:cxnLst/>
            <a:rect l="l" t="t" r="r" b="b"/>
            <a:pathLst>
              <a:path w="8543925" h="9525">
                <a:moveTo>
                  <a:pt x="8543924" y="9524"/>
                </a:moveTo>
                <a:lnTo>
                  <a:pt x="0" y="9524"/>
                </a:lnTo>
                <a:lnTo>
                  <a:pt x="0" y="0"/>
                </a:lnTo>
                <a:lnTo>
                  <a:pt x="8543924" y="0"/>
                </a:lnTo>
                <a:lnTo>
                  <a:pt x="8543924" y="9524"/>
                </a:lnTo>
                <a:close/>
              </a:path>
            </a:pathLst>
          </a:custGeom>
          <a:solidFill>
            <a:srgbClr val="EDEDED"/>
          </a:solidFill>
        </p:spPr>
        <p:txBody>
          <a:bodyPr wrap="square" lIns="0" tIns="0" rIns="0" bIns="0" rtlCol="0"/>
          <a:lstStyle/>
          <a:p>
            <a:endParaRPr/>
          </a:p>
        </p:txBody>
      </p:sp>
      <p:sp>
        <p:nvSpPr>
          <p:cNvPr id="20" name="object 20"/>
          <p:cNvSpPr txBox="1"/>
          <p:nvPr/>
        </p:nvSpPr>
        <p:spPr>
          <a:xfrm>
            <a:off x="1067196" y="6601817"/>
            <a:ext cx="1574800" cy="158115"/>
          </a:xfrm>
          <a:prstGeom prst="rect">
            <a:avLst/>
          </a:prstGeom>
        </p:spPr>
        <p:txBody>
          <a:bodyPr vert="horz" wrap="square" lIns="0" tIns="14604" rIns="0" bIns="0" rtlCol="0">
            <a:spAutoFit/>
          </a:bodyPr>
          <a:lstStyle/>
          <a:p>
            <a:pPr marL="12700">
              <a:lnSpc>
                <a:spcPct val="100000"/>
              </a:lnSpc>
              <a:spcBef>
                <a:spcPts val="114"/>
              </a:spcBef>
            </a:pPr>
            <a:r>
              <a:rPr sz="800" spc="-20" dirty="0">
                <a:solidFill>
                  <a:srgbClr val="878787"/>
                </a:solidFill>
                <a:latin typeface="Microsoft Sans Serif"/>
                <a:cs typeface="Microsoft Sans Serif"/>
              </a:rPr>
              <a:t>GoldenEye </a:t>
            </a:r>
            <a:r>
              <a:rPr sz="850" spc="-45" dirty="0">
                <a:solidFill>
                  <a:srgbClr val="878787"/>
                </a:solidFill>
                <a:latin typeface="Verdana"/>
                <a:cs typeface="Verdana"/>
              </a:rPr>
              <a:t>-</a:t>
            </a:r>
            <a:r>
              <a:rPr sz="850" spc="-90" dirty="0">
                <a:solidFill>
                  <a:srgbClr val="878787"/>
                </a:solidFill>
                <a:latin typeface="Verdana"/>
                <a:cs typeface="Verdana"/>
              </a:rPr>
              <a:t> </a:t>
            </a:r>
            <a:r>
              <a:rPr sz="800" dirty="0">
                <a:solidFill>
                  <a:srgbClr val="878787"/>
                </a:solidFill>
                <a:latin typeface="Microsoft Sans Serif"/>
                <a:cs typeface="Microsoft Sans Serif"/>
              </a:rPr>
              <a:t>AI</a:t>
            </a:r>
            <a:r>
              <a:rPr sz="800" spc="-10" dirty="0">
                <a:solidFill>
                  <a:srgbClr val="878787"/>
                </a:solidFill>
                <a:latin typeface="Microsoft Sans Serif"/>
                <a:cs typeface="Microsoft Sans Serif"/>
              </a:rPr>
              <a:t> </a:t>
            </a:r>
            <a:r>
              <a:rPr sz="800" spc="-55" dirty="0">
                <a:solidFill>
                  <a:srgbClr val="878787"/>
                </a:solidFill>
                <a:latin typeface="Microsoft Sans Serif"/>
                <a:cs typeface="Microsoft Sans Serif"/>
              </a:rPr>
              <a:t>SAR</a:t>
            </a:r>
            <a:r>
              <a:rPr sz="800" spc="-5" dirty="0">
                <a:solidFill>
                  <a:srgbClr val="878787"/>
                </a:solidFill>
                <a:latin typeface="Microsoft Sans Serif"/>
                <a:cs typeface="Microsoft Sans Serif"/>
              </a:rPr>
              <a:t> </a:t>
            </a:r>
            <a:r>
              <a:rPr sz="800" dirty="0">
                <a:solidFill>
                  <a:srgbClr val="878787"/>
                </a:solidFill>
                <a:latin typeface="Microsoft Sans Serif"/>
                <a:cs typeface="Microsoft Sans Serif"/>
              </a:rPr>
              <a:t>Drone</a:t>
            </a:r>
            <a:r>
              <a:rPr sz="800" spc="-10" dirty="0">
                <a:solidFill>
                  <a:srgbClr val="878787"/>
                </a:solidFill>
                <a:latin typeface="Microsoft Sans Serif"/>
                <a:cs typeface="Microsoft Sans Serif"/>
              </a:rPr>
              <a:t> System</a:t>
            </a:r>
            <a:endParaRPr sz="800">
              <a:latin typeface="Microsoft Sans Serif"/>
              <a:cs typeface="Microsoft Sans Serif"/>
            </a:endParaRPr>
          </a:p>
        </p:txBody>
      </p:sp>
      <p:pic>
        <p:nvPicPr>
          <p:cNvPr id="21" name="object 21"/>
          <p:cNvPicPr/>
          <p:nvPr/>
        </p:nvPicPr>
        <p:blipFill>
          <a:blip r:embed="rId8" cstate="print"/>
          <a:stretch>
            <a:fillRect/>
          </a:stretch>
        </p:blipFill>
        <p:spPr>
          <a:xfrm>
            <a:off x="9410699" y="6619872"/>
            <a:ext cx="209549" cy="209545"/>
          </a:xfrm>
          <a:prstGeom prst="rect">
            <a:avLst/>
          </a:prstGeom>
        </p:spPr>
      </p:pic>
      <p:sp>
        <p:nvSpPr>
          <p:cNvPr id="22" name="object 22"/>
          <p:cNvSpPr txBox="1"/>
          <p:nvPr/>
        </p:nvSpPr>
        <p:spPr>
          <a:xfrm>
            <a:off x="9468693" y="6645350"/>
            <a:ext cx="86360" cy="151130"/>
          </a:xfrm>
          <a:prstGeom prst="rect">
            <a:avLst/>
          </a:prstGeom>
        </p:spPr>
        <p:txBody>
          <a:bodyPr vert="horz" wrap="square" lIns="0" tIns="15875" rIns="0" bIns="0" rtlCol="0">
            <a:spAutoFit/>
          </a:bodyPr>
          <a:lstStyle/>
          <a:p>
            <a:pPr marL="12700">
              <a:lnSpc>
                <a:spcPct val="100000"/>
              </a:lnSpc>
              <a:spcBef>
                <a:spcPts val="125"/>
              </a:spcBef>
            </a:pPr>
            <a:r>
              <a:rPr sz="800" b="1" spc="-50" dirty="0">
                <a:solidFill>
                  <a:srgbClr val="FFFFFF"/>
                </a:solidFill>
                <a:latin typeface="Arial"/>
                <a:cs typeface="Arial"/>
              </a:rPr>
              <a:t>6</a:t>
            </a:r>
            <a:endParaRPr sz="800">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76324" y="1285873"/>
            <a:ext cx="8543925" cy="28575"/>
          </a:xfrm>
          <a:custGeom>
            <a:avLst/>
            <a:gdLst/>
            <a:ahLst/>
            <a:cxnLst/>
            <a:rect l="l" t="t" r="r" b="b"/>
            <a:pathLst>
              <a:path w="8543925" h="28575">
                <a:moveTo>
                  <a:pt x="8543924" y="28574"/>
                </a:moveTo>
                <a:lnTo>
                  <a:pt x="0" y="28574"/>
                </a:lnTo>
                <a:lnTo>
                  <a:pt x="0" y="0"/>
                </a:lnTo>
                <a:lnTo>
                  <a:pt x="8543924" y="0"/>
                </a:lnTo>
                <a:lnTo>
                  <a:pt x="8543924" y="28574"/>
                </a:lnTo>
                <a:close/>
              </a:path>
            </a:pathLst>
          </a:custGeom>
          <a:solidFill>
            <a:srgbClr val="BF382A"/>
          </a:solidFill>
        </p:spPr>
        <p:txBody>
          <a:bodyPr wrap="square" lIns="0" tIns="0" rIns="0" bIns="0" rtlCol="0"/>
          <a:lstStyle/>
          <a:p>
            <a:endParaRPr/>
          </a:p>
        </p:txBody>
      </p:sp>
      <p:pic>
        <p:nvPicPr>
          <p:cNvPr id="3" name="object 3"/>
          <p:cNvPicPr/>
          <p:nvPr/>
        </p:nvPicPr>
        <p:blipFill>
          <a:blip r:embed="rId2" cstate="print"/>
          <a:stretch>
            <a:fillRect/>
          </a:stretch>
        </p:blipFill>
        <p:spPr>
          <a:xfrm>
            <a:off x="1079896" y="949325"/>
            <a:ext cx="209550" cy="212725"/>
          </a:xfrm>
          <a:prstGeom prst="rect">
            <a:avLst/>
          </a:prstGeom>
        </p:spPr>
      </p:pic>
      <p:sp>
        <p:nvSpPr>
          <p:cNvPr id="4" name="object 4"/>
          <p:cNvSpPr txBox="1">
            <a:spLocks noGrp="1"/>
          </p:cNvSpPr>
          <p:nvPr>
            <p:ph type="title"/>
          </p:nvPr>
        </p:nvSpPr>
        <p:spPr>
          <a:xfrm>
            <a:off x="1371996" y="883762"/>
            <a:ext cx="3974704" cy="442429"/>
          </a:xfrm>
          <a:prstGeom prst="rect">
            <a:avLst/>
          </a:prstGeom>
        </p:spPr>
        <p:txBody>
          <a:bodyPr vert="horz" wrap="square" lIns="0" tIns="11430" rIns="0" bIns="0" rtlCol="0">
            <a:spAutoFit/>
          </a:bodyPr>
          <a:lstStyle/>
          <a:p>
            <a:pPr marL="12700">
              <a:lnSpc>
                <a:spcPct val="100000"/>
              </a:lnSpc>
              <a:spcBef>
                <a:spcPts val="90"/>
              </a:spcBef>
            </a:pPr>
            <a:r>
              <a:rPr sz="2800" spc="-125" dirty="0">
                <a:solidFill>
                  <a:srgbClr val="BF382A"/>
                </a:solidFill>
              </a:rPr>
              <a:t>Problem </a:t>
            </a:r>
            <a:r>
              <a:rPr sz="2800" spc="-70" dirty="0">
                <a:solidFill>
                  <a:srgbClr val="BF382A"/>
                </a:solidFill>
              </a:rPr>
              <a:t>Statement</a:t>
            </a:r>
            <a:endParaRPr sz="2800" dirty="0"/>
          </a:p>
        </p:txBody>
      </p:sp>
      <p:grpSp>
        <p:nvGrpSpPr>
          <p:cNvPr id="5" name="object 5"/>
          <p:cNvGrpSpPr/>
          <p:nvPr/>
        </p:nvGrpSpPr>
        <p:grpSpPr>
          <a:xfrm>
            <a:off x="1076324" y="1552573"/>
            <a:ext cx="8661236" cy="1298250"/>
            <a:chOff x="1076324" y="1552573"/>
            <a:chExt cx="8543925" cy="542925"/>
          </a:xfrm>
        </p:grpSpPr>
        <p:pic>
          <p:nvPicPr>
            <p:cNvPr id="6" name="object 6"/>
            <p:cNvPicPr/>
            <p:nvPr/>
          </p:nvPicPr>
          <p:blipFill>
            <a:blip r:embed="rId3" cstate="print"/>
            <a:stretch>
              <a:fillRect/>
            </a:stretch>
          </p:blipFill>
          <p:spPr>
            <a:xfrm>
              <a:off x="1114424" y="1552574"/>
              <a:ext cx="8505824" cy="542924"/>
            </a:xfrm>
            <a:prstGeom prst="rect">
              <a:avLst/>
            </a:prstGeom>
          </p:spPr>
        </p:pic>
        <p:sp>
          <p:nvSpPr>
            <p:cNvPr id="7" name="object 7"/>
            <p:cNvSpPr/>
            <p:nvPr/>
          </p:nvSpPr>
          <p:spPr>
            <a:xfrm>
              <a:off x="1076324" y="1552573"/>
              <a:ext cx="38100" cy="542925"/>
            </a:xfrm>
            <a:custGeom>
              <a:avLst/>
              <a:gdLst/>
              <a:ahLst/>
              <a:cxnLst/>
              <a:rect l="l" t="t" r="r" b="b"/>
              <a:pathLst>
                <a:path w="38100" h="542925">
                  <a:moveTo>
                    <a:pt x="38099" y="542924"/>
                  </a:moveTo>
                  <a:lnTo>
                    <a:pt x="0" y="542924"/>
                  </a:lnTo>
                  <a:lnTo>
                    <a:pt x="0" y="0"/>
                  </a:lnTo>
                  <a:lnTo>
                    <a:pt x="38099" y="0"/>
                  </a:lnTo>
                  <a:lnTo>
                    <a:pt x="38099" y="542924"/>
                  </a:lnTo>
                  <a:close/>
                </a:path>
              </a:pathLst>
            </a:custGeom>
            <a:solidFill>
              <a:srgbClr val="BF382A"/>
            </a:solidFill>
          </p:spPr>
          <p:txBody>
            <a:bodyPr wrap="square" lIns="0" tIns="0" rIns="0" bIns="0" rtlCol="0"/>
            <a:lstStyle/>
            <a:p>
              <a:endParaRPr/>
            </a:p>
          </p:txBody>
        </p:sp>
      </p:grpSp>
      <p:sp>
        <p:nvSpPr>
          <p:cNvPr id="8" name="object 8"/>
          <p:cNvSpPr txBox="1"/>
          <p:nvPr/>
        </p:nvSpPr>
        <p:spPr>
          <a:xfrm>
            <a:off x="1248171" y="1627987"/>
            <a:ext cx="8137525" cy="964431"/>
          </a:xfrm>
          <a:prstGeom prst="rect">
            <a:avLst/>
          </a:prstGeom>
        </p:spPr>
        <p:txBody>
          <a:bodyPr vert="horz" wrap="square" lIns="0" tIns="13970" rIns="0" bIns="0" rtlCol="0">
            <a:spAutoFit/>
          </a:bodyPr>
          <a:lstStyle/>
          <a:p>
            <a:pPr marL="12700" marR="5080">
              <a:lnSpc>
                <a:spcPct val="118100"/>
              </a:lnSpc>
              <a:spcBef>
                <a:spcPts val="110"/>
              </a:spcBef>
            </a:pPr>
            <a:r>
              <a:rPr b="1" spc="-40" dirty="0">
                <a:solidFill>
                  <a:srgbClr val="545454"/>
                </a:solidFill>
                <a:latin typeface="Arial"/>
                <a:cs typeface="Arial"/>
              </a:rPr>
              <a:t>Search</a:t>
            </a:r>
            <a:r>
              <a:rPr b="1" spc="-35" dirty="0">
                <a:solidFill>
                  <a:srgbClr val="545454"/>
                </a:solidFill>
                <a:latin typeface="Arial"/>
                <a:cs typeface="Arial"/>
              </a:rPr>
              <a:t> </a:t>
            </a:r>
            <a:r>
              <a:rPr b="1" spc="-40" dirty="0">
                <a:solidFill>
                  <a:srgbClr val="545454"/>
                </a:solidFill>
                <a:latin typeface="Arial"/>
                <a:cs typeface="Arial"/>
              </a:rPr>
              <a:t>and</a:t>
            </a:r>
            <a:r>
              <a:rPr b="1" spc="-30" dirty="0">
                <a:solidFill>
                  <a:srgbClr val="545454"/>
                </a:solidFill>
                <a:latin typeface="Arial"/>
                <a:cs typeface="Arial"/>
              </a:rPr>
              <a:t> </a:t>
            </a:r>
            <a:r>
              <a:rPr b="1" spc="-50" dirty="0">
                <a:solidFill>
                  <a:srgbClr val="545454"/>
                </a:solidFill>
                <a:latin typeface="Arial"/>
                <a:cs typeface="Arial"/>
              </a:rPr>
              <a:t>Rescue</a:t>
            </a:r>
            <a:r>
              <a:rPr b="1" spc="-30" dirty="0">
                <a:solidFill>
                  <a:srgbClr val="545454"/>
                </a:solidFill>
                <a:latin typeface="Arial"/>
                <a:cs typeface="Arial"/>
              </a:rPr>
              <a:t> </a:t>
            </a:r>
            <a:r>
              <a:rPr b="1" spc="-35" dirty="0">
                <a:solidFill>
                  <a:srgbClr val="545454"/>
                </a:solidFill>
                <a:latin typeface="Arial"/>
                <a:cs typeface="Arial"/>
              </a:rPr>
              <a:t>operations</a:t>
            </a:r>
            <a:r>
              <a:rPr b="1" spc="-30" dirty="0">
                <a:solidFill>
                  <a:srgbClr val="545454"/>
                </a:solidFill>
                <a:latin typeface="Arial"/>
                <a:cs typeface="Arial"/>
              </a:rPr>
              <a:t> </a:t>
            </a:r>
            <a:r>
              <a:rPr b="1" spc="-40" dirty="0">
                <a:solidFill>
                  <a:srgbClr val="545454"/>
                </a:solidFill>
                <a:latin typeface="Arial"/>
                <a:cs typeface="Arial"/>
              </a:rPr>
              <a:t>in</a:t>
            </a:r>
            <a:r>
              <a:rPr b="1" spc="-35" dirty="0">
                <a:solidFill>
                  <a:srgbClr val="545454"/>
                </a:solidFill>
                <a:latin typeface="Arial"/>
                <a:cs typeface="Arial"/>
              </a:rPr>
              <a:t> </a:t>
            </a:r>
            <a:r>
              <a:rPr b="1" spc="-25" dirty="0">
                <a:solidFill>
                  <a:srgbClr val="545454"/>
                </a:solidFill>
                <a:latin typeface="Arial"/>
                <a:cs typeface="Arial"/>
              </a:rPr>
              <a:t>desert</a:t>
            </a:r>
            <a:r>
              <a:rPr b="1" spc="-30" dirty="0">
                <a:solidFill>
                  <a:srgbClr val="545454"/>
                </a:solidFill>
                <a:latin typeface="Arial"/>
                <a:cs typeface="Arial"/>
              </a:rPr>
              <a:t> </a:t>
            </a:r>
            <a:r>
              <a:rPr b="1" spc="-40" dirty="0">
                <a:solidFill>
                  <a:srgbClr val="545454"/>
                </a:solidFill>
                <a:latin typeface="Arial"/>
                <a:cs typeface="Arial"/>
              </a:rPr>
              <a:t>environments</a:t>
            </a:r>
            <a:r>
              <a:rPr b="1" spc="-30" dirty="0">
                <a:solidFill>
                  <a:srgbClr val="545454"/>
                </a:solidFill>
                <a:latin typeface="Arial"/>
                <a:cs typeface="Arial"/>
              </a:rPr>
              <a:t> </a:t>
            </a:r>
            <a:r>
              <a:rPr b="1" spc="-35" dirty="0">
                <a:solidFill>
                  <a:srgbClr val="545454"/>
                </a:solidFill>
                <a:latin typeface="Arial"/>
                <a:cs typeface="Arial"/>
              </a:rPr>
              <a:t>are</a:t>
            </a:r>
            <a:r>
              <a:rPr b="1" spc="-30" dirty="0">
                <a:solidFill>
                  <a:srgbClr val="545454"/>
                </a:solidFill>
                <a:latin typeface="Arial"/>
                <a:cs typeface="Arial"/>
              </a:rPr>
              <a:t> </a:t>
            </a:r>
            <a:r>
              <a:rPr b="1" spc="-10" dirty="0">
                <a:solidFill>
                  <a:srgbClr val="545454"/>
                </a:solidFill>
                <a:latin typeface="Arial"/>
                <a:cs typeface="Arial"/>
              </a:rPr>
              <a:t>time-</a:t>
            </a:r>
            <a:r>
              <a:rPr b="1" spc="-30" dirty="0">
                <a:solidFill>
                  <a:srgbClr val="545454"/>
                </a:solidFill>
                <a:latin typeface="Arial"/>
                <a:cs typeface="Arial"/>
              </a:rPr>
              <a:t>critical</a:t>
            </a:r>
            <a:r>
              <a:rPr b="1" spc="-35" dirty="0">
                <a:solidFill>
                  <a:srgbClr val="545454"/>
                </a:solidFill>
                <a:latin typeface="Arial"/>
                <a:cs typeface="Arial"/>
              </a:rPr>
              <a:t> </a:t>
            </a:r>
            <a:r>
              <a:rPr b="1" spc="-40" dirty="0">
                <a:solidFill>
                  <a:srgbClr val="545454"/>
                </a:solidFill>
                <a:latin typeface="Arial"/>
                <a:cs typeface="Arial"/>
              </a:rPr>
              <a:t>and</a:t>
            </a:r>
            <a:r>
              <a:rPr b="1" spc="-30" dirty="0">
                <a:solidFill>
                  <a:srgbClr val="545454"/>
                </a:solidFill>
                <a:latin typeface="Arial"/>
                <a:cs typeface="Arial"/>
              </a:rPr>
              <a:t> </a:t>
            </a:r>
            <a:r>
              <a:rPr b="1" spc="-25" dirty="0">
                <a:solidFill>
                  <a:srgbClr val="545454"/>
                </a:solidFill>
                <a:latin typeface="Arial"/>
                <a:cs typeface="Arial"/>
              </a:rPr>
              <a:t>resource-</a:t>
            </a:r>
            <a:r>
              <a:rPr b="1" spc="-30" dirty="0">
                <a:solidFill>
                  <a:srgbClr val="545454"/>
                </a:solidFill>
                <a:latin typeface="Arial"/>
                <a:cs typeface="Arial"/>
              </a:rPr>
              <a:t>intensive</a:t>
            </a:r>
            <a:r>
              <a:rPr spc="-30" dirty="0">
                <a:solidFill>
                  <a:srgbClr val="545454"/>
                </a:solidFill>
                <a:latin typeface="Microsoft Sans Serif"/>
                <a:cs typeface="Microsoft Sans Serif"/>
              </a:rPr>
              <a:t>,</a:t>
            </a:r>
            <a:r>
              <a:rPr spc="20" dirty="0">
                <a:solidFill>
                  <a:srgbClr val="545454"/>
                </a:solidFill>
                <a:latin typeface="Microsoft Sans Serif"/>
                <a:cs typeface="Microsoft Sans Serif"/>
              </a:rPr>
              <a:t> </a:t>
            </a:r>
            <a:r>
              <a:rPr spc="-10" dirty="0">
                <a:solidFill>
                  <a:srgbClr val="545454"/>
                </a:solidFill>
                <a:latin typeface="Microsoft Sans Serif"/>
                <a:cs typeface="Microsoft Sans Serif"/>
              </a:rPr>
              <a:t>relying</a:t>
            </a:r>
            <a:r>
              <a:rPr spc="15" dirty="0">
                <a:solidFill>
                  <a:srgbClr val="545454"/>
                </a:solidFill>
                <a:latin typeface="Microsoft Sans Serif"/>
                <a:cs typeface="Microsoft Sans Serif"/>
              </a:rPr>
              <a:t> </a:t>
            </a:r>
            <a:r>
              <a:rPr dirty="0">
                <a:solidFill>
                  <a:srgbClr val="545454"/>
                </a:solidFill>
                <a:latin typeface="Microsoft Sans Serif"/>
                <a:cs typeface="Microsoft Sans Serif"/>
              </a:rPr>
              <a:t>on</a:t>
            </a:r>
            <a:r>
              <a:rPr spc="20" dirty="0">
                <a:solidFill>
                  <a:srgbClr val="545454"/>
                </a:solidFill>
                <a:latin typeface="Microsoft Sans Serif"/>
                <a:cs typeface="Microsoft Sans Serif"/>
              </a:rPr>
              <a:t> </a:t>
            </a:r>
            <a:r>
              <a:rPr spc="-30" dirty="0">
                <a:solidFill>
                  <a:srgbClr val="545454"/>
                </a:solidFill>
                <a:latin typeface="Microsoft Sans Serif"/>
                <a:cs typeface="Microsoft Sans Serif"/>
              </a:rPr>
              <a:t>manual</a:t>
            </a:r>
            <a:r>
              <a:rPr spc="15" dirty="0">
                <a:solidFill>
                  <a:srgbClr val="545454"/>
                </a:solidFill>
                <a:latin typeface="Microsoft Sans Serif"/>
                <a:cs typeface="Microsoft Sans Serif"/>
              </a:rPr>
              <a:t> </a:t>
            </a:r>
            <a:r>
              <a:rPr spc="-10" dirty="0">
                <a:solidFill>
                  <a:srgbClr val="545454"/>
                </a:solidFill>
                <a:latin typeface="Microsoft Sans Serif"/>
                <a:cs typeface="Microsoft Sans Serif"/>
              </a:rPr>
              <a:t>ground</a:t>
            </a:r>
            <a:r>
              <a:rPr spc="20" dirty="0">
                <a:solidFill>
                  <a:srgbClr val="545454"/>
                </a:solidFill>
                <a:latin typeface="Microsoft Sans Serif"/>
                <a:cs typeface="Microsoft Sans Serif"/>
              </a:rPr>
              <a:t> </a:t>
            </a:r>
            <a:r>
              <a:rPr spc="-20" dirty="0">
                <a:solidFill>
                  <a:srgbClr val="545454"/>
                </a:solidFill>
                <a:latin typeface="Microsoft Sans Serif"/>
                <a:cs typeface="Microsoft Sans Serif"/>
              </a:rPr>
              <a:t>searches</a:t>
            </a:r>
            <a:r>
              <a:rPr spc="20" dirty="0">
                <a:solidFill>
                  <a:srgbClr val="545454"/>
                </a:solidFill>
                <a:latin typeface="Microsoft Sans Serif"/>
                <a:cs typeface="Microsoft Sans Serif"/>
              </a:rPr>
              <a:t> </a:t>
            </a:r>
            <a:r>
              <a:rPr dirty="0">
                <a:solidFill>
                  <a:srgbClr val="545454"/>
                </a:solidFill>
                <a:latin typeface="Microsoft Sans Serif"/>
                <a:cs typeface="Microsoft Sans Serif"/>
              </a:rPr>
              <a:t>or</a:t>
            </a:r>
            <a:r>
              <a:rPr spc="15" dirty="0">
                <a:solidFill>
                  <a:srgbClr val="545454"/>
                </a:solidFill>
                <a:latin typeface="Microsoft Sans Serif"/>
                <a:cs typeface="Microsoft Sans Serif"/>
              </a:rPr>
              <a:t> </a:t>
            </a:r>
            <a:r>
              <a:rPr spc="-25" dirty="0">
                <a:solidFill>
                  <a:srgbClr val="545454"/>
                </a:solidFill>
                <a:latin typeface="Microsoft Sans Serif"/>
                <a:cs typeface="Microsoft Sans Serif"/>
              </a:rPr>
              <a:t>manned</a:t>
            </a:r>
            <a:r>
              <a:rPr spc="20" dirty="0">
                <a:solidFill>
                  <a:srgbClr val="545454"/>
                </a:solidFill>
                <a:latin typeface="Microsoft Sans Serif"/>
                <a:cs typeface="Microsoft Sans Serif"/>
              </a:rPr>
              <a:t> </a:t>
            </a:r>
            <a:r>
              <a:rPr spc="-20" dirty="0">
                <a:solidFill>
                  <a:srgbClr val="545454"/>
                </a:solidFill>
                <a:latin typeface="Microsoft Sans Serif"/>
                <a:cs typeface="Microsoft Sans Serif"/>
              </a:rPr>
              <a:t>aerial</a:t>
            </a:r>
            <a:r>
              <a:rPr spc="15" dirty="0">
                <a:solidFill>
                  <a:srgbClr val="545454"/>
                </a:solidFill>
                <a:latin typeface="Microsoft Sans Serif"/>
                <a:cs typeface="Microsoft Sans Serif"/>
              </a:rPr>
              <a:t> </a:t>
            </a:r>
            <a:r>
              <a:rPr spc="-10" dirty="0">
                <a:solidFill>
                  <a:srgbClr val="545454"/>
                </a:solidFill>
                <a:latin typeface="Microsoft Sans Serif"/>
                <a:cs typeface="Microsoft Sans Serif"/>
              </a:rPr>
              <a:t>surveys</a:t>
            </a:r>
            <a:r>
              <a:rPr spc="20" dirty="0">
                <a:solidFill>
                  <a:srgbClr val="545454"/>
                </a:solidFill>
                <a:latin typeface="Microsoft Sans Serif"/>
                <a:cs typeface="Microsoft Sans Serif"/>
              </a:rPr>
              <a:t> </a:t>
            </a:r>
            <a:r>
              <a:rPr spc="-20" dirty="0">
                <a:solidFill>
                  <a:srgbClr val="545454"/>
                </a:solidFill>
                <a:latin typeface="Microsoft Sans Serif"/>
                <a:cs typeface="Microsoft Sans Serif"/>
              </a:rPr>
              <a:t>that are</a:t>
            </a:r>
            <a:r>
              <a:rPr spc="-10" dirty="0">
                <a:solidFill>
                  <a:srgbClr val="545454"/>
                </a:solidFill>
                <a:latin typeface="Microsoft Sans Serif"/>
                <a:cs typeface="Microsoft Sans Serif"/>
              </a:rPr>
              <a:t> </a:t>
            </a:r>
            <a:r>
              <a:rPr spc="-20" dirty="0">
                <a:solidFill>
                  <a:srgbClr val="545454"/>
                </a:solidFill>
                <a:latin typeface="Microsoft Sans Serif"/>
                <a:cs typeface="Microsoft Sans Serif"/>
              </a:rPr>
              <a:t>slow,</a:t>
            </a:r>
            <a:r>
              <a:rPr spc="-10" dirty="0">
                <a:solidFill>
                  <a:srgbClr val="545454"/>
                </a:solidFill>
                <a:latin typeface="Microsoft Sans Serif"/>
                <a:cs typeface="Microsoft Sans Serif"/>
              </a:rPr>
              <a:t> costly,</a:t>
            </a:r>
            <a:r>
              <a:rPr spc="-5" dirty="0">
                <a:solidFill>
                  <a:srgbClr val="545454"/>
                </a:solidFill>
                <a:latin typeface="Microsoft Sans Serif"/>
                <a:cs typeface="Microsoft Sans Serif"/>
              </a:rPr>
              <a:t> </a:t>
            </a:r>
            <a:r>
              <a:rPr spc="-20" dirty="0">
                <a:solidFill>
                  <a:srgbClr val="545454"/>
                </a:solidFill>
                <a:latin typeface="Microsoft Sans Serif"/>
                <a:cs typeface="Microsoft Sans Serif"/>
              </a:rPr>
              <a:t>and</a:t>
            </a:r>
            <a:r>
              <a:rPr spc="-10" dirty="0">
                <a:solidFill>
                  <a:srgbClr val="545454"/>
                </a:solidFill>
                <a:latin typeface="Microsoft Sans Serif"/>
                <a:cs typeface="Microsoft Sans Serif"/>
              </a:rPr>
              <a:t> </a:t>
            </a:r>
            <a:r>
              <a:rPr spc="-20" dirty="0">
                <a:solidFill>
                  <a:srgbClr val="545454"/>
                </a:solidFill>
                <a:latin typeface="Microsoft Sans Serif"/>
                <a:cs typeface="Microsoft Sans Serif"/>
              </a:rPr>
              <a:t>expose</a:t>
            </a:r>
            <a:r>
              <a:rPr spc="-10" dirty="0">
                <a:solidFill>
                  <a:srgbClr val="545454"/>
                </a:solidFill>
                <a:latin typeface="Microsoft Sans Serif"/>
                <a:cs typeface="Microsoft Sans Serif"/>
              </a:rPr>
              <a:t> rescue</a:t>
            </a:r>
            <a:r>
              <a:rPr spc="-5" dirty="0">
                <a:solidFill>
                  <a:srgbClr val="545454"/>
                </a:solidFill>
                <a:latin typeface="Microsoft Sans Serif"/>
                <a:cs typeface="Microsoft Sans Serif"/>
              </a:rPr>
              <a:t> </a:t>
            </a:r>
            <a:r>
              <a:rPr spc="-20" dirty="0">
                <a:solidFill>
                  <a:srgbClr val="545454"/>
                </a:solidFill>
                <a:latin typeface="Microsoft Sans Serif"/>
                <a:cs typeface="Microsoft Sans Serif"/>
              </a:rPr>
              <a:t>teams</a:t>
            </a:r>
            <a:r>
              <a:rPr spc="-10" dirty="0">
                <a:solidFill>
                  <a:srgbClr val="545454"/>
                </a:solidFill>
                <a:latin typeface="Microsoft Sans Serif"/>
                <a:cs typeface="Microsoft Sans Serif"/>
              </a:rPr>
              <a:t> </a:t>
            </a:r>
            <a:r>
              <a:rPr dirty="0">
                <a:solidFill>
                  <a:srgbClr val="545454"/>
                </a:solidFill>
                <a:latin typeface="Microsoft Sans Serif"/>
                <a:cs typeface="Microsoft Sans Serif"/>
              </a:rPr>
              <a:t>to</a:t>
            </a:r>
            <a:r>
              <a:rPr spc="-10" dirty="0">
                <a:solidFill>
                  <a:srgbClr val="545454"/>
                </a:solidFill>
                <a:latin typeface="Microsoft Sans Serif"/>
                <a:cs typeface="Microsoft Sans Serif"/>
              </a:rPr>
              <a:t> significant</a:t>
            </a:r>
            <a:r>
              <a:rPr spc="-5" dirty="0">
                <a:solidFill>
                  <a:srgbClr val="545454"/>
                </a:solidFill>
                <a:latin typeface="Microsoft Sans Serif"/>
                <a:cs typeface="Microsoft Sans Serif"/>
              </a:rPr>
              <a:t> </a:t>
            </a:r>
            <a:r>
              <a:rPr spc="-10" dirty="0">
                <a:solidFill>
                  <a:srgbClr val="545454"/>
                </a:solidFill>
                <a:latin typeface="Microsoft Sans Serif"/>
                <a:cs typeface="Microsoft Sans Serif"/>
              </a:rPr>
              <a:t>risks.</a:t>
            </a:r>
            <a:endParaRPr dirty="0">
              <a:latin typeface="Microsoft Sans Serif"/>
              <a:cs typeface="Microsoft Sans Serif"/>
            </a:endParaRPr>
          </a:p>
        </p:txBody>
      </p:sp>
      <p:grpSp>
        <p:nvGrpSpPr>
          <p:cNvPr id="9" name="object 9"/>
          <p:cNvGrpSpPr/>
          <p:nvPr/>
        </p:nvGrpSpPr>
        <p:grpSpPr>
          <a:xfrm>
            <a:off x="927744" y="3754584"/>
            <a:ext cx="3428356" cy="2430309"/>
            <a:chOff x="1076324" y="2209798"/>
            <a:chExt cx="2752725" cy="1695450"/>
          </a:xfrm>
        </p:grpSpPr>
        <p:sp>
          <p:nvSpPr>
            <p:cNvPr id="10" name="object 10"/>
            <p:cNvSpPr/>
            <p:nvPr/>
          </p:nvSpPr>
          <p:spPr>
            <a:xfrm>
              <a:off x="1090612" y="2209798"/>
              <a:ext cx="2738755" cy="1695450"/>
            </a:xfrm>
            <a:custGeom>
              <a:avLst/>
              <a:gdLst/>
              <a:ahLst/>
              <a:cxnLst/>
              <a:rect l="l" t="t" r="r" b="b"/>
              <a:pathLst>
                <a:path w="2738754" h="1695450">
                  <a:moveTo>
                    <a:pt x="2667240" y="1695445"/>
                  </a:moveTo>
                  <a:lnTo>
                    <a:pt x="57847" y="1695445"/>
                  </a:lnTo>
                  <a:lnTo>
                    <a:pt x="53821" y="1694956"/>
                  </a:lnTo>
                  <a:lnTo>
                    <a:pt x="15259" y="1669586"/>
                  </a:lnTo>
                  <a:lnTo>
                    <a:pt x="396" y="1629207"/>
                  </a:lnTo>
                  <a:lnTo>
                    <a:pt x="0" y="1624249"/>
                  </a:lnTo>
                  <a:lnTo>
                    <a:pt x="0" y="1619249"/>
                  </a:lnTo>
                  <a:lnTo>
                    <a:pt x="0" y="71195"/>
                  </a:lnTo>
                  <a:lnTo>
                    <a:pt x="12692" y="29700"/>
                  </a:lnTo>
                  <a:lnTo>
                    <a:pt x="41975" y="3883"/>
                  </a:lnTo>
                  <a:lnTo>
                    <a:pt x="57847" y="0"/>
                  </a:lnTo>
                  <a:lnTo>
                    <a:pt x="2667240" y="0"/>
                  </a:lnTo>
                  <a:lnTo>
                    <a:pt x="2708731" y="15617"/>
                  </a:lnTo>
                  <a:lnTo>
                    <a:pt x="2734551" y="51656"/>
                  </a:lnTo>
                  <a:lnTo>
                    <a:pt x="2738437" y="71195"/>
                  </a:lnTo>
                  <a:lnTo>
                    <a:pt x="2738437" y="1624249"/>
                  </a:lnTo>
                  <a:lnTo>
                    <a:pt x="2722815" y="1665740"/>
                  </a:lnTo>
                  <a:lnTo>
                    <a:pt x="2686774" y="1691556"/>
                  </a:lnTo>
                  <a:lnTo>
                    <a:pt x="2672195" y="1694956"/>
                  </a:lnTo>
                  <a:lnTo>
                    <a:pt x="2667240" y="1695445"/>
                  </a:lnTo>
                  <a:close/>
                </a:path>
              </a:pathLst>
            </a:custGeom>
            <a:solidFill>
              <a:srgbClr val="F7F9FA"/>
            </a:solidFill>
          </p:spPr>
          <p:txBody>
            <a:bodyPr wrap="square" lIns="0" tIns="0" rIns="0" bIns="0" rtlCol="0"/>
            <a:lstStyle/>
            <a:p>
              <a:endParaRPr sz="3200"/>
            </a:p>
          </p:txBody>
        </p:sp>
        <p:sp>
          <p:nvSpPr>
            <p:cNvPr id="11" name="object 11"/>
            <p:cNvSpPr/>
            <p:nvPr/>
          </p:nvSpPr>
          <p:spPr>
            <a:xfrm>
              <a:off x="1076324" y="2210176"/>
              <a:ext cx="69215" cy="1694814"/>
            </a:xfrm>
            <a:custGeom>
              <a:avLst/>
              <a:gdLst/>
              <a:ahLst/>
              <a:cxnLst/>
              <a:rect l="l" t="t" r="r" b="b"/>
              <a:pathLst>
                <a:path w="69215" h="1694814">
                  <a:moveTo>
                    <a:pt x="68698" y="1694694"/>
                  </a:moveTo>
                  <a:lnTo>
                    <a:pt x="27882" y="1677804"/>
                  </a:lnTo>
                  <a:lnTo>
                    <a:pt x="3262" y="1640958"/>
                  </a:lnTo>
                  <a:lnTo>
                    <a:pt x="0" y="1618872"/>
                  </a:lnTo>
                  <a:lnTo>
                    <a:pt x="0" y="75822"/>
                  </a:lnTo>
                  <a:lnTo>
                    <a:pt x="12830" y="33479"/>
                  </a:lnTo>
                  <a:lnTo>
                    <a:pt x="47039" y="5422"/>
                  </a:lnTo>
                  <a:lnTo>
                    <a:pt x="68698" y="0"/>
                  </a:lnTo>
                  <a:lnTo>
                    <a:pt x="63809" y="1555"/>
                  </a:lnTo>
                  <a:lnTo>
                    <a:pt x="52139" y="9289"/>
                  </a:lnTo>
                  <a:lnTo>
                    <a:pt x="32200" y="46661"/>
                  </a:lnTo>
                  <a:lnTo>
                    <a:pt x="28575" y="75822"/>
                  </a:lnTo>
                  <a:lnTo>
                    <a:pt x="28575" y="1618872"/>
                  </a:lnTo>
                  <a:lnTo>
                    <a:pt x="36593" y="1661214"/>
                  </a:lnTo>
                  <a:lnTo>
                    <a:pt x="63809" y="1693138"/>
                  </a:lnTo>
                  <a:lnTo>
                    <a:pt x="68698" y="1694694"/>
                  </a:lnTo>
                  <a:close/>
                </a:path>
              </a:pathLst>
            </a:custGeom>
            <a:solidFill>
              <a:srgbClr val="BF382A"/>
            </a:solidFill>
          </p:spPr>
          <p:txBody>
            <a:bodyPr wrap="square" lIns="0" tIns="0" rIns="0" bIns="0" rtlCol="0"/>
            <a:lstStyle/>
            <a:p>
              <a:endParaRPr sz="3200"/>
            </a:p>
          </p:txBody>
        </p:sp>
        <p:pic>
          <p:nvPicPr>
            <p:cNvPr id="12" name="object 12"/>
            <p:cNvPicPr/>
            <p:nvPr/>
          </p:nvPicPr>
          <p:blipFill>
            <a:blip r:embed="rId4" cstate="print"/>
            <a:stretch>
              <a:fillRect/>
            </a:stretch>
          </p:blipFill>
          <p:spPr>
            <a:xfrm>
              <a:off x="1248171" y="2374899"/>
              <a:ext cx="130175" cy="130175"/>
            </a:xfrm>
            <a:prstGeom prst="rect">
              <a:avLst/>
            </a:prstGeom>
          </p:spPr>
        </p:pic>
      </p:grpSp>
      <p:sp>
        <p:nvSpPr>
          <p:cNvPr id="13" name="object 13"/>
          <p:cNvSpPr txBox="1"/>
          <p:nvPr/>
        </p:nvSpPr>
        <p:spPr>
          <a:xfrm>
            <a:off x="1327715" y="3947236"/>
            <a:ext cx="2574423" cy="259686"/>
          </a:xfrm>
          <a:prstGeom prst="rect">
            <a:avLst/>
          </a:prstGeom>
        </p:spPr>
        <p:txBody>
          <a:bodyPr vert="horz" wrap="square" lIns="0" tIns="13335" rIns="0" bIns="0" rtlCol="0">
            <a:spAutoFit/>
          </a:bodyPr>
          <a:lstStyle/>
          <a:p>
            <a:pPr marL="12700">
              <a:lnSpc>
                <a:spcPct val="100000"/>
              </a:lnSpc>
              <a:spcBef>
                <a:spcPts val="105"/>
              </a:spcBef>
            </a:pPr>
            <a:r>
              <a:rPr sz="1600" b="1" spc="-60" dirty="0">
                <a:solidFill>
                  <a:srgbClr val="1A1A2E"/>
                </a:solidFill>
                <a:latin typeface="Arial"/>
                <a:cs typeface="Arial"/>
              </a:rPr>
              <a:t>Environmental</a:t>
            </a:r>
            <a:r>
              <a:rPr sz="1600" b="1" spc="-40" dirty="0">
                <a:solidFill>
                  <a:srgbClr val="1A1A2E"/>
                </a:solidFill>
                <a:latin typeface="Arial"/>
                <a:cs typeface="Arial"/>
              </a:rPr>
              <a:t> </a:t>
            </a:r>
            <a:r>
              <a:rPr sz="1600" b="1" spc="-65" dirty="0">
                <a:solidFill>
                  <a:srgbClr val="1A1A2E"/>
                </a:solidFill>
                <a:latin typeface="Arial"/>
                <a:cs typeface="Arial"/>
              </a:rPr>
              <a:t>Challenges</a:t>
            </a:r>
            <a:endParaRPr sz="1600" dirty="0">
              <a:latin typeface="Arial"/>
              <a:cs typeface="Arial"/>
            </a:endParaRPr>
          </a:p>
        </p:txBody>
      </p:sp>
      <p:grpSp>
        <p:nvGrpSpPr>
          <p:cNvPr id="14" name="object 14"/>
          <p:cNvGrpSpPr/>
          <p:nvPr/>
        </p:nvGrpSpPr>
        <p:grpSpPr>
          <a:xfrm>
            <a:off x="3871704" y="3754214"/>
            <a:ext cx="3428356" cy="2430309"/>
            <a:chOff x="3971924" y="2209798"/>
            <a:chExt cx="2752725" cy="1695450"/>
          </a:xfrm>
        </p:grpSpPr>
        <p:sp>
          <p:nvSpPr>
            <p:cNvPr id="15" name="object 15"/>
            <p:cNvSpPr/>
            <p:nvPr/>
          </p:nvSpPr>
          <p:spPr>
            <a:xfrm>
              <a:off x="3986212" y="2209798"/>
              <a:ext cx="2738755" cy="1695450"/>
            </a:xfrm>
            <a:custGeom>
              <a:avLst/>
              <a:gdLst/>
              <a:ahLst/>
              <a:cxnLst/>
              <a:rect l="l" t="t" r="r" b="b"/>
              <a:pathLst>
                <a:path w="2738754" h="1695450">
                  <a:moveTo>
                    <a:pt x="2667240" y="1695445"/>
                  </a:moveTo>
                  <a:lnTo>
                    <a:pt x="57847" y="1695445"/>
                  </a:lnTo>
                  <a:lnTo>
                    <a:pt x="53821" y="1694956"/>
                  </a:lnTo>
                  <a:lnTo>
                    <a:pt x="15258" y="1669586"/>
                  </a:lnTo>
                  <a:lnTo>
                    <a:pt x="396" y="1629207"/>
                  </a:lnTo>
                  <a:lnTo>
                    <a:pt x="0" y="1624249"/>
                  </a:lnTo>
                  <a:lnTo>
                    <a:pt x="0" y="1619249"/>
                  </a:lnTo>
                  <a:lnTo>
                    <a:pt x="0" y="71195"/>
                  </a:lnTo>
                  <a:lnTo>
                    <a:pt x="12692" y="29700"/>
                  </a:lnTo>
                  <a:lnTo>
                    <a:pt x="41975" y="3883"/>
                  </a:lnTo>
                  <a:lnTo>
                    <a:pt x="57847" y="0"/>
                  </a:lnTo>
                  <a:lnTo>
                    <a:pt x="2667240" y="0"/>
                  </a:lnTo>
                  <a:lnTo>
                    <a:pt x="2708731" y="15617"/>
                  </a:lnTo>
                  <a:lnTo>
                    <a:pt x="2734551" y="51656"/>
                  </a:lnTo>
                  <a:lnTo>
                    <a:pt x="2738436" y="71195"/>
                  </a:lnTo>
                  <a:lnTo>
                    <a:pt x="2738436" y="1624249"/>
                  </a:lnTo>
                  <a:lnTo>
                    <a:pt x="2722815" y="1665740"/>
                  </a:lnTo>
                  <a:lnTo>
                    <a:pt x="2686775" y="1691556"/>
                  </a:lnTo>
                  <a:lnTo>
                    <a:pt x="2672195" y="1694956"/>
                  </a:lnTo>
                  <a:lnTo>
                    <a:pt x="2667240" y="1695445"/>
                  </a:lnTo>
                  <a:close/>
                </a:path>
              </a:pathLst>
            </a:custGeom>
            <a:solidFill>
              <a:srgbClr val="F7F9FA"/>
            </a:solidFill>
          </p:spPr>
          <p:txBody>
            <a:bodyPr wrap="square" lIns="0" tIns="0" rIns="0" bIns="0" rtlCol="0"/>
            <a:lstStyle/>
            <a:p>
              <a:endParaRPr sz="3200"/>
            </a:p>
          </p:txBody>
        </p:sp>
        <p:sp>
          <p:nvSpPr>
            <p:cNvPr id="16" name="object 16"/>
            <p:cNvSpPr/>
            <p:nvPr/>
          </p:nvSpPr>
          <p:spPr>
            <a:xfrm>
              <a:off x="3971924" y="2210176"/>
              <a:ext cx="69215" cy="1694814"/>
            </a:xfrm>
            <a:custGeom>
              <a:avLst/>
              <a:gdLst/>
              <a:ahLst/>
              <a:cxnLst/>
              <a:rect l="l" t="t" r="r" b="b"/>
              <a:pathLst>
                <a:path w="69214" h="1694814">
                  <a:moveTo>
                    <a:pt x="68698" y="1694694"/>
                  </a:moveTo>
                  <a:lnTo>
                    <a:pt x="27882" y="1677804"/>
                  </a:lnTo>
                  <a:lnTo>
                    <a:pt x="3262" y="1640958"/>
                  </a:lnTo>
                  <a:lnTo>
                    <a:pt x="0" y="1618872"/>
                  </a:lnTo>
                  <a:lnTo>
                    <a:pt x="0" y="75822"/>
                  </a:lnTo>
                  <a:lnTo>
                    <a:pt x="12829" y="33479"/>
                  </a:lnTo>
                  <a:lnTo>
                    <a:pt x="47039" y="5422"/>
                  </a:lnTo>
                  <a:lnTo>
                    <a:pt x="68698" y="0"/>
                  </a:lnTo>
                  <a:lnTo>
                    <a:pt x="63809" y="1556"/>
                  </a:lnTo>
                  <a:lnTo>
                    <a:pt x="52139" y="9289"/>
                  </a:lnTo>
                  <a:lnTo>
                    <a:pt x="32199" y="46661"/>
                  </a:lnTo>
                  <a:lnTo>
                    <a:pt x="28575" y="75822"/>
                  </a:lnTo>
                  <a:lnTo>
                    <a:pt x="28575" y="1618872"/>
                  </a:lnTo>
                  <a:lnTo>
                    <a:pt x="36593" y="1661214"/>
                  </a:lnTo>
                  <a:lnTo>
                    <a:pt x="63809" y="1693138"/>
                  </a:lnTo>
                  <a:lnTo>
                    <a:pt x="68698" y="1694694"/>
                  </a:lnTo>
                  <a:close/>
                </a:path>
              </a:pathLst>
            </a:custGeom>
            <a:solidFill>
              <a:srgbClr val="BF382A"/>
            </a:solidFill>
          </p:spPr>
          <p:txBody>
            <a:bodyPr wrap="square" lIns="0" tIns="0" rIns="0" bIns="0" rtlCol="0"/>
            <a:lstStyle/>
            <a:p>
              <a:endParaRPr sz="3200"/>
            </a:p>
          </p:txBody>
        </p:sp>
        <p:pic>
          <p:nvPicPr>
            <p:cNvPr id="17" name="object 17"/>
            <p:cNvPicPr/>
            <p:nvPr/>
          </p:nvPicPr>
          <p:blipFill>
            <a:blip r:embed="rId5" cstate="print"/>
            <a:stretch>
              <a:fillRect/>
            </a:stretch>
          </p:blipFill>
          <p:spPr>
            <a:xfrm>
              <a:off x="4144565" y="2374899"/>
              <a:ext cx="123825" cy="127000"/>
            </a:xfrm>
            <a:prstGeom prst="rect">
              <a:avLst/>
            </a:prstGeom>
          </p:spPr>
        </p:pic>
      </p:grpSp>
      <p:sp>
        <p:nvSpPr>
          <p:cNvPr id="18" name="object 18"/>
          <p:cNvSpPr txBox="1"/>
          <p:nvPr/>
        </p:nvSpPr>
        <p:spPr>
          <a:xfrm>
            <a:off x="4319380" y="3954700"/>
            <a:ext cx="2441197" cy="259686"/>
          </a:xfrm>
          <a:prstGeom prst="rect">
            <a:avLst/>
          </a:prstGeom>
        </p:spPr>
        <p:txBody>
          <a:bodyPr vert="horz" wrap="square" lIns="0" tIns="13335" rIns="0" bIns="0" rtlCol="0">
            <a:spAutoFit/>
          </a:bodyPr>
          <a:lstStyle/>
          <a:p>
            <a:pPr marL="12700">
              <a:lnSpc>
                <a:spcPct val="100000"/>
              </a:lnSpc>
              <a:spcBef>
                <a:spcPts val="105"/>
              </a:spcBef>
            </a:pPr>
            <a:r>
              <a:rPr sz="1600" b="1" spc="-80" dirty="0">
                <a:solidFill>
                  <a:srgbClr val="1A1A2E"/>
                </a:solidFill>
                <a:latin typeface="Arial"/>
                <a:cs typeface="Arial"/>
              </a:rPr>
              <a:t>Technical</a:t>
            </a:r>
            <a:r>
              <a:rPr sz="1600" b="1" spc="-30" dirty="0">
                <a:solidFill>
                  <a:srgbClr val="1A1A2E"/>
                </a:solidFill>
                <a:latin typeface="Arial"/>
                <a:cs typeface="Arial"/>
              </a:rPr>
              <a:t> </a:t>
            </a:r>
            <a:r>
              <a:rPr sz="1600" b="1" spc="-55" dirty="0">
                <a:solidFill>
                  <a:srgbClr val="1A1A2E"/>
                </a:solidFill>
                <a:latin typeface="Arial"/>
                <a:cs typeface="Arial"/>
              </a:rPr>
              <a:t>Gaps</a:t>
            </a:r>
            <a:endParaRPr sz="1600" dirty="0">
              <a:latin typeface="Arial"/>
              <a:cs typeface="Arial"/>
            </a:endParaRPr>
          </a:p>
        </p:txBody>
      </p:sp>
      <p:grpSp>
        <p:nvGrpSpPr>
          <p:cNvPr id="19" name="object 19"/>
          <p:cNvGrpSpPr/>
          <p:nvPr/>
        </p:nvGrpSpPr>
        <p:grpSpPr>
          <a:xfrm>
            <a:off x="6718944" y="3754584"/>
            <a:ext cx="3428356" cy="2430309"/>
            <a:chOff x="6867524" y="2209798"/>
            <a:chExt cx="2752725" cy="1695450"/>
          </a:xfrm>
        </p:grpSpPr>
        <p:sp>
          <p:nvSpPr>
            <p:cNvPr id="20" name="object 20"/>
            <p:cNvSpPr/>
            <p:nvPr/>
          </p:nvSpPr>
          <p:spPr>
            <a:xfrm>
              <a:off x="6881811" y="2209798"/>
              <a:ext cx="2738755" cy="1695450"/>
            </a:xfrm>
            <a:custGeom>
              <a:avLst/>
              <a:gdLst/>
              <a:ahLst/>
              <a:cxnLst/>
              <a:rect l="l" t="t" r="r" b="b"/>
              <a:pathLst>
                <a:path w="2738754" h="1695450">
                  <a:moveTo>
                    <a:pt x="2667241" y="1695445"/>
                  </a:moveTo>
                  <a:lnTo>
                    <a:pt x="57847" y="1695445"/>
                  </a:lnTo>
                  <a:lnTo>
                    <a:pt x="53821" y="1694956"/>
                  </a:lnTo>
                  <a:lnTo>
                    <a:pt x="15259" y="1669586"/>
                  </a:lnTo>
                  <a:lnTo>
                    <a:pt x="396" y="1629207"/>
                  </a:lnTo>
                  <a:lnTo>
                    <a:pt x="0" y="1624249"/>
                  </a:lnTo>
                  <a:lnTo>
                    <a:pt x="0" y="1619249"/>
                  </a:lnTo>
                  <a:lnTo>
                    <a:pt x="0" y="71195"/>
                  </a:lnTo>
                  <a:lnTo>
                    <a:pt x="12692" y="29700"/>
                  </a:lnTo>
                  <a:lnTo>
                    <a:pt x="41975" y="3883"/>
                  </a:lnTo>
                  <a:lnTo>
                    <a:pt x="57847" y="0"/>
                  </a:lnTo>
                  <a:lnTo>
                    <a:pt x="2667241" y="0"/>
                  </a:lnTo>
                  <a:lnTo>
                    <a:pt x="2708731" y="15617"/>
                  </a:lnTo>
                  <a:lnTo>
                    <a:pt x="2734550" y="51656"/>
                  </a:lnTo>
                  <a:lnTo>
                    <a:pt x="2738437" y="71195"/>
                  </a:lnTo>
                  <a:lnTo>
                    <a:pt x="2738437" y="1624249"/>
                  </a:lnTo>
                  <a:lnTo>
                    <a:pt x="2722815" y="1665740"/>
                  </a:lnTo>
                  <a:lnTo>
                    <a:pt x="2686775" y="1691556"/>
                  </a:lnTo>
                  <a:lnTo>
                    <a:pt x="2672196" y="1694956"/>
                  </a:lnTo>
                  <a:lnTo>
                    <a:pt x="2667241" y="1695445"/>
                  </a:lnTo>
                  <a:close/>
                </a:path>
              </a:pathLst>
            </a:custGeom>
            <a:solidFill>
              <a:srgbClr val="F7F9FA"/>
            </a:solidFill>
          </p:spPr>
          <p:txBody>
            <a:bodyPr wrap="square" lIns="0" tIns="0" rIns="0" bIns="0" rtlCol="0"/>
            <a:lstStyle/>
            <a:p>
              <a:endParaRPr sz="3200"/>
            </a:p>
          </p:txBody>
        </p:sp>
        <p:sp>
          <p:nvSpPr>
            <p:cNvPr id="21" name="object 21"/>
            <p:cNvSpPr/>
            <p:nvPr/>
          </p:nvSpPr>
          <p:spPr>
            <a:xfrm>
              <a:off x="6867524" y="2210176"/>
              <a:ext cx="69215" cy="1694814"/>
            </a:xfrm>
            <a:custGeom>
              <a:avLst/>
              <a:gdLst/>
              <a:ahLst/>
              <a:cxnLst/>
              <a:rect l="l" t="t" r="r" b="b"/>
              <a:pathLst>
                <a:path w="69215" h="1694814">
                  <a:moveTo>
                    <a:pt x="68698" y="1694694"/>
                  </a:moveTo>
                  <a:lnTo>
                    <a:pt x="27882" y="1677804"/>
                  </a:lnTo>
                  <a:lnTo>
                    <a:pt x="3262" y="1640958"/>
                  </a:lnTo>
                  <a:lnTo>
                    <a:pt x="0" y="1618872"/>
                  </a:lnTo>
                  <a:lnTo>
                    <a:pt x="0" y="75822"/>
                  </a:lnTo>
                  <a:lnTo>
                    <a:pt x="12830" y="33479"/>
                  </a:lnTo>
                  <a:lnTo>
                    <a:pt x="47038" y="5422"/>
                  </a:lnTo>
                  <a:lnTo>
                    <a:pt x="68698" y="0"/>
                  </a:lnTo>
                  <a:lnTo>
                    <a:pt x="63809" y="1556"/>
                  </a:lnTo>
                  <a:lnTo>
                    <a:pt x="52140" y="9289"/>
                  </a:lnTo>
                  <a:lnTo>
                    <a:pt x="32199" y="46661"/>
                  </a:lnTo>
                  <a:lnTo>
                    <a:pt x="28575" y="75822"/>
                  </a:lnTo>
                  <a:lnTo>
                    <a:pt x="28575" y="1618872"/>
                  </a:lnTo>
                  <a:lnTo>
                    <a:pt x="36593" y="1661214"/>
                  </a:lnTo>
                  <a:lnTo>
                    <a:pt x="63809" y="1693138"/>
                  </a:lnTo>
                  <a:lnTo>
                    <a:pt x="68698" y="1694694"/>
                  </a:lnTo>
                  <a:close/>
                </a:path>
              </a:pathLst>
            </a:custGeom>
            <a:solidFill>
              <a:srgbClr val="BF382A"/>
            </a:solidFill>
          </p:spPr>
          <p:txBody>
            <a:bodyPr wrap="square" lIns="0" tIns="0" rIns="0" bIns="0" rtlCol="0"/>
            <a:lstStyle/>
            <a:p>
              <a:endParaRPr sz="3200"/>
            </a:p>
          </p:txBody>
        </p:sp>
        <p:pic>
          <p:nvPicPr>
            <p:cNvPr id="22" name="object 22"/>
            <p:cNvPicPr/>
            <p:nvPr/>
          </p:nvPicPr>
          <p:blipFill>
            <a:blip r:embed="rId6" cstate="print"/>
            <a:stretch>
              <a:fillRect/>
            </a:stretch>
          </p:blipFill>
          <p:spPr>
            <a:xfrm>
              <a:off x="7037784" y="2374899"/>
              <a:ext cx="123825" cy="127000"/>
            </a:xfrm>
            <a:prstGeom prst="rect">
              <a:avLst/>
            </a:prstGeom>
          </p:spPr>
        </p:pic>
      </p:grpSp>
      <p:sp>
        <p:nvSpPr>
          <p:cNvPr id="23" name="object 23"/>
          <p:cNvSpPr txBox="1"/>
          <p:nvPr/>
        </p:nvSpPr>
        <p:spPr>
          <a:xfrm>
            <a:off x="7146871" y="3940593"/>
            <a:ext cx="2590689" cy="259686"/>
          </a:xfrm>
          <a:prstGeom prst="rect">
            <a:avLst/>
          </a:prstGeom>
        </p:spPr>
        <p:txBody>
          <a:bodyPr vert="horz" wrap="square" lIns="0" tIns="13335" rIns="0" bIns="0" rtlCol="0">
            <a:spAutoFit/>
          </a:bodyPr>
          <a:lstStyle/>
          <a:p>
            <a:pPr marL="12700">
              <a:lnSpc>
                <a:spcPct val="100000"/>
              </a:lnSpc>
              <a:spcBef>
                <a:spcPts val="105"/>
              </a:spcBef>
            </a:pPr>
            <a:r>
              <a:rPr sz="1600" b="1" spc="-40" dirty="0">
                <a:solidFill>
                  <a:srgbClr val="1A1A2E"/>
                </a:solidFill>
                <a:latin typeface="Arial"/>
                <a:cs typeface="Arial"/>
              </a:rPr>
              <a:t>Operational</a:t>
            </a:r>
            <a:r>
              <a:rPr sz="1600" b="1" spc="-30" dirty="0">
                <a:solidFill>
                  <a:srgbClr val="1A1A2E"/>
                </a:solidFill>
                <a:latin typeface="Arial"/>
                <a:cs typeface="Arial"/>
              </a:rPr>
              <a:t> </a:t>
            </a:r>
            <a:r>
              <a:rPr sz="1600" b="1" spc="-55" dirty="0">
                <a:solidFill>
                  <a:srgbClr val="1A1A2E"/>
                </a:solidFill>
                <a:latin typeface="Arial"/>
                <a:cs typeface="Arial"/>
              </a:rPr>
              <a:t>Constraints</a:t>
            </a:r>
            <a:endParaRPr sz="1600" dirty="0">
              <a:latin typeface="Arial"/>
              <a:cs typeface="Arial"/>
            </a:endParaRPr>
          </a:p>
        </p:txBody>
      </p:sp>
      <p:sp>
        <p:nvSpPr>
          <p:cNvPr id="24" name="object 24"/>
          <p:cNvSpPr/>
          <p:nvPr/>
        </p:nvSpPr>
        <p:spPr>
          <a:xfrm>
            <a:off x="1076324" y="6515097"/>
            <a:ext cx="8543925" cy="9525"/>
          </a:xfrm>
          <a:custGeom>
            <a:avLst/>
            <a:gdLst/>
            <a:ahLst/>
            <a:cxnLst/>
            <a:rect l="l" t="t" r="r" b="b"/>
            <a:pathLst>
              <a:path w="8543925" h="9525">
                <a:moveTo>
                  <a:pt x="8543924" y="9524"/>
                </a:moveTo>
                <a:lnTo>
                  <a:pt x="0" y="9524"/>
                </a:lnTo>
                <a:lnTo>
                  <a:pt x="0" y="0"/>
                </a:lnTo>
                <a:lnTo>
                  <a:pt x="8543924" y="0"/>
                </a:lnTo>
                <a:lnTo>
                  <a:pt x="8543924" y="9524"/>
                </a:lnTo>
                <a:close/>
              </a:path>
            </a:pathLst>
          </a:custGeom>
          <a:solidFill>
            <a:srgbClr val="EDEDED"/>
          </a:solidFill>
        </p:spPr>
        <p:txBody>
          <a:bodyPr wrap="square" lIns="0" tIns="0" rIns="0" bIns="0" rtlCol="0"/>
          <a:lstStyle/>
          <a:p>
            <a:endParaRPr/>
          </a:p>
        </p:txBody>
      </p:sp>
      <p:sp>
        <p:nvSpPr>
          <p:cNvPr id="25" name="object 25"/>
          <p:cNvSpPr txBox="1"/>
          <p:nvPr/>
        </p:nvSpPr>
        <p:spPr>
          <a:xfrm>
            <a:off x="1067196" y="6601817"/>
            <a:ext cx="1574800" cy="158115"/>
          </a:xfrm>
          <a:prstGeom prst="rect">
            <a:avLst/>
          </a:prstGeom>
        </p:spPr>
        <p:txBody>
          <a:bodyPr vert="horz" wrap="square" lIns="0" tIns="14604" rIns="0" bIns="0" rtlCol="0">
            <a:spAutoFit/>
          </a:bodyPr>
          <a:lstStyle/>
          <a:p>
            <a:pPr marL="12700">
              <a:lnSpc>
                <a:spcPct val="100000"/>
              </a:lnSpc>
              <a:spcBef>
                <a:spcPts val="114"/>
              </a:spcBef>
            </a:pPr>
            <a:r>
              <a:rPr sz="800" spc="-20" dirty="0">
                <a:solidFill>
                  <a:srgbClr val="878787"/>
                </a:solidFill>
                <a:latin typeface="Microsoft Sans Serif"/>
                <a:cs typeface="Microsoft Sans Serif"/>
              </a:rPr>
              <a:t>GoldenEye </a:t>
            </a:r>
            <a:r>
              <a:rPr sz="850" spc="-45" dirty="0">
                <a:solidFill>
                  <a:srgbClr val="878787"/>
                </a:solidFill>
                <a:latin typeface="Verdana"/>
                <a:cs typeface="Verdana"/>
              </a:rPr>
              <a:t>-</a:t>
            </a:r>
            <a:r>
              <a:rPr sz="850" spc="-90" dirty="0">
                <a:solidFill>
                  <a:srgbClr val="878787"/>
                </a:solidFill>
                <a:latin typeface="Verdana"/>
                <a:cs typeface="Verdana"/>
              </a:rPr>
              <a:t> </a:t>
            </a:r>
            <a:r>
              <a:rPr sz="800" dirty="0">
                <a:solidFill>
                  <a:srgbClr val="878787"/>
                </a:solidFill>
                <a:latin typeface="Microsoft Sans Serif"/>
                <a:cs typeface="Microsoft Sans Serif"/>
              </a:rPr>
              <a:t>AI</a:t>
            </a:r>
            <a:r>
              <a:rPr sz="800" spc="-10" dirty="0">
                <a:solidFill>
                  <a:srgbClr val="878787"/>
                </a:solidFill>
                <a:latin typeface="Microsoft Sans Serif"/>
                <a:cs typeface="Microsoft Sans Serif"/>
              </a:rPr>
              <a:t> </a:t>
            </a:r>
            <a:r>
              <a:rPr sz="800" spc="-55" dirty="0">
                <a:solidFill>
                  <a:srgbClr val="878787"/>
                </a:solidFill>
                <a:latin typeface="Microsoft Sans Serif"/>
                <a:cs typeface="Microsoft Sans Serif"/>
              </a:rPr>
              <a:t>SAR</a:t>
            </a:r>
            <a:r>
              <a:rPr sz="800" spc="-5" dirty="0">
                <a:solidFill>
                  <a:srgbClr val="878787"/>
                </a:solidFill>
                <a:latin typeface="Microsoft Sans Serif"/>
                <a:cs typeface="Microsoft Sans Serif"/>
              </a:rPr>
              <a:t> </a:t>
            </a:r>
            <a:r>
              <a:rPr sz="800" dirty="0">
                <a:solidFill>
                  <a:srgbClr val="878787"/>
                </a:solidFill>
                <a:latin typeface="Microsoft Sans Serif"/>
                <a:cs typeface="Microsoft Sans Serif"/>
              </a:rPr>
              <a:t>Drone</a:t>
            </a:r>
            <a:r>
              <a:rPr sz="800" spc="-10" dirty="0">
                <a:solidFill>
                  <a:srgbClr val="878787"/>
                </a:solidFill>
                <a:latin typeface="Microsoft Sans Serif"/>
                <a:cs typeface="Microsoft Sans Serif"/>
              </a:rPr>
              <a:t> System</a:t>
            </a:r>
            <a:endParaRPr sz="800">
              <a:latin typeface="Microsoft Sans Serif"/>
              <a:cs typeface="Microsoft Sans Serif"/>
            </a:endParaRPr>
          </a:p>
        </p:txBody>
      </p:sp>
      <p:pic>
        <p:nvPicPr>
          <p:cNvPr id="26" name="object 26"/>
          <p:cNvPicPr/>
          <p:nvPr/>
        </p:nvPicPr>
        <p:blipFill>
          <a:blip r:embed="rId7" cstate="print"/>
          <a:stretch>
            <a:fillRect/>
          </a:stretch>
        </p:blipFill>
        <p:spPr>
          <a:xfrm>
            <a:off x="9410699" y="6619872"/>
            <a:ext cx="209549" cy="209545"/>
          </a:xfrm>
          <a:prstGeom prst="rect">
            <a:avLst/>
          </a:prstGeom>
        </p:spPr>
      </p:pic>
      <p:sp>
        <p:nvSpPr>
          <p:cNvPr id="27" name="object 27"/>
          <p:cNvSpPr txBox="1"/>
          <p:nvPr/>
        </p:nvSpPr>
        <p:spPr>
          <a:xfrm>
            <a:off x="9471669" y="6645350"/>
            <a:ext cx="80645" cy="151130"/>
          </a:xfrm>
          <a:prstGeom prst="rect">
            <a:avLst/>
          </a:prstGeom>
        </p:spPr>
        <p:txBody>
          <a:bodyPr vert="horz" wrap="square" lIns="0" tIns="15875" rIns="0" bIns="0" rtlCol="0">
            <a:spAutoFit/>
          </a:bodyPr>
          <a:lstStyle/>
          <a:p>
            <a:pPr marL="12700">
              <a:lnSpc>
                <a:spcPct val="100000"/>
              </a:lnSpc>
              <a:spcBef>
                <a:spcPts val="125"/>
              </a:spcBef>
            </a:pPr>
            <a:r>
              <a:rPr sz="800" b="1" spc="-50" dirty="0">
                <a:solidFill>
                  <a:srgbClr val="FFFFFF"/>
                </a:solidFill>
                <a:latin typeface="Arial"/>
                <a:cs typeface="Arial"/>
              </a:rPr>
              <a:t>7</a:t>
            </a:r>
            <a:endParaRPr sz="800">
              <a:latin typeface="Arial"/>
              <a:cs typeface="Arial"/>
            </a:endParaRPr>
          </a:p>
        </p:txBody>
      </p:sp>
      <p:sp>
        <p:nvSpPr>
          <p:cNvPr id="28" name="object 28"/>
          <p:cNvSpPr/>
          <p:nvPr/>
        </p:nvSpPr>
        <p:spPr>
          <a:xfrm>
            <a:off x="1099181" y="4421336"/>
            <a:ext cx="3036883" cy="860166"/>
          </a:xfrm>
          <a:custGeom>
            <a:avLst/>
            <a:gdLst/>
            <a:ahLst/>
            <a:cxnLst/>
            <a:rect l="l" t="t" r="r" b="b"/>
            <a:pathLst>
              <a:path w="2438400" h="600075">
                <a:moveTo>
                  <a:pt x="2438400" y="590550"/>
                </a:moveTo>
                <a:lnTo>
                  <a:pt x="0" y="590550"/>
                </a:lnTo>
                <a:lnTo>
                  <a:pt x="0" y="600075"/>
                </a:lnTo>
                <a:lnTo>
                  <a:pt x="2438400" y="600075"/>
                </a:lnTo>
                <a:lnTo>
                  <a:pt x="2438400" y="590550"/>
                </a:lnTo>
                <a:close/>
              </a:path>
              <a:path w="2438400" h="600075">
                <a:moveTo>
                  <a:pt x="2438400" y="295275"/>
                </a:moveTo>
                <a:lnTo>
                  <a:pt x="0" y="295275"/>
                </a:lnTo>
                <a:lnTo>
                  <a:pt x="0" y="304800"/>
                </a:lnTo>
                <a:lnTo>
                  <a:pt x="2438400" y="304800"/>
                </a:lnTo>
                <a:lnTo>
                  <a:pt x="2438400" y="295275"/>
                </a:lnTo>
                <a:close/>
              </a:path>
              <a:path w="2438400" h="600075">
                <a:moveTo>
                  <a:pt x="2438400" y="0"/>
                </a:moveTo>
                <a:lnTo>
                  <a:pt x="0" y="0"/>
                </a:lnTo>
                <a:lnTo>
                  <a:pt x="0" y="9525"/>
                </a:lnTo>
                <a:lnTo>
                  <a:pt x="2438400" y="9525"/>
                </a:lnTo>
                <a:lnTo>
                  <a:pt x="2438400" y="0"/>
                </a:lnTo>
                <a:close/>
              </a:path>
            </a:pathLst>
          </a:custGeom>
          <a:solidFill>
            <a:srgbClr val="F0F0F0"/>
          </a:solidFill>
        </p:spPr>
        <p:txBody>
          <a:bodyPr wrap="square" lIns="0" tIns="0" rIns="0" bIns="0" rtlCol="0"/>
          <a:lstStyle/>
          <a:p>
            <a:endParaRPr sz="3200"/>
          </a:p>
        </p:txBody>
      </p:sp>
      <p:sp>
        <p:nvSpPr>
          <p:cNvPr id="29" name="object 29"/>
          <p:cNvSpPr txBox="1"/>
          <p:nvPr/>
        </p:nvSpPr>
        <p:spPr>
          <a:xfrm>
            <a:off x="1195881" y="4236002"/>
            <a:ext cx="2394917" cy="228268"/>
          </a:xfrm>
          <a:prstGeom prst="rect">
            <a:avLst/>
          </a:prstGeom>
        </p:spPr>
        <p:txBody>
          <a:bodyPr vert="horz" wrap="square" lIns="0" tIns="12700" rIns="0" bIns="0" rtlCol="0">
            <a:spAutoFit/>
          </a:bodyPr>
          <a:lstStyle/>
          <a:p>
            <a:pPr marL="12700">
              <a:lnSpc>
                <a:spcPct val="100000"/>
              </a:lnSpc>
              <a:spcBef>
                <a:spcPts val="100"/>
              </a:spcBef>
            </a:pPr>
            <a:r>
              <a:rPr sz="1400" spc="-30" dirty="0">
                <a:solidFill>
                  <a:srgbClr val="333333"/>
                </a:solidFill>
                <a:latin typeface="Microsoft Sans Serif"/>
                <a:cs typeface="Microsoft Sans Serif"/>
              </a:rPr>
              <a:t>Harsh</a:t>
            </a:r>
            <a:r>
              <a:rPr sz="1400" spc="-15" dirty="0">
                <a:solidFill>
                  <a:srgbClr val="333333"/>
                </a:solidFill>
                <a:latin typeface="Microsoft Sans Serif"/>
                <a:cs typeface="Microsoft Sans Serif"/>
              </a:rPr>
              <a:t> </a:t>
            </a:r>
            <a:r>
              <a:rPr sz="1400" spc="-10" dirty="0">
                <a:solidFill>
                  <a:srgbClr val="333333"/>
                </a:solidFill>
                <a:latin typeface="Microsoft Sans Serif"/>
                <a:cs typeface="Microsoft Sans Serif"/>
              </a:rPr>
              <a:t>lighting</a:t>
            </a:r>
            <a:r>
              <a:rPr sz="1400" spc="-15" dirty="0">
                <a:solidFill>
                  <a:srgbClr val="333333"/>
                </a:solidFill>
                <a:latin typeface="Microsoft Sans Serif"/>
                <a:cs typeface="Microsoft Sans Serif"/>
              </a:rPr>
              <a:t> </a:t>
            </a:r>
            <a:r>
              <a:rPr sz="1200" spc="55" dirty="0">
                <a:solidFill>
                  <a:srgbClr val="333333"/>
                </a:solidFill>
                <a:latin typeface="Microsoft Sans Serif"/>
                <a:cs typeface="Microsoft Sans Serif"/>
              </a:rPr>
              <a:t>/</a:t>
            </a:r>
            <a:r>
              <a:rPr sz="1200" dirty="0">
                <a:solidFill>
                  <a:srgbClr val="333333"/>
                </a:solidFill>
                <a:latin typeface="Microsoft Sans Serif"/>
                <a:cs typeface="Microsoft Sans Serif"/>
              </a:rPr>
              <a:t> </a:t>
            </a:r>
            <a:r>
              <a:rPr sz="1400" spc="-20" dirty="0">
                <a:solidFill>
                  <a:srgbClr val="333333"/>
                </a:solidFill>
                <a:latin typeface="Microsoft Sans Serif"/>
                <a:cs typeface="Microsoft Sans Serif"/>
              </a:rPr>
              <a:t>glare</a:t>
            </a:r>
            <a:endParaRPr sz="1400" dirty="0">
              <a:latin typeface="Microsoft Sans Serif"/>
              <a:cs typeface="Microsoft Sans Serif"/>
            </a:endParaRPr>
          </a:p>
        </p:txBody>
      </p:sp>
      <p:sp>
        <p:nvSpPr>
          <p:cNvPr id="30" name="object 30"/>
          <p:cNvSpPr txBox="1"/>
          <p:nvPr/>
        </p:nvSpPr>
        <p:spPr>
          <a:xfrm>
            <a:off x="1190148" y="4659260"/>
            <a:ext cx="2523727" cy="228268"/>
          </a:xfrm>
          <a:prstGeom prst="rect">
            <a:avLst/>
          </a:prstGeom>
        </p:spPr>
        <p:txBody>
          <a:bodyPr vert="horz" wrap="square" lIns="0" tIns="12700" rIns="0" bIns="0" rtlCol="0">
            <a:spAutoFit/>
          </a:bodyPr>
          <a:lstStyle/>
          <a:p>
            <a:pPr marL="12700">
              <a:lnSpc>
                <a:spcPct val="100000"/>
              </a:lnSpc>
              <a:spcBef>
                <a:spcPts val="100"/>
              </a:spcBef>
            </a:pPr>
            <a:r>
              <a:rPr sz="1400" spc="-25" dirty="0">
                <a:solidFill>
                  <a:srgbClr val="333333"/>
                </a:solidFill>
                <a:latin typeface="Microsoft Sans Serif"/>
                <a:cs typeface="Microsoft Sans Serif"/>
              </a:rPr>
              <a:t>Sand</a:t>
            </a:r>
            <a:r>
              <a:rPr sz="1200" spc="-25" dirty="0">
                <a:solidFill>
                  <a:srgbClr val="333333"/>
                </a:solidFill>
                <a:latin typeface="Microsoft Sans Serif"/>
                <a:cs typeface="Microsoft Sans Serif"/>
              </a:rPr>
              <a:t>-</a:t>
            </a:r>
            <a:r>
              <a:rPr sz="1400" spc="-10" dirty="0">
                <a:solidFill>
                  <a:srgbClr val="333333"/>
                </a:solidFill>
                <a:latin typeface="Microsoft Sans Serif"/>
                <a:cs typeface="Microsoft Sans Serif"/>
              </a:rPr>
              <a:t>colored</a:t>
            </a:r>
            <a:r>
              <a:rPr sz="1400" spc="15" dirty="0">
                <a:solidFill>
                  <a:srgbClr val="333333"/>
                </a:solidFill>
                <a:latin typeface="Microsoft Sans Serif"/>
                <a:cs typeface="Microsoft Sans Serif"/>
              </a:rPr>
              <a:t> </a:t>
            </a:r>
            <a:r>
              <a:rPr sz="1400" spc="-10" dirty="0">
                <a:solidFill>
                  <a:srgbClr val="333333"/>
                </a:solidFill>
                <a:latin typeface="Microsoft Sans Serif"/>
                <a:cs typeface="Microsoft Sans Serif"/>
              </a:rPr>
              <a:t>backgrounds</a:t>
            </a:r>
            <a:endParaRPr sz="1400" dirty="0">
              <a:latin typeface="Microsoft Sans Serif"/>
              <a:cs typeface="Microsoft Sans Serif"/>
            </a:endParaRPr>
          </a:p>
        </p:txBody>
      </p:sp>
      <p:sp>
        <p:nvSpPr>
          <p:cNvPr id="31" name="object 31"/>
          <p:cNvSpPr txBox="1"/>
          <p:nvPr/>
        </p:nvSpPr>
        <p:spPr>
          <a:xfrm>
            <a:off x="1200116" y="5091832"/>
            <a:ext cx="2322815" cy="228268"/>
          </a:xfrm>
          <a:prstGeom prst="rect">
            <a:avLst/>
          </a:prstGeom>
        </p:spPr>
        <p:txBody>
          <a:bodyPr vert="horz" wrap="square" lIns="0" tIns="12700" rIns="0" bIns="0" rtlCol="0">
            <a:spAutoFit/>
          </a:bodyPr>
          <a:lstStyle/>
          <a:p>
            <a:pPr marL="12700">
              <a:lnSpc>
                <a:spcPct val="100000"/>
              </a:lnSpc>
              <a:spcBef>
                <a:spcPts val="100"/>
              </a:spcBef>
            </a:pPr>
            <a:r>
              <a:rPr sz="1400" spc="-20" dirty="0">
                <a:solidFill>
                  <a:srgbClr val="333333"/>
                </a:solidFill>
                <a:latin typeface="Microsoft Sans Serif"/>
                <a:cs typeface="Microsoft Sans Serif"/>
              </a:rPr>
              <a:t>Low</a:t>
            </a:r>
            <a:r>
              <a:rPr sz="1400" spc="-25" dirty="0">
                <a:solidFill>
                  <a:srgbClr val="333333"/>
                </a:solidFill>
                <a:latin typeface="Microsoft Sans Serif"/>
                <a:cs typeface="Microsoft Sans Serif"/>
              </a:rPr>
              <a:t> </a:t>
            </a:r>
            <a:r>
              <a:rPr sz="1400" spc="-20" dirty="0">
                <a:solidFill>
                  <a:srgbClr val="333333"/>
                </a:solidFill>
                <a:latin typeface="Microsoft Sans Serif"/>
                <a:cs typeface="Microsoft Sans Serif"/>
              </a:rPr>
              <a:t>visual </a:t>
            </a:r>
            <a:r>
              <a:rPr sz="1400" spc="-10" dirty="0">
                <a:solidFill>
                  <a:srgbClr val="333333"/>
                </a:solidFill>
                <a:latin typeface="Microsoft Sans Serif"/>
                <a:cs typeface="Microsoft Sans Serif"/>
              </a:rPr>
              <a:t>contrast</a:t>
            </a:r>
            <a:endParaRPr sz="1400" dirty="0">
              <a:latin typeface="Microsoft Sans Serif"/>
              <a:cs typeface="Microsoft Sans Serif"/>
            </a:endParaRPr>
          </a:p>
        </p:txBody>
      </p:sp>
      <p:sp>
        <p:nvSpPr>
          <p:cNvPr id="32" name="object 32"/>
          <p:cNvSpPr txBox="1"/>
          <p:nvPr/>
        </p:nvSpPr>
        <p:spPr>
          <a:xfrm>
            <a:off x="1194368" y="5485630"/>
            <a:ext cx="2019399" cy="228268"/>
          </a:xfrm>
          <a:prstGeom prst="rect">
            <a:avLst/>
          </a:prstGeom>
        </p:spPr>
        <p:txBody>
          <a:bodyPr vert="horz" wrap="square" lIns="0" tIns="12700" rIns="0" bIns="0" rtlCol="0">
            <a:spAutoFit/>
          </a:bodyPr>
          <a:lstStyle/>
          <a:p>
            <a:pPr marL="12700">
              <a:lnSpc>
                <a:spcPct val="100000"/>
              </a:lnSpc>
              <a:spcBef>
                <a:spcPts val="100"/>
              </a:spcBef>
            </a:pPr>
            <a:r>
              <a:rPr sz="1400" spc="-10" dirty="0">
                <a:solidFill>
                  <a:srgbClr val="333333"/>
                </a:solidFill>
                <a:latin typeface="Microsoft Sans Serif"/>
                <a:cs typeface="Microsoft Sans Serif"/>
              </a:rPr>
              <a:t>Motion</a:t>
            </a:r>
            <a:r>
              <a:rPr sz="1400" spc="-45" dirty="0">
                <a:solidFill>
                  <a:srgbClr val="333333"/>
                </a:solidFill>
                <a:latin typeface="Microsoft Sans Serif"/>
                <a:cs typeface="Microsoft Sans Serif"/>
              </a:rPr>
              <a:t> </a:t>
            </a:r>
            <a:r>
              <a:rPr sz="1400" dirty="0">
                <a:solidFill>
                  <a:srgbClr val="333333"/>
                </a:solidFill>
                <a:latin typeface="Microsoft Sans Serif"/>
                <a:cs typeface="Microsoft Sans Serif"/>
              </a:rPr>
              <a:t>blur</a:t>
            </a:r>
            <a:r>
              <a:rPr sz="1400" spc="-40" dirty="0">
                <a:solidFill>
                  <a:srgbClr val="333333"/>
                </a:solidFill>
                <a:latin typeface="Microsoft Sans Serif"/>
                <a:cs typeface="Microsoft Sans Serif"/>
              </a:rPr>
              <a:t> </a:t>
            </a:r>
            <a:r>
              <a:rPr sz="1400" dirty="0">
                <a:solidFill>
                  <a:srgbClr val="333333"/>
                </a:solidFill>
                <a:latin typeface="Microsoft Sans Serif"/>
                <a:cs typeface="Microsoft Sans Serif"/>
              </a:rPr>
              <a:t>from</a:t>
            </a:r>
            <a:r>
              <a:rPr sz="1400" spc="-40" dirty="0">
                <a:solidFill>
                  <a:srgbClr val="333333"/>
                </a:solidFill>
                <a:latin typeface="Microsoft Sans Serif"/>
                <a:cs typeface="Microsoft Sans Serif"/>
              </a:rPr>
              <a:t> UAV</a:t>
            </a:r>
            <a:endParaRPr sz="1400" dirty="0">
              <a:latin typeface="Microsoft Sans Serif"/>
              <a:cs typeface="Microsoft Sans Serif"/>
            </a:endParaRPr>
          </a:p>
        </p:txBody>
      </p:sp>
      <p:sp>
        <p:nvSpPr>
          <p:cNvPr id="33" name="object 33"/>
          <p:cNvSpPr/>
          <p:nvPr/>
        </p:nvSpPr>
        <p:spPr>
          <a:xfrm>
            <a:off x="3994781" y="4421336"/>
            <a:ext cx="3036883" cy="860166"/>
          </a:xfrm>
          <a:custGeom>
            <a:avLst/>
            <a:gdLst/>
            <a:ahLst/>
            <a:cxnLst/>
            <a:rect l="l" t="t" r="r" b="b"/>
            <a:pathLst>
              <a:path w="2438400" h="600075">
                <a:moveTo>
                  <a:pt x="2438400" y="590550"/>
                </a:moveTo>
                <a:lnTo>
                  <a:pt x="0" y="590550"/>
                </a:lnTo>
                <a:lnTo>
                  <a:pt x="0" y="600075"/>
                </a:lnTo>
                <a:lnTo>
                  <a:pt x="2438400" y="600075"/>
                </a:lnTo>
                <a:lnTo>
                  <a:pt x="2438400" y="590550"/>
                </a:lnTo>
                <a:close/>
              </a:path>
              <a:path w="2438400" h="600075">
                <a:moveTo>
                  <a:pt x="2438400" y="295275"/>
                </a:moveTo>
                <a:lnTo>
                  <a:pt x="0" y="295275"/>
                </a:lnTo>
                <a:lnTo>
                  <a:pt x="0" y="304800"/>
                </a:lnTo>
                <a:lnTo>
                  <a:pt x="2438400" y="304800"/>
                </a:lnTo>
                <a:lnTo>
                  <a:pt x="2438400" y="295275"/>
                </a:lnTo>
                <a:close/>
              </a:path>
              <a:path w="2438400" h="600075">
                <a:moveTo>
                  <a:pt x="2438400" y="0"/>
                </a:moveTo>
                <a:lnTo>
                  <a:pt x="0" y="0"/>
                </a:lnTo>
                <a:lnTo>
                  <a:pt x="0" y="9525"/>
                </a:lnTo>
                <a:lnTo>
                  <a:pt x="2438400" y="9525"/>
                </a:lnTo>
                <a:lnTo>
                  <a:pt x="2438400" y="0"/>
                </a:lnTo>
                <a:close/>
              </a:path>
            </a:pathLst>
          </a:custGeom>
          <a:solidFill>
            <a:srgbClr val="F0F0F0"/>
          </a:solidFill>
        </p:spPr>
        <p:txBody>
          <a:bodyPr wrap="square" lIns="0" tIns="0" rIns="0" bIns="0" rtlCol="0"/>
          <a:lstStyle/>
          <a:p>
            <a:endParaRPr sz="3200"/>
          </a:p>
        </p:txBody>
      </p:sp>
      <p:sp>
        <p:nvSpPr>
          <p:cNvPr id="34" name="object 34"/>
          <p:cNvSpPr txBox="1"/>
          <p:nvPr/>
        </p:nvSpPr>
        <p:spPr>
          <a:xfrm>
            <a:off x="4052384" y="4251796"/>
            <a:ext cx="2543901" cy="228268"/>
          </a:xfrm>
          <a:prstGeom prst="rect">
            <a:avLst/>
          </a:prstGeom>
        </p:spPr>
        <p:txBody>
          <a:bodyPr vert="horz" wrap="square" lIns="0" tIns="12700" rIns="0" bIns="0" rtlCol="0">
            <a:spAutoFit/>
          </a:bodyPr>
          <a:lstStyle/>
          <a:p>
            <a:pPr marL="12700">
              <a:lnSpc>
                <a:spcPct val="100000"/>
              </a:lnSpc>
              <a:spcBef>
                <a:spcPts val="100"/>
              </a:spcBef>
            </a:pPr>
            <a:r>
              <a:rPr sz="1400" spc="-35" dirty="0">
                <a:solidFill>
                  <a:srgbClr val="333333"/>
                </a:solidFill>
                <a:latin typeface="Microsoft Sans Serif"/>
                <a:cs typeface="Microsoft Sans Serif"/>
              </a:rPr>
              <a:t>AI </a:t>
            </a:r>
            <a:r>
              <a:rPr sz="1400" spc="-20" dirty="0">
                <a:solidFill>
                  <a:srgbClr val="333333"/>
                </a:solidFill>
                <a:latin typeface="Microsoft Sans Serif"/>
                <a:cs typeface="Microsoft Sans Serif"/>
              </a:rPr>
              <a:t>models</a:t>
            </a:r>
            <a:r>
              <a:rPr sz="1400" spc="-35" dirty="0">
                <a:solidFill>
                  <a:srgbClr val="333333"/>
                </a:solidFill>
                <a:latin typeface="Microsoft Sans Serif"/>
                <a:cs typeface="Microsoft Sans Serif"/>
              </a:rPr>
              <a:t> </a:t>
            </a:r>
            <a:r>
              <a:rPr sz="1400" dirty="0">
                <a:solidFill>
                  <a:srgbClr val="333333"/>
                </a:solidFill>
                <a:latin typeface="Microsoft Sans Serif"/>
                <a:cs typeface="Microsoft Sans Serif"/>
              </a:rPr>
              <a:t>not</a:t>
            </a:r>
            <a:r>
              <a:rPr sz="1400" spc="-30" dirty="0">
                <a:solidFill>
                  <a:srgbClr val="333333"/>
                </a:solidFill>
                <a:latin typeface="Microsoft Sans Serif"/>
                <a:cs typeface="Microsoft Sans Serif"/>
              </a:rPr>
              <a:t> </a:t>
            </a:r>
            <a:r>
              <a:rPr sz="1400" dirty="0">
                <a:solidFill>
                  <a:srgbClr val="333333"/>
                </a:solidFill>
                <a:latin typeface="Microsoft Sans Serif"/>
                <a:cs typeface="Microsoft Sans Serif"/>
              </a:rPr>
              <a:t>desert</a:t>
            </a:r>
            <a:r>
              <a:rPr sz="1200" dirty="0">
                <a:solidFill>
                  <a:srgbClr val="333333"/>
                </a:solidFill>
                <a:latin typeface="Microsoft Sans Serif"/>
                <a:cs typeface="Microsoft Sans Serif"/>
              </a:rPr>
              <a:t>-</a:t>
            </a:r>
            <a:r>
              <a:rPr sz="1400" spc="-20" dirty="0">
                <a:solidFill>
                  <a:srgbClr val="333333"/>
                </a:solidFill>
                <a:latin typeface="Microsoft Sans Serif"/>
                <a:cs typeface="Microsoft Sans Serif"/>
              </a:rPr>
              <a:t>tuned</a:t>
            </a:r>
            <a:endParaRPr sz="1400" dirty="0">
              <a:latin typeface="Microsoft Sans Serif"/>
              <a:cs typeface="Microsoft Sans Serif"/>
            </a:endParaRPr>
          </a:p>
        </p:txBody>
      </p:sp>
      <p:sp>
        <p:nvSpPr>
          <p:cNvPr id="35" name="object 35"/>
          <p:cNvSpPr txBox="1"/>
          <p:nvPr/>
        </p:nvSpPr>
        <p:spPr>
          <a:xfrm>
            <a:off x="4030448" y="4638221"/>
            <a:ext cx="2400264" cy="228268"/>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333333"/>
                </a:solidFill>
                <a:latin typeface="Microsoft Sans Serif"/>
                <a:cs typeface="Microsoft Sans Serif"/>
              </a:rPr>
              <a:t>Edge</a:t>
            </a:r>
            <a:r>
              <a:rPr sz="1400" dirty="0">
                <a:solidFill>
                  <a:srgbClr val="333333"/>
                </a:solidFill>
                <a:latin typeface="Microsoft Sans Serif"/>
                <a:cs typeface="Microsoft Sans Serif"/>
              </a:rPr>
              <a:t> </a:t>
            </a:r>
            <a:r>
              <a:rPr sz="1400" spc="-20" dirty="0">
                <a:solidFill>
                  <a:srgbClr val="333333"/>
                </a:solidFill>
                <a:latin typeface="Microsoft Sans Serif"/>
                <a:cs typeface="Microsoft Sans Serif"/>
              </a:rPr>
              <a:t>deployment</a:t>
            </a:r>
            <a:r>
              <a:rPr sz="1400" dirty="0">
                <a:solidFill>
                  <a:srgbClr val="333333"/>
                </a:solidFill>
                <a:latin typeface="Microsoft Sans Serif"/>
                <a:cs typeface="Microsoft Sans Serif"/>
              </a:rPr>
              <a:t> </a:t>
            </a:r>
            <a:r>
              <a:rPr sz="1400" spc="-10" dirty="0">
                <a:solidFill>
                  <a:srgbClr val="333333"/>
                </a:solidFill>
                <a:latin typeface="Microsoft Sans Serif"/>
                <a:cs typeface="Microsoft Sans Serif"/>
              </a:rPr>
              <a:t>limits</a:t>
            </a:r>
            <a:endParaRPr sz="1400" dirty="0">
              <a:latin typeface="Microsoft Sans Serif"/>
              <a:cs typeface="Microsoft Sans Serif"/>
            </a:endParaRPr>
          </a:p>
        </p:txBody>
      </p:sp>
      <p:sp>
        <p:nvSpPr>
          <p:cNvPr id="36" name="object 36"/>
          <p:cNvSpPr txBox="1"/>
          <p:nvPr/>
        </p:nvSpPr>
        <p:spPr>
          <a:xfrm>
            <a:off x="4052384" y="5100859"/>
            <a:ext cx="2423297" cy="228268"/>
          </a:xfrm>
          <a:prstGeom prst="rect">
            <a:avLst/>
          </a:prstGeom>
        </p:spPr>
        <p:txBody>
          <a:bodyPr vert="horz" wrap="square" lIns="0" tIns="12700" rIns="0" bIns="0" rtlCol="0">
            <a:spAutoFit/>
          </a:bodyPr>
          <a:lstStyle/>
          <a:p>
            <a:pPr marL="12700">
              <a:lnSpc>
                <a:spcPct val="100000"/>
              </a:lnSpc>
              <a:spcBef>
                <a:spcPts val="100"/>
              </a:spcBef>
            </a:pPr>
            <a:r>
              <a:rPr sz="1400" spc="-40" dirty="0">
                <a:solidFill>
                  <a:srgbClr val="333333"/>
                </a:solidFill>
                <a:latin typeface="Microsoft Sans Serif"/>
                <a:cs typeface="Microsoft Sans Serif"/>
              </a:rPr>
              <a:t>Real</a:t>
            </a:r>
            <a:r>
              <a:rPr sz="1200" spc="-40" dirty="0">
                <a:solidFill>
                  <a:srgbClr val="333333"/>
                </a:solidFill>
                <a:latin typeface="Microsoft Sans Serif"/>
                <a:cs typeface="Microsoft Sans Serif"/>
              </a:rPr>
              <a:t>-</a:t>
            </a:r>
            <a:r>
              <a:rPr sz="1400" spc="-10" dirty="0">
                <a:solidFill>
                  <a:srgbClr val="333333"/>
                </a:solidFill>
                <a:latin typeface="Microsoft Sans Serif"/>
                <a:cs typeface="Microsoft Sans Serif"/>
              </a:rPr>
              <a:t>time</a:t>
            </a:r>
            <a:r>
              <a:rPr sz="1400" spc="15" dirty="0">
                <a:solidFill>
                  <a:srgbClr val="333333"/>
                </a:solidFill>
                <a:latin typeface="Microsoft Sans Serif"/>
                <a:cs typeface="Microsoft Sans Serif"/>
              </a:rPr>
              <a:t> </a:t>
            </a:r>
            <a:r>
              <a:rPr sz="1400" spc="-20" dirty="0">
                <a:solidFill>
                  <a:srgbClr val="333333"/>
                </a:solidFill>
                <a:latin typeface="Microsoft Sans Serif"/>
                <a:cs typeface="Microsoft Sans Serif"/>
              </a:rPr>
              <a:t>processing</a:t>
            </a:r>
            <a:r>
              <a:rPr sz="1400" spc="20" dirty="0">
                <a:solidFill>
                  <a:srgbClr val="333333"/>
                </a:solidFill>
                <a:latin typeface="Microsoft Sans Serif"/>
                <a:cs typeface="Microsoft Sans Serif"/>
              </a:rPr>
              <a:t> </a:t>
            </a:r>
            <a:r>
              <a:rPr sz="1400" spc="-20" dirty="0">
                <a:solidFill>
                  <a:srgbClr val="333333"/>
                </a:solidFill>
                <a:latin typeface="Microsoft Sans Serif"/>
                <a:cs typeface="Microsoft Sans Serif"/>
              </a:rPr>
              <a:t>needs</a:t>
            </a:r>
            <a:endParaRPr sz="1400" dirty="0">
              <a:latin typeface="Microsoft Sans Serif"/>
              <a:cs typeface="Microsoft Sans Serif"/>
            </a:endParaRPr>
          </a:p>
        </p:txBody>
      </p:sp>
      <p:sp>
        <p:nvSpPr>
          <p:cNvPr id="37" name="object 37"/>
          <p:cNvSpPr txBox="1"/>
          <p:nvPr/>
        </p:nvSpPr>
        <p:spPr>
          <a:xfrm>
            <a:off x="4052384" y="5485630"/>
            <a:ext cx="2184385" cy="228268"/>
          </a:xfrm>
          <a:prstGeom prst="rect">
            <a:avLst/>
          </a:prstGeom>
        </p:spPr>
        <p:txBody>
          <a:bodyPr vert="horz" wrap="square" lIns="0" tIns="12700" rIns="0" bIns="0" rtlCol="0">
            <a:spAutoFit/>
          </a:bodyPr>
          <a:lstStyle/>
          <a:p>
            <a:pPr marL="12700">
              <a:lnSpc>
                <a:spcPct val="100000"/>
              </a:lnSpc>
              <a:spcBef>
                <a:spcPts val="100"/>
              </a:spcBef>
            </a:pPr>
            <a:r>
              <a:rPr sz="1400" spc="-20" dirty="0">
                <a:solidFill>
                  <a:srgbClr val="333333"/>
                </a:solidFill>
                <a:latin typeface="Microsoft Sans Serif"/>
                <a:cs typeface="Microsoft Sans Serif"/>
              </a:rPr>
              <a:t>Battery</a:t>
            </a:r>
            <a:r>
              <a:rPr sz="1400" spc="-10" dirty="0">
                <a:solidFill>
                  <a:srgbClr val="333333"/>
                </a:solidFill>
                <a:latin typeface="Microsoft Sans Serif"/>
                <a:cs typeface="Microsoft Sans Serif"/>
              </a:rPr>
              <a:t> constraints</a:t>
            </a:r>
            <a:endParaRPr sz="1400" dirty="0">
              <a:latin typeface="Microsoft Sans Serif"/>
              <a:cs typeface="Microsoft Sans Serif"/>
            </a:endParaRPr>
          </a:p>
        </p:txBody>
      </p:sp>
      <p:sp>
        <p:nvSpPr>
          <p:cNvPr id="38" name="object 38"/>
          <p:cNvSpPr/>
          <p:nvPr/>
        </p:nvSpPr>
        <p:spPr>
          <a:xfrm>
            <a:off x="6890381" y="4421336"/>
            <a:ext cx="3036883" cy="860166"/>
          </a:xfrm>
          <a:custGeom>
            <a:avLst/>
            <a:gdLst/>
            <a:ahLst/>
            <a:cxnLst/>
            <a:rect l="l" t="t" r="r" b="b"/>
            <a:pathLst>
              <a:path w="2438400" h="600075">
                <a:moveTo>
                  <a:pt x="2438400" y="590550"/>
                </a:moveTo>
                <a:lnTo>
                  <a:pt x="0" y="590550"/>
                </a:lnTo>
                <a:lnTo>
                  <a:pt x="0" y="600075"/>
                </a:lnTo>
                <a:lnTo>
                  <a:pt x="2438400" y="600075"/>
                </a:lnTo>
                <a:lnTo>
                  <a:pt x="2438400" y="590550"/>
                </a:lnTo>
                <a:close/>
              </a:path>
              <a:path w="2438400" h="600075">
                <a:moveTo>
                  <a:pt x="2438400" y="295275"/>
                </a:moveTo>
                <a:lnTo>
                  <a:pt x="0" y="295275"/>
                </a:lnTo>
                <a:lnTo>
                  <a:pt x="0" y="304800"/>
                </a:lnTo>
                <a:lnTo>
                  <a:pt x="2438400" y="304800"/>
                </a:lnTo>
                <a:lnTo>
                  <a:pt x="2438400" y="295275"/>
                </a:lnTo>
                <a:close/>
              </a:path>
              <a:path w="2438400" h="600075">
                <a:moveTo>
                  <a:pt x="2438400" y="0"/>
                </a:moveTo>
                <a:lnTo>
                  <a:pt x="0" y="0"/>
                </a:lnTo>
                <a:lnTo>
                  <a:pt x="0" y="9525"/>
                </a:lnTo>
                <a:lnTo>
                  <a:pt x="2438400" y="9525"/>
                </a:lnTo>
                <a:lnTo>
                  <a:pt x="2438400" y="0"/>
                </a:lnTo>
                <a:close/>
              </a:path>
            </a:pathLst>
          </a:custGeom>
          <a:solidFill>
            <a:srgbClr val="F0F0F0"/>
          </a:solidFill>
        </p:spPr>
        <p:txBody>
          <a:bodyPr wrap="square" lIns="0" tIns="0" rIns="0" bIns="0" rtlCol="0"/>
          <a:lstStyle/>
          <a:p>
            <a:endParaRPr sz="3200"/>
          </a:p>
        </p:txBody>
      </p:sp>
      <p:sp>
        <p:nvSpPr>
          <p:cNvPr id="39" name="object 39"/>
          <p:cNvSpPr txBox="1"/>
          <p:nvPr/>
        </p:nvSpPr>
        <p:spPr>
          <a:xfrm>
            <a:off x="7031664" y="4237956"/>
            <a:ext cx="2465578" cy="228268"/>
          </a:xfrm>
          <a:prstGeom prst="rect">
            <a:avLst/>
          </a:prstGeom>
        </p:spPr>
        <p:txBody>
          <a:bodyPr vert="horz" wrap="square" lIns="0" tIns="12700" rIns="0" bIns="0" rtlCol="0">
            <a:spAutoFit/>
          </a:bodyPr>
          <a:lstStyle/>
          <a:p>
            <a:pPr marL="12700">
              <a:lnSpc>
                <a:spcPct val="100000"/>
              </a:lnSpc>
              <a:spcBef>
                <a:spcPts val="100"/>
              </a:spcBef>
            </a:pPr>
            <a:r>
              <a:rPr sz="1400" spc="-20" dirty="0">
                <a:solidFill>
                  <a:srgbClr val="333333"/>
                </a:solidFill>
                <a:latin typeface="Microsoft Sans Serif"/>
                <a:cs typeface="Microsoft Sans Serif"/>
              </a:rPr>
              <a:t>No</a:t>
            </a:r>
            <a:r>
              <a:rPr sz="1400" spc="-50" dirty="0">
                <a:solidFill>
                  <a:srgbClr val="333333"/>
                </a:solidFill>
                <a:latin typeface="Microsoft Sans Serif"/>
                <a:cs typeface="Microsoft Sans Serif"/>
              </a:rPr>
              <a:t> </a:t>
            </a:r>
            <a:r>
              <a:rPr sz="1400" dirty="0">
                <a:solidFill>
                  <a:srgbClr val="333333"/>
                </a:solidFill>
                <a:latin typeface="Microsoft Sans Serif"/>
                <a:cs typeface="Microsoft Sans Serif"/>
              </a:rPr>
              <a:t>cloud</a:t>
            </a:r>
            <a:r>
              <a:rPr sz="1400" spc="-55" dirty="0">
                <a:solidFill>
                  <a:srgbClr val="333333"/>
                </a:solidFill>
                <a:latin typeface="Microsoft Sans Serif"/>
                <a:cs typeface="Microsoft Sans Serif"/>
              </a:rPr>
              <a:t> </a:t>
            </a:r>
            <a:r>
              <a:rPr sz="1400" spc="-10" dirty="0">
                <a:solidFill>
                  <a:srgbClr val="333333"/>
                </a:solidFill>
                <a:latin typeface="Microsoft Sans Serif"/>
                <a:cs typeface="Microsoft Sans Serif"/>
              </a:rPr>
              <a:t>connectivity</a:t>
            </a:r>
            <a:endParaRPr sz="1400" dirty="0">
              <a:latin typeface="Microsoft Sans Serif"/>
              <a:cs typeface="Microsoft Sans Serif"/>
            </a:endParaRPr>
          </a:p>
        </p:txBody>
      </p:sp>
      <p:sp>
        <p:nvSpPr>
          <p:cNvPr id="40" name="object 40"/>
          <p:cNvSpPr txBox="1"/>
          <p:nvPr/>
        </p:nvSpPr>
        <p:spPr>
          <a:xfrm>
            <a:off x="7013874" y="4609405"/>
            <a:ext cx="2223046" cy="228268"/>
          </a:xfrm>
          <a:prstGeom prst="rect">
            <a:avLst/>
          </a:prstGeom>
        </p:spPr>
        <p:txBody>
          <a:bodyPr vert="horz" wrap="square" lIns="0" tIns="12700" rIns="0" bIns="0" rtlCol="0">
            <a:spAutoFit/>
          </a:bodyPr>
          <a:lstStyle/>
          <a:p>
            <a:pPr marL="12700">
              <a:lnSpc>
                <a:spcPct val="100000"/>
              </a:lnSpc>
              <a:spcBef>
                <a:spcPts val="100"/>
              </a:spcBef>
            </a:pPr>
            <a:r>
              <a:rPr sz="1400" spc="-20" dirty="0">
                <a:solidFill>
                  <a:srgbClr val="333333"/>
                </a:solidFill>
                <a:latin typeface="Microsoft Sans Serif"/>
                <a:cs typeface="Microsoft Sans Serif"/>
              </a:rPr>
              <a:t>Intermittent</a:t>
            </a:r>
            <a:r>
              <a:rPr sz="1400" spc="60" dirty="0">
                <a:solidFill>
                  <a:srgbClr val="333333"/>
                </a:solidFill>
                <a:latin typeface="Microsoft Sans Serif"/>
                <a:cs typeface="Microsoft Sans Serif"/>
              </a:rPr>
              <a:t> </a:t>
            </a:r>
            <a:r>
              <a:rPr sz="1400" spc="-10" dirty="0">
                <a:solidFill>
                  <a:srgbClr val="333333"/>
                </a:solidFill>
                <a:latin typeface="Microsoft Sans Serif"/>
                <a:cs typeface="Microsoft Sans Serif"/>
              </a:rPr>
              <a:t>comms</a:t>
            </a:r>
            <a:endParaRPr sz="1400" dirty="0">
              <a:latin typeface="Microsoft Sans Serif"/>
              <a:cs typeface="Microsoft Sans Serif"/>
            </a:endParaRPr>
          </a:p>
        </p:txBody>
      </p:sp>
      <p:sp>
        <p:nvSpPr>
          <p:cNvPr id="41" name="object 41"/>
          <p:cNvSpPr txBox="1"/>
          <p:nvPr/>
        </p:nvSpPr>
        <p:spPr>
          <a:xfrm>
            <a:off x="7016784" y="5056906"/>
            <a:ext cx="2679602" cy="228268"/>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333333"/>
                </a:solidFill>
                <a:latin typeface="Microsoft Sans Serif"/>
                <a:cs typeface="Microsoft Sans Serif"/>
              </a:rPr>
              <a:t>Vast</a:t>
            </a:r>
            <a:r>
              <a:rPr sz="1400" spc="-15" dirty="0">
                <a:solidFill>
                  <a:srgbClr val="333333"/>
                </a:solidFill>
                <a:latin typeface="Microsoft Sans Serif"/>
                <a:cs typeface="Microsoft Sans Serif"/>
              </a:rPr>
              <a:t> </a:t>
            </a:r>
            <a:r>
              <a:rPr sz="1400" spc="-20" dirty="0">
                <a:solidFill>
                  <a:srgbClr val="333333"/>
                </a:solidFill>
                <a:latin typeface="Microsoft Sans Serif"/>
                <a:cs typeface="Microsoft Sans Serif"/>
              </a:rPr>
              <a:t>search</a:t>
            </a:r>
            <a:r>
              <a:rPr sz="1400" spc="-15" dirty="0">
                <a:solidFill>
                  <a:srgbClr val="333333"/>
                </a:solidFill>
                <a:latin typeface="Microsoft Sans Serif"/>
                <a:cs typeface="Microsoft Sans Serif"/>
              </a:rPr>
              <a:t> </a:t>
            </a:r>
            <a:r>
              <a:rPr sz="1400" spc="-10" dirty="0">
                <a:solidFill>
                  <a:srgbClr val="333333"/>
                </a:solidFill>
                <a:latin typeface="Microsoft Sans Serif"/>
                <a:cs typeface="Microsoft Sans Serif"/>
              </a:rPr>
              <a:t>areas</a:t>
            </a:r>
            <a:endParaRPr sz="1400" dirty="0">
              <a:latin typeface="Microsoft Sans Serif"/>
              <a:cs typeface="Microsoft Sans Serif"/>
            </a:endParaRPr>
          </a:p>
        </p:txBody>
      </p:sp>
      <p:sp>
        <p:nvSpPr>
          <p:cNvPr id="42" name="object 42"/>
          <p:cNvSpPr txBox="1"/>
          <p:nvPr/>
        </p:nvSpPr>
        <p:spPr>
          <a:xfrm>
            <a:off x="6993821" y="5433414"/>
            <a:ext cx="2407231" cy="228268"/>
          </a:xfrm>
          <a:prstGeom prst="rect">
            <a:avLst/>
          </a:prstGeom>
        </p:spPr>
        <p:txBody>
          <a:bodyPr vert="horz" wrap="square" lIns="0" tIns="12700" rIns="0" bIns="0" rtlCol="0">
            <a:spAutoFit/>
          </a:bodyPr>
          <a:lstStyle/>
          <a:p>
            <a:pPr marL="12700">
              <a:lnSpc>
                <a:spcPct val="100000"/>
              </a:lnSpc>
              <a:spcBef>
                <a:spcPts val="100"/>
              </a:spcBef>
            </a:pPr>
            <a:r>
              <a:rPr sz="1400" spc="-35" dirty="0">
                <a:solidFill>
                  <a:srgbClr val="333333"/>
                </a:solidFill>
                <a:latin typeface="Microsoft Sans Serif"/>
                <a:cs typeface="Microsoft Sans Serif"/>
              </a:rPr>
              <a:t>Extreme</a:t>
            </a:r>
            <a:r>
              <a:rPr sz="1400" spc="-5" dirty="0">
                <a:solidFill>
                  <a:srgbClr val="333333"/>
                </a:solidFill>
                <a:latin typeface="Microsoft Sans Serif"/>
                <a:cs typeface="Microsoft Sans Serif"/>
              </a:rPr>
              <a:t> </a:t>
            </a:r>
            <a:r>
              <a:rPr sz="1400" spc="-10" dirty="0">
                <a:solidFill>
                  <a:srgbClr val="333333"/>
                </a:solidFill>
                <a:latin typeface="Microsoft Sans Serif"/>
                <a:cs typeface="Microsoft Sans Serif"/>
              </a:rPr>
              <a:t>temperatures</a:t>
            </a:r>
            <a:endParaRPr sz="1400" dirty="0">
              <a:latin typeface="Microsoft Sans Serif"/>
              <a:cs typeface="Microsoft Sans Serif"/>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7268845">
              <a:lnSpc>
                <a:spcPct val="100000"/>
              </a:lnSpc>
              <a:spcBef>
                <a:spcPts val="100"/>
              </a:spcBef>
            </a:pPr>
            <a:r>
              <a:rPr spc="340" dirty="0"/>
              <a:t>03</a:t>
            </a:r>
          </a:p>
        </p:txBody>
      </p:sp>
      <p:sp>
        <p:nvSpPr>
          <p:cNvPr id="3" name="object 3"/>
          <p:cNvSpPr txBox="1"/>
          <p:nvPr/>
        </p:nvSpPr>
        <p:spPr>
          <a:xfrm>
            <a:off x="2418407" y="3348588"/>
            <a:ext cx="5859780" cy="1017269"/>
          </a:xfrm>
          <a:prstGeom prst="rect">
            <a:avLst/>
          </a:prstGeom>
        </p:spPr>
        <p:txBody>
          <a:bodyPr vert="horz" wrap="square" lIns="0" tIns="13335" rIns="0" bIns="0" rtlCol="0">
            <a:spAutoFit/>
          </a:bodyPr>
          <a:lstStyle/>
          <a:p>
            <a:pPr algn="ctr">
              <a:lnSpc>
                <a:spcPct val="100000"/>
              </a:lnSpc>
              <a:spcBef>
                <a:spcPts val="105"/>
              </a:spcBef>
            </a:pPr>
            <a:r>
              <a:rPr sz="3900" b="1" spc="-200" dirty="0">
                <a:solidFill>
                  <a:srgbClr val="FFFFFF"/>
                </a:solidFill>
                <a:latin typeface="Arial"/>
                <a:cs typeface="Arial"/>
              </a:rPr>
              <a:t>Related</a:t>
            </a:r>
            <a:r>
              <a:rPr sz="3900" b="1" spc="-370" dirty="0">
                <a:solidFill>
                  <a:srgbClr val="FFFFFF"/>
                </a:solidFill>
                <a:latin typeface="Arial"/>
                <a:cs typeface="Arial"/>
              </a:rPr>
              <a:t> </a:t>
            </a:r>
            <a:r>
              <a:rPr sz="3900" b="1" spc="-220" dirty="0">
                <a:solidFill>
                  <a:srgbClr val="FFFFFF"/>
                </a:solidFill>
                <a:latin typeface="Arial"/>
                <a:cs typeface="Arial"/>
              </a:rPr>
              <a:t>Work</a:t>
            </a:r>
            <a:r>
              <a:rPr sz="3900" b="1" spc="-370" dirty="0">
                <a:solidFill>
                  <a:srgbClr val="FFFFFF"/>
                </a:solidFill>
                <a:latin typeface="Arial"/>
                <a:cs typeface="Arial"/>
              </a:rPr>
              <a:t> </a:t>
            </a:r>
            <a:r>
              <a:rPr sz="3900" b="1" spc="290" dirty="0">
                <a:solidFill>
                  <a:srgbClr val="FFFFFF"/>
                </a:solidFill>
                <a:latin typeface="Arial"/>
                <a:cs typeface="Arial"/>
              </a:rPr>
              <a:t>/</a:t>
            </a:r>
            <a:r>
              <a:rPr sz="3900" b="1" spc="-480" dirty="0">
                <a:solidFill>
                  <a:srgbClr val="FFFFFF"/>
                </a:solidFill>
                <a:latin typeface="Arial"/>
                <a:cs typeface="Arial"/>
              </a:rPr>
              <a:t> </a:t>
            </a:r>
            <a:r>
              <a:rPr sz="3900" b="1" spc="-204" dirty="0">
                <a:solidFill>
                  <a:srgbClr val="FFFFFF"/>
                </a:solidFill>
                <a:latin typeface="Arial"/>
                <a:cs typeface="Arial"/>
              </a:rPr>
              <a:t>Applications</a:t>
            </a:r>
            <a:endParaRPr sz="3900">
              <a:latin typeface="Arial"/>
              <a:cs typeface="Arial"/>
            </a:endParaRPr>
          </a:p>
          <a:p>
            <a:pPr algn="ctr">
              <a:lnSpc>
                <a:spcPct val="100000"/>
              </a:lnSpc>
              <a:spcBef>
                <a:spcPts val="1320"/>
              </a:spcBef>
            </a:pPr>
            <a:r>
              <a:rPr sz="1500" spc="-30" dirty="0">
                <a:solidFill>
                  <a:srgbClr val="FFFFFF"/>
                </a:solidFill>
                <a:latin typeface="Microsoft Sans Serif"/>
                <a:cs typeface="Microsoft Sans Serif"/>
              </a:rPr>
              <a:t>Literature</a:t>
            </a:r>
            <a:r>
              <a:rPr sz="1500" spc="-40" dirty="0">
                <a:solidFill>
                  <a:srgbClr val="FFFFFF"/>
                </a:solidFill>
                <a:latin typeface="Microsoft Sans Serif"/>
                <a:cs typeface="Microsoft Sans Serif"/>
              </a:rPr>
              <a:t> </a:t>
            </a:r>
            <a:r>
              <a:rPr sz="1500" spc="-25" dirty="0">
                <a:solidFill>
                  <a:srgbClr val="FFFFFF"/>
                </a:solidFill>
                <a:latin typeface="Microsoft Sans Serif"/>
                <a:cs typeface="Microsoft Sans Serif"/>
              </a:rPr>
              <a:t>review</a:t>
            </a:r>
            <a:r>
              <a:rPr sz="1500" spc="-40" dirty="0">
                <a:solidFill>
                  <a:srgbClr val="FFFFFF"/>
                </a:solidFill>
                <a:latin typeface="Microsoft Sans Serif"/>
                <a:cs typeface="Microsoft Sans Serif"/>
              </a:rPr>
              <a:t> </a:t>
            </a:r>
            <a:r>
              <a:rPr sz="1500" spc="-35" dirty="0">
                <a:solidFill>
                  <a:srgbClr val="FFFFFF"/>
                </a:solidFill>
                <a:latin typeface="Microsoft Sans Serif"/>
                <a:cs typeface="Microsoft Sans Serif"/>
              </a:rPr>
              <a:t>and</a:t>
            </a:r>
            <a:r>
              <a:rPr sz="1500" spc="-40" dirty="0">
                <a:solidFill>
                  <a:srgbClr val="FFFFFF"/>
                </a:solidFill>
                <a:latin typeface="Microsoft Sans Serif"/>
                <a:cs typeface="Microsoft Sans Serif"/>
              </a:rPr>
              <a:t> </a:t>
            </a:r>
            <a:r>
              <a:rPr sz="1500" spc="-25" dirty="0">
                <a:solidFill>
                  <a:srgbClr val="FFFFFF"/>
                </a:solidFill>
                <a:latin typeface="Microsoft Sans Serif"/>
                <a:cs typeface="Microsoft Sans Serif"/>
              </a:rPr>
              <a:t>existing</a:t>
            </a:r>
            <a:r>
              <a:rPr sz="1500" spc="-35" dirty="0">
                <a:solidFill>
                  <a:srgbClr val="FFFFFF"/>
                </a:solidFill>
                <a:latin typeface="Microsoft Sans Serif"/>
                <a:cs typeface="Microsoft Sans Serif"/>
              </a:rPr>
              <a:t> </a:t>
            </a:r>
            <a:r>
              <a:rPr sz="1500" spc="-10" dirty="0">
                <a:solidFill>
                  <a:srgbClr val="FFFFFF"/>
                </a:solidFill>
                <a:latin typeface="Microsoft Sans Serif"/>
                <a:cs typeface="Microsoft Sans Serif"/>
              </a:rPr>
              <a:t>solutions</a:t>
            </a:r>
            <a:endParaRPr sz="1500">
              <a:latin typeface="Microsoft Sans Serif"/>
              <a:cs typeface="Microsoft Sans Serif"/>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76324" y="1285872"/>
            <a:ext cx="8543925" cy="28575"/>
          </a:xfrm>
          <a:custGeom>
            <a:avLst/>
            <a:gdLst/>
            <a:ahLst/>
            <a:cxnLst/>
            <a:rect l="l" t="t" r="r" b="b"/>
            <a:pathLst>
              <a:path w="8543925" h="28575">
                <a:moveTo>
                  <a:pt x="8543924" y="28574"/>
                </a:moveTo>
                <a:lnTo>
                  <a:pt x="0" y="28574"/>
                </a:lnTo>
                <a:lnTo>
                  <a:pt x="0" y="0"/>
                </a:lnTo>
                <a:lnTo>
                  <a:pt x="8543924" y="0"/>
                </a:lnTo>
                <a:lnTo>
                  <a:pt x="8543924" y="28574"/>
                </a:lnTo>
                <a:close/>
              </a:path>
            </a:pathLst>
          </a:custGeom>
          <a:solidFill>
            <a:srgbClr val="BF382A"/>
          </a:solidFill>
        </p:spPr>
        <p:txBody>
          <a:bodyPr wrap="square" lIns="0" tIns="0" rIns="0" bIns="0" rtlCol="0"/>
          <a:lstStyle/>
          <a:p>
            <a:endParaRPr/>
          </a:p>
        </p:txBody>
      </p:sp>
      <p:pic>
        <p:nvPicPr>
          <p:cNvPr id="3" name="object 3"/>
          <p:cNvPicPr/>
          <p:nvPr/>
        </p:nvPicPr>
        <p:blipFill>
          <a:blip r:embed="rId2" cstate="print"/>
          <a:stretch>
            <a:fillRect/>
          </a:stretch>
        </p:blipFill>
        <p:spPr>
          <a:xfrm>
            <a:off x="1079896" y="962025"/>
            <a:ext cx="238125" cy="184150"/>
          </a:xfrm>
          <a:prstGeom prst="rect">
            <a:avLst/>
          </a:prstGeom>
        </p:spPr>
      </p:pic>
      <p:sp>
        <p:nvSpPr>
          <p:cNvPr id="4" name="object 4"/>
          <p:cNvSpPr txBox="1">
            <a:spLocks noGrp="1"/>
          </p:cNvSpPr>
          <p:nvPr>
            <p:ph type="title"/>
          </p:nvPr>
        </p:nvSpPr>
        <p:spPr>
          <a:xfrm>
            <a:off x="1398190" y="850334"/>
            <a:ext cx="3948510" cy="442429"/>
          </a:xfrm>
          <a:prstGeom prst="rect">
            <a:avLst/>
          </a:prstGeom>
        </p:spPr>
        <p:txBody>
          <a:bodyPr vert="horz" wrap="square" lIns="0" tIns="11430" rIns="0" bIns="0" rtlCol="0">
            <a:spAutoFit/>
          </a:bodyPr>
          <a:lstStyle/>
          <a:p>
            <a:pPr marL="12700">
              <a:lnSpc>
                <a:spcPct val="100000"/>
              </a:lnSpc>
              <a:spcBef>
                <a:spcPts val="90"/>
              </a:spcBef>
            </a:pPr>
            <a:r>
              <a:rPr sz="2800" spc="-100" dirty="0">
                <a:solidFill>
                  <a:srgbClr val="BF382A"/>
                </a:solidFill>
              </a:rPr>
              <a:t>Related</a:t>
            </a:r>
            <a:r>
              <a:rPr sz="2800" spc="-150" dirty="0">
                <a:solidFill>
                  <a:srgbClr val="BF382A"/>
                </a:solidFill>
              </a:rPr>
              <a:t> </a:t>
            </a:r>
            <a:r>
              <a:rPr sz="2800" spc="-114" dirty="0">
                <a:solidFill>
                  <a:srgbClr val="BF382A"/>
                </a:solidFill>
              </a:rPr>
              <a:t>Work</a:t>
            </a:r>
            <a:r>
              <a:rPr sz="2800" spc="-200" dirty="0">
                <a:solidFill>
                  <a:srgbClr val="BF382A"/>
                </a:solidFill>
              </a:rPr>
              <a:t> </a:t>
            </a:r>
            <a:r>
              <a:rPr sz="2800" spc="-125" dirty="0">
                <a:solidFill>
                  <a:srgbClr val="BF382A"/>
                </a:solidFill>
              </a:rPr>
              <a:t>Analysis</a:t>
            </a:r>
            <a:endParaRPr sz="2800" dirty="0"/>
          </a:p>
        </p:txBody>
      </p:sp>
      <p:grpSp>
        <p:nvGrpSpPr>
          <p:cNvPr id="5" name="object 5"/>
          <p:cNvGrpSpPr/>
          <p:nvPr/>
        </p:nvGrpSpPr>
        <p:grpSpPr>
          <a:xfrm>
            <a:off x="1011129" y="1772259"/>
            <a:ext cx="8543924" cy="912862"/>
            <a:chOff x="1076324" y="1552572"/>
            <a:chExt cx="8543925" cy="542925"/>
          </a:xfrm>
        </p:grpSpPr>
        <p:pic>
          <p:nvPicPr>
            <p:cNvPr id="6" name="object 6"/>
            <p:cNvPicPr/>
            <p:nvPr/>
          </p:nvPicPr>
          <p:blipFill>
            <a:blip r:embed="rId3" cstate="print"/>
            <a:stretch>
              <a:fillRect/>
            </a:stretch>
          </p:blipFill>
          <p:spPr>
            <a:xfrm>
              <a:off x="1114424" y="1552575"/>
              <a:ext cx="8505824" cy="542924"/>
            </a:xfrm>
            <a:prstGeom prst="rect">
              <a:avLst/>
            </a:prstGeom>
          </p:spPr>
        </p:pic>
        <p:sp>
          <p:nvSpPr>
            <p:cNvPr id="7" name="object 7"/>
            <p:cNvSpPr/>
            <p:nvPr/>
          </p:nvSpPr>
          <p:spPr>
            <a:xfrm>
              <a:off x="1076324" y="1552572"/>
              <a:ext cx="38100" cy="542925"/>
            </a:xfrm>
            <a:custGeom>
              <a:avLst/>
              <a:gdLst/>
              <a:ahLst/>
              <a:cxnLst/>
              <a:rect l="l" t="t" r="r" b="b"/>
              <a:pathLst>
                <a:path w="38100" h="542925">
                  <a:moveTo>
                    <a:pt x="38099" y="542924"/>
                  </a:moveTo>
                  <a:lnTo>
                    <a:pt x="0" y="542924"/>
                  </a:lnTo>
                  <a:lnTo>
                    <a:pt x="0" y="0"/>
                  </a:lnTo>
                  <a:lnTo>
                    <a:pt x="38099" y="0"/>
                  </a:lnTo>
                  <a:lnTo>
                    <a:pt x="38099" y="542924"/>
                  </a:lnTo>
                  <a:close/>
                </a:path>
              </a:pathLst>
            </a:custGeom>
            <a:solidFill>
              <a:srgbClr val="3398DA"/>
            </a:solidFill>
          </p:spPr>
          <p:txBody>
            <a:bodyPr wrap="square" lIns="0" tIns="0" rIns="0" bIns="0" rtlCol="0"/>
            <a:lstStyle/>
            <a:p>
              <a:endParaRPr sz="2000"/>
            </a:p>
          </p:txBody>
        </p:sp>
      </p:grpSp>
      <p:grpSp>
        <p:nvGrpSpPr>
          <p:cNvPr id="8" name="object 8"/>
          <p:cNvGrpSpPr/>
          <p:nvPr/>
        </p:nvGrpSpPr>
        <p:grpSpPr>
          <a:xfrm>
            <a:off x="1045185" y="4845050"/>
            <a:ext cx="8622904" cy="820840"/>
            <a:chOff x="1076324" y="3476622"/>
            <a:chExt cx="8543925" cy="590550"/>
          </a:xfrm>
        </p:grpSpPr>
        <p:pic>
          <p:nvPicPr>
            <p:cNvPr id="9" name="object 9"/>
            <p:cNvPicPr/>
            <p:nvPr/>
          </p:nvPicPr>
          <p:blipFill>
            <a:blip r:embed="rId4" cstate="print"/>
            <a:stretch>
              <a:fillRect/>
            </a:stretch>
          </p:blipFill>
          <p:spPr>
            <a:xfrm>
              <a:off x="1114424" y="3476625"/>
              <a:ext cx="8505824" cy="590549"/>
            </a:xfrm>
            <a:prstGeom prst="rect">
              <a:avLst/>
            </a:prstGeom>
          </p:spPr>
        </p:pic>
        <p:sp>
          <p:nvSpPr>
            <p:cNvPr id="10" name="object 10"/>
            <p:cNvSpPr/>
            <p:nvPr/>
          </p:nvSpPr>
          <p:spPr>
            <a:xfrm>
              <a:off x="1076324" y="3476622"/>
              <a:ext cx="38100" cy="590550"/>
            </a:xfrm>
            <a:custGeom>
              <a:avLst/>
              <a:gdLst/>
              <a:ahLst/>
              <a:cxnLst/>
              <a:rect l="l" t="t" r="r" b="b"/>
              <a:pathLst>
                <a:path w="38100" h="590550">
                  <a:moveTo>
                    <a:pt x="38099" y="590549"/>
                  </a:moveTo>
                  <a:lnTo>
                    <a:pt x="0" y="590549"/>
                  </a:lnTo>
                  <a:lnTo>
                    <a:pt x="0" y="0"/>
                  </a:lnTo>
                  <a:lnTo>
                    <a:pt x="38099" y="0"/>
                  </a:lnTo>
                  <a:lnTo>
                    <a:pt x="38099" y="590549"/>
                  </a:lnTo>
                  <a:close/>
                </a:path>
              </a:pathLst>
            </a:custGeom>
            <a:solidFill>
              <a:srgbClr val="F29C12"/>
            </a:solidFill>
          </p:spPr>
          <p:txBody>
            <a:bodyPr wrap="square" lIns="0" tIns="0" rIns="0" bIns="0" rtlCol="0"/>
            <a:lstStyle/>
            <a:p>
              <a:endParaRPr sz="2000"/>
            </a:p>
          </p:txBody>
        </p:sp>
        <p:pic>
          <p:nvPicPr>
            <p:cNvPr id="11" name="object 11"/>
            <p:cNvPicPr/>
            <p:nvPr/>
          </p:nvPicPr>
          <p:blipFill>
            <a:blip r:embed="rId5" cstate="print"/>
            <a:stretch>
              <a:fillRect/>
            </a:stretch>
          </p:blipFill>
          <p:spPr>
            <a:xfrm>
              <a:off x="1264046" y="3613149"/>
              <a:ext cx="79375" cy="117475"/>
            </a:xfrm>
            <a:prstGeom prst="rect">
              <a:avLst/>
            </a:prstGeom>
          </p:spPr>
        </p:pic>
      </p:grpSp>
      <p:sp>
        <p:nvSpPr>
          <p:cNvPr id="12" name="object 12"/>
          <p:cNvSpPr txBox="1"/>
          <p:nvPr/>
        </p:nvSpPr>
        <p:spPr>
          <a:xfrm>
            <a:off x="1182975" y="1847674"/>
            <a:ext cx="7923530" cy="569067"/>
          </a:xfrm>
          <a:prstGeom prst="rect">
            <a:avLst/>
          </a:prstGeom>
        </p:spPr>
        <p:txBody>
          <a:bodyPr vert="horz" wrap="square" lIns="0" tIns="13970" rIns="0" bIns="0" rtlCol="0">
            <a:spAutoFit/>
          </a:bodyPr>
          <a:lstStyle/>
          <a:p>
            <a:pPr marL="12700" marR="5080">
              <a:lnSpc>
                <a:spcPct val="118100"/>
              </a:lnSpc>
              <a:spcBef>
                <a:spcPts val="110"/>
              </a:spcBef>
            </a:pPr>
            <a:r>
              <a:rPr sz="1600" spc="-25" dirty="0">
                <a:solidFill>
                  <a:srgbClr val="545454"/>
                </a:solidFill>
                <a:latin typeface="Microsoft Sans Serif"/>
                <a:cs typeface="Microsoft Sans Serif"/>
              </a:rPr>
              <a:t>Comprehensive</a:t>
            </a:r>
            <a:r>
              <a:rPr sz="1600" spc="5" dirty="0">
                <a:solidFill>
                  <a:srgbClr val="545454"/>
                </a:solidFill>
                <a:latin typeface="Microsoft Sans Serif"/>
                <a:cs typeface="Microsoft Sans Serif"/>
              </a:rPr>
              <a:t> </a:t>
            </a:r>
            <a:r>
              <a:rPr sz="1600" spc="-10" dirty="0">
                <a:solidFill>
                  <a:srgbClr val="545454"/>
                </a:solidFill>
                <a:latin typeface="Microsoft Sans Serif"/>
                <a:cs typeface="Microsoft Sans Serif"/>
              </a:rPr>
              <a:t>review</a:t>
            </a:r>
            <a:r>
              <a:rPr sz="1600" spc="5" dirty="0">
                <a:solidFill>
                  <a:srgbClr val="545454"/>
                </a:solidFill>
                <a:latin typeface="Microsoft Sans Serif"/>
                <a:cs typeface="Microsoft Sans Serif"/>
              </a:rPr>
              <a:t> </a:t>
            </a:r>
            <a:r>
              <a:rPr sz="1600" dirty="0">
                <a:solidFill>
                  <a:srgbClr val="545454"/>
                </a:solidFill>
                <a:latin typeface="Microsoft Sans Serif"/>
                <a:cs typeface="Microsoft Sans Serif"/>
              </a:rPr>
              <a:t>of</a:t>
            </a:r>
            <a:r>
              <a:rPr sz="1600" spc="5" dirty="0">
                <a:solidFill>
                  <a:srgbClr val="545454"/>
                </a:solidFill>
                <a:latin typeface="Microsoft Sans Serif"/>
                <a:cs typeface="Microsoft Sans Serif"/>
              </a:rPr>
              <a:t> </a:t>
            </a:r>
            <a:r>
              <a:rPr sz="1600" spc="-70" dirty="0">
                <a:solidFill>
                  <a:srgbClr val="545454"/>
                </a:solidFill>
                <a:latin typeface="Microsoft Sans Serif"/>
                <a:cs typeface="Microsoft Sans Serif"/>
              </a:rPr>
              <a:t>UAV</a:t>
            </a:r>
            <a:r>
              <a:rPr sz="1600" spc="10" dirty="0">
                <a:solidFill>
                  <a:srgbClr val="545454"/>
                </a:solidFill>
                <a:latin typeface="Microsoft Sans Serif"/>
                <a:cs typeface="Microsoft Sans Serif"/>
              </a:rPr>
              <a:t> </a:t>
            </a:r>
            <a:r>
              <a:rPr sz="1600" spc="-10" dirty="0">
                <a:solidFill>
                  <a:srgbClr val="545454"/>
                </a:solidFill>
                <a:latin typeface="Microsoft Sans Serif"/>
                <a:cs typeface="Microsoft Sans Serif"/>
              </a:rPr>
              <a:t>deployment</a:t>
            </a:r>
            <a:r>
              <a:rPr sz="1600" spc="5" dirty="0">
                <a:solidFill>
                  <a:srgbClr val="545454"/>
                </a:solidFill>
                <a:latin typeface="Microsoft Sans Serif"/>
                <a:cs typeface="Microsoft Sans Serif"/>
              </a:rPr>
              <a:t> </a:t>
            </a:r>
            <a:r>
              <a:rPr sz="1600" dirty="0">
                <a:solidFill>
                  <a:srgbClr val="545454"/>
                </a:solidFill>
                <a:latin typeface="Microsoft Sans Serif"/>
                <a:cs typeface="Microsoft Sans Serif"/>
              </a:rPr>
              <a:t>in</a:t>
            </a:r>
            <a:r>
              <a:rPr sz="1600" spc="5" dirty="0">
                <a:solidFill>
                  <a:srgbClr val="545454"/>
                </a:solidFill>
                <a:latin typeface="Microsoft Sans Serif"/>
                <a:cs typeface="Microsoft Sans Serif"/>
              </a:rPr>
              <a:t> </a:t>
            </a:r>
            <a:r>
              <a:rPr sz="1600" spc="-70" dirty="0">
                <a:solidFill>
                  <a:srgbClr val="545454"/>
                </a:solidFill>
                <a:latin typeface="Microsoft Sans Serif"/>
                <a:cs typeface="Microsoft Sans Serif"/>
              </a:rPr>
              <a:t>SAR:</a:t>
            </a:r>
            <a:r>
              <a:rPr sz="1600" spc="5" dirty="0">
                <a:solidFill>
                  <a:srgbClr val="545454"/>
                </a:solidFill>
                <a:latin typeface="Microsoft Sans Serif"/>
                <a:cs typeface="Microsoft Sans Serif"/>
              </a:rPr>
              <a:t> </a:t>
            </a:r>
            <a:r>
              <a:rPr sz="1600" dirty="0">
                <a:solidFill>
                  <a:srgbClr val="545454"/>
                </a:solidFill>
                <a:latin typeface="Microsoft Sans Serif"/>
                <a:cs typeface="Microsoft Sans Serif"/>
              </a:rPr>
              <a:t>from</a:t>
            </a:r>
            <a:r>
              <a:rPr sz="1600" spc="10" dirty="0">
                <a:solidFill>
                  <a:srgbClr val="545454"/>
                </a:solidFill>
                <a:latin typeface="Microsoft Sans Serif"/>
                <a:cs typeface="Microsoft Sans Serif"/>
              </a:rPr>
              <a:t> </a:t>
            </a:r>
            <a:r>
              <a:rPr sz="1600" b="1" spc="-40" dirty="0">
                <a:solidFill>
                  <a:srgbClr val="545454"/>
                </a:solidFill>
                <a:latin typeface="Arial"/>
                <a:cs typeface="Arial"/>
              </a:rPr>
              <a:t>Faster</a:t>
            </a:r>
            <a:r>
              <a:rPr sz="1600" b="1" spc="-45" dirty="0">
                <a:solidFill>
                  <a:srgbClr val="545454"/>
                </a:solidFill>
                <a:latin typeface="Arial"/>
                <a:cs typeface="Arial"/>
              </a:rPr>
              <a:t> </a:t>
            </a:r>
            <a:r>
              <a:rPr sz="1600" b="1" spc="-20" dirty="0">
                <a:solidFill>
                  <a:srgbClr val="545454"/>
                </a:solidFill>
                <a:latin typeface="Arial"/>
                <a:cs typeface="Arial"/>
              </a:rPr>
              <a:t>R-CNN</a:t>
            </a:r>
            <a:r>
              <a:rPr sz="1600" b="1" dirty="0">
                <a:solidFill>
                  <a:srgbClr val="545454"/>
                </a:solidFill>
                <a:latin typeface="Arial"/>
                <a:cs typeface="Arial"/>
              </a:rPr>
              <a:t> </a:t>
            </a:r>
            <a:r>
              <a:rPr sz="1600" dirty="0">
                <a:solidFill>
                  <a:srgbClr val="545454"/>
                </a:solidFill>
                <a:latin typeface="Microsoft Sans Serif"/>
                <a:cs typeface="Microsoft Sans Serif"/>
              </a:rPr>
              <a:t>to</a:t>
            </a:r>
            <a:r>
              <a:rPr sz="1600" spc="5" dirty="0">
                <a:solidFill>
                  <a:srgbClr val="545454"/>
                </a:solidFill>
                <a:latin typeface="Microsoft Sans Serif"/>
                <a:cs typeface="Microsoft Sans Serif"/>
              </a:rPr>
              <a:t> </a:t>
            </a:r>
            <a:r>
              <a:rPr sz="1600" b="1" spc="-55" dirty="0">
                <a:solidFill>
                  <a:srgbClr val="545454"/>
                </a:solidFill>
                <a:latin typeface="Arial"/>
                <a:cs typeface="Arial"/>
              </a:rPr>
              <a:t>YOLOv8</a:t>
            </a:r>
            <a:r>
              <a:rPr sz="1600" b="1" spc="-5" dirty="0">
                <a:solidFill>
                  <a:srgbClr val="545454"/>
                </a:solidFill>
                <a:latin typeface="Arial"/>
                <a:cs typeface="Arial"/>
              </a:rPr>
              <a:t> </a:t>
            </a:r>
            <a:r>
              <a:rPr sz="1600" spc="-20" dirty="0">
                <a:solidFill>
                  <a:srgbClr val="545454"/>
                </a:solidFill>
                <a:latin typeface="Microsoft Sans Serif"/>
                <a:cs typeface="Microsoft Sans Serif"/>
              </a:rPr>
              <a:t>and</a:t>
            </a:r>
            <a:r>
              <a:rPr sz="1600" spc="10" dirty="0">
                <a:solidFill>
                  <a:srgbClr val="545454"/>
                </a:solidFill>
                <a:latin typeface="Microsoft Sans Serif"/>
                <a:cs typeface="Microsoft Sans Serif"/>
              </a:rPr>
              <a:t> </a:t>
            </a:r>
            <a:r>
              <a:rPr sz="1600" b="1" spc="-35" dirty="0">
                <a:solidFill>
                  <a:srgbClr val="545454"/>
                </a:solidFill>
                <a:latin typeface="Arial"/>
                <a:cs typeface="Arial"/>
              </a:rPr>
              <a:t>Transformer</a:t>
            </a:r>
            <a:r>
              <a:rPr sz="1600" b="1" spc="-45" dirty="0">
                <a:solidFill>
                  <a:srgbClr val="545454"/>
                </a:solidFill>
                <a:latin typeface="Arial"/>
                <a:cs typeface="Arial"/>
              </a:rPr>
              <a:t> </a:t>
            </a:r>
            <a:r>
              <a:rPr sz="1600" b="1" spc="-30" dirty="0">
                <a:solidFill>
                  <a:srgbClr val="545454"/>
                </a:solidFill>
                <a:latin typeface="Arial"/>
                <a:cs typeface="Arial"/>
              </a:rPr>
              <a:t>architectures</a:t>
            </a:r>
            <a:r>
              <a:rPr sz="1600" spc="-30" dirty="0">
                <a:solidFill>
                  <a:srgbClr val="545454"/>
                </a:solidFill>
                <a:latin typeface="Microsoft Sans Serif"/>
                <a:cs typeface="Microsoft Sans Serif"/>
              </a:rPr>
              <a:t>,</a:t>
            </a:r>
            <a:r>
              <a:rPr sz="1600" spc="10" dirty="0">
                <a:solidFill>
                  <a:srgbClr val="545454"/>
                </a:solidFill>
                <a:latin typeface="Microsoft Sans Serif"/>
                <a:cs typeface="Microsoft Sans Serif"/>
              </a:rPr>
              <a:t> </a:t>
            </a:r>
            <a:r>
              <a:rPr sz="1600" spc="-10" dirty="0">
                <a:solidFill>
                  <a:srgbClr val="545454"/>
                </a:solidFill>
                <a:latin typeface="Microsoft Sans Serif"/>
                <a:cs typeface="Microsoft Sans Serif"/>
              </a:rPr>
              <a:t>including</a:t>
            </a:r>
            <a:r>
              <a:rPr sz="1600" spc="5" dirty="0">
                <a:solidFill>
                  <a:srgbClr val="545454"/>
                </a:solidFill>
                <a:latin typeface="Microsoft Sans Serif"/>
                <a:cs typeface="Microsoft Sans Serif"/>
              </a:rPr>
              <a:t> </a:t>
            </a:r>
            <a:r>
              <a:rPr sz="1600" spc="-50" dirty="0">
                <a:solidFill>
                  <a:srgbClr val="545454"/>
                </a:solidFill>
                <a:latin typeface="Microsoft Sans Serif"/>
                <a:cs typeface="Microsoft Sans Serif"/>
              </a:rPr>
              <a:t>MBZIRC</a:t>
            </a:r>
            <a:r>
              <a:rPr sz="1600" spc="5" dirty="0">
                <a:solidFill>
                  <a:srgbClr val="545454"/>
                </a:solidFill>
                <a:latin typeface="Microsoft Sans Serif"/>
                <a:cs typeface="Microsoft Sans Serif"/>
              </a:rPr>
              <a:t> </a:t>
            </a:r>
            <a:r>
              <a:rPr sz="1600" spc="-20" dirty="0">
                <a:solidFill>
                  <a:srgbClr val="545454"/>
                </a:solidFill>
                <a:latin typeface="Microsoft Sans Serif"/>
                <a:cs typeface="Microsoft Sans Serif"/>
              </a:rPr>
              <a:t>and</a:t>
            </a:r>
            <a:r>
              <a:rPr sz="1600" spc="5" dirty="0">
                <a:solidFill>
                  <a:srgbClr val="545454"/>
                </a:solidFill>
                <a:latin typeface="Microsoft Sans Serif"/>
                <a:cs typeface="Microsoft Sans Serif"/>
              </a:rPr>
              <a:t> </a:t>
            </a:r>
            <a:r>
              <a:rPr sz="1600" spc="-60" dirty="0">
                <a:solidFill>
                  <a:srgbClr val="545454"/>
                </a:solidFill>
                <a:latin typeface="Microsoft Sans Serif"/>
                <a:cs typeface="Microsoft Sans Serif"/>
              </a:rPr>
              <a:t>AUS</a:t>
            </a:r>
            <a:r>
              <a:rPr sz="1600" spc="10" dirty="0">
                <a:solidFill>
                  <a:srgbClr val="545454"/>
                </a:solidFill>
                <a:latin typeface="Microsoft Sans Serif"/>
                <a:cs typeface="Microsoft Sans Serif"/>
              </a:rPr>
              <a:t> </a:t>
            </a:r>
            <a:r>
              <a:rPr sz="1600" spc="-35" dirty="0">
                <a:solidFill>
                  <a:srgbClr val="545454"/>
                </a:solidFill>
                <a:latin typeface="Microsoft Sans Serif"/>
                <a:cs typeface="Microsoft Sans Serif"/>
              </a:rPr>
              <a:t>Shaheen</a:t>
            </a:r>
            <a:r>
              <a:rPr sz="1600" spc="5" dirty="0">
                <a:solidFill>
                  <a:srgbClr val="545454"/>
                </a:solidFill>
                <a:latin typeface="Microsoft Sans Serif"/>
                <a:cs typeface="Microsoft Sans Serif"/>
              </a:rPr>
              <a:t> </a:t>
            </a:r>
            <a:r>
              <a:rPr sz="1600" spc="-10" dirty="0">
                <a:solidFill>
                  <a:srgbClr val="545454"/>
                </a:solidFill>
                <a:latin typeface="Microsoft Sans Serif"/>
                <a:cs typeface="Microsoft Sans Serif"/>
              </a:rPr>
              <a:t>project findings.</a:t>
            </a:r>
            <a:endParaRPr sz="1600" dirty="0">
              <a:latin typeface="Microsoft Sans Serif"/>
              <a:cs typeface="Microsoft Sans Serif"/>
            </a:endParaRPr>
          </a:p>
        </p:txBody>
      </p:sp>
      <p:grpSp>
        <p:nvGrpSpPr>
          <p:cNvPr id="13" name="object 13"/>
          <p:cNvGrpSpPr/>
          <p:nvPr/>
        </p:nvGrpSpPr>
        <p:grpSpPr>
          <a:xfrm>
            <a:off x="1030755" y="3054440"/>
            <a:ext cx="2780039" cy="1381035"/>
            <a:chOff x="1076324" y="2209797"/>
            <a:chExt cx="2752725" cy="1152525"/>
          </a:xfrm>
        </p:grpSpPr>
        <p:sp>
          <p:nvSpPr>
            <p:cNvPr id="14" name="object 14"/>
            <p:cNvSpPr/>
            <p:nvPr/>
          </p:nvSpPr>
          <p:spPr>
            <a:xfrm>
              <a:off x="1090612" y="2209797"/>
              <a:ext cx="2738755" cy="1152525"/>
            </a:xfrm>
            <a:custGeom>
              <a:avLst/>
              <a:gdLst/>
              <a:ahLst/>
              <a:cxnLst/>
              <a:rect l="l" t="t" r="r" b="b"/>
              <a:pathLst>
                <a:path w="2738754" h="1152525">
                  <a:moveTo>
                    <a:pt x="2667240" y="1152520"/>
                  </a:moveTo>
                  <a:lnTo>
                    <a:pt x="57847" y="1152520"/>
                  </a:lnTo>
                  <a:lnTo>
                    <a:pt x="53821" y="1152027"/>
                  </a:lnTo>
                  <a:lnTo>
                    <a:pt x="15259" y="1126656"/>
                  </a:lnTo>
                  <a:lnTo>
                    <a:pt x="396" y="1086277"/>
                  </a:lnTo>
                  <a:lnTo>
                    <a:pt x="0" y="1081324"/>
                  </a:lnTo>
                  <a:lnTo>
                    <a:pt x="0" y="1076324"/>
                  </a:lnTo>
                  <a:lnTo>
                    <a:pt x="0" y="71195"/>
                  </a:lnTo>
                  <a:lnTo>
                    <a:pt x="12692" y="29700"/>
                  </a:lnTo>
                  <a:lnTo>
                    <a:pt x="41975" y="3883"/>
                  </a:lnTo>
                  <a:lnTo>
                    <a:pt x="57847" y="0"/>
                  </a:lnTo>
                  <a:lnTo>
                    <a:pt x="2667240" y="0"/>
                  </a:lnTo>
                  <a:lnTo>
                    <a:pt x="2708731" y="15617"/>
                  </a:lnTo>
                  <a:lnTo>
                    <a:pt x="2734551" y="51653"/>
                  </a:lnTo>
                  <a:lnTo>
                    <a:pt x="2738437" y="71195"/>
                  </a:lnTo>
                  <a:lnTo>
                    <a:pt x="2738437" y="1081324"/>
                  </a:lnTo>
                  <a:lnTo>
                    <a:pt x="2722815" y="1122805"/>
                  </a:lnTo>
                  <a:lnTo>
                    <a:pt x="2686774" y="1148627"/>
                  </a:lnTo>
                  <a:lnTo>
                    <a:pt x="2672195" y="1152027"/>
                  </a:lnTo>
                  <a:lnTo>
                    <a:pt x="2667240" y="1152520"/>
                  </a:lnTo>
                  <a:close/>
                </a:path>
              </a:pathLst>
            </a:custGeom>
            <a:solidFill>
              <a:srgbClr val="F7F9FA"/>
            </a:solidFill>
          </p:spPr>
          <p:txBody>
            <a:bodyPr wrap="square" lIns="0" tIns="0" rIns="0" bIns="0" rtlCol="0"/>
            <a:lstStyle/>
            <a:p>
              <a:endParaRPr sz="3200"/>
            </a:p>
          </p:txBody>
        </p:sp>
        <p:sp>
          <p:nvSpPr>
            <p:cNvPr id="15" name="object 15"/>
            <p:cNvSpPr/>
            <p:nvPr/>
          </p:nvSpPr>
          <p:spPr>
            <a:xfrm>
              <a:off x="1076324" y="2210177"/>
              <a:ext cx="69215" cy="1151890"/>
            </a:xfrm>
            <a:custGeom>
              <a:avLst/>
              <a:gdLst/>
              <a:ahLst/>
              <a:cxnLst/>
              <a:rect l="l" t="t" r="r" b="b"/>
              <a:pathLst>
                <a:path w="69215" h="1151889">
                  <a:moveTo>
                    <a:pt x="68698" y="1151769"/>
                  </a:moveTo>
                  <a:lnTo>
                    <a:pt x="27882" y="1134880"/>
                  </a:lnTo>
                  <a:lnTo>
                    <a:pt x="3262" y="1098033"/>
                  </a:lnTo>
                  <a:lnTo>
                    <a:pt x="0" y="1075947"/>
                  </a:lnTo>
                  <a:lnTo>
                    <a:pt x="0" y="75822"/>
                  </a:lnTo>
                  <a:lnTo>
                    <a:pt x="12830" y="33479"/>
                  </a:lnTo>
                  <a:lnTo>
                    <a:pt x="47039" y="5422"/>
                  </a:lnTo>
                  <a:lnTo>
                    <a:pt x="68698" y="0"/>
                  </a:lnTo>
                  <a:lnTo>
                    <a:pt x="63809" y="1555"/>
                  </a:lnTo>
                  <a:lnTo>
                    <a:pt x="52139" y="9289"/>
                  </a:lnTo>
                  <a:lnTo>
                    <a:pt x="32200" y="46661"/>
                  </a:lnTo>
                  <a:lnTo>
                    <a:pt x="28575" y="75822"/>
                  </a:lnTo>
                  <a:lnTo>
                    <a:pt x="28575" y="1075947"/>
                  </a:lnTo>
                  <a:lnTo>
                    <a:pt x="36593" y="1118289"/>
                  </a:lnTo>
                  <a:lnTo>
                    <a:pt x="63809" y="1150213"/>
                  </a:lnTo>
                  <a:lnTo>
                    <a:pt x="68698" y="1151769"/>
                  </a:lnTo>
                  <a:close/>
                </a:path>
              </a:pathLst>
            </a:custGeom>
            <a:solidFill>
              <a:srgbClr val="BF382A"/>
            </a:solidFill>
          </p:spPr>
          <p:txBody>
            <a:bodyPr wrap="square" lIns="0" tIns="0" rIns="0" bIns="0" rtlCol="0"/>
            <a:lstStyle/>
            <a:p>
              <a:endParaRPr sz="3200"/>
            </a:p>
          </p:txBody>
        </p:sp>
        <p:pic>
          <p:nvPicPr>
            <p:cNvPr id="16" name="object 16"/>
            <p:cNvPicPr/>
            <p:nvPr/>
          </p:nvPicPr>
          <p:blipFill>
            <a:blip r:embed="rId6" cstate="print"/>
            <a:stretch>
              <a:fillRect/>
            </a:stretch>
          </p:blipFill>
          <p:spPr>
            <a:xfrm>
              <a:off x="1251346" y="2374899"/>
              <a:ext cx="123825" cy="127000"/>
            </a:xfrm>
            <a:prstGeom prst="rect">
              <a:avLst/>
            </a:prstGeom>
          </p:spPr>
        </p:pic>
      </p:grpSp>
      <p:sp>
        <p:nvSpPr>
          <p:cNvPr id="17" name="object 17"/>
          <p:cNvSpPr txBox="1"/>
          <p:nvPr/>
        </p:nvSpPr>
        <p:spPr>
          <a:xfrm>
            <a:off x="1193077" y="3096661"/>
            <a:ext cx="2572386" cy="1228350"/>
          </a:xfrm>
          <a:prstGeom prst="rect">
            <a:avLst/>
          </a:prstGeom>
        </p:spPr>
        <p:txBody>
          <a:bodyPr vert="horz" wrap="square" lIns="0" tIns="100330" rIns="0" bIns="0" rtlCol="0">
            <a:spAutoFit/>
          </a:bodyPr>
          <a:lstStyle/>
          <a:p>
            <a:pPr marL="160020">
              <a:lnSpc>
                <a:spcPct val="100000"/>
              </a:lnSpc>
              <a:spcBef>
                <a:spcPts val="790"/>
              </a:spcBef>
            </a:pPr>
            <a:r>
              <a:rPr sz="1600" b="1" spc="-50" dirty="0">
                <a:solidFill>
                  <a:srgbClr val="1A1A2E"/>
                </a:solidFill>
                <a:latin typeface="Arial"/>
                <a:cs typeface="Arial"/>
              </a:rPr>
              <a:t>Detection</a:t>
            </a:r>
            <a:r>
              <a:rPr sz="1600" b="1" spc="-55" dirty="0">
                <a:solidFill>
                  <a:srgbClr val="1A1A2E"/>
                </a:solidFill>
                <a:latin typeface="Arial"/>
                <a:cs typeface="Arial"/>
              </a:rPr>
              <a:t> </a:t>
            </a:r>
            <a:r>
              <a:rPr sz="1600" b="1" spc="-10" dirty="0">
                <a:solidFill>
                  <a:srgbClr val="1A1A2E"/>
                </a:solidFill>
                <a:latin typeface="Arial"/>
                <a:cs typeface="Arial"/>
              </a:rPr>
              <a:t>Algorithms</a:t>
            </a:r>
            <a:endParaRPr sz="1600" dirty="0">
              <a:latin typeface="Arial"/>
              <a:cs typeface="Arial"/>
            </a:endParaRPr>
          </a:p>
          <a:p>
            <a:pPr marL="12700" marR="5080">
              <a:lnSpc>
                <a:spcPct val="113399"/>
              </a:lnSpc>
              <a:spcBef>
                <a:spcPts val="470"/>
              </a:spcBef>
            </a:pPr>
            <a:r>
              <a:rPr sz="1200" dirty="0">
                <a:solidFill>
                  <a:srgbClr val="666666"/>
                </a:solidFill>
                <a:latin typeface="Microsoft Sans Serif"/>
                <a:cs typeface="Microsoft Sans Serif"/>
              </a:rPr>
              <a:t>Two-</a:t>
            </a:r>
            <a:r>
              <a:rPr sz="1200" spc="-10" dirty="0">
                <a:solidFill>
                  <a:srgbClr val="666666"/>
                </a:solidFill>
                <a:latin typeface="Microsoft Sans Serif"/>
                <a:cs typeface="Microsoft Sans Serif"/>
              </a:rPr>
              <a:t>stage</a:t>
            </a:r>
            <a:r>
              <a:rPr sz="1200" spc="-15" dirty="0">
                <a:solidFill>
                  <a:srgbClr val="666666"/>
                </a:solidFill>
                <a:latin typeface="Microsoft Sans Serif"/>
                <a:cs typeface="Microsoft Sans Serif"/>
              </a:rPr>
              <a:t> </a:t>
            </a:r>
            <a:r>
              <a:rPr sz="1200" spc="-25" dirty="0">
                <a:solidFill>
                  <a:srgbClr val="666666"/>
                </a:solidFill>
                <a:latin typeface="Microsoft Sans Serif"/>
                <a:cs typeface="Microsoft Sans Serif"/>
              </a:rPr>
              <a:t>(Faster</a:t>
            </a:r>
            <a:r>
              <a:rPr sz="1200" spc="-10" dirty="0">
                <a:solidFill>
                  <a:srgbClr val="666666"/>
                </a:solidFill>
                <a:latin typeface="Microsoft Sans Serif"/>
                <a:cs typeface="Microsoft Sans Serif"/>
              </a:rPr>
              <a:t> </a:t>
            </a:r>
            <a:r>
              <a:rPr sz="1200" spc="-25" dirty="0">
                <a:solidFill>
                  <a:srgbClr val="666666"/>
                </a:solidFill>
                <a:latin typeface="Microsoft Sans Serif"/>
                <a:cs typeface="Microsoft Sans Serif"/>
              </a:rPr>
              <a:t>R-</a:t>
            </a:r>
            <a:r>
              <a:rPr sz="1200" spc="-20" dirty="0">
                <a:solidFill>
                  <a:srgbClr val="666666"/>
                </a:solidFill>
                <a:latin typeface="Microsoft Sans Serif"/>
                <a:cs typeface="Microsoft Sans Serif"/>
              </a:rPr>
              <a:t>CNN)</a:t>
            </a:r>
            <a:r>
              <a:rPr sz="1200" spc="-10" dirty="0">
                <a:solidFill>
                  <a:srgbClr val="666666"/>
                </a:solidFill>
                <a:latin typeface="Microsoft Sans Serif"/>
                <a:cs typeface="Microsoft Sans Serif"/>
              </a:rPr>
              <a:t> </a:t>
            </a:r>
            <a:r>
              <a:rPr sz="1200" dirty="0">
                <a:solidFill>
                  <a:srgbClr val="666666"/>
                </a:solidFill>
                <a:latin typeface="Microsoft Sans Serif"/>
                <a:cs typeface="Microsoft Sans Serif"/>
              </a:rPr>
              <a:t>vs</a:t>
            </a:r>
            <a:r>
              <a:rPr sz="1200" spc="-10" dirty="0">
                <a:solidFill>
                  <a:srgbClr val="666666"/>
                </a:solidFill>
                <a:latin typeface="Microsoft Sans Serif"/>
                <a:cs typeface="Microsoft Sans Serif"/>
              </a:rPr>
              <a:t> Single-</a:t>
            </a:r>
            <a:r>
              <a:rPr sz="1200" spc="-20" dirty="0">
                <a:solidFill>
                  <a:srgbClr val="666666"/>
                </a:solidFill>
                <a:latin typeface="Microsoft Sans Serif"/>
                <a:cs typeface="Microsoft Sans Serif"/>
              </a:rPr>
              <a:t>stage </a:t>
            </a:r>
            <a:r>
              <a:rPr sz="1200" spc="-50" dirty="0">
                <a:solidFill>
                  <a:srgbClr val="666666"/>
                </a:solidFill>
                <a:latin typeface="Microsoft Sans Serif"/>
                <a:cs typeface="Microsoft Sans Serif"/>
              </a:rPr>
              <a:t>(YOLO)</a:t>
            </a:r>
            <a:r>
              <a:rPr sz="1200" spc="-5" dirty="0">
                <a:solidFill>
                  <a:srgbClr val="666666"/>
                </a:solidFill>
                <a:latin typeface="Microsoft Sans Serif"/>
                <a:cs typeface="Microsoft Sans Serif"/>
              </a:rPr>
              <a:t> </a:t>
            </a:r>
            <a:r>
              <a:rPr sz="1200" spc="-10" dirty="0">
                <a:solidFill>
                  <a:srgbClr val="666666"/>
                </a:solidFill>
                <a:latin typeface="Microsoft Sans Serif"/>
                <a:cs typeface="Microsoft Sans Serif"/>
              </a:rPr>
              <a:t>comparison.</a:t>
            </a:r>
            <a:r>
              <a:rPr sz="1200" spc="-5" dirty="0">
                <a:solidFill>
                  <a:srgbClr val="666666"/>
                </a:solidFill>
                <a:latin typeface="Microsoft Sans Serif"/>
                <a:cs typeface="Microsoft Sans Serif"/>
              </a:rPr>
              <a:t> </a:t>
            </a:r>
            <a:r>
              <a:rPr sz="1200" spc="-55" dirty="0">
                <a:solidFill>
                  <a:srgbClr val="666666"/>
                </a:solidFill>
                <a:latin typeface="Microsoft Sans Serif"/>
                <a:cs typeface="Microsoft Sans Serif"/>
              </a:rPr>
              <a:t>YOLOv8</a:t>
            </a:r>
            <a:r>
              <a:rPr sz="1200" spc="-5" dirty="0">
                <a:solidFill>
                  <a:srgbClr val="666666"/>
                </a:solidFill>
                <a:latin typeface="Microsoft Sans Serif"/>
                <a:cs typeface="Microsoft Sans Serif"/>
              </a:rPr>
              <a:t> </a:t>
            </a:r>
            <a:r>
              <a:rPr sz="1200" spc="-10" dirty="0">
                <a:solidFill>
                  <a:srgbClr val="666666"/>
                </a:solidFill>
                <a:latin typeface="Microsoft Sans Serif"/>
                <a:cs typeface="Microsoft Sans Serif"/>
              </a:rPr>
              <a:t>shows</a:t>
            </a:r>
            <a:r>
              <a:rPr sz="1200" spc="-5" dirty="0">
                <a:solidFill>
                  <a:srgbClr val="666666"/>
                </a:solidFill>
                <a:latin typeface="Microsoft Sans Serif"/>
                <a:cs typeface="Microsoft Sans Serif"/>
              </a:rPr>
              <a:t> </a:t>
            </a:r>
            <a:r>
              <a:rPr sz="1200" spc="-20" dirty="0">
                <a:solidFill>
                  <a:srgbClr val="666666"/>
                </a:solidFill>
                <a:latin typeface="Microsoft Sans Serif"/>
                <a:cs typeface="Microsoft Sans Serif"/>
              </a:rPr>
              <a:t>best balance</a:t>
            </a:r>
            <a:r>
              <a:rPr sz="1200" spc="-15" dirty="0">
                <a:solidFill>
                  <a:srgbClr val="666666"/>
                </a:solidFill>
                <a:latin typeface="Microsoft Sans Serif"/>
                <a:cs typeface="Microsoft Sans Serif"/>
              </a:rPr>
              <a:t> </a:t>
            </a:r>
            <a:r>
              <a:rPr sz="1200" dirty="0">
                <a:solidFill>
                  <a:srgbClr val="666666"/>
                </a:solidFill>
                <a:latin typeface="Microsoft Sans Serif"/>
                <a:cs typeface="Microsoft Sans Serif"/>
              </a:rPr>
              <a:t>of</a:t>
            </a:r>
            <a:r>
              <a:rPr sz="1200" spc="-10" dirty="0">
                <a:solidFill>
                  <a:srgbClr val="666666"/>
                </a:solidFill>
                <a:latin typeface="Microsoft Sans Serif"/>
                <a:cs typeface="Microsoft Sans Serif"/>
              </a:rPr>
              <a:t> speed</a:t>
            </a:r>
            <a:r>
              <a:rPr sz="1200" spc="-15" dirty="0">
                <a:solidFill>
                  <a:srgbClr val="666666"/>
                </a:solidFill>
                <a:latin typeface="Microsoft Sans Serif"/>
                <a:cs typeface="Microsoft Sans Serif"/>
              </a:rPr>
              <a:t> </a:t>
            </a:r>
            <a:r>
              <a:rPr sz="1200" spc="-20" dirty="0">
                <a:solidFill>
                  <a:srgbClr val="666666"/>
                </a:solidFill>
                <a:latin typeface="Microsoft Sans Serif"/>
                <a:cs typeface="Microsoft Sans Serif"/>
              </a:rPr>
              <a:t>and</a:t>
            </a:r>
            <a:r>
              <a:rPr sz="1200" spc="-10" dirty="0">
                <a:solidFill>
                  <a:srgbClr val="666666"/>
                </a:solidFill>
                <a:latin typeface="Microsoft Sans Serif"/>
                <a:cs typeface="Microsoft Sans Serif"/>
              </a:rPr>
              <a:t> </a:t>
            </a:r>
            <a:r>
              <a:rPr sz="1200" dirty="0">
                <a:solidFill>
                  <a:srgbClr val="666666"/>
                </a:solidFill>
                <a:latin typeface="Microsoft Sans Serif"/>
                <a:cs typeface="Microsoft Sans Serif"/>
              </a:rPr>
              <a:t>accuracy</a:t>
            </a:r>
            <a:r>
              <a:rPr sz="1200" spc="-15" dirty="0">
                <a:solidFill>
                  <a:srgbClr val="666666"/>
                </a:solidFill>
                <a:latin typeface="Microsoft Sans Serif"/>
                <a:cs typeface="Microsoft Sans Serif"/>
              </a:rPr>
              <a:t> </a:t>
            </a:r>
            <a:r>
              <a:rPr sz="1200" dirty="0">
                <a:solidFill>
                  <a:srgbClr val="666666"/>
                </a:solidFill>
                <a:latin typeface="Microsoft Sans Serif"/>
                <a:cs typeface="Microsoft Sans Serif"/>
              </a:rPr>
              <a:t>for</a:t>
            </a:r>
            <a:r>
              <a:rPr sz="1200" spc="-10" dirty="0">
                <a:solidFill>
                  <a:srgbClr val="666666"/>
                </a:solidFill>
                <a:latin typeface="Microsoft Sans Serif"/>
                <a:cs typeface="Microsoft Sans Serif"/>
              </a:rPr>
              <a:t> </a:t>
            </a:r>
            <a:r>
              <a:rPr sz="1200" spc="-20" dirty="0">
                <a:solidFill>
                  <a:srgbClr val="666666"/>
                </a:solidFill>
                <a:latin typeface="Microsoft Sans Serif"/>
                <a:cs typeface="Microsoft Sans Serif"/>
              </a:rPr>
              <a:t>edge </a:t>
            </a:r>
            <a:r>
              <a:rPr sz="1200" spc="-10" dirty="0">
                <a:solidFill>
                  <a:srgbClr val="666666"/>
                </a:solidFill>
                <a:latin typeface="Microsoft Sans Serif"/>
                <a:cs typeface="Microsoft Sans Serif"/>
              </a:rPr>
              <a:t>deployment.</a:t>
            </a:r>
            <a:endParaRPr sz="1200" dirty="0">
              <a:latin typeface="Microsoft Sans Serif"/>
              <a:cs typeface="Microsoft Sans Serif"/>
            </a:endParaRPr>
          </a:p>
        </p:txBody>
      </p:sp>
      <p:grpSp>
        <p:nvGrpSpPr>
          <p:cNvPr id="18" name="object 18"/>
          <p:cNvGrpSpPr/>
          <p:nvPr/>
        </p:nvGrpSpPr>
        <p:grpSpPr>
          <a:xfrm>
            <a:off x="3926355" y="3054440"/>
            <a:ext cx="2813989" cy="1380729"/>
            <a:chOff x="3971924" y="2209797"/>
            <a:chExt cx="2752725" cy="1152525"/>
          </a:xfrm>
        </p:grpSpPr>
        <p:sp>
          <p:nvSpPr>
            <p:cNvPr id="19" name="object 19"/>
            <p:cNvSpPr/>
            <p:nvPr/>
          </p:nvSpPr>
          <p:spPr>
            <a:xfrm>
              <a:off x="3986212" y="2209797"/>
              <a:ext cx="2738755" cy="1152525"/>
            </a:xfrm>
            <a:custGeom>
              <a:avLst/>
              <a:gdLst/>
              <a:ahLst/>
              <a:cxnLst/>
              <a:rect l="l" t="t" r="r" b="b"/>
              <a:pathLst>
                <a:path w="2738754" h="1152525">
                  <a:moveTo>
                    <a:pt x="2667240" y="1152520"/>
                  </a:moveTo>
                  <a:lnTo>
                    <a:pt x="57847" y="1152520"/>
                  </a:lnTo>
                  <a:lnTo>
                    <a:pt x="53821" y="1152027"/>
                  </a:lnTo>
                  <a:lnTo>
                    <a:pt x="15258" y="1126656"/>
                  </a:lnTo>
                  <a:lnTo>
                    <a:pt x="396" y="1086277"/>
                  </a:lnTo>
                  <a:lnTo>
                    <a:pt x="0" y="1081324"/>
                  </a:lnTo>
                  <a:lnTo>
                    <a:pt x="0" y="1076324"/>
                  </a:lnTo>
                  <a:lnTo>
                    <a:pt x="0" y="71195"/>
                  </a:lnTo>
                  <a:lnTo>
                    <a:pt x="12692" y="29700"/>
                  </a:lnTo>
                  <a:lnTo>
                    <a:pt x="41975" y="3883"/>
                  </a:lnTo>
                  <a:lnTo>
                    <a:pt x="57847" y="0"/>
                  </a:lnTo>
                  <a:lnTo>
                    <a:pt x="2667240" y="0"/>
                  </a:lnTo>
                  <a:lnTo>
                    <a:pt x="2708731" y="15617"/>
                  </a:lnTo>
                  <a:lnTo>
                    <a:pt x="2734551" y="51653"/>
                  </a:lnTo>
                  <a:lnTo>
                    <a:pt x="2738436" y="71195"/>
                  </a:lnTo>
                  <a:lnTo>
                    <a:pt x="2738436" y="1081324"/>
                  </a:lnTo>
                  <a:lnTo>
                    <a:pt x="2722815" y="1122805"/>
                  </a:lnTo>
                  <a:lnTo>
                    <a:pt x="2686775" y="1148627"/>
                  </a:lnTo>
                  <a:lnTo>
                    <a:pt x="2672195" y="1152027"/>
                  </a:lnTo>
                  <a:lnTo>
                    <a:pt x="2667240" y="1152520"/>
                  </a:lnTo>
                  <a:close/>
                </a:path>
              </a:pathLst>
            </a:custGeom>
            <a:solidFill>
              <a:srgbClr val="F7F9FA"/>
            </a:solidFill>
          </p:spPr>
          <p:txBody>
            <a:bodyPr wrap="square" lIns="0" tIns="0" rIns="0" bIns="0" rtlCol="0"/>
            <a:lstStyle/>
            <a:p>
              <a:endParaRPr sz="3200"/>
            </a:p>
          </p:txBody>
        </p:sp>
        <p:sp>
          <p:nvSpPr>
            <p:cNvPr id="20" name="object 20"/>
            <p:cNvSpPr/>
            <p:nvPr/>
          </p:nvSpPr>
          <p:spPr>
            <a:xfrm>
              <a:off x="3971924" y="2210177"/>
              <a:ext cx="69215" cy="1151890"/>
            </a:xfrm>
            <a:custGeom>
              <a:avLst/>
              <a:gdLst/>
              <a:ahLst/>
              <a:cxnLst/>
              <a:rect l="l" t="t" r="r" b="b"/>
              <a:pathLst>
                <a:path w="69214" h="1151889">
                  <a:moveTo>
                    <a:pt x="68698" y="1151769"/>
                  </a:moveTo>
                  <a:lnTo>
                    <a:pt x="27882" y="1134880"/>
                  </a:lnTo>
                  <a:lnTo>
                    <a:pt x="3262" y="1098033"/>
                  </a:lnTo>
                  <a:lnTo>
                    <a:pt x="0" y="1075947"/>
                  </a:lnTo>
                  <a:lnTo>
                    <a:pt x="0" y="75822"/>
                  </a:lnTo>
                  <a:lnTo>
                    <a:pt x="12829" y="33479"/>
                  </a:lnTo>
                  <a:lnTo>
                    <a:pt x="47039" y="5422"/>
                  </a:lnTo>
                  <a:lnTo>
                    <a:pt x="68698" y="0"/>
                  </a:lnTo>
                  <a:lnTo>
                    <a:pt x="63809" y="1556"/>
                  </a:lnTo>
                  <a:lnTo>
                    <a:pt x="52139" y="9289"/>
                  </a:lnTo>
                  <a:lnTo>
                    <a:pt x="32199" y="46661"/>
                  </a:lnTo>
                  <a:lnTo>
                    <a:pt x="28575" y="75822"/>
                  </a:lnTo>
                  <a:lnTo>
                    <a:pt x="28575" y="1075947"/>
                  </a:lnTo>
                  <a:lnTo>
                    <a:pt x="36593" y="1118289"/>
                  </a:lnTo>
                  <a:lnTo>
                    <a:pt x="63809" y="1150213"/>
                  </a:lnTo>
                  <a:lnTo>
                    <a:pt x="68698" y="1151769"/>
                  </a:lnTo>
                  <a:close/>
                </a:path>
              </a:pathLst>
            </a:custGeom>
            <a:solidFill>
              <a:srgbClr val="BF382A"/>
            </a:solidFill>
          </p:spPr>
          <p:txBody>
            <a:bodyPr wrap="square" lIns="0" tIns="0" rIns="0" bIns="0" rtlCol="0"/>
            <a:lstStyle/>
            <a:p>
              <a:endParaRPr sz="3200"/>
            </a:p>
          </p:txBody>
        </p:sp>
        <p:pic>
          <p:nvPicPr>
            <p:cNvPr id="21" name="object 21"/>
            <p:cNvPicPr/>
            <p:nvPr/>
          </p:nvPicPr>
          <p:blipFill>
            <a:blip r:embed="rId7" cstate="print"/>
            <a:stretch>
              <a:fillRect/>
            </a:stretch>
          </p:blipFill>
          <p:spPr>
            <a:xfrm>
              <a:off x="4144565" y="2374899"/>
              <a:ext cx="139700" cy="127000"/>
            </a:xfrm>
            <a:prstGeom prst="rect">
              <a:avLst/>
            </a:prstGeom>
          </p:spPr>
        </p:pic>
      </p:grpSp>
      <p:sp>
        <p:nvSpPr>
          <p:cNvPr id="22" name="object 22"/>
          <p:cNvSpPr txBox="1"/>
          <p:nvPr/>
        </p:nvSpPr>
        <p:spPr>
          <a:xfrm>
            <a:off x="4086295" y="3096662"/>
            <a:ext cx="2654373" cy="1242263"/>
          </a:xfrm>
          <a:prstGeom prst="rect">
            <a:avLst/>
          </a:prstGeom>
        </p:spPr>
        <p:txBody>
          <a:bodyPr vert="horz" wrap="square" lIns="0" tIns="100330" rIns="0" bIns="0" rtlCol="0">
            <a:spAutoFit/>
          </a:bodyPr>
          <a:lstStyle/>
          <a:p>
            <a:pPr marL="175260">
              <a:lnSpc>
                <a:spcPct val="100000"/>
              </a:lnSpc>
              <a:spcBef>
                <a:spcPts val="790"/>
              </a:spcBef>
            </a:pPr>
            <a:r>
              <a:rPr sz="1600" b="1" spc="-85" dirty="0">
                <a:solidFill>
                  <a:srgbClr val="1A1A2E"/>
                </a:solidFill>
                <a:latin typeface="Arial"/>
                <a:cs typeface="Arial"/>
              </a:rPr>
              <a:t>MBZIRC</a:t>
            </a:r>
            <a:r>
              <a:rPr sz="1600" b="1" spc="-65" dirty="0">
                <a:solidFill>
                  <a:srgbClr val="1A1A2E"/>
                </a:solidFill>
                <a:latin typeface="Arial"/>
                <a:cs typeface="Arial"/>
              </a:rPr>
              <a:t> </a:t>
            </a:r>
            <a:r>
              <a:rPr sz="1600" b="1" spc="-10" dirty="0">
                <a:solidFill>
                  <a:srgbClr val="1A1A2E"/>
                </a:solidFill>
                <a:latin typeface="Arial"/>
                <a:cs typeface="Arial"/>
              </a:rPr>
              <a:t>Challenge</a:t>
            </a:r>
            <a:endParaRPr sz="1600" dirty="0">
              <a:latin typeface="Arial"/>
              <a:cs typeface="Arial"/>
            </a:endParaRPr>
          </a:p>
          <a:p>
            <a:pPr marL="12700" marR="5080">
              <a:lnSpc>
                <a:spcPct val="114599"/>
              </a:lnSpc>
              <a:spcBef>
                <a:spcPts val="459"/>
              </a:spcBef>
            </a:pPr>
            <a:r>
              <a:rPr sz="1200" spc="-20" dirty="0">
                <a:solidFill>
                  <a:srgbClr val="666666"/>
                </a:solidFill>
                <a:latin typeface="Microsoft Sans Serif"/>
                <a:cs typeface="Microsoft Sans Serif"/>
              </a:rPr>
              <a:t>Mohamed</a:t>
            </a:r>
            <a:r>
              <a:rPr sz="1200" spc="-5" dirty="0">
                <a:solidFill>
                  <a:srgbClr val="666666"/>
                </a:solidFill>
                <a:latin typeface="Microsoft Sans Serif"/>
                <a:cs typeface="Microsoft Sans Serif"/>
              </a:rPr>
              <a:t> </a:t>
            </a:r>
            <a:r>
              <a:rPr sz="1200" spc="-25" dirty="0">
                <a:solidFill>
                  <a:srgbClr val="666666"/>
                </a:solidFill>
                <a:latin typeface="Microsoft Sans Serif"/>
                <a:cs typeface="Microsoft Sans Serif"/>
              </a:rPr>
              <a:t>Bin</a:t>
            </a:r>
            <a:r>
              <a:rPr sz="1200" spc="-5" dirty="0">
                <a:solidFill>
                  <a:srgbClr val="666666"/>
                </a:solidFill>
                <a:latin typeface="Microsoft Sans Serif"/>
                <a:cs typeface="Microsoft Sans Serif"/>
              </a:rPr>
              <a:t> </a:t>
            </a:r>
            <a:r>
              <a:rPr sz="1200" spc="-25" dirty="0">
                <a:solidFill>
                  <a:srgbClr val="666666"/>
                </a:solidFill>
                <a:latin typeface="Microsoft Sans Serif"/>
                <a:cs typeface="Microsoft Sans Serif"/>
              </a:rPr>
              <a:t>Zayed</a:t>
            </a:r>
            <a:r>
              <a:rPr sz="1200" spc="-5" dirty="0">
                <a:solidFill>
                  <a:srgbClr val="666666"/>
                </a:solidFill>
                <a:latin typeface="Microsoft Sans Serif"/>
                <a:cs typeface="Microsoft Sans Serif"/>
              </a:rPr>
              <a:t> </a:t>
            </a:r>
            <a:r>
              <a:rPr sz="1200" spc="-20" dirty="0">
                <a:solidFill>
                  <a:srgbClr val="666666"/>
                </a:solidFill>
                <a:latin typeface="Microsoft Sans Serif"/>
                <a:cs typeface="Microsoft Sans Serif"/>
              </a:rPr>
              <a:t>International</a:t>
            </a:r>
            <a:r>
              <a:rPr sz="1200" spc="-5" dirty="0">
                <a:solidFill>
                  <a:srgbClr val="666666"/>
                </a:solidFill>
                <a:latin typeface="Microsoft Sans Serif"/>
                <a:cs typeface="Microsoft Sans Serif"/>
              </a:rPr>
              <a:t> </a:t>
            </a:r>
            <a:r>
              <a:rPr sz="1200" spc="-10" dirty="0">
                <a:solidFill>
                  <a:srgbClr val="666666"/>
                </a:solidFill>
                <a:latin typeface="Microsoft Sans Serif"/>
                <a:cs typeface="Microsoft Sans Serif"/>
              </a:rPr>
              <a:t>Robotics </a:t>
            </a:r>
            <a:r>
              <a:rPr sz="1200" spc="-25" dirty="0">
                <a:solidFill>
                  <a:srgbClr val="666666"/>
                </a:solidFill>
                <a:latin typeface="Microsoft Sans Serif"/>
                <a:cs typeface="Microsoft Sans Serif"/>
              </a:rPr>
              <a:t>Challenge</a:t>
            </a:r>
            <a:r>
              <a:rPr sz="1200" spc="-5" dirty="0">
                <a:solidFill>
                  <a:srgbClr val="666666"/>
                </a:solidFill>
                <a:latin typeface="Microsoft Sans Serif"/>
                <a:cs typeface="Microsoft Sans Serif"/>
              </a:rPr>
              <a:t> </a:t>
            </a:r>
            <a:r>
              <a:rPr sz="1200" spc="-10" dirty="0">
                <a:solidFill>
                  <a:srgbClr val="666666"/>
                </a:solidFill>
                <a:latin typeface="Microsoft Sans Serif"/>
                <a:cs typeface="Microsoft Sans Serif"/>
              </a:rPr>
              <a:t>provides</a:t>
            </a:r>
            <a:r>
              <a:rPr sz="1200" dirty="0">
                <a:solidFill>
                  <a:srgbClr val="666666"/>
                </a:solidFill>
                <a:latin typeface="Microsoft Sans Serif"/>
                <a:cs typeface="Microsoft Sans Serif"/>
              </a:rPr>
              <a:t> </a:t>
            </a:r>
            <a:r>
              <a:rPr sz="1200" spc="-10" dirty="0">
                <a:solidFill>
                  <a:srgbClr val="666666"/>
                </a:solidFill>
                <a:latin typeface="Microsoft Sans Serif"/>
                <a:cs typeface="Microsoft Sans Serif"/>
              </a:rPr>
              <a:t>benchmarks</a:t>
            </a:r>
            <a:r>
              <a:rPr sz="1200" spc="-5" dirty="0">
                <a:solidFill>
                  <a:srgbClr val="666666"/>
                </a:solidFill>
                <a:latin typeface="Microsoft Sans Serif"/>
                <a:cs typeface="Microsoft Sans Serif"/>
              </a:rPr>
              <a:t> </a:t>
            </a:r>
            <a:r>
              <a:rPr sz="1200" dirty="0">
                <a:solidFill>
                  <a:srgbClr val="666666"/>
                </a:solidFill>
                <a:latin typeface="Microsoft Sans Serif"/>
                <a:cs typeface="Microsoft Sans Serif"/>
              </a:rPr>
              <a:t>for drone-</a:t>
            </a:r>
            <a:r>
              <a:rPr sz="1200" spc="-20" dirty="0">
                <a:solidFill>
                  <a:srgbClr val="666666"/>
                </a:solidFill>
                <a:latin typeface="Microsoft Sans Serif"/>
                <a:cs typeface="Microsoft Sans Serif"/>
              </a:rPr>
              <a:t>based </a:t>
            </a:r>
            <a:r>
              <a:rPr sz="1200" spc="-10" dirty="0">
                <a:solidFill>
                  <a:srgbClr val="666666"/>
                </a:solidFill>
                <a:latin typeface="Microsoft Sans Serif"/>
                <a:cs typeface="Microsoft Sans Serif"/>
              </a:rPr>
              <a:t>detection</a:t>
            </a:r>
            <a:r>
              <a:rPr sz="1200" spc="-25" dirty="0">
                <a:solidFill>
                  <a:srgbClr val="666666"/>
                </a:solidFill>
                <a:latin typeface="Microsoft Sans Serif"/>
                <a:cs typeface="Microsoft Sans Serif"/>
              </a:rPr>
              <a:t> </a:t>
            </a:r>
            <a:r>
              <a:rPr sz="1200" dirty="0">
                <a:solidFill>
                  <a:srgbClr val="666666"/>
                </a:solidFill>
                <a:latin typeface="Microsoft Sans Serif"/>
                <a:cs typeface="Microsoft Sans Serif"/>
              </a:rPr>
              <a:t>in</a:t>
            </a:r>
            <a:r>
              <a:rPr sz="1200" spc="-25" dirty="0">
                <a:solidFill>
                  <a:srgbClr val="666666"/>
                </a:solidFill>
                <a:latin typeface="Microsoft Sans Serif"/>
                <a:cs typeface="Microsoft Sans Serif"/>
              </a:rPr>
              <a:t> </a:t>
            </a:r>
            <a:r>
              <a:rPr sz="1200" spc="-10" dirty="0">
                <a:solidFill>
                  <a:srgbClr val="666666"/>
                </a:solidFill>
                <a:latin typeface="Microsoft Sans Serif"/>
                <a:cs typeface="Microsoft Sans Serif"/>
              </a:rPr>
              <a:t>harsh</a:t>
            </a:r>
            <a:r>
              <a:rPr sz="1200" spc="-25" dirty="0">
                <a:solidFill>
                  <a:srgbClr val="666666"/>
                </a:solidFill>
                <a:latin typeface="Microsoft Sans Serif"/>
                <a:cs typeface="Microsoft Sans Serif"/>
              </a:rPr>
              <a:t> </a:t>
            </a:r>
            <a:r>
              <a:rPr sz="1200" spc="-10" dirty="0">
                <a:solidFill>
                  <a:srgbClr val="666666"/>
                </a:solidFill>
                <a:latin typeface="Microsoft Sans Serif"/>
                <a:cs typeface="Microsoft Sans Serif"/>
              </a:rPr>
              <a:t>environments.</a:t>
            </a:r>
            <a:endParaRPr sz="1200" dirty="0">
              <a:latin typeface="Microsoft Sans Serif"/>
              <a:cs typeface="Microsoft Sans Serif"/>
            </a:endParaRPr>
          </a:p>
        </p:txBody>
      </p:sp>
      <p:grpSp>
        <p:nvGrpSpPr>
          <p:cNvPr id="23" name="object 23"/>
          <p:cNvGrpSpPr/>
          <p:nvPr/>
        </p:nvGrpSpPr>
        <p:grpSpPr>
          <a:xfrm>
            <a:off x="6821955" y="3054439"/>
            <a:ext cx="3096745" cy="1379967"/>
            <a:chOff x="6867524" y="2209797"/>
            <a:chExt cx="2752725" cy="1152525"/>
          </a:xfrm>
        </p:grpSpPr>
        <p:sp>
          <p:nvSpPr>
            <p:cNvPr id="24" name="object 24"/>
            <p:cNvSpPr/>
            <p:nvPr/>
          </p:nvSpPr>
          <p:spPr>
            <a:xfrm>
              <a:off x="6881811" y="2209797"/>
              <a:ext cx="2738755" cy="1152525"/>
            </a:xfrm>
            <a:custGeom>
              <a:avLst/>
              <a:gdLst/>
              <a:ahLst/>
              <a:cxnLst/>
              <a:rect l="l" t="t" r="r" b="b"/>
              <a:pathLst>
                <a:path w="2738754" h="1152525">
                  <a:moveTo>
                    <a:pt x="2667241" y="1152520"/>
                  </a:moveTo>
                  <a:lnTo>
                    <a:pt x="57847" y="1152520"/>
                  </a:lnTo>
                  <a:lnTo>
                    <a:pt x="53821" y="1152027"/>
                  </a:lnTo>
                  <a:lnTo>
                    <a:pt x="15259" y="1126656"/>
                  </a:lnTo>
                  <a:lnTo>
                    <a:pt x="396" y="1086277"/>
                  </a:lnTo>
                  <a:lnTo>
                    <a:pt x="0" y="1081324"/>
                  </a:lnTo>
                  <a:lnTo>
                    <a:pt x="0" y="1076324"/>
                  </a:lnTo>
                  <a:lnTo>
                    <a:pt x="0" y="71195"/>
                  </a:lnTo>
                  <a:lnTo>
                    <a:pt x="12692" y="29700"/>
                  </a:lnTo>
                  <a:lnTo>
                    <a:pt x="41975" y="3883"/>
                  </a:lnTo>
                  <a:lnTo>
                    <a:pt x="57847" y="0"/>
                  </a:lnTo>
                  <a:lnTo>
                    <a:pt x="2667241" y="0"/>
                  </a:lnTo>
                  <a:lnTo>
                    <a:pt x="2708731" y="15617"/>
                  </a:lnTo>
                  <a:lnTo>
                    <a:pt x="2734550" y="51653"/>
                  </a:lnTo>
                  <a:lnTo>
                    <a:pt x="2738437" y="71195"/>
                  </a:lnTo>
                  <a:lnTo>
                    <a:pt x="2738437" y="1081324"/>
                  </a:lnTo>
                  <a:lnTo>
                    <a:pt x="2722815" y="1122805"/>
                  </a:lnTo>
                  <a:lnTo>
                    <a:pt x="2686775" y="1148627"/>
                  </a:lnTo>
                  <a:lnTo>
                    <a:pt x="2672196" y="1152027"/>
                  </a:lnTo>
                  <a:lnTo>
                    <a:pt x="2667241" y="1152520"/>
                  </a:lnTo>
                  <a:close/>
                </a:path>
              </a:pathLst>
            </a:custGeom>
            <a:solidFill>
              <a:srgbClr val="F7F9FA"/>
            </a:solidFill>
          </p:spPr>
          <p:txBody>
            <a:bodyPr wrap="square" lIns="0" tIns="0" rIns="0" bIns="0" rtlCol="0"/>
            <a:lstStyle/>
            <a:p>
              <a:endParaRPr sz="3200"/>
            </a:p>
          </p:txBody>
        </p:sp>
        <p:sp>
          <p:nvSpPr>
            <p:cNvPr id="25" name="object 25"/>
            <p:cNvSpPr/>
            <p:nvPr/>
          </p:nvSpPr>
          <p:spPr>
            <a:xfrm>
              <a:off x="6867524" y="2210177"/>
              <a:ext cx="69215" cy="1151890"/>
            </a:xfrm>
            <a:custGeom>
              <a:avLst/>
              <a:gdLst/>
              <a:ahLst/>
              <a:cxnLst/>
              <a:rect l="l" t="t" r="r" b="b"/>
              <a:pathLst>
                <a:path w="69215" h="1151889">
                  <a:moveTo>
                    <a:pt x="68698" y="1151770"/>
                  </a:moveTo>
                  <a:lnTo>
                    <a:pt x="27882" y="1134880"/>
                  </a:lnTo>
                  <a:lnTo>
                    <a:pt x="3262" y="1098033"/>
                  </a:lnTo>
                  <a:lnTo>
                    <a:pt x="0" y="1075947"/>
                  </a:lnTo>
                  <a:lnTo>
                    <a:pt x="0" y="75822"/>
                  </a:lnTo>
                  <a:lnTo>
                    <a:pt x="12830" y="33479"/>
                  </a:lnTo>
                  <a:lnTo>
                    <a:pt x="47038" y="5422"/>
                  </a:lnTo>
                  <a:lnTo>
                    <a:pt x="68698" y="0"/>
                  </a:lnTo>
                  <a:lnTo>
                    <a:pt x="63809" y="1556"/>
                  </a:lnTo>
                  <a:lnTo>
                    <a:pt x="52140" y="9289"/>
                  </a:lnTo>
                  <a:lnTo>
                    <a:pt x="32199" y="46661"/>
                  </a:lnTo>
                  <a:lnTo>
                    <a:pt x="28575" y="75822"/>
                  </a:lnTo>
                  <a:lnTo>
                    <a:pt x="28575" y="1075947"/>
                  </a:lnTo>
                  <a:lnTo>
                    <a:pt x="36593" y="1118289"/>
                  </a:lnTo>
                  <a:lnTo>
                    <a:pt x="63809" y="1150213"/>
                  </a:lnTo>
                  <a:lnTo>
                    <a:pt x="68698" y="1151770"/>
                  </a:lnTo>
                  <a:close/>
                </a:path>
              </a:pathLst>
            </a:custGeom>
            <a:solidFill>
              <a:srgbClr val="BF382A"/>
            </a:solidFill>
          </p:spPr>
          <p:txBody>
            <a:bodyPr wrap="square" lIns="0" tIns="0" rIns="0" bIns="0" rtlCol="0"/>
            <a:lstStyle/>
            <a:p>
              <a:endParaRPr sz="3200"/>
            </a:p>
          </p:txBody>
        </p:sp>
        <p:pic>
          <p:nvPicPr>
            <p:cNvPr id="26" name="object 26"/>
            <p:cNvPicPr/>
            <p:nvPr/>
          </p:nvPicPr>
          <p:blipFill>
            <a:blip r:embed="rId8" cstate="print"/>
            <a:stretch>
              <a:fillRect/>
            </a:stretch>
          </p:blipFill>
          <p:spPr>
            <a:xfrm>
              <a:off x="7034609" y="2384424"/>
              <a:ext cx="158750" cy="111125"/>
            </a:xfrm>
            <a:prstGeom prst="rect">
              <a:avLst/>
            </a:prstGeom>
          </p:spPr>
        </p:pic>
      </p:grpSp>
      <p:sp>
        <p:nvSpPr>
          <p:cNvPr id="27" name="object 27"/>
          <p:cNvSpPr txBox="1"/>
          <p:nvPr/>
        </p:nvSpPr>
        <p:spPr>
          <a:xfrm>
            <a:off x="6979515" y="3096661"/>
            <a:ext cx="2575538" cy="1029897"/>
          </a:xfrm>
          <a:prstGeom prst="rect">
            <a:avLst/>
          </a:prstGeom>
        </p:spPr>
        <p:txBody>
          <a:bodyPr vert="horz" wrap="square" lIns="0" tIns="100330" rIns="0" bIns="0" rtlCol="0">
            <a:spAutoFit/>
          </a:bodyPr>
          <a:lstStyle/>
          <a:p>
            <a:pPr marL="190500">
              <a:lnSpc>
                <a:spcPct val="100000"/>
              </a:lnSpc>
              <a:spcBef>
                <a:spcPts val="790"/>
              </a:spcBef>
            </a:pPr>
            <a:r>
              <a:rPr sz="1600" b="1" spc="-75" dirty="0">
                <a:solidFill>
                  <a:srgbClr val="1A1A2E"/>
                </a:solidFill>
                <a:latin typeface="Arial"/>
                <a:cs typeface="Arial"/>
              </a:rPr>
              <a:t>Shaheen </a:t>
            </a:r>
            <a:r>
              <a:rPr sz="1600" b="1" spc="-10" dirty="0">
                <a:solidFill>
                  <a:srgbClr val="1A1A2E"/>
                </a:solidFill>
                <a:latin typeface="Arial"/>
                <a:cs typeface="Arial"/>
              </a:rPr>
              <a:t>Project</a:t>
            </a:r>
            <a:endParaRPr sz="1600" dirty="0">
              <a:latin typeface="Arial"/>
              <a:cs typeface="Arial"/>
            </a:endParaRPr>
          </a:p>
          <a:p>
            <a:pPr marL="12700" marR="5080">
              <a:lnSpc>
                <a:spcPct val="114599"/>
              </a:lnSpc>
              <a:spcBef>
                <a:spcPts val="459"/>
              </a:spcBef>
            </a:pPr>
            <a:r>
              <a:rPr sz="1200" spc="-60" dirty="0">
                <a:solidFill>
                  <a:srgbClr val="666666"/>
                </a:solidFill>
                <a:latin typeface="Microsoft Sans Serif"/>
                <a:cs typeface="Microsoft Sans Serif"/>
              </a:rPr>
              <a:t>AUS</a:t>
            </a:r>
            <a:r>
              <a:rPr sz="1200" spc="-10" dirty="0">
                <a:solidFill>
                  <a:srgbClr val="666666"/>
                </a:solidFill>
                <a:latin typeface="Microsoft Sans Serif"/>
                <a:cs typeface="Microsoft Sans Serif"/>
              </a:rPr>
              <a:t> students </a:t>
            </a:r>
            <a:r>
              <a:rPr sz="1200" dirty="0">
                <a:solidFill>
                  <a:srgbClr val="666666"/>
                </a:solidFill>
                <a:latin typeface="Microsoft Sans Serif"/>
                <a:cs typeface="Microsoft Sans Serif"/>
              </a:rPr>
              <a:t>desert</a:t>
            </a:r>
            <a:r>
              <a:rPr sz="1200" spc="-10" dirty="0">
                <a:solidFill>
                  <a:srgbClr val="666666"/>
                </a:solidFill>
                <a:latin typeface="Microsoft Sans Serif"/>
                <a:cs typeface="Microsoft Sans Serif"/>
              </a:rPr>
              <a:t> rescue </a:t>
            </a:r>
            <a:r>
              <a:rPr sz="1200" spc="-20" dirty="0">
                <a:solidFill>
                  <a:srgbClr val="666666"/>
                </a:solidFill>
                <a:latin typeface="Microsoft Sans Serif"/>
                <a:cs typeface="Microsoft Sans Serif"/>
              </a:rPr>
              <a:t>innovation</a:t>
            </a:r>
            <a:r>
              <a:rPr sz="1200" spc="-5" dirty="0">
                <a:solidFill>
                  <a:srgbClr val="666666"/>
                </a:solidFill>
                <a:latin typeface="Microsoft Sans Serif"/>
                <a:cs typeface="Microsoft Sans Serif"/>
              </a:rPr>
              <a:t> </a:t>
            </a:r>
            <a:r>
              <a:rPr sz="1200" spc="80" dirty="0">
                <a:solidFill>
                  <a:srgbClr val="666666"/>
                </a:solidFill>
                <a:latin typeface="Microsoft Sans Serif"/>
                <a:cs typeface="Microsoft Sans Serif"/>
              </a:rPr>
              <a:t>-</a:t>
            </a:r>
            <a:r>
              <a:rPr sz="1200" spc="-10" dirty="0">
                <a:solidFill>
                  <a:srgbClr val="666666"/>
                </a:solidFill>
                <a:latin typeface="Microsoft Sans Serif"/>
                <a:cs typeface="Microsoft Sans Serif"/>
              </a:rPr>
              <a:t> pioneer </a:t>
            </a:r>
            <a:r>
              <a:rPr sz="1200" dirty="0">
                <a:solidFill>
                  <a:srgbClr val="666666"/>
                </a:solidFill>
                <a:latin typeface="Microsoft Sans Serif"/>
                <a:cs typeface="Microsoft Sans Serif"/>
              </a:rPr>
              <a:t>work in </a:t>
            </a:r>
            <a:r>
              <a:rPr sz="1200" spc="-20" dirty="0">
                <a:solidFill>
                  <a:srgbClr val="666666"/>
                </a:solidFill>
                <a:latin typeface="Microsoft Sans Serif"/>
                <a:cs typeface="Microsoft Sans Serif"/>
              </a:rPr>
              <a:t>regional</a:t>
            </a:r>
            <a:r>
              <a:rPr sz="1200" spc="5" dirty="0">
                <a:solidFill>
                  <a:srgbClr val="666666"/>
                </a:solidFill>
                <a:latin typeface="Microsoft Sans Serif"/>
                <a:cs typeface="Microsoft Sans Serif"/>
              </a:rPr>
              <a:t> </a:t>
            </a:r>
            <a:r>
              <a:rPr sz="1200" spc="-85" dirty="0">
                <a:solidFill>
                  <a:srgbClr val="666666"/>
                </a:solidFill>
                <a:latin typeface="Microsoft Sans Serif"/>
                <a:cs typeface="Microsoft Sans Serif"/>
              </a:rPr>
              <a:t>SAR</a:t>
            </a:r>
            <a:r>
              <a:rPr sz="1200" dirty="0">
                <a:solidFill>
                  <a:srgbClr val="666666"/>
                </a:solidFill>
                <a:latin typeface="Microsoft Sans Serif"/>
                <a:cs typeface="Microsoft Sans Serif"/>
              </a:rPr>
              <a:t> </a:t>
            </a:r>
            <a:r>
              <a:rPr sz="1200" spc="-10" dirty="0">
                <a:solidFill>
                  <a:srgbClr val="666666"/>
                </a:solidFill>
                <a:latin typeface="Microsoft Sans Serif"/>
                <a:cs typeface="Microsoft Sans Serif"/>
              </a:rPr>
              <a:t>drone</a:t>
            </a:r>
            <a:r>
              <a:rPr sz="1200" dirty="0">
                <a:solidFill>
                  <a:srgbClr val="666666"/>
                </a:solidFill>
                <a:latin typeface="Microsoft Sans Serif"/>
                <a:cs typeface="Microsoft Sans Serif"/>
              </a:rPr>
              <a:t> </a:t>
            </a:r>
            <a:r>
              <a:rPr sz="1200" spc="-20" dirty="0">
                <a:solidFill>
                  <a:srgbClr val="666666"/>
                </a:solidFill>
                <a:latin typeface="Microsoft Sans Serif"/>
                <a:cs typeface="Microsoft Sans Serif"/>
              </a:rPr>
              <a:t>development</a:t>
            </a:r>
            <a:r>
              <a:rPr sz="1200" spc="5" dirty="0">
                <a:solidFill>
                  <a:srgbClr val="666666"/>
                </a:solidFill>
                <a:latin typeface="Microsoft Sans Serif"/>
                <a:cs typeface="Microsoft Sans Serif"/>
              </a:rPr>
              <a:t> </a:t>
            </a:r>
            <a:r>
              <a:rPr sz="1200" spc="-20" dirty="0">
                <a:solidFill>
                  <a:srgbClr val="666666"/>
                </a:solidFill>
                <a:latin typeface="Microsoft Sans Serif"/>
                <a:cs typeface="Microsoft Sans Serif"/>
              </a:rPr>
              <a:t>with </a:t>
            </a:r>
            <a:r>
              <a:rPr sz="1200" spc="-10" dirty="0">
                <a:solidFill>
                  <a:srgbClr val="666666"/>
                </a:solidFill>
                <a:latin typeface="Microsoft Sans Serif"/>
                <a:cs typeface="Microsoft Sans Serif"/>
              </a:rPr>
              <a:t>global</a:t>
            </a:r>
            <a:r>
              <a:rPr sz="1200" spc="-40" dirty="0">
                <a:solidFill>
                  <a:srgbClr val="666666"/>
                </a:solidFill>
                <a:latin typeface="Microsoft Sans Serif"/>
                <a:cs typeface="Microsoft Sans Serif"/>
              </a:rPr>
              <a:t> </a:t>
            </a:r>
            <a:r>
              <a:rPr sz="1200" spc="-10" dirty="0">
                <a:solidFill>
                  <a:srgbClr val="666666"/>
                </a:solidFill>
                <a:latin typeface="Microsoft Sans Serif"/>
                <a:cs typeface="Microsoft Sans Serif"/>
              </a:rPr>
              <a:t>recognition.</a:t>
            </a:r>
            <a:endParaRPr sz="1200" dirty="0">
              <a:latin typeface="Microsoft Sans Serif"/>
              <a:cs typeface="Microsoft Sans Serif"/>
            </a:endParaRPr>
          </a:p>
        </p:txBody>
      </p:sp>
      <p:sp>
        <p:nvSpPr>
          <p:cNvPr id="28" name="object 28"/>
          <p:cNvSpPr txBox="1"/>
          <p:nvPr/>
        </p:nvSpPr>
        <p:spPr>
          <a:xfrm>
            <a:off x="1217032" y="4887393"/>
            <a:ext cx="6704330" cy="693780"/>
          </a:xfrm>
          <a:prstGeom prst="rect">
            <a:avLst/>
          </a:prstGeom>
        </p:spPr>
        <p:txBody>
          <a:bodyPr vert="horz" wrap="square" lIns="0" tIns="74930" rIns="0" bIns="0" rtlCol="0">
            <a:spAutoFit/>
          </a:bodyPr>
          <a:lstStyle/>
          <a:p>
            <a:pPr marL="120014">
              <a:lnSpc>
                <a:spcPct val="100000"/>
              </a:lnSpc>
              <a:spcBef>
                <a:spcPts val="590"/>
              </a:spcBef>
            </a:pPr>
            <a:r>
              <a:rPr sz="1200" b="1" spc="-70" dirty="0">
                <a:solidFill>
                  <a:srgbClr val="333333"/>
                </a:solidFill>
                <a:latin typeface="Arial"/>
                <a:cs typeface="Arial"/>
              </a:rPr>
              <a:t>Key</a:t>
            </a:r>
            <a:r>
              <a:rPr sz="1200" b="1" spc="-75" dirty="0">
                <a:solidFill>
                  <a:srgbClr val="333333"/>
                </a:solidFill>
                <a:latin typeface="Arial"/>
                <a:cs typeface="Arial"/>
              </a:rPr>
              <a:t> </a:t>
            </a:r>
            <a:r>
              <a:rPr sz="1200" b="1" spc="-35" dirty="0">
                <a:solidFill>
                  <a:srgbClr val="333333"/>
                </a:solidFill>
                <a:latin typeface="Arial"/>
                <a:cs typeface="Arial"/>
              </a:rPr>
              <a:t>Gap</a:t>
            </a:r>
            <a:r>
              <a:rPr sz="1200" b="1" spc="-70" dirty="0">
                <a:solidFill>
                  <a:srgbClr val="333333"/>
                </a:solidFill>
                <a:latin typeface="Arial"/>
                <a:cs typeface="Arial"/>
              </a:rPr>
              <a:t> </a:t>
            </a:r>
            <a:r>
              <a:rPr sz="1200" b="1" spc="-10" dirty="0">
                <a:solidFill>
                  <a:srgbClr val="333333"/>
                </a:solidFill>
                <a:latin typeface="Arial"/>
                <a:cs typeface="Arial"/>
              </a:rPr>
              <a:t>Identified</a:t>
            </a:r>
            <a:endParaRPr sz="1200" dirty="0">
              <a:latin typeface="Arial"/>
              <a:cs typeface="Arial"/>
            </a:endParaRPr>
          </a:p>
          <a:p>
            <a:pPr marL="12700">
              <a:lnSpc>
                <a:spcPct val="100000"/>
              </a:lnSpc>
              <a:spcBef>
                <a:spcPts val="484"/>
              </a:spcBef>
            </a:pPr>
            <a:r>
              <a:rPr sz="1200" spc="-20" dirty="0">
                <a:solidFill>
                  <a:srgbClr val="545454"/>
                </a:solidFill>
                <a:latin typeface="Microsoft Sans Serif"/>
                <a:cs typeface="Microsoft Sans Serif"/>
              </a:rPr>
              <a:t>Existing</a:t>
            </a:r>
            <a:r>
              <a:rPr sz="1200" spc="-5" dirty="0">
                <a:solidFill>
                  <a:srgbClr val="545454"/>
                </a:solidFill>
                <a:latin typeface="Microsoft Sans Serif"/>
                <a:cs typeface="Microsoft Sans Serif"/>
              </a:rPr>
              <a:t> </a:t>
            </a:r>
            <a:r>
              <a:rPr sz="1200" spc="-10" dirty="0">
                <a:solidFill>
                  <a:srgbClr val="545454"/>
                </a:solidFill>
                <a:latin typeface="Microsoft Sans Serif"/>
                <a:cs typeface="Microsoft Sans Serif"/>
              </a:rPr>
              <a:t>systems</a:t>
            </a:r>
            <a:r>
              <a:rPr sz="1200" dirty="0">
                <a:solidFill>
                  <a:srgbClr val="545454"/>
                </a:solidFill>
                <a:latin typeface="Microsoft Sans Serif"/>
                <a:cs typeface="Microsoft Sans Serif"/>
              </a:rPr>
              <a:t> focus on</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accuracy metrics without </a:t>
            </a:r>
            <a:r>
              <a:rPr sz="1200" spc="-10" dirty="0">
                <a:solidFill>
                  <a:srgbClr val="545454"/>
                </a:solidFill>
                <a:latin typeface="Microsoft Sans Serif"/>
                <a:cs typeface="Microsoft Sans Serif"/>
              </a:rPr>
              <a:t>considering</a:t>
            </a:r>
            <a:r>
              <a:rPr sz="1200" spc="-5" dirty="0">
                <a:solidFill>
                  <a:srgbClr val="545454"/>
                </a:solidFill>
                <a:latin typeface="Microsoft Sans Serif"/>
                <a:cs typeface="Microsoft Sans Serif"/>
              </a:rPr>
              <a:t> </a:t>
            </a:r>
            <a:r>
              <a:rPr sz="1200" b="1" spc="-10" dirty="0">
                <a:solidFill>
                  <a:srgbClr val="545454"/>
                </a:solidFill>
                <a:latin typeface="Arial"/>
                <a:cs typeface="Arial"/>
              </a:rPr>
              <a:t>real-</a:t>
            </a:r>
            <a:r>
              <a:rPr sz="1200" b="1" spc="-35" dirty="0">
                <a:solidFill>
                  <a:srgbClr val="545454"/>
                </a:solidFill>
                <a:latin typeface="Arial"/>
                <a:cs typeface="Arial"/>
              </a:rPr>
              <a:t>world</a:t>
            </a:r>
            <a:r>
              <a:rPr sz="1200" b="1" spc="-45" dirty="0">
                <a:solidFill>
                  <a:srgbClr val="545454"/>
                </a:solidFill>
                <a:latin typeface="Arial"/>
                <a:cs typeface="Arial"/>
              </a:rPr>
              <a:t> </a:t>
            </a:r>
            <a:r>
              <a:rPr sz="1200" b="1" spc="-25" dirty="0">
                <a:solidFill>
                  <a:srgbClr val="545454"/>
                </a:solidFill>
                <a:latin typeface="Arial"/>
                <a:cs typeface="Arial"/>
              </a:rPr>
              <a:t>desert</a:t>
            </a:r>
            <a:r>
              <a:rPr sz="1200" b="1" spc="-50" dirty="0">
                <a:solidFill>
                  <a:srgbClr val="545454"/>
                </a:solidFill>
                <a:latin typeface="Arial"/>
                <a:cs typeface="Arial"/>
              </a:rPr>
              <a:t> </a:t>
            </a:r>
            <a:r>
              <a:rPr sz="1200" b="1" spc="-35" dirty="0">
                <a:solidFill>
                  <a:srgbClr val="545454"/>
                </a:solidFill>
                <a:latin typeface="Arial"/>
                <a:cs typeface="Arial"/>
              </a:rPr>
              <a:t>conditions</a:t>
            </a:r>
            <a:r>
              <a:rPr sz="1200" spc="-35" dirty="0">
                <a:solidFill>
                  <a:srgbClr val="545454"/>
                </a:solidFill>
                <a:latin typeface="Microsoft Sans Serif"/>
                <a:cs typeface="Microsoft Sans Serif"/>
              </a:rPr>
              <a:t>,</a:t>
            </a:r>
            <a:r>
              <a:rPr sz="1200" dirty="0">
                <a:solidFill>
                  <a:srgbClr val="545454"/>
                </a:solidFill>
                <a:latin typeface="Microsoft Sans Serif"/>
                <a:cs typeface="Microsoft Sans Serif"/>
              </a:rPr>
              <a:t> </a:t>
            </a:r>
            <a:r>
              <a:rPr sz="1200" b="1" spc="-30" dirty="0">
                <a:solidFill>
                  <a:srgbClr val="545454"/>
                </a:solidFill>
                <a:latin typeface="Arial"/>
                <a:cs typeface="Arial"/>
              </a:rPr>
              <a:t>edge</a:t>
            </a:r>
            <a:r>
              <a:rPr sz="1200" b="1" spc="-50" dirty="0">
                <a:solidFill>
                  <a:srgbClr val="545454"/>
                </a:solidFill>
                <a:latin typeface="Arial"/>
                <a:cs typeface="Arial"/>
              </a:rPr>
              <a:t> </a:t>
            </a:r>
            <a:r>
              <a:rPr sz="1200" b="1" spc="-30" dirty="0">
                <a:solidFill>
                  <a:srgbClr val="545454"/>
                </a:solidFill>
                <a:latin typeface="Arial"/>
                <a:cs typeface="Arial"/>
              </a:rPr>
              <a:t>deployment</a:t>
            </a:r>
            <a:r>
              <a:rPr sz="1200" spc="-30" dirty="0">
                <a:solidFill>
                  <a:srgbClr val="545454"/>
                </a:solidFill>
                <a:latin typeface="Microsoft Sans Serif"/>
                <a:cs typeface="Microsoft Sans Serif"/>
              </a:rPr>
              <a:t>,</a:t>
            </a:r>
            <a:r>
              <a:rPr sz="1200" dirty="0">
                <a:solidFill>
                  <a:srgbClr val="545454"/>
                </a:solidFill>
                <a:latin typeface="Microsoft Sans Serif"/>
                <a:cs typeface="Microsoft Sans Serif"/>
              </a:rPr>
              <a:t> or </a:t>
            </a:r>
            <a:r>
              <a:rPr sz="1200" b="1" spc="-25" dirty="0">
                <a:solidFill>
                  <a:srgbClr val="545454"/>
                </a:solidFill>
                <a:latin typeface="Arial"/>
                <a:cs typeface="Arial"/>
              </a:rPr>
              <a:t>offline</a:t>
            </a:r>
            <a:r>
              <a:rPr sz="1200" b="1" spc="-50" dirty="0">
                <a:solidFill>
                  <a:srgbClr val="545454"/>
                </a:solidFill>
                <a:latin typeface="Arial"/>
                <a:cs typeface="Arial"/>
              </a:rPr>
              <a:t> </a:t>
            </a:r>
            <a:r>
              <a:rPr sz="1200" b="1" spc="-10" dirty="0">
                <a:solidFill>
                  <a:srgbClr val="545454"/>
                </a:solidFill>
                <a:latin typeface="Arial"/>
                <a:cs typeface="Arial"/>
              </a:rPr>
              <a:t>operation</a:t>
            </a:r>
            <a:r>
              <a:rPr sz="1200" spc="-10" dirty="0">
                <a:solidFill>
                  <a:srgbClr val="545454"/>
                </a:solidFill>
                <a:latin typeface="Microsoft Sans Serif"/>
                <a:cs typeface="Microsoft Sans Serif"/>
              </a:rPr>
              <a:t>.</a:t>
            </a:r>
            <a:endParaRPr sz="1200" dirty="0">
              <a:latin typeface="Microsoft Sans Serif"/>
              <a:cs typeface="Microsoft Sans Serif"/>
            </a:endParaRPr>
          </a:p>
        </p:txBody>
      </p:sp>
      <p:sp>
        <p:nvSpPr>
          <p:cNvPr id="29" name="object 29"/>
          <p:cNvSpPr/>
          <p:nvPr/>
        </p:nvSpPr>
        <p:spPr>
          <a:xfrm>
            <a:off x="1076324" y="6515096"/>
            <a:ext cx="8543925" cy="9525"/>
          </a:xfrm>
          <a:custGeom>
            <a:avLst/>
            <a:gdLst/>
            <a:ahLst/>
            <a:cxnLst/>
            <a:rect l="l" t="t" r="r" b="b"/>
            <a:pathLst>
              <a:path w="8543925" h="9525">
                <a:moveTo>
                  <a:pt x="8543924" y="9524"/>
                </a:moveTo>
                <a:lnTo>
                  <a:pt x="0" y="9524"/>
                </a:lnTo>
                <a:lnTo>
                  <a:pt x="0" y="0"/>
                </a:lnTo>
                <a:lnTo>
                  <a:pt x="8543924" y="0"/>
                </a:lnTo>
                <a:lnTo>
                  <a:pt x="8543924" y="9524"/>
                </a:lnTo>
                <a:close/>
              </a:path>
            </a:pathLst>
          </a:custGeom>
          <a:solidFill>
            <a:srgbClr val="EDEDED"/>
          </a:solidFill>
        </p:spPr>
        <p:txBody>
          <a:bodyPr wrap="square" lIns="0" tIns="0" rIns="0" bIns="0" rtlCol="0"/>
          <a:lstStyle/>
          <a:p>
            <a:endParaRPr/>
          </a:p>
        </p:txBody>
      </p:sp>
      <p:sp>
        <p:nvSpPr>
          <p:cNvPr id="30" name="object 30"/>
          <p:cNvSpPr txBox="1"/>
          <p:nvPr/>
        </p:nvSpPr>
        <p:spPr>
          <a:xfrm>
            <a:off x="1067196" y="6601817"/>
            <a:ext cx="1574800" cy="158115"/>
          </a:xfrm>
          <a:prstGeom prst="rect">
            <a:avLst/>
          </a:prstGeom>
        </p:spPr>
        <p:txBody>
          <a:bodyPr vert="horz" wrap="square" lIns="0" tIns="14604" rIns="0" bIns="0" rtlCol="0">
            <a:spAutoFit/>
          </a:bodyPr>
          <a:lstStyle/>
          <a:p>
            <a:pPr marL="12700">
              <a:lnSpc>
                <a:spcPct val="100000"/>
              </a:lnSpc>
              <a:spcBef>
                <a:spcPts val="114"/>
              </a:spcBef>
            </a:pPr>
            <a:r>
              <a:rPr sz="800" spc="-20" dirty="0">
                <a:solidFill>
                  <a:srgbClr val="878787"/>
                </a:solidFill>
                <a:latin typeface="Microsoft Sans Serif"/>
                <a:cs typeface="Microsoft Sans Serif"/>
              </a:rPr>
              <a:t>GoldenEye </a:t>
            </a:r>
            <a:r>
              <a:rPr sz="850" spc="-45" dirty="0">
                <a:solidFill>
                  <a:srgbClr val="878787"/>
                </a:solidFill>
                <a:latin typeface="Verdana"/>
                <a:cs typeface="Verdana"/>
              </a:rPr>
              <a:t>-</a:t>
            </a:r>
            <a:r>
              <a:rPr sz="850" spc="-90" dirty="0">
                <a:solidFill>
                  <a:srgbClr val="878787"/>
                </a:solidFill>
                <a:latin typeface="Verdana"/>
                <a:cs typeface="Verdana"/>
              </a:rPr>
              <a:t> </a:t>
            </a:r>
            <a:r>
              <a:rPr sz="800" dirty="0">
                <a:solidFill>
                  <a:srgbClr val="878787"/>
                </a:solidFill>
                <a:latin typeface="Microsoft Sans Serif"/>
                <a:cs typeface="Microsoft Sans Serif"/>
              </a:rPr>
              <a:t>AI</a:t>
            </a:r>
            <a:r>
              <a:rPr sz="800" spc="-10" dirty="0">
                <a:solidFill>
                  <a:srgbClr val="878787"/>
                </a:solidFill>
                <a:latin typeface="Microsoft Sans Serif"/>
                <a:cs typeface="Microsoft Sans Serif"/>
              </a:rPr>
              <a:t> </a:t>
            </a:r>
            <a:r>
              <a:rPr sz="800" spc="-55" dirty="0">
                <a:solidFill>
                  <a:srgbClr val="878787"/>
                </a:solidFill>
                <a:latin typeface="Microsoft Sans Serif"/>
                <a:cs typeface="Microsoft Sans Serif"/>
              </a:rPr>
              <a:t>SAR</a:t>
            </a:r>
            <a:r>
              <a:rPr sz="800" spc="-5" dirty="0">
                <a:solidFill>
                  <a:srgbClr val="878787"/>
                </a:solidFill>
                <a:latin typeface="Microsoft Sans Serif"/>
                <a:cs typeface="Microsoft Sans Serif"/>
              </a:rPr>
              <a:t> </a:t>
            </a:r>
            <a:r>
              <a:rPr sz="800" dirty="0">
                <a:solidFill>
                  <a:srgbClr val="878787"/>
                </a:solidFill>
                <a:latin typeface="Microsoft Sans Serif"/>
                <a:cs typeface="Microsoft Sans Serif"/>
              </a:rPr>
              <a:t>Drone</a:t>
            </a:r>
            <a:r>
              <a:rPr sz="800" spc="-10" dirty="0">
                <a:solidFill>
                  <a:srgbClr val="878787"/>
                </a:solidFill>
                <a:latin typeface="Microsoft Sans Serif"/>
                <a:cs typeface="Microsoft Sans Serif"/>
              </a:rPr>
              <a:t> System</a:t>
            </a:r>
            <a:endParaRPr sz="800">
              <a:latin typeface="Microsoft Sans Serif"/>
              <a:cs typeface="Microsoft Sans Serif"/>
            </a:endParaRPr>
          </a:p>
        </p:txBody>
      </p:sp>
      <p:pic>
        <p:nvPicPr>
          <p:cNvPr id="31" name="object 31"/>
          <p:cNvPicPr/>
          <p:nvPr/>
        </p:nvPicPr>
        <p:blipFill>
          <a:blip r:embed="rId9" cstate="print"/>
          <a:stretch>
            <a:fillRect/>
          </a:stretch>
        </p:blipFill>
        <p:spPr>
          <a:xfrm>
            <a:off x="9410699" y="6619871"/>
            <a:ext cx="209549" cy="209545"/>
          </a:xfrm>
          <a:prstGeom prst="rect">
            <a:avLst/>
          </a:prstGeom>
        </p:spPr>
      </p:pic>
      <p:sp>
        <p:nvSpPr>
          <p:cNvPr id="32" name="object 32"/>
          <p:cNvSpPr txBox="1"/>
          <p:nvPr/>
        </p:nvSpPr>
        <p:spPr>
          <a:xfrm>
            <a:off x="9468693" y="6645350"/>
            <a:ext cx="86360" cy="151130"/>
          </a:xfrm>
          <a:prstGeom prst="rect">
            <a:avLst/>
          </a:prstGeom>
        </p:spPr>
        <p:txBody>
          <a:bodyPr vert="horz" wrap="square" lIns="0" tIns="15875" rIns="0" bIns="0" rtlCol="0">
            <a:spAutoFit/>
          </a:bodyPr>
          <a:lstStyle/>
          <a:p>
            <a:pPr marL="12700">
              <a:lnSpc>
                <a:spcPct val="100000"/>
              </a:lnSpc>
              <a:spcBef>
                <a:spcPts val="125"/>
              </a:spcBef>
            </a:pPr>
            <a:r>
              <a:rPr sz="800" b="1" spc="-50" dirty="0">
                <a:solidFill>
                  <a:srgbClr val="FFFFFF"/>
                </a:solidFill>
                <a:latin typeface="Arial"/>
                <a:cs typeface="Arial"/>
              </a:rPr>
              <a:t>9</a:t>
            </a:r>
            <a:endParaRPr sz="800">
              <a:latin typeface="Arial"/>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F95B0E0-9C7F-7F17-F978-BF6447D81B2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66A3F34D-A43D-22D8-4F29-9815148AE021}"/>
              </a:ext>
            </a:extLst>
          </p:cNvPr>
          <p:cNvSpPr/>
          <p:nvPr/>
        </p:nvSpPr>
        <p:spPr>
          <a:xfrm>
            <a:off x="1076324" y="1285872"/>
            <a:ext cx="8543925" cy="28575"/>
          </a:xfrm>
          <a:custGeom>
            <a:avLst/>
            <a:gdLst/>
            <a:ahLst/>
            <a:cxnLst/>
            <a:rect l="l" t="t" r="r" b="b"/>
            <a:pathLst>
              <a:path w="8543925" h="28575">
                <a:moveTo>
                  <a:pt x="8543924" y="28574"/>
                </a:moveTo>
                <a:lnTo>
                  <a:pt x="0" y="28574"/>
                </a:lnTo>
                <a:lnTo>
                  <a:pt x="0" y="0"/>
                </a:lnTo>
                <a:lnTo>
                  <a:pt x="8543924" y="0"/>
                </a:lnTo>
                <a:lnTo>
                  <a:pt x="8543924" y="28574"/>
                </a:lnTo>
                <a:close/>
              </a:path>
            </a:pathLst>
          </a:custGeom>
          <a:solidFill>
            <a:srgbClr val="BF382A"/>
          </a:solidFill>
        </p:spPr>
        <p:txBody>
          <a:bodyPr wrap="square" lIns="0" tIns="0" rIns="0" bIns="0" rtlCol="0"/>
          <a:lstStyle/>
          <a:p>
            <a:endParaRPr/>
          </a:p>
        </p:txBody>
      </p:sp>
      <p:pic>
        <p:nvPicPr>
          <p:cNvPr id="3" name="object 3">
            <a:extLst>
              <a:ext uri="{FF2B5EF4-FFF2-40B4-BE49-F238E27FC236}">
                <a16:creationId xmlns:a16="http://schemas.microsoft.com/office/drawing/2014/main" id="{FF9F366B-7485-8E9F-3663-8BB43306E2BA}"/>
              </a:ext>
            </a:extLst>
          </p:cNvPr>
          <p:cNvPicPr/>
          <p:nvPr/>
        </p:nvPicPr>
        <p:blipFill>
          <a:blip r:embed="rId3" cstate="print"/>
          <a:stretch>
            <a:fillRect/>
          </a:stretch>
        </p:blipFill>
        <p:spPr>
          <a:xfrm>
            <a:off x="1079896" y="962025"/>
            <a:ext cx="238125" cy="184150"/>
          </a:xfrm>
          <a:prstGeom prst="rect">
            <a:avLst/>
          </a:prstGeom>
        </p:spPr>
      </p:pic>
      <p:sp>
        <p:nvSpPr>
          <p:cNvPr id="4" name="object 4">
            <a:extLst>
              <a:ext uri="{FF2B5EF4-FFF2-40B4-BE49-F238E27FC236}">
                <a16:creationId xmlns:a16="http://schemas.microsoft.com/office/drawing/2014/main" id="{35A55014-8053-3871-53CB-AE3E15C520C2}"/>
              </a:ext>
            </a:extLst>
          </p:cNvPr>
          <p:cNvSpPr txBox="1">
            <a:spLocks noGrp="1"/>
          </p:cNvSpPr>
          <p:nvPr>
            <p:ph type="title"/>
          </p:nvPr>
        </p:nvSpPr>
        <p:spPr>
          <a:xfrm>
            <a:off x="1384300" y="843443"/>
            <a:ext cx="3796110" cy="442429"/>
          </a:xfrm>
          <a:prstGeom prst="rect">
            <a:avLst/>
          </a:prstGeom>
        </p:spPr>
        <p:txBody>
          <a:bodyPr vert="horz" wrap="square" lIns="0" tIns="11430" rIns="0" bIns="0" rtlCol="0">
            <a:spAutoFit/>
          </a:bodyPr>
          <a:lstStyle/>
          <a:p>
            <a:pPr marL="12700">
              <a:lnSpc>
                <a:spcPct val="100000"/>
              </a:lnSpc>
              <a:spcBef>
                <a:spcPts val="90"/>
              </a:spcBef>
            </a:pPr>
            <a:r>
              <a:rPr sz="2800" spc="-100" dirty="0">
                <a:solidFill>
                  <a:srgbClr val="BF382A"/>
                </a:solidFill>
              </a:rPr>
              <a:t>Related</a:t>
            </a:r>
            <a:r>
              <a:rPr sz="2800" spc="-150" dirty="0">
                <a:solidFill>
                  <a:srgbClr val="BF382A"/>
                </a:solidFill>
              </a:rPr>
              <a:t> </a:t>
            </a:r>
            <a:r>
              <a:rPr sz="2800" spc="-114" dirty="0">
                <a:solidFill>
                  <a:srgbClr val="BF382A"/>
                </a:solidFill>
              </a:rPr>
              <a:t>Work</a:t>
            </a:r>
            <a:r>
              <a:rPr sz="2800" spc="-200" dirty="0">
                <a:solidFill>
                  <a:srgbClr val="BF382A"/>
                </a:solidFill>
              </a:rPr>
              <a:t> </a:t>
            </a:r>
            <a:r>
              <a:rPr sz="2800" spc="-125" dirty="0">
                <a:solidFill>
                  <a:srgbClr val="BF382A"/>
                </a:solidFill>
              </a:rPr>
              <a:t>Analysis</a:t>
            </a:r>
            <a:endParaRPr sz="2800" dirty="0"/>
          </a:p>
        </p:txBody>
      </p:sp>
      <p:sp>
        <p:nvSpPr>
          <p:cNvPr id="29" name="object 29">
            <a:extLst>
              <a:ext uri="{FF2B5EF4-FFF2-40B4-BE49-F238E27FC236}">
                <a16:creationId xmlns:a16="http://schemas.microsoft.com/office/drawing/2014/main" id="{F0788167-33B2-8044-D294-EE37972EA247}"/>
              </a:ext>
            </a:extLst>
          </p:cNvPr>
          <p:cNvSpPr/>
          <p:nvPr/>
        </p:nvSpPr>
        <p:spPr>
          <a:xfrm>
            <a:off x="1076324" y="6515096"/>
            <a:ext cx="8543925" cy="9525"/>
          </a:xfrm>
          <a:custGeom>
            <a:avLst/>
            <a:gdLst/>
            <a:ahLst/>
            <a:cxnLst/>
            <a:rect l="l" t="t" r="r" b="b"/>
            <a:pathLst>
              <a:path w="8543925" h="9525">
                <a:moveTo>
                  <a:pt x="8543924" y="9524"/>
                </a:moveTo>
                <a:lnTo>
                  <a:pt x="0" y="9524"/>
                </a:lnTo>
                <a:lnTo>
                  <a:pt x="0" y="0"/>
                </a:lnTo>
                <a:lnTo>
                  <a:pt x="8543924" y="0"/>
                </a:lnTo>
                <a:lnTo>
                  <a:pt x="8543924" y="9524"/>
                </a:lnTo>
                <a:close/>
              </a:path>
            </a:pathLst>
          </a:custGeom>
          <a:solidFill>
            <a:srgbClr val="EDEDED"/>
          </a:solidFill>
        </p:spPr>
        <p:txBody>
          <a:bodyPr wrap="square" lIns="0" tIns="0" rIns="0" bIns="0" rtlCol="0"/>
          <a:lstStyle/>
          <a:p>
            <a:endParaRPr/>
          </a:p>
        </p:txBody>
      </p:sp>
      <p:sp>
        <p:nvSpPr>
          <p:cNvPr id="30" name="object 30">
            <a:extLst>
              <a:ext uri="{FF2B5EF4-FFF2-40B4-BE49-F238E27FC236}">
                <a16:creationId xmlns:a16="http://schemas.microsoft.com/office/drawing/2014/main" id="{D5890F9A-D3FD-5C92-A7C0-1997FC4FDB50}"/>
              </a:ext>
            </a:extLst>
          </p:cNvPr>
          <p:cNvSpPr txBox="1"/>
          <p:nvPr/>
        </p:nvSpPr>
        <p:spPr>
          <a:xfrm>
            <a:off x="1067196" y="6601817"/>
            <a:ext cx="1574800" cy="158115"/>
          </a:xfrm>
          <a:prstGeom prst="rect">
            <a:avLst/>
          </a:prstGeom>
        </p:spPr>
        <p:txBody>
          <a:bodyPr vert="horz" wrap="square" lIns="0" tIns="14604" rIns="0" bIns="0" rtlCol="0">
            <a:spAutoFit/>
          </a:bodyPr>
          <a:lstStyle/>
          <a:p>
            <a:pPr marL="12700">
              <a:lnSpc>
                <a:spcPct val="100000"/>
              </a:lnSpc>
              <a:spcBef>
                <a:spcPts val="114"/>
              </a:spcBef>
            </a:pPr>
            <a:r>
              <a:rPr sz="800" spc="-20" dirty="0">
                <a:solidFill>
                  <a:srgbClr val="878787"/>
                </a:solidFill>
                <a:latin typeface="Microsoft Sans Serif"/>
                <a:cs typeface="Microsoft Sans Serif"/>
              </a:rPr>
              <a:t>GoldenEye </a:t>
            </a:r>
            <a:r>
              <a:rPr sz="850" spc="-45" dirty="0">
                <a:solidFill>
                  <a:srgbClr val="878787"/>
                </a:solidFill>
                <a:latin typeface="Verdana"/>
                <a:cs typeface="Verdana"/>
              </a:rPr>
              <a:t>-</a:t>
            </a:r>
            <a:r>
              <a:rPr sz="850" spc="-90" dirty="0">
                <a:solidFill>
                  <a:srgbClr val="878787"/>
                </a:solidFill>
                <a:latin typeface="Verdana"/>
                <a:cs typeface="Verdana"/>
              </a:rPr>
              <a:t> </a:t>
            </a:r>
            <a:r>
              <a:rPr sz="800" dirty="0">
                <a:solidFill>
                  <a:srgbClr val="878787"/>
                </a:solidFill>
                <a:latin typeface="Microsoft Sans Serif"/>
                <a:cs typeface="Microsoft Sans Serif"/>
              </a:rPr>
              <a:t>AI</a:t>
            </a:r>
            <a:r>
              <a:rPr sz="800" spc="-10" dirty="0">
                <a:solidFill>
                  <a:srgbClr val="878787"/>
                </a:solidFill>
                <a:latin typeface="Microsoft Sans Serif"/>
                <a:cs typeface="Microsoft Sans Serif"/>
              </a:rPr>
              <a:t> </a:t>
            </a:r>
            <a:r>
              <a:rPr sz="800" spc="-55" dirty="0">
                <a:solidFill>
                  <a:srgbClr val="878787"/>
                </a:solidFill>
                <a:latin typeface="Microsoft Sans Serif"/>
                <a:cs typeface="Microsoft Sans Serif"/>
              </a:rPr>
              <a:t>SAR</a:t>
            </a:r>
            <a:r>
              <a:rPr sz="800" spc="-5" dirty="0">
                <a:solidFill>
                  <a:srgbClr val="878787"/>
                </a:solidFill>
                <a:latin typeface="Microsoft Sans Serif"/>
                <a:cs typeface="Microsoft Sans Serif"/>
              </a:rPr>
              <a:t> </a:t>
            </a:r>
            <a:r>
              <a:rPr sz="800" dirty="0">
                <a:solidFill>
                  <a:srgbClr val="878787"/>
                </a:solidFill>
                <a:latin typeface="Microsoft Sans Serif"/>
                <a:cs typeface="Microsoft Sans Serif"/>
              </a:rPr>
              <a:t>Drone</a:t>
            </a:r>
            <a:r>
              <a:rPr sz="800" spc="-10" dirty="0">
                <a:solidFill>
                  <a:srgbClr val="878787"/>
                </a:solidFill>
                <a:latin typeface="Microsoft Sans Serif"/>
                <a:cs typeface="Microsoft Sans Serif"/>
              </a:rPr>
              <a:t> System</a:t>
            </a:r>
            <a:endParaRPr sz="800">
              <a:latin typeface="Microsoft Sans Serif"/>
              <a:cs typeface="Microsoft Sans Serif"/>
            </a:endParaRPr>
          </a:p>
        </p:txBody>
      </p:sp>
      <p:pic>
        <p:nvPicPr>
          <p:cNvPr id="31" name="object 31">
            <a:extLst>
              <a:ext uri="{FF2B5EF4-FFF2-40B4-BE49-F238E27FC236}">
                <a16:creationId xmlns:a16="http://schemas.microsoft.com/office/drawing/2014/main" id="{0E8368E1-945F-846A-A9F2-BFDFABFA71BA}"/>
              </a:ext>
            </a:extLst>
          </p:cNvPr>
          <p:cNvPicPr/>
          <p:nvPr/>
        </p:nvPicPr>
        <p:blipFill>
          <a:blip r:embed="rId4" cstate="print"/>
          <a:stretch>
            <a:fillRect/>
          </a:stretch>
        </p:blipFill>
        <p:spPr>
          <a:xfrm>
            <a:off x="9410699" y="6619871"/>
            <a:ext cx="209549" cy="209545"/>
          </a:xfrm>
          <a:prstGeom prst="rect">
            <a:avLst/>
          </a:prstGeom>
        </p:spPr>
      </p:pic>
      <p:sp>
        <p:nvSpPr>
          <p:cNvPr id="32" name="object 32">
            <a:extLst>
              <a:ext uri="{FF2B5EF4-FFF2-40B4-BE49-F238E27FC236}">
                <a16:creationId xmlns:a16="http://schemas.microsoft.com/office/drawing/2014/main" id="{9DD0A157-F19B-30D3-CD90-3DF188D57B02}"/>
              </a:ext>
            </a:extLst>
          </p:cNvPr>
          <p:cNvSpPr txBox="1"/>
          <p:nvPr/>
        </p:nvSpPr>
        <p:spPr>
          <a:xfrm>
            <a:off x="9468693" y="6645350"/>
            <a:ext cx="86360" cy="151130"/>
          </a:xfrm>
          <a:prstGeom prst="rect">
            <a:avLst/>
          </a:prstGeom>
        </p:spPr>
        <p:txBody>
          <a:bodyPr vert="horz" wrap="square" lIns="0" tIns="15875" rIns="0" bIns="0" rtlCol="0">
            <a:spAutoFit/>
          </a:bodyPr>
          <a:lstStyle/>
          <a:p>
            <a:pPr marL="12700">
              <a:lnSpc>
                <a:spcPct val="100000"/>
              </a:lnSpc>
              <a:spcBef>
                <a:spcPts val="125"/>
              </a:spcBef>
            </a:pPr>
            <a:r>
              <a:rPr sz="800" b="1" spc="-50" dirty="0">
                <a:solidFill>
                  <a:srgbClr val="FFFFFF"/>
                </a:solidFill>
                <a:latin typeface="Arial"/>
                <a:cs typeface="Arial"/>
              </a:rPr>
              <a:t>9</a:t>
            </a:r>
            <a:endParaRPr sz="800">
              <a:latin typeface="Arial"/>
              <a:cs typeface="Arial"/>
            </a:endParaRPr>
          </a:p>
        </p:txBody>
      </p:sp>
      <p:graphicFrame>
        <p:nvGraphicFramePr>
          <p:cNvPr id="33" name="Table 32">
            <a:extLst>
              <a:ext uri="{FF2B5EF4-FFF2-40B4-BE49-F238E27FC236}">
                <a16:creationId xmlns:a16="http://schemas.microsoft.com/office/drawing/2014/main" id="{659591F0-2A5B-DE51-3528-D739395472D2}"/>
              </a:ext>
            </a:extLst>
          </p:cNvPr>
          <p:cNvGraphicFramePr>
            <a:graphicFrameLocks noGrp="1"/>
          </p:cNvGraphicFramePr>
          <p:nvPr>
            <p:extLst>
              <p:ext uri="{D42A27DB-BD31-4B8C-83A1-F6EECF244321}">
                <p14:modId xmlns:p14="http://schemas.microsoft.com/office/powerpoint/2010/main" val="1182023428"/>
              </p:ext>
            </p:extLst>
          </p:nvPr>
        </p:nvGraphicFramePr>
        <p:xfrm>
          <a:off x="1536700" y="1968578"/>
          <a:ext cx="7043969" cy="3683789"/>
        </p:xfrm>
        <a:graphic>
          <a:graphicData uri="http://schemas.openxmlformats.org/drawingml/2006/table">
            <a:tbl>
              <a:tblPr firstRow="1" firstCol="1" bandRow="1">
                <a:tableStyleId>{912C8C85-51F0-491E-9774-3900AFEF0FD7}</a:tableStyleId>
              </a:tblPr>
              <a:tblGrid>
                <a:gridCol w="1775219">
                  <a:extLst>
                    <a:ext uri="{9D8B030D-6E8A-4147-A177-3AD203B41FA5}">
                      <a16:colId xmlns:a16="http://schemas.microsoft.com/office/drawing/2014/main" val="1060048783"/>
                    </a:ext>
                  </a:extLst>
                </a:gridCol>
                <a:gridCol w="2095232">
                  <a:extLst>
                    <a:ext uri="{9D8B030D-6E8A-4147-A177-3AD203B41FA5}">
                      <a16:colId xmlns:a16="http://schemas.microsoft.com/office/drawing/2014/main" val="2139650829"/>
                    </a:ext>
                  </a:extLst>
                </a:gridCol>
                <a:gridCol w="1467031">
                  <a:extLst>
                    <a:ext uri="{9D8B030D-6E8A-4147-A177-3AD203B41FA5}">
                      <a16:colId xmlns:a16="http://schemas.microsoft.com/office/drawing/2014/main" val="3404567366"/>
                    </a:ext>
                  </a:extLst>
                </a:gridCol>
                <a:gridCol w="1706487">
                  <a:extLst>
                    <a:ext uri="{9D8B030D-6E8A-4147-A177-3AD203B41FA5}">
                      <a16:colId xmlns:a16="http://schemas.microsoft.com/office/drawing/2014/main" val="3328856053"/>
                    </a:ext>
                  </a:extLst>
                </a:gridCol>
              </a:tblGrid>
              <a:tr h="801497">
                <a:tc>
                  <a:txBody>
                    <a:bodyPr/>
                    <a:lstStyle/>
                    <a:p>
                      <a:pPr marL="0" marR="0" algn="ctr">
                        <a:lnSpc>
                          <a:spcPct val="150000"/>
                        </a:lnSpc>
                        <a:spcAft>
                          <a:spcPts val="800"/>
                        </a:spcAft>
                        <a:buNone/>
                      </a:pPr>
                      <a:r>
                        <a:rPr lang="en-US" sz="1400" kern="100" dirty="0">
                          <a:effectLst/>
                        </a:rPr>
                        <a:t>Model Architecture</a:t>
                      </a:r>
                      <a:endParaRPr lang="en-US" sz="1600" kern="100" dirty="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tc>
                  <a:txBody>
                    <a:bodyPr/>
                    <a:lstStyle/>
                    <a:p>
                      <a:pPr marL="0" marR="0" algn="ctr">
                        <a:lnSpc>
                          <a:spcPct val="150000"/>
                        </a:lnSpc>
                        <a:spcAft>
                          <a:spcPts val="800"/>
                        </a:spcAft>
                        <a:buNone/>
                      </a:pPr>
                      <a:r>
                        <a:rPr lang="en-US" sz="1400" kern="100">
                          <a:effectLst/>
                        </a:rPr>
                        <a:t>Dataset Context</a:t>
                      </a:r>
                      <a:endParaRPr lang="en-US" sz="1600" kern="10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tc>
                  <a:txBody>
                    <a:bodyPr/>
                    <a:lstStyle/>
                    <a:p>
                      <a:pPr marL="0" marR="0" algn="ctr">
                        <a:lnSpc>
                          <a:spcPct val="150000"/>
                        </a:lnSpc>
                        <a:spcAft>
                          <a:spcPts val="800"/>
                        </a:spcAft>
                        <a:buNone/>
                      </a:pPr>
                      <a:r>
                        <a:rPr lang="en-US" sz="1400" kern="100">
                          <a:effectLst/>
                        </a:rPr>
                        <a:t>mAP</a:t>
                      </a:r>
                      <a:br>
                        <a:rPr lang="en-US" sz="1400" kern="100">
                          <a:effectLst/>
                        </a:rPr>
                      </a:br>
                      <a:r>
                        <a:rPr lang="en-US" sz="1400" kern="100">
                          <a:effectLst/>
                        </a:rPr>
                        <a:t>(0.5 IoU) </a:t>
                      </a:r>
                      <a:endParaRPr lang="en-US" sz="1600" kern="10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tc>
                  <a:txBody>
                    <a:bodyPr/>
                    <a:lstStyle/>
                    <a:p>
                      <a:pPr marL="0" marR="0" algn="ctr">
                        <a:lnSpc>
                          <a:spcPct val="150000"/>
                        </a:lnSpc>
                        <a:spcAft>
                          <a:spcPts val="800"/>
                        </a:spcAft>
                        <a:buNone/>
                      </a:pPr>
                      <a:r>
                        <a:rPr lang="en-US" sz="1400" kern="100">
                          <a:effectLst/>
                        </a:rPr>
                        <a:t>Inference Time (ms)</a:t>
                      </a:r>
                      <a:endParaRPr lang="en-US" sz="1600" kern="10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extLst>
                  <a:ext uri="{0D108BD9-81ED-4DB2-BD59-A6C34878D82A}">
                    <a16:rowId xmlns:a16="http://schemas.microsoft.com/office/drawing/2014/main" val="1669319709"/>
                  </a:ext>
                </a:extLst>
              </a:tr>
              <a:tr h="480382">
                <a:tc>
                  <a:txBody>
                    <a:bodyPr/>
                    <a:lstStyle/>
                    <a:p>
                      <a:pPr marL="0" marR="0" algn="ctr">
                        <a:lnSpc>
                          <a:spcPct val="150000"/>
                        </a:lnSpc>
                        <a:spcAft>
                          <a:spcPts val="800"/>
                        </a:spcAft>
                        <a:buNone/>
                      </a:pPr>
                      <a:r>
                        <a:rPr lang="en-US" sz="1400" kern="100" dirty="0">
                          <a:effectLst/>
                        </a:rPr>
                        <a:t>Faster R-CNN</a:t>
                      </a:r>
                      <a:endParaRPr lang="en-US" sz="1600" kern="100" dirty="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tc>
                  <a:txBody>
                    <a:bodyPr/>
                    <a:lstStyle/>
                    <a:p>
                      <a:pPr marL="0" marR="0" algn="ctr">
                        <a:lnSpc>
                          <a:spcPct val="150000"/>
                        </a:lnSpc>
                        <a:spcAft>
                          <a:spcPts val="800"/>
                        </a:spcAft>
                        <a:buNone/>
                      </a:pPr>
                      <a:r>
                        <a:rPr lang="en-US" sz="1400" kern="100">
                          <a:effectLst/>
                        </a:rPr>
                        <a:t>HERIDAL (Wilderness)</a:t>
                      </a:r>
                      <a:endParaRPr lang="en-US" sz="1600" kern="10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tc>
                  <a:txBody>
                    <a:bodyPr/>
                    <a:lstStyle/>
                    <a:p>
                      <a:pPr marL="0" marR="0" algn="ctr">
                        <a:lnSpc>
                          <a:spcPct val="150000"/>
                        </a:lnSpc>
                        <a:spcAft>
                          <a:spcPts val="800"/>
                        </a:spcAft>
                        <a:buNone/>
                      </a:pPr>
                      <a:r>
                        <a:rPr lang="en-US" sz="1400" kern="100">
                          <a:effectLst/>
                        </a:rPr>
                        <a:t>58.7% - 62.8%</a:t>
                      </a:r>
                      <a:endParaRPr lang="en-US" sz="1600" kern="10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tc>
                  <a:txBody>
                    <a:bodyPr/>
                    <a:lstStyle/>
                    <a:p>
                      <a:pPr marL="0" marR="0" algn="ctr">
                        <a:lnSpc>
                          <a:spcPct val="150000"/>
                        </a:lnSpc>
                        <a:spcAft>
                          <a:spcPts val="800"/>
                        </a:spcAft>
                        <a:buNone/>
                      </a:pPr>
                      <a:r>
                        <a:rPr lang="en-US" sz="1400" kern="100">
                          <a:effectLst/>
                        </a:rPr>
                        <a:t>265 - 288</a:t>
                      </a:r>
                      <a:endParaRPr lang="en-US" sz="1600" kern="10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extLst>
                  <a:ext uri="{0D108BD9-81ED-4DB2-BD59-A6C34878D82A}">
                    <a16:rowId xmlns:a16="http://schemas.microsoft.com/office/drawing/2014/main" val="3006777883"/>
                  </a:ext>
                </a:extLst>
              </a:tr>
              <a:tr h="480382">
                <a:tc>
                  <a:txBody>
                    <a:bodyPr/>
                    <a:lstStyle/>
                    <a:p>
                      <a:pPr marL="0" marR="0" algn="ctr">
                        <a:lnSpc>
                          <a:spcPct val="150000"/>
                        </a:lnSpc>
                        <a:spcAft>
                          <a:spcPts val="800"/>
                        </a:spcAft>
                        <a:buNone/>
                      </a:pPr>
                      <a:r>
                        <a:rPr lang="en-US" sz="1400" kern="100" dirty="0" err="1">
                          <a:effectLst/>
                        </a:rPr>
                        <a:t>RetinaNet</a:t>
                      </a:r>
                      <a:endParaRPr lang="en-US" sz="1600" kern="100" dirty="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tc>
                  <a:txBody>
                    <a:bodyPr/>
                    <a:lstStyle/>
                    <a:p>
                      <a:pPr marL="0" marR="0" algn="ctr">
                        <a:lnSpc>
                          <a:spcPct val="150000"/>
                        </a:lnSpc>
                        <a:spcAft>
                          <a:spcPts val="800"/>
                        </a:spcAft>
                        <a:buNone/>
                      </a:pPr>
                      <a:r>
                        <a:rPr lang="en-US" sz="1400" kern="100" dirty="0">
                          <a:effectLst/>
                        </a:rPr>
                        <a:t>HERIDAL (Wilderness)</a:t>
                      </a:r>
                      <a:endParaRPr lang="en-US" sz="1600" kern="100" dirty="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tc>
                  <a:txBody>
                    <a:bodyPr/>
                    <a:lstStyle/>
                    <a:p>
                      <a:pPr marL="0" marR="0" algn="ctr">
                        <a:lnSpc>
                          <a:spcPct val="150000"/>
                        </a:lnSpc>
                        <a:spcAft>
                          <a:spcPts val="800"/>
                        </a:spcAft>
                        <a:buNone/>
                      </a:pPr>
                      <a:r>
                        <a:rPr lang="en-US" sz="1400" kern="100">
                          <a:effectLst/>
                        </a:rPr>
                        <a:t>58.7% - 62.8%</a:t>
                      </a:r>
                      <a:endParaRPr lang="en-US" sz="1600" kern="10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tc>
                  <a:txBody>
                    <a:bodyPr/>
                    <a:lstStyle/>
                    <a:p>
                      <a:pPr marL="0" marR="0" algn="ctr">
                        <a:lnSpc>
                          <a:spcPct val="150000"/>
                        </a:lnSpc>
                        <a:spcAft>
                          <a:spcPts val="800"/>
                        </a:spcAft>
                        <a:buNone/>
                      </a:pPr>
                      <a:r>
                        <a:rPr lang="en-US" sz="1400" kern="100">
                          <a:effectLst/>
                        </a:rPr>
                        <a:t>118 - 158</a:t>
                      </a:r>
                      <a:endParaRPr lang="en-US" sz="1600" kern="10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extLst>
                  <a:ext uri="{0D108BD9-81ED-4DB2-BD59-A6C34878D82A}">
                    <a16:rowId xmlns:a16="http://schemas.microsoft.com/office/drawing/2014/main" val="156535844"/>
                  </a:ext>
                </a:extLst>
              </a:tr>
              <a:tr h="480382">
                <a:tc>
                  <a:txBody>
                    <a:bodyPr/>
                    <a:lstStyle/>
                    <a:p>
                      <a:pPr marL="0" marR="0" algn="ctr">
                        <a:lnSpc>
                          <a:spcPct val="150000"/>
                        </a:lnSpc>
                        <a:spcAft>
                          <a:spcPts val="800"/>
                        </a:spcAft>
                        <a:buNone/>
                      </a:pPr>
                      <a:r>
                        <a:rPr lang="en-US" sz="1400" kern="100">
                          <a:effectLst/>
                        </a:rPr>
                        <a:t>YOLOv5</a:t>
                      </a:r>
                      <a:endParaRPr lang="en-US" sz="1600" kern="10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tc>
                  <a:txBody>
                    <a:bodyPr/>
                    <a:lstStyle/>
                    <a:p>
                      <a:pPr marL="0" marR="0" algn="ctr">
                        <a:lnSpc>
                          <a:spcPct val="150000"/>
                        </a:lnSpc>
                        <a:spcAft>
                          <a:spcPts val="800"/>
                        </a:spcAft>
                        <a:buNone/>
                      </a:pPr>
                      <a:r>
                        <a:rPr lang="en-US" sz="1400" kern="100" dirty="0">
                          <a:effectLst/>
                        </a:rPr>
                        <a:t>General Aerial</a:t>
                      </a:r>
                      <a:endParaRPr lang="en-US" sz="1600" kern="100" dirty="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tc>
                  <a:txBody>
                    <a:bodyPr/>
                    <a:lstStyle/>
                    <a:p>
                      <a:pPr marL="0" marR="0" algn="ctr">
                        <a:lnSpc>
                          <a:spcPct val="150000"/>
                        </a:lnSpc>
                        <a:spcAft>
                          <a:spcPts val="800"/>
                        </a:spcAft>
                        <a:buNone/>
                      </a:pPr>
                      <a:r>
                        <a:rPr lang="en-US" sz="1400" kern="100">
                          <a:effectLst/>
                        </a:rPr>
                        <a:t>75% - 80%</a:t>
                      </a:r>
                      <a:endParaRPr lang="en-US" sz="1600" kern="10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tc>
                  <a:txBody>
                    <a:bodyPr/>
                    <a:lstStyle/>
                    <a:p>
                      <a:pPr marL="0" marR="0" algn="ctr">
                        <a:lnSpc>
                          <a:spcPct val="150000"/>
                        </a:lnSpc>
                        <a:spcAft>
                          <a:spcPts val="800"/>
                        </a:spcAft>
                        <a:buNone/>
                      </a:pPr>
                      <a:r>
                        <a:rPr lang="en-US" sz="1400" kern="100">
                          <a:effectLst/>
                        </a:rPr>
                        <a:t>15 - 30</a:t>
                      </a:r>
                      <a:endParaRPr lang="en-US" sz="1600" kern="10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extLst>
                  <a:ext uri="{0D108BD9-81ED-4DB2-BD59-A6C34878D82A}">
                    <a16:rowId xmlns:a16="http://schemas.microsoft.com/office/drawing/2014/main" val="2764224803"/>
                  </a:ext>
                </a:extLst>
              </a:tr>
              <a:tr h="480382">
                <a:tc>
                  <a:txBody>
                    <a:bodyPr/>
                    <a:lstStyle/>
                    <a:p>
                      <a:pPr marL="0" marR="0" algn="ctr">
                        <a:lnSpc>
                          <a:spcPct val="150000"/>
                        </a:lnSpc>
                        <a:spcAft>
                          <a:spcPts val="800"/>
                        </a:spcAft>
                        <a:buNone/>
                      </a:pPr>
                      <a:r>
                        <a:rPr lang="en-US" sz="1400" kern="100">
                          <a:effectLst/>
                        </a:rPr>
                        <a:t>YOLOv8</a:t>
                      </a:r>
                      <a:endParaRPr lang="en-US" sz="1600" kern="10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tc>
                  <a:txBody>
                    <a:bodyPr/>
                    <a:lstStyle/>
                    <a:p>
                      <a:pPr marL="0" marR="0" algn="ctr">
                        <a:lnSpc>
                          <a:spcPct val="150000"/>
                        </a:lnSpc>
                        <a:spcAft>
                          <a:spcPts val="800"/>
                        </a:spcAft>
                        <a:buNone/>
                      </a:pPr>
                      <a:r>
                        <a:rPr lang="en-US" sz="1400" kern="100">
                          <a:effectLst/>
                        </a:rPr>
                        <a:t>HERIDAL (Wilderness)</a:t>
                      </a:r>
                      <a:endParaRPr lang="en-US" sz="1600" kern="10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tc>
                  <a:txBody>
                    <a:bodyPr/>
                    <a:lstStyle/>
                    <a:p>
                      <a:pPr marL="0" marR="0" algn="ctr">
                        <a:lnSpc>
                          <a:spcPct val="150000"/>
                        </a:lnSpc>
                        <a:spcAft>
                          <a:spcPts val="800"/>
                        </a:spcAft>
                        <a:buNone/>
                      </a:pPr>
                      <a:r>
                        <a:rPr lang="en-US" sz="1400" kern="100" dirty="0">
                          <a:effectLst/>
                        </a:rPr>
                        <a:t>79.8% - 86.1%</a:t>
                      </a:r>
                      <a:endParaRPr lang="en-US" sz="1600" kern="100" dirty="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tc>
                  <a:txBody>
                    <a:bodyPr/>
                    <a:lstStyle/>
                    <a:p>
                      <a:pPr marL="0" marR="0" algn="ctr">
                        <a:lnSpc>
                          <a:spcPct val="150000"/>
                        </a:lnSpc>
                        <a:spcAft>
                          <a:spcPts val="800"/>
                        </a:spcAft>
                        <a:buNone/>
                      </a:pPr>
                      <a:r>
                        <a:rPr lang="en-US" sz="1400" kern="100">
                          <a:effectLst/>
                        </a:rPr>
                        <a:t>11.8 - 15</a:t>
                      </a:r>
                      <a:endParaRPr lang="en-US" sz="1600" kern="10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extLst>
                  <a:ext uri="{0D108BD9-81ED-4DB2-BD59-A6C34878D82A}">
                    <a16:rowId xmlns:a16="http://schemas.microsoft.com/office/drawing/2014/main" val="1621333601"/>
                  </a:ext>
                </a:extLst>
              </a:tr>
              <a:tr h="480382">
                <a:tc>
                  <a:txBody>
                    <a:bodyPr/>
                    <a:lstStyle/>
                    <a:p>
                      <a:pPr marL="0" marR="0" algn="ctr">
                        <a:lnSpc>
                          <a:spcPct val="150000"/>
                        </a:lnSpc>
                        <a:spcAft>
                          <a:spcPts val="800"/>
                        </a:spcAft>
                        <a:buNone/>
                      </a:pPr>
                      <a:r>
                        <a:rPr lang="en-US" sz="1400" kern="100">
                          <a:effectLst/>
                        </a:rPr>
                        <a:t>DCS-YOLOv8</a:t>
                      </a:r>
                      <a:endParaRPr lang="en-US" sz="1600" kern="10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tc>
                  <a:txBody>
                    <a:bodyPr/>
                    <a:lstStyle/>
                    <a:p>
                      <a:pPr marL="0" marR="0" algn="ctr">
                        <a:lnSpc>
                          <a:spcPct val="150000"/>
                        </a:lnSpc>
                        <a:spcAft>
                          <a:spcPts val="800"/>
                        </a:spcAft>
                        <a:buNone/>
                      </a:pPr>
                      <a:r>
                        <a:rPr lang="en-US" sz="1400" kern="100">
                          <a:effectLst/>
                        </a:rPr>
                        <a:t>VisDrone (Small Obj.)</a:t>
                      </a:r>
                      <a:endParaRPr lang="en-US" sz="1600" kern="10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tc>
                  <a:txBody>
                    <a:bodyPr/>
                    <a:lstStyle/>
                    <a:p>
                      <a:pPr marL="0" marR="0" algn="ctr">
                        <a:lnSpc>
                          <a:spcPct val="150000"/>
                        </a:lnSpc>
                        <a:spcAft>
                          <a:spcPts val="800"/>
                        </a:spcAft>
                        <a:buNone/>
                      </a:pPr>
                      <a:r>
                        <a:rPr lang="en-US" sz="1400" kern="100">
                          <a:effectLst/>
                        </a:rPr>
                        <a:t>44.5%*</a:t>
                      </a:r>
                      <a:endParaRPr lang="en-US" sz="1600" kern="10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tc>
                  <a:txBody>
                    <a:bodyPr/>
                    <a:lstStyle/>
                    <a:p>
                      <a:pPr marL="0" marR="0" algn="ctr">
                        <a:lnSpc>
                          <a:spcPct val="150000"/>
                        </a:lnSpc>
                        <a:spcAft>
                          <a:spcPts val="800"/>
                        </a:spcAft>
                        <a:buNone/>
                      </a:pPr>
                      <a:r>
                        <a:rPr lang="en-US" sz="1400" kern="100" dirty="0">
                          <a:effectLst/>
                        </a:rPr>
                        <a:t>Real-time (RK3588)</a:t>
                      </a:r>
                      <a:endParaRPr lang="en-US" sz="1600" kern="100" dirty="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extLst>
                  <a:ext uri="{0D108BD9-81ED-4DB2-BD59-A6C34878D82A}">
                    <a16:rowId xmlns:a16="http://schemas.microsoft.com/office/drawing/2014/main" val="2183829768"/>
                  </a:ext>
                </a:extLst>
              </a:tr>
              <a:tr h="480382">
                <a:tc>
                  <a:txBody>
                    <a:bodyPr/>
                    <a:lstStyle/>
                    <a:p>
                      <a:pPr marL="0" marR="0" algn="ctr">
                        <a:lnSpc>
                          <a:spcPct val="150000"/>
                        </a:lnSpc>
                        <a:spcAft>
                          <a:spcPts val="800"/>
                        </a:spcAft>
                        <a:buNone/>
                      </a:pPr>
                      <a:r>
                        <a:rPr lang="en-US" sz="1400" kern="100">
                          <a:effectLst/>
                        </a:rPr>
                        <a:t>EfficientDet</a:t>
                      </a:r>
                      <a:endParaRPr lang="en-US" sz="1600" kern="10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tc>
                  <a:txBody>
                    <a:bodyPr/>
                    <a:lstStyle/>
                    <a:p>
                      <a:pPr marL="0" marR="0" algn="ctr">
                        <a:lnSpc>
                          <a:spcPct val="150000"/>
                        </a:lnSpc>
                        <a:spcAft>
                          <a:spcPts val="800"/>
                        </a:spcAft>
                        <a:buNone/>
                      </a:pPr>
                      <a:r>
                        <a:rPr lang="en-US" sz="1400" kern="100">
                          <a:effectLst/>
                        </a:rPr>
                        <a:t>SeaDrones/SARD</a:t>
                      </a:r>
                      <a:endParaRPr lang="en-US" sz="1600" kern="10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tc>
                  <a:txBody>
                    <a:bodyPr/>
                    <a:lstStyle/>
                    <a:p>
                      <a:pPr marL="0" marR="0" algn="ctr">
                        <a:lnSpc>
                          <a:spcPct val="150000"/>
                        </a:lnSpc>
                        <a:spcAft>
                          <a:spcPts val="800"/>
                        </a:spcAft>
                        <a:buNone/>
                      </a:pPr>
                      <a:r>
                        <a:rPr lang="en-US" sz="1400" kern="100">
                          <a:effectLst/>
                        </a:rPr>
                        <a:t>97.3%</a:t>
                      </a:r>
                      <a:endParaRPr lang="en-US" sz="1600" kern="10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tc>
                  <a:txBody>
                    <a:bodyPr/>
                    <a:lstStyle/>
                    <a:p>
                      <a:pPr marL="0" marR="0" algn="ctr">
                        <a:lnSpc>
                          <a:spcPct val="150000"/>
                        </a:lnSpc>
                        <a:spcAft>
                          <a:spcPts val="800"/>
                        </a:spcAft>
                        <a:buNone/>
                      </a:pPr>
                      <a:r>
                        <a:rPr lang="en-US" sz="1400" kern="100" dirty="0">
                          <a:effectLst/>
                        </a:rPr>
                        <a:t>-</a:t>
                      </a:r>
                      <a:endParaRPr lang="en-US" sz="1600" kern="100" dirty="0">
                        <a:effectLst/>
                        <a:latin typeface="Times New Roman" panose="02020603050405020304" pitchFamily="18" charset="0"/>
                        <a:ea typeface="Aptos" panose="020B0004020202020204" pitchFamily="34" charset="0"/>
                        <a:cs typeface="Arial" panose="020B0604020202020204" pitchFamily="34" charset="0"/>
                      </a:endParaRPr>
                    </a:p>
                  </a:txBody>
                  <a:tcPr marL="93010" marR="93010" marT="62007" marB="62007"/>
                </a:tc>
                <a:extLst>
                  <a:ext uri="{0D108BD9-81ED-4DB2-BD59-A6C34878D82A}">
                    <a16:rowId xmlns:a16="http://schemas.microsoft.com/office/drawing/2014/main" val="1858613654"/>
                  </a:ext>
                </a:extLst>
              </a:tr>
            </a:tbl>
          </a:graphicData>
        </a:graphic>
      </p:graphicFrame>
    </p:spTree>
    <p:extLst>
      <p:ext uri="{BB962C8B-B14F-4D97-AF65-F5344CB8AC3E}">
        <p14:creationId xmlns:p14="http://schemas.microsoft.com/office/powerpoint/2010/main" val="824974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7244715">
              <a:lnSpc>
                <a:spcPct val="100000"/>
              </a:lnSpc>
              <a:spcBef>
                <a:spcPts val="100"/>
              </a:spcBef>
            </a:pPr>
            <a:r>
              <a:rPr spc="430" dirty="0"/>
              <a:t>04</a:t>
            </a:r>
          </a:p>
        </p:txBody>
      </p:sp>
      <p:sp>
        <p:nvSpPr>
          <p:cNvPr id="3" name="object 3"/>
          <p:cNvSpPr txBox="1"/>
          <p:nvPr/>
        </p:nvSpPr>
        <p:spPr>
          <a:xfrm>
            <a:off x="3428355" y="3348588"/>
            <a:ext cx="3839845" cy="1017269"/>
          </a:xfrm>
          <a:prstGeom prst="rect">
            <a:avLst/>
          </a:prstGeom>
        </p:spPr>
        <p:txBody>
          <a:bodyPr vert="horz" wrap="square" lIns="0" tIns="13335" rIns="0" bIns="0" rtlCol="0">
            <a:spAutoFit/>
          </a:bodyPr>
          <a:lstStyle/>
          <a:p>
            <a:pPr algn="ctr">
              <a:lnSpc>
                <a:spcPct val="100000"/>
              </a:lnSpc>
              <a:spcBef>
                <a:spcPts val="105"/>
              </a:spcBef>
            </a:pPr>
            <a:r>
              <a:rPr sz="3900" b="1" spc="-285" dirty="0">
                <a:solidFill>
                  <a:srgbClr val="FFFFFF"/>
                </a:solidFill>
                <a:latin typeface="Arial"/>
                <a:cs typeface="Arial"/>
              </a:rPr>
              <a:t>Proposed</a:t>
            </a:r>
            <a:r>
              <a:rPr sz="3900" b="1" spc="-385" dirty="0">
                <a:solidFill>
                  <a:srgbClr val="FFFFFF"/>
                </a:solidFill>
                <a:latin typeface="Arial"/>
                <a:cs typeface="Arial"/>
              </a:rPr>
              <a:t> </a:t>
            </a:r>
            <a:r>
              <a:rPr sz="3900" b="1" spc="-275" dirty="0">
                <a:solidFill>
                  <a:srgbClr val="FFFFFF"/>
                </a:solidFill>
                <a:latin typeface="Arial"/>
                <a:cs typeface="Arial"/>
              </a:rPr>
              <a:t>Solution</a:t>
            </a:r>
            <a:endParaRPr sz="3900">
              <a:latin typeface="Arial"/>
              <a:cs typeface="Arial"/>
            </a:endParaRPr>
          </a:p>
          <a:p>
            <a:pPr algn="ctr">
              <a:lnSpc>
                <a:spcPct val="100000"/>
              </a:lnSpc>
              <a:spcBef>
                <a:spcPts val="1320"/>
              </a:spcBef>
            </a:pPr>
            <a:r>
              <a:rPr sz="1500" spc="-50" dirty="0">
                <a:solidFill>
                  <a:srgbClr val="FFFFFF"/>
                </a:solidFill>
                <a:latin typeface="Microsoft Sans Serif"/>
                <a:cs typeface="Microsoft Sans Serif"/>
              </a:rPr>
              <a:t>Our</a:t>
            </a:r>
            <a:r>
              <a:rPr sz="1500" spc="-40" dirty="0">
                <a:solidFill>
                  <a:srgbClr val="FFFFFF"/>
                </a:solidFill>
                <a:latin typeface="Microsoft Sans Serif"/>
                <a:cs typeface="Microsoft Sans Serif"/>
              </a:rPr>
              <a:t> </a:t>
            </a:r>
            <a:r>
              <a:rPr sz="1500" dirty="0">
                <a:solidFill>
                  <a:srgbClr val="FFFFFF"/>
                </a:solidFill>
                <a:latin typeface="Microsoft Sans Serif"/>
                <a:cs typeface="Microsoft Sans Serif"/>
              </a:rPr>
              <a:t>work</a:t>
            </a:r>
            <a:r>
              <a:rPr sz="1500" spc="-40" dirty="0">
                <a:solidFill>
                  <a:srgbClr val="FFFFFF"/>
                </a:solidFill>
                <a:latin typeface="Microsoft Sans Serif"/>
                <a:cs typeface="Microsoft Sans Serif"/>
              </a:rPr>
              <a:t> </a:t>
            </a:r>
            <a:r>
              <a:rPr sz="1500" spc="-35" dirty="0">
                <a:solidFill>
                  <a:srgbClr val="FFFFFF"/>
                </a:solidFill>
                <a:latin typeface="Microsoft Sans Serif"/>
                <a:cs typeface="Microsoft Sans Serif"/>
              </a:rPr>
              <a:t>and</a:t>
            </a:r>
            <a:r>
              <a:rPr sz="1500" spc="-40" dirty="0">
                <a:solidFill>
                  <a:srgbClr val="FFFFFF"/>
                </a:solidFill>
                <a:latin typeface="Microsoft Sans Serif"/>
                <a:cs typeface="Microsoft Sans Serif"/>
              </a:rPr>
              <a:t> </a:t>
            </a:r>
            <a:r>
              <a:rPr sz="1500" spc="-25" dirty="0">
                <a:solidFill>
                  <a:srgbClr val="FFFFFF"/>
                </a:solidFill>
                <a:latin typeface="Microsoft Sans Serif"/>
                <a:cs typeface="Microsoft Sans Serif"/>
              </a:rPr>
              <a:t>application</a:t>
            </a:r>
            <a:r>
              <a:rPr sz="1500" spc="-40" dirty="0">
                <a:solidFill>
                  <a:srgbClr val="FFFFFF"/>
                </a:solidFill>
                <a:latin typeface="Microsoft Sans Serif"/>
                <a:cs typeface="Microsoft Sans Serif"/>
              </a:rPr>
              <a:t> </a:t>
            </a:r>
            <a:r>
              <a:rPr sz="1500" spc="-10" dirty="0">
                <a:solidFill>
                  <a:srgbClr val="FFFFFF"/>
                </a:solidFill>
                <a:latin typeface="Microsoft Sans Serif"/>
                <a:cs typeface="Microsoft Sans Serif"/>
              </a:rPr>
              <a:t>design</a:t>
            </a:r>
            <a:endParaRPr sz="1500">
              <a:latin typeface="Microsoft Sans Serif"/>
              <a:cs typeface="Microsoft Sans Serif"/>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76324" y="1285872"/>
            <a:ext cx="8543925" cy="28575"/>
          </a:xfrm>
          <a:custGeom>
            <a:avLst/>
            <a:gdLst/>
            <a:ahLst/>
            <a:cxnLst/>
            <a:rect l="l" t="t" r="r" b="b"/>
            <a:pathLst>
              <a:path w="8543925" h="28575">
                <a:moveTo>
                  <a:pt x="8543924" y="28574"/>
                </a:moveTo>
                <a:lnTo>
                  <a:pt x="0" y="28574"/>
                </a:lnTo>
                <a:lnTo>
                  <a:pt x="0" y="0"/>
                </a:lnTo>
                <a:lnTo>
                  <a:pt x="8543924" y="0"/>
                </a:lnTo>
                <a:lnTo>
                  <a:pt x="8543924" y="28574"/>
                </a:lnTo>
                <a:close/>
              </a:path>
            </a:pathLst>
          </a:custGeom>
          <a:solidFill>
            <a:srgbClr val="BF382A"/>
          </a:solidFill>
        </p:spPr>
        <p:txBody>
          <a:bodyPr wrap="square" lIns="0" tIns="0" rIns="0" bIns="0" rtlCol="0"/>
          <a:lstStyle/>
          <a:p>
            <a:endParaRPr/>
          </a:p>
        </p:txBody>
      </p:sp>
      <p:pic>
        <p:nvPicPr>
          <p:cNvPr id="3" name="object 3"/>
          <p:cNvPicPr/>
          <p:nvPr/>
        </p:nvPicPr>
        <p:blipFill>
          <a:blip r:embed="rId3" cstate="print"/>
          <a:stretch>
            <a:fillRect/>
          </a:stretch>
        </p:blipFill>
        <p:spPr>
          <a:xfrm>
            <a:off x="1076721" y="946150"/>
            <a:ext cx="215900" cy="215900"/>
          </a:xfrm>
          <a:prstGeom prst="rect">
            <a:avLst/>
          </a:prstGeom>
        </p:spPr>
      </p:pic>
      <p:sp>
        <p:nvSpPr>
          <p:cNvPr id="4" name="object 4"/>
          <p:cNvSpPr txBox="1">
            <a:spLocks noGrp="1"/>
          </p:cNvSpPr>
          <p:nvPr>
            <p:ph type="title"/>
          </p:nvPr>
        </p:nvSpPr>
        <p:spPr>
          <a:xfrm>
            <a:off x="1375171" y="832885"/>
            <a:ext cx="6260704" cy="442429"/>
          </a:xfrm>
          <a:prstGeom prst="rect">
            <a:avLst/>
          </a:prstGeom>
        </p:spPr>
        <p:txBody>
          <a:bodyPr vert="horz" wrap="square" lIns="0" tIns="11430" rIns="0" bIns="0" rtlCol="0">
            <a:spAutoFit/>
          </a:bodyPr>
          <a:lstStyle/>
          <a:p>
            <a:pPr marL="12700">
              <a:lnSpc>
                <a:spcPct val="100000"/>
              </a:lnSpc>
              <a:spcBef>
                <a:spcPts val="90"/>
              </a:spcBef>
            </a:pPr>
            <a:r>
              <a:rPr sz="2800" spc="-145" dirty="0">
                <a:solidFill>
                  <a:srgbClr val="BF382A"/>
                </a:solidFill>
              </a:rPr>
              <a:t>Proposed</a:t>
            </a:r>
            <a:r>
              <a:rPr sz="2800" spc="-140" dirty="0">
                <a:solidFill>
                  <a:srgbClr val="BF382A"/>
                </a:solidFill>
              </a:rPr>
              <a:t> </a:t>
            </a:r>
            <a:r>
              <a:rPr sz="2800" spc="-135" dirty="0">
                <a:solidFill>
                  <a:srgbClr val="BF382A"/>
                </a:solidFill>
              </a:rPr>
              <a:t>Solution: GoldenEye </a:t>
            </a:r>
            <a:r>
              <a:rPr sz="2800" spc="-120" dirty="0">
                <a:solidFill>
                  <a:srgbClr val="BF382A"/>
                </a:solidFill>
              </a:rPr>
              <a:t>System</a:t>
            </a:r>
            <a:endParaRPr sz="2800" dirty="0"/>
          </a:p>
        </p:txBody>
      </p:sp>
      <p:grpSp>
        <p:nvGrpSpPr>
          <p:cNvPr id="5" name="object 5"/>
          <p:cNvGrpSpPr/>
          <p:nvPr/>
        </p:nvGrpSpPr>
        <p:grpSpPr>
          <a:xfrm>
            <a:off x="914945" y="4865556"/>
            <a:ext cx="8705303" cy="874844"/>
            <a:chOff x="1076324" y="3428993"/>
            <a:chExt cx="8543925" cy="600075"/>
          </a:xfrm>
        </p:grpSpPr>
        <p:pic>
          <p:nvPicPr>
            <p:cNvPr id="6" name="object 6"/>
            <p:cNvPicPr/>
            <p:nvPr/>
          </p:nvPicPr>
          <p:blipFill>
            <a:blip r:embed="rId4" cstate="print"/>
            <a:stretch>
              <a:fillRect/>
            </a:stretch>
          </p:blipFill>
          <p:spPr>
            <a:xfrm>
              <a:off x="1114424" y="3428993"/>
              <a:ext cx="8505824" cy="600074"/>
            </a:xfrm>
            <a:prstGeom prst="rect">
              <a:avLst/>
            </a:prstGeom>
          </p:spPr>
        </p:pic>
        <p:sp>
          <p:nvSpPr>
            <p:cNvPr id="7" name="object 7"/>
            <p:cNvSpPr/>
            <p:nvPr/>
          </p:nvSpPr>
          <p:spPr>
            <a:xfrm>
              <a:off x="1076324" y="3428996"/>
              <a:ext cx="38100" cy="600075"/>
            </a:xfrm>
            <a:custGeom>
              <a:avLst/>
              <a:gdLst/>
              <a:ahLst/>
              <a:cxnLst/>
              <a:rect l="l" t="t" r="r" b="b"/>
              <a:pathLst>
                <a:path w="38100" h="600075">
                  <a:moveTo>
                    <a:pt x="38099" y="600074"/>
                  </a:moveTo>
                  <a:lnTo>
                    <a:pt x="0" y="600074"/>
                  </a:lnTo>
                  <a:lnTo>
                    <a:pt x="0" y="0"/>
                  </a:lnTo>
                  <a:lnTo>
                    <a:pt x="38099" y="0"/>
                  </a:lnTo>
                  <a:lnTo>
                    <a:pt x="38099" y="600074"/>
                  </a:lnTo>
                  <a:close/>
                </a:path>
              </a:pathLst>
            </a:custGeom>
            <a:solidFill>
              <a:srgbClr val="F29C12"/>
            </a:solidFill>
          </p:spPr>
          <p:txBody>
            <a:bodyPr wrap="square" lIns="0" tIns="0" rIns="0" bIns="0" rtlCol="0"/>
            <a:lstStyle/>
            <a:p>
              <a:endParaRPr sz="3200"/>
            </a:p>
          </p:txBody>
        </p:sp>
        <p:pic>
          <p:nvPicPr>
            <p:cNvPr id="8" name="object 8"/>
            <p:cNvPicPr/>
            <p:nvPr/>
          </p:nvPicPr>
          <p:blipFill>
            <a:blip r:embed="rId5" cstate="print"/>
            <a:stretch>
              <a:fillRect/>
            </a:stretch>
          </p:blipFill>
          <p:spPr>
            <a:xfrm>
              <a:off x="1260871" y="3565524"/>
              <a:ext cx="114300" cy="117475"/>
            </a:xfrm>
            <a:prstGeom prst="rect">
              <a:avLst/>
            </a:prstGeom>
          </p:spPr>
        </p:pic>
      </p:grpSp>
      <p:sp>
        <p:nvSpPr>
          <p:cNvPr id="9" name="object 9"/>
          <p:cNvSpPr txBox="1"/>
          <p:nvPr/>
        </p:nvSpPr>
        <p:spPr>
          <a:xfrm>
            <a:off x="1043756" y="1627002"/>
            <a:ext cx="8274050" cy="519566"/>
          </a:xfrm>
          <a:prstGeom prst="rect">
            <a:avLst/>
          </a:prstGeom>
        </p:spPr>
        <p:txBody>
          <a:bodyPr vert="horz" wrap="square" lIns="0" tIns="12700" rIns="0" bIns="0" rtlCol="0">
            <a:spAutoFit/>
          </a:bodyPr>
          <a:lstStyle/>
          <a:p>
            <a:pPr marL="12700" marR="5080">
              <a:lnSpc>
                <a:spcPct val="107100"/>
              </a:lnSpc>
              <a:spcBef>
                <a:spcPts val="100"/>
              </a:spcBef>
            </a:pPr>
            <a:r>
              <a:rPr sz="1400" spc="-30" dirty="0">
                <a:solidFill>
                  <a:srgbClr val="545454"/>
                </a:solidFill>
                <a:latin typeface="Microsoft Sans Serif"/>
                <a:cs typeface="Microsoft Sans Serif"/>
              </a:rPr>
              <a:t>An</a:t>
            </a:r>
            <a:r>
              <a:rPr sz="1400" spc="-20" dirty="0">
                <a:solidFill>
                  <a:srgbClr val="545454"/>
                </a:solidFill>
                <a:latin typeface="Microsoft Sans Serif"/>
                <a:cs typeface="Microsoft Sans Serif"/>
              </a:rPr>
              <a:t> </a:t>
            </a:r>
            <a:r>
              <a:rPr sz="1400" spc="-10" dirty="0">
                <a:solidFill>
                  <a:srgbClr val="545454"/>
                </a:solidFill>
                <a:latin typeface="Microsoft Sans Serif"/>
                <a:cs typeface="Microsoft Sans Serif"/>
              </a:rPr>
              <a:t>end</a:t>
            </a:r>
            <a:r>
              <a:rPr sz="1600" spc="-10" dirty="0">
                <a:solidFill>
                  <a:srgbClr val="545454"/>
                </a:solidFill>
                <a:latin typeface="Microsoft Sans Serif"/>
                <a:cs typeface="Microsoft Sans Serif"/>
              </a:rPr>
              <a:t>-</a:t>
            </a:r>
            <a:r>
              <a:rPr sz="1400" dirty="0">
                <a:solidFill>
                  <a:srgbClr val="545454"/>
                </a:solidFill>
                <a:latin typeface="Microsoft Sans Serif"/>
                <a:cs typeface="Microsoft Sans Serif"/>
              </a:rPr>
              <a:t>to</a:t>
            </a:r>
            <a:r>
              <a:rPr sz="1600" dirty="0">
                <a:solidFill>
                  <a:srgbClr val="545454"/>
                </a:solidFill>
                <a:latin typeface="Microsoft Sans Serif"/>
                <a:cs typeface="Microsoft Sans Serif"/>
              </a:rPr>
              <a:t>-</a:t>
            </a:r>
            <a:r>
              <a:rPr sz="1400" spc="-10" dirty="0">
                <a:solidFill>
                  <a:srgbClr val="545454"/>
                </a:solidFill>
                <a:latin typeface="Microsoft Sans Serif"/>
                <a:cs typeface="Microsoft Sans Serif"/>
              </a:rPr>
              <a:t>end</a:t>
            </a:r>
            <a:r>
              <a:rPr sz="1400" spc="-15" dirty="0">
                <a:solidFill>
                  <a:srgbClr val="545454"/>
                </a:solidFill>
                <a:latin typeface="Microsoft Sans Serif"/>
                <a:cs typeface="Microsoft Sans Serif"/>
              </a:rPr>
              <a:t> </a:t>
            </a:r>
            <a:r>
              <a:rPr sz="1400" spc="-10" dirty="0">
                <a:solidFill>
                  <a:srgbClr val="545454"/>
                </a:solidFill>
                <a:latin typeface="Microsoft Sans Serif"/>
                <a:cs typeface="Microsoft Sans Serif"/>
              </a:rPr>
              <a:t>AI</a:t>
            </a:r>
            <a:r>
              <a:rPr sz="1600" spc="-10" dirty="0">
                <a:solidFill>
                  <a:srgbClr val="545454"/>
                </a:solidFill>
                <a:latin typeface="Microsoft Sans Serif"/>
                <a:cs typeface="Microsoft Sans Serif"/>
              </a:rPr>
              <a:t>-</a:t>
            </a:r>
            <a:r>
              <a:rPr sz="1400" spc="-20" dirty="0">
                <a:solidFill>
                  <a:srgbClr val="545454"/>
                </a:solidFill>
                <a:latin typeface="Microsoft Sans Serif"/>
                <a:cs typeface="Microsoft Sans Serif"/>
              </a:rPr>
              <a:t>based </a:t>
            </a:r>
            <a:r>
              <a:rPr sz="1400" spc="-100" dirty="0">
                <a:solidFill>
                  <a:srgbClr val="545454"/>
                </a:solidFill>
                <a:latin typeface="Microsoft Sans Serif"/>
                <a:cs typeface="Microsoft Sans Serif"/>
              </a:rPr>
              <a:t>SAR</a:t>
            </a:r>
            <a:r>
              <a:rPr sz="1400" spc="-15" dirty="0">
                <a:solidFill>
                  <a:srgbClr val="545454"/>
                </a:solidFill>
                <a:latin typeface="Microsoft Sans Serif"/>
                <a:cs typeface="Microsoft Sans Serif"/>
              </a:rPr>
              <a:t> </a:t>
            </a:r>
            <a:r>
              <a:rPr sz="1400" spc="-20" dirty="0">
                <a:solidFill>
                  <a:srgbClr val="545454"/>
                </a:solidFill>
                <a:latin typeface="Microsoft Sans Serif"/>
                <a:cs typeface="Microsoft Sans Serif"/>
              </a:rPr>
              <a:t>system</a:t>
            </a:r>
            <a:r>
              <a:rPr sz="1400" spc="-15" dirty="0">
                <a:solidFill>
                  <a:srgbClr val="545454"/>
                </a:solidFill>
                <a:latin typeface="Microsoft Sans Serif"/>
                <a:cs typeface="Microsoft Sans Serif"/>
              </a:rPr>
              <a:t> </a:t>
            </a:r>
            <a:r>
              <a:rPr sz="1400" spc="-10" dirty="0">
                <a:solidFill>
                  <a:srgbClr val="545454"/>
                </a:solidFill>
                <a:latin typeface="Microsoft Sans Serif"/>
                <a:cs typeface="Microsoft Sans Serif"/>
              </a:rPr>
              <a:t>that</a:t>
            </a:r>
            <a:r>
              <a:rPr sz="1400" spc="-15" dirty="0">
                <a:solidFill>
                  <a:srgbClr val="545454"/>
                </a:solidFill>
                <a:latin typeface="Microsoft Sans Serif"/>
                <a:cs typeface="Microsoft Sans Serif"/>
              </a:rPr>
              <a:t> </a:t>
            </a:r>
            <a:r>
              <a:rPr sz="1400" spc="-10" dirty="0">
                <a:solidFill>
                  <a:srgbClr val="545454"/>
                </a:solidFill>
                <a:latin typeface="Microsoft Sans Serif"/>
                <a:cs typeface="Microsoft Sans Serif"/>
              </a:rPr>
              <a:t>reliably</a:t>
            </a:r>
            <a:r>
              <a:rPr sz="1400" spc="-15" dirty="0">
                <a:solidFill>
                  <a:srgbClr val="545454"/>
                </a:solidFill>
                <a:latin typeface="Microsoft Sans Serif"/>
                <a:cs typeface="Microsoft Sans Serif"/>
              </a:rPr>
              <a:t> </a:t>
            </a:r>
            <a:r>
              <a:rPr sz="1400" spc="-10" dirty="0">
                <a:solidFill>
                  <a:srgbClr val="545454"/>
                </a:solidFill>
                <a:latin typeface="Microsoft Sans Serif"/>
                <a:cs typeface="Microsoft Sans Serif"/>
              </a:rPr>
              <a:t>detects</a:t>
            </a:r>
            <a:r>
              <a:rPr sz="1400" spc="-20" dirty="0">
                <a:solidFill>
                  <a:srgbClr val="545454"/>
                </a:solidFill>
                <a:latin typeface="Microsoft Sans Serif"/>
                <a:cs typeface="Microsoft Sans Serif"/>
              </a:rPr>
              <a:t> </a:t>
            </a:r>
            <a:r>
              <a:rPr sz="1400" spc="-35" dirty="0">
                <a:solidFill>
                  <a:srgbClr val="545454"/>
                </a:solidFill>
                <a:latin typeface="Microsoft Sans Serif"/>
                <a:cs typeface="Microsoft Sans Serif"/>
              </a:rPr>
              <a:t>humans</a:t>
            </a:r>
            <a:r>
              <a:rPr sz="1400" spc="-15" dirty="0">
                <a:solidFill>
                  <a:srgbClr val="545454"/>
                </a:solidFill>
                <a:latin typeface="Microsoft Sans Serif"/>
                <a:cs typeface="Microsoft Sans Serif"/>
              </a:rPr>
              <a:t> </a:t>
            </a:r>
            <a:r>
              <a:rPr sz="1400" dirty="0">
                <a:solidFill>
                  <a:srgbClr val="545454"/>
                </a:solidFill>
                <a:latin typeface="Microsoft Sans Serif"/>
                <a:cs typeface="Microsoft Sans Serif"/>
              </a:rPr>
              <a:t>in</a:t>
            </a:r>
            <a:r>
              <a:rPr sz="1400" spc="-15" dirty="0">
                <a:solidFill>
                  <a:srgbClr val="545454"/>
                </a:solidFill>
                <a:latin typeface="Microsoft Sans Serif"/>
                <a:cs typeface="Microsoft Sans Serif"/>
              </a:rPr>
              <a:t> </a:t>
            </a:r>
            <a:r>
              <a:rPr sz="1400" spc="-10" dirty="0">
                <a:solidFill>
                  <a:srgbClr val="545454"/>
                </a:solidFill>
                <a:latin typeface="Microsoft Sans Serif"/>
                <a:cs typeface="Microsoft Sans Serif"/>
              </a:rPr>
              <a:t>desert</a:t>
            </a:r>
            <a:r>
              <a:rPr sz="1400" spc="-20" dirty="0">
                <a:solidFill>
                  <a:srgbClr val="545454"/>
                </a:solidFill>
                <a:latin typeface="Microsoft Sans Serif"/>
                <a:cs typeface="Microsoft Sans Serif"/>
              </a:rPr>
              <a:t> </a:t>
            </a:r>
            <a:r>
              <a:rPr sz="1400" spc="-25" dirty="0">
                <a:solidFill>
                  <a:srgbClr val="545454"/>
                </a:solidFill>
                <a:latin typeface="Microsoft Sans Serif"/>
                <a:cs typeface="Microsoft Sans Serif"/>
              </a:rPr>
              <a:t>environments</a:t>
            </a:r>
            <a:r>
              <a:rPr sz="1400" spc="-15" dirty="0">
                <a:solidFill>
                  <a:srgbClr val="545454"/>
                </a:solidFill>
                <a:latin typeface="Microsoft Sans Serif"/>
                <a:cs typeface="Microsoft Sans Serif"/>
              </a:rPr>
              <a:t> </a:t>
            </a:r>
            <a:r>
              <a:rPr sz="1400" dirty="0">
                <a:solidFill>
                  <a:srgbClr val="545454"/>
                </a:solidFill>
                <a:latin typeface="Microsoft Sans Serif"/>
                <a:cs typeface="Microsoft Sans Serif"/>
              </a:rPr>
              <a:t>in</a:t>
            </a:r>
            <a:r>
              <a:rPr sz="1400" spc="-15" dirty="0">
                <a:solidFill>
                  <a:srgbClr val="545454"/>
                </a:solidFill>
                <a:latin typeface="Microsoft Sans Serif"/>
                <a:cs typeface="Microsoft Sans Serif"/>
              </a:rPr>
              <a:t> </a:t>
            </a:r>
            <a:r>
              <a:rPr sz="1400" spc="-10" dirty="0">
                <a:solidFill>
                  <a:srgbClr val="545454"/>
                </a:solidFill>
                <a:latin typeface="Microsoft Sans Serif"/>
                <a:cs typeface="Microsoft Sans Serif"/>
              </a:rPr>
              <a:t>real</a:t>
            </a:r>
            <a:r>
              <a:rPr sz="1600" spc="-10" dirty="0">
                <a:solidFill>
                  <a:srgbClr val="545454"/>
                </a:solidFill>
                <a:latin typeface="Microsoft Sans Serif"/>
                <a:cs typeface="Microsoft Sans Serif"/>
              </a:rPr>
              <a:t>-</a:t>
            </a:r>
            <a:r>
              <a:rPr sz="1400" spc="-10" dirty="0">
                <a:solidFill>
                  <a:srgbClr val="545454"/>
                </a:solidFill>
                <a:latin typeface="Microsoft Sans Serif"/>
                <a:cs typeface="Microsoft Sans Serif"/>
              </a:rPr>
              <a:t>time</a:t>
            </a:r>
            <a:r>
              <a:rPr sz="1400" spc="-15" dirty="0">
                <a:solidFill>
                  <a:srgbClr val="545454"/>
                </a:solidFill>
                <a:latin typeface="Microsoft Sans Serif"/>
                <a:cs typeface="Microsoft Sans Serif"/>
              </a:rPr>
              <a:t> </a:t>
            </a:r>
            <a:r>
              <a:rPr sz="1400" spc="-10" dirty="0">
                <a:solidFill>
                  <a:srgbClr val="545454"/>
                </a:solidFill>
                <a:latin typeface="Microsoft Sans Serif"/>
                <a:cs typeface="Microsoft Sans Serif"/>
              </a:rPr>
              <a:t>while</a:t>
            </a:r>
            <a:r>
              <a:rPr sz="1400" spc="-20" dirty="0">
                <a:solidFill>
                  <a:srgbClr val="545454"/>
                </a:solidFill>
                <a:latin typeface="Microsoft Sans Serif"/>
                <a:cs typeface="Microsoft Sans Serif"/>
              </a:rPr>
              <a:t> </a:t>
            </a:r>
            <a:r>
              <a:rPr sz="1400" spc="-10" dirty="0">
                <a:solidFill>
                  <a:srgbClr val="545454"/>
                </a:solidFill>
                <a:latin typeface="Microsoft Sans Serif"/>
                <a:cs typeface="Microsoft Sans Serif"/>
              </a:rPr>
              <a:t>accounting</a:t>
            </a:r>
            <a:r>
              <a:rPr sz="1400" spc="-15" dirty="0">
                <a:solidFill>
                  <a:srgbClr val="545454"/>
                </a:solidFill>
                <a:latin typeface="Microsoft Sans Serif"/>
                <a:cs typeface="Microsoft Sans Serif"/>
              </a:rPr>
              <a:t> </a:t>
            </a:r>
            <a:r>
              <a:rPr sz="1400" dirty="0">
                <a:solidFill>
                  <a:srgbClr val="545454"/>
                </a:solidFill>
                <a:latin typeface="Microsoft Sans Serif"/>
                <a:cs typeface="Microsoft Sans Serif"/>
              </a:rPr>
              <a:t>for</a:t>
            </a:r>
            <a:r>
              <a:rPr sz="1400" spc="-15" dirty="0">
                <a:solidFill>
                  <a:srgbClr val="545454"/>
                </a:solidFill>
                <a:latin typeface="Microsoft Sans Serif"/>
                <a:cs typeface="Microsoft Sans Serif"/>
              </a:rPr>
              <a:t> </a:t>
            </a:r>
            <a:r>
              <a:rPr sz="1400" spc="-25" dirty="0">
                <a:solidFill>
                  <a:srgbClr val="545454"/>
                </a:solidFill>
                <a:latin typeface="Microsoft Sans Serif"/>
                <a:cs typeface="Microsoft Sans Serif"/>
              </a:rPr>
              <a:t>environmental</a:t>
            </a:r>
            <a:r>
              <a:rPr sz="1400" spc="-20" dirty="0">
                <a:solidFill>
                  <a:srgbClr val="545454"/>
                </a:solidFill>
                <a:latin typeface="Microsoft Sans Serif"/>
                <a:cs typeface="Microsoft Sans Serif"/>
              </a:rPr>
              <a:t> </a:t>
            </a:r>
            <a:r>
              <a:rPr sz="1400" spc="-25" dirty="0">
                <a:solidFill>
                  <a:srgbClr val="545454"/>
                </a:solidFill>
                <a:latin typeface="Microsoft Sans Serif"/>
                <a:cs typeface="Microsoft Sans Serif"/>
              </a:rPr>
              <a:t>challenges</a:t>
            </a:r>
            <a:r>
              <a:rPr sz="1400" spc="-15" dirty="0">
                <a:solidFill>
                  <a:srgbClr val="545454"/>
                </a:solidFill>
                <a:latin typeface="Microsoft Sans Serif"/>
                <a:cs typeface="Microsoft Sans Serif"/>
              </a:rPr>
              <a:t> </a:t>
            </a:r>
            <a:r>
              <a:rPr sz="1400" spc="-25" dirty="0">
                <a:solidFill>
                  <a:srgbClr val="545454"/>
                </a:solidFill>
                <a:latin typeface="Microsoft Sans Serif"/>
                <a:cs typeface="Microsoft Sans Serif"/>
              </a:rPr>
              <a:t>and </a:t>
            </a:r>
            <a:r>
              <a:rPr sz="1400" spc="-10" dirty="0">
                <a:solidFill>
                  <a:srgbClr val="545454"/>
                </a:solidFill>
                <a:latin typeface="Microsoft Sans Serif"/>
                <a:cs typeface="Microsoft Sans Serif"/>
              </a:rPr>
              <a:t>practical</a:t>
            </a:r>
            <a:r>
              <a:rPr sz="1400" dirty="0">
                <a:solidFill>
                  <a:srgbClr val="545454"/>
                </a:solidFill>
                <a:latin typeface="Microsoft Sans Serif"/>
                <a:cs typeface="Microsoft Sans Serif"/>
              </a:rPr>
              <a:t> </a:t>
            </a:r>
            <a:r>
              <a:rPr sz="1400" spc="-20" dirty="0">
                <a:solidFill>
                  <a:srgbClr val="545454"/>
                </a:solidFill>
                <a:latin typeface="Microsoft Sans Serif"/>
                <a:cs typeface="Microsoft Sans Serif"/>
              </a:rPr>
              <a:t>deployment</a:t>
            </a:r>
            <a:r>
              <a:rPr sz="1400" dirty="0">
                <a:solidFill>
                  <a:srgbClr val="545454"/>
                </a:solidFill>
                <a:latin typeface="Microsoft Sans Serif"/>
                <a:cs typeface="Microsoft Sans Serif"/>
              </a:rPr>
              <a:t> </a:t>
            </a:r>
            <a:r>
              <a:rPr sz="1400" spc="-10" dirty="0">
                <a:solidFill>
                  <a:srgbClr val="545454"/>
                </a:solidFill>
                <a:latin typeface="Microsoft Sans Serif"/>
                <a:cs typeface="Microsoft Sans Serif"/>
              </a:rPr>
              <a:t>constraints</a:t>
            </a:r>
            <a:r>
              <a:rPr sz="1600" spc="-10" dirty="0">
                <a:solidFill>
                  <a:srgbClr val="545454"/>
                </a:solidFill>
                <a:latin typeface="Microsoft Sans Serif"/>
                <a:cs typeface="Microsoft Sans Serif"/>
              </a:rPr>
              <a:t>.</a:t>
            </a:r>
            <a:endParaRPr sz="1600" dirty="0">
              <a:latin typeface="Microsoft Sans Serif"/>
              <a:cs typeface="Microsoft Sans Serif"/>
            </a:endParaRPr>
          </a:p>
        </p:txBody>
      </p:sp>
      <p:grpSp>
        <p:nvGrpSpPr>
          <p:cNvPr id="10" name="object 10"/>
          <p:cNvGrpSpPr/>
          <p:nvPr/>
        </p:nvGrpSpPr>
        <p:grpSpPr>
          <a:xfrm>
            <a:off x="938408" y="2642012"/>
            <a:ext cx="2886502" cy="1697797"/>
            <a:chOff x="1076324" y="1914522"/>
            <a:chExt cx="2752725" cy="1400175"/>
          </a:xfrm>
        </p:grpSpPr>
        <p:sp>
          <p:nvSpPr>
            <p:cNvPr id="11" name="object 11"/>
            <p:cNvSpPr/>
            <p:nvPr/>
          </p:nvSpPr>
          <p:spPr>
            <a:xfrm>
              <a:off x="1090612" y="1914522"/>
              <a:ext cx="2738755" cy="1400175"/>
            </a:xfrm>
            <a:custGeom>
              <a:avLst/>
              <a:gdLst/>
              <a:ahLst/>
              <a:cxnLst/>
              <a:rect l="l" t="t" r="r" b="b"/>
              <a:pathLst>
                <a:path w="2738754" h="1400175">
                  <a:moveTo>
                    <a:pt x="2667240" y="1400174"/>
                  </a:moveTo>
                  <a:lnTo>
                    <a:pt x="57847" y="1400174"/>
                  </a:lnTo>
                  <a:lnTo>
                    <a:pt x="53821" y="1399681"/>
                  </a:lnTo>
                  <a:lnTo>
                    <a:pt x="15259" y="1374306"/>
                  </a:lnTo>
                  <a:lnTo>
                    <a:pt x="396" y="1333927"/>
                  </a:lnTo>
                  <a:lnTo>
                    <a:pt x="0" y="1328979"/>
                  </a:lnTo>
                  <a:lnTo>
                    <a:pt x="0" y="1323974"/>
                  </a:lnTo>
                  <a:lnTo>
                    <a:pt x="0" y="71195"/>
                  </a:lnTo>
                  <a:lnTo>
                    <a:pt x="12692" y="29696"/>
                  </a:lnTo>
                  <a:lnTo>
                    <a:pt x="41975" y="3878"/>
                  </a:lnTo>
                  <a:lnTo>
                    <a:pt x="57847" y="0"/>
                  </a:lnTo>
                  <a:lnTo>
                    <a:pt x="2667240" y="0"/>
                  </a:lnTo>
                  <a:lnTo>
                    <a:pt x="2708731" y="15613"/>
                  </a:lnTo>
                  <a:lnTo>
                    <a:pt x="2734551" y="51656"/>
                  </a:lnTo>
                  <a:lnTo>
                    <a:pt x="2738437" y="71195"/>
                  </a:lnTo>
                  <a:lnTo>
                    <a:pt x="2738437" y="1328979"/>
                  </a:lnTo>
                  <a:lnTo>
                    <a:pt x="2722815" y="1370455"/>
                  </a:lnTo>
                  <a:lnTo>
                    <a:pt x="2686774" y="1396277"/>
                  </a:lnTo>
                  <a:lnTo>
                    <a:pt x="2672195" y="1399681"/>
                  </a:lnTo>
                  <a:lnTo>
                    <a:pt x="2667240" y="1400174"/>
                  </a:lnTo>
                  <a:close/>
                </a:path>
              </a:pathLst>
            </a:custGeom>
            <a:solidFill>
              <a:srgbClr val="F7F9FA"/>
            </a:solidFill>
          </p:spPr>
          <p:txBody>
            <a:bodyPr wrap="square" lIns="0" tIns="0" rIns="0" bIns="0" rtlCol="0"/>
            <a:lstStyle/>
            <a:p>
              <a:endParaRPr sz="2800"/>
            </a:p>
          </p:txBody>
        </p:sp>
        <p:sp>
          <p:nvSpPr>
            <p:cNvPr id="12" name="object 12"/>
            <p:cNvSpPr/>
            <p:nvPr/>
          </p:nvSpPr>
          <p:spPr>
            <a:xfrm>
              <a:off x="1076324" y="1914895"/>
              <a:ext cx="69215" cy="1399540"/>
            </a:xfrm>
            <a:custGeom>
              <a:avLst/>
              <a:gdLst/>
              <a:ahLst/>
              <a:cxnLst/>
              <a:rect l="l" t="t" r="r" b="b"/>
              <a:pathLst>
                <a:path w="69215" h="1399539">
                  <a:moveTo>
                    <a:pt x="68698" y="1399419"/>
                  </a:moveTo>
                  <a:lnTo>
                    <a:pt x="27882" y="1382530"/>
                  </a:lnTo>
                  <a:lnTo>
                    <a:pt x="3262" y="1345683"/>
                  </a:lnTo>
                  <a:lnTo>
                    <a:pt x="0" y="1323597"/>
                  </a:lnTo>
                  <a:lnTo>
                    <a:pt x="0" y="75822"/>
                  </a:lnTo>
                  <a:lnTo>
                    <a:pt x="12830" y="33479"/>
                  </a:lnTo>
                  <a:lnTo>
                    <a:pt x="47039" y="5422"/>
                  </a:lnTo>
                  <a:lnTo>
                    <a:pt x="68698" y="0"/>
                  </a:lnTo>
                  <a:lnTo>
                    <a:pt x="63809" y="1555"/>
                  </a:lnTo>
                  <a:lnTo>
                    <a:pt x="52139" y="9289"/>
                  </a:lnTo>
                  <a:lnTo>
                    <a:pt x="32200" y="46661"/>
                  </a:lnTo>
                  <a:lnTo>
                    <a:pt x="28575" y="75822"/>
                  </a:lnTo>
                  <a:lnTo>
                    <a:pt x="28575" y="1323597"/>
                  </a:lnTo>
                  <a:lnTo>
                    <a:pt x="36593" y="1365939"/>
                  </a:lnTo>
                  <a:lnTo>
                    <a:pt x="63809" y="1397863"/>
                  </a:lnTo>
                  <a:lnTo>
                    <a:pt x="68698" y="1399419"/>
                  </a:lnTo>
                  <a:close/>
                </a:path>
              </a:pathLst>
            </a:custGeom>
            <a:solidFill>
              <a:srgbClr val="BF382A"/>
            </a:solidFill>
          </p:spPr>
          <p:txBody>
            <a:bodyPr wrap="square" lIns="0" tIns="0" rIns="0" bIns="0" rtlCol="0"/>
            <a:lstStyle/>
            <a:p>
              <a:endParaRPr sz="2800"/>
            </a:p>
          </p:txBody>
        </p:sp>
        <p:pic>
          <p:nvPicPr>
            <p:cNvPr id="13" name="object 13"/>
            <p:cNvPicPr/>
            <p:nvPr/>
          </p:nvPicPr>
          <p:blipFill>
            <a:blip r:embed="rId6" cstate="print"/>
            <a:stretch>
              <a:fillRect/>
            </a:stretch>
          </p:blipFill>
          <p:spPr>
            <a:xfrm>
              <a:off x="2305049" y="2057393"/>
              <a:ext cx="333374" cy="333374"/>
            </a:xfrm>
            <a:prstGeom prst="rect">
              <a:avLst/>
            </a:prstGeom>
          </p:spPr>
        </p:pic>
        <p:pic>
          <p:nvPicPr>
            <p:cNvPr id="14" name="object 14"/>
            <p:cNvPicPr/>
            <p:nvPr/>
          </p:nvPicPr>
          <p:blipFill>
            <a:blip r:embed="rId7" cstate="print"/>
            <a:stretch>
              <a:fillRect/>
            </a:stretch>
          </p:blipFill>
          <p:spPr>
            <a:xfrm>
              <a:off x="2402681" y="2159000"/>
              <a:ext cx="133350" cy="136525"/>
            </a:xfrm>
            <a:prstGeom prst="rect">
              <a:avLst/>
            </a:prstGeom>
          </p:spPr>
        </p:pic>
      </p:grpSp>
      <p:sp>
        <p:nvSpPr>
          <p:cNvPr id="15" name="object 15"/>
          <p:cNvSpPr txBox="1"/>
          <p:nvPr/>
        </p:nvSpPr>
        <p:spPr>
          <a:xfrm>
            <a:off x="1126448" y="3113215"/>
            <a:ext cx="2421255" cy="947632"/>
          </a:xfrm>
          <a:prstGeom prst="rect">
            <a:avLst/>
          </a:prstGeom>
        </p:spPr>
        <p:txBody>
          <a:bodyPr vert="horz" wrap="square" lIns="0" tIns="100330" rIns="0" bIns="0" rtlCol="0">
            <a:spAutoFit/>
          </a:bodyPr>
          <a:lstStyle/>
          <a:p>
            <a:pPr algn="ctr">
              <a:lnSpc>
                <a:spcPct val="100000"/>
              </a:lnSpc>
              <a:spcBef>
                <a:spcPts val="790"/>
              </a:spcBef>
            </a:pPr>
            <a:r>
              <a:rPr sz="1400" b="1" spc="-60" dirty="0">
                <a:solidFill>
                  <a:srgbClr val="1A1A2E"/>
                </a:solidFill>
                <a:latin typeface="Arial"/>
                <a:cs typeface="Arial"/>
              </a:rPr>
              <a:t>Domain</a:t>
            </a:r>
            <a:r>
              <a:rPr sz="1400" b="1" spc="-105" dirty="0">
                <a:solidFill>
                  <a:srgbClr val="1A1A2E"/>
                </a:solidFill>
                <a:latin typeface="Arial"/>
                <a:cs typeface="Arial"/>
              </a:rPr>
              <a:t> </a:t>
            </a:r>
            <a:r>
              <a:rPr sz="1400" b="1" spc="-10" dirty="0">
                <a:solidFill>
                  <a:srgbClr val="1A1A2E"/>
                </a:solidFill>
                <a:latin typeface="Arial"/>
                <a:cs typeface="Arial"/>
              </a:rPr>
              <a:t>Adaptation</a:t>
            </a:r>
            <a:endParaRPr sz="1400" dirty="0">
              <a:latin typeface="Arial"/>
              <a:cs typeface="Arial"/>
            </a:endParaRPr>
          </a:p>
          <a:p>
            <a:pPr marL="12700" marR="5080" indent="-635" algn="ctr">
              <a:lnSpc>
                <a:spcPct val="114599"/>
              </a:lnSpc>
              <a:spcBef>
                <a:spcPts val="459"/>
              </a:spcBef>
            </a:pPr>
            <a:r>
              <a:rPr sz="1100" spc="-25" dirty="0">
                <a:solidFill>
                  <a:srgbClr val="666666"/>
                </a:solidFill>
                <a:latin typeface="Microsoft Sans Serif"/>
                <a:cs typeface="Microsoft Sans Serif"/>
              </a:rPr>
              <a:t>Handles</a:t>
            </a:r>
            <a:r>
              <a:rPr sz="1100" spc="-20" dirty="0">
                <a:solidFill>
                  <a:srgbClr val="666666"/>
                </a:solidFill>
                <a:latin typeface="Microsoft Sans Serif"/>
                <a:cs typeface="Microsoft Sans Serif"/>
              </a:rPr>
              <a:t> </a:t>
            </a:r>
            <a:r>
              <a:rPr sz="1100" spc="-75" dirty="0">
                <a:solidFill>
                  <a:srgbClr val="666666"/>
                </a:solidFill>
                <a:latin typeface="Microsoft Sans Serif"/>
                <a:cs typeface="Microsoft Sans Serif"/>
              </a:rPr>
              <a:t>UAE</a:t>
            </a:r>
            <a:r>
              <a:rPr sz="1100" spc="-10" dirty="0">
                <a:solidFill>
                  <a:srgbClr val="666666"/>
                </a:solidFill>
                <a:latin typeface="Microsoft Sans Serif"/>
                <a:cs typeface="Microsoft Sans Serif"/>
              </a:rPr>
              <a:t> dune glare </a:t>
            </a:r>
            <a:r>
              <a:rPr sz="1100" spc="-20" dirty="0">
                <a:solidFill>
                  <a:srgbClr val="666666"/>
                </a:solidFill>
                <a:latin typeface="Microsoft Sans Serif"/>
                <a:cs typeface="Microsoft Sans Serif"/>
              </a:rPr>
              <a:t>and</a:t>
            </a:r>
            <a:r>
              <a:rPr sz="1100" spc="-15" dirty="0">
                <a:solidFill>
                  <a:srgbClr val="666666"/>
                </a:solidFill>
                <a:latin typeface="Microsoft Sans Serif"/>
                <a:cs typeface="Microsoft Sans Serif"/>
              </a:rPr>
              <a:t> </a:t>
            </a:r>
            <a:r>
              <a:rPr sz="1100" spc="-40" dirty="0">
                <a:solidFill>
                  <a:srgbClr val="666666"/>
                </a:solidFill>
                <a:latin typeface="Microsoft Sans Serif"/>
                <a:cs typeface="Microsoft Sans Serif"/>
              </a:rPr>
              <a:t>Wadi</a:t>
            </a:r>
            <a:r>
              <a:rPr sz="1100" spc="-10" dirty="0">
                <a:solidFill>
                  <a:srgbClr val="666666"/>
                </a:solidFill>
                <a:latin typeface="Microsoft Sans Serif"/>
                <a:cs typeface="Microsoft Sans Serif"/>
              </a:rPr>
              <a:t> </a:t>
            </a:r>
            <a:r>
              <a:rPr sz="1100" spc="-60" dirty="0">
                <a:solidFill>
                  <a:srgbClr val="666666"/>
                </a:solidFill>
                <a:latin typeface="Microsoft Sans Serif"/>
                <a:cs typeface="Microsoft Sans Serif"/>
              </a:rPr>
              <a:t>Rum</a:t>
            </a:r>
            <a:r>
              <a:rPr sz="1100" spc="-10" dirty="0">
                <a:solidFill>
                  <a:srgbClr val="666666"/>
                </a:solidFill>
                <a:latin typeface="Microsoft Sans Serif"/>
                <a:cs typeface="Microsoft Sans Serif"/>
              </a:rPr>
              <a:t> </a:t>
            </a:r>
            <a:r>
              <a:rPr sz="1100" spc="-25" dirty="0">
                <a:solidFill>
                  <a:srgbClr val="666666"/>
                </a:solidFill>
                <a:latin typeface="Microsoft Sans Serif"/>
                <a:cs typeface="Microsoft Sans Serif"/>
              </a:rPr>
              <a:t>Red </a:t>
            </a:r>
            <a:r>
              <a:rPr sz="1100" spc="-30" dirty="0">
                <a:solidFill>
                  <a:srgbClr val="666666"/>
                </a:solidFill>
                <a:latin typeface="Microsoft Sans Serif"/>
                <a:cs typeface="Microsoft Sans Serif"/>
              </a:rPr>
              <a:t>Sands</a:t>
            </a:r>
            <a:r>
              <a:rPr sz="1100" spc="-15" dirty="0">
                <a:solidFill>
                  <a:srgbClr val="666666"/>
                </a:solidFill>
                <a:latin typeface="Microsoft Sans Serif"/>
                <a:cs typeface="Microsoft Sans Serif"/>
              </a:rPr>
              <a:t> </a:t>
            </a:r>
            <a:r>
              <a:rPr sz="1100" spc="-10" dirty="0">
                <a:solidFill>
                  <a:srgbClr val="666666"/>
                </a:solidFill>
                <a:latin typeface="Microsoft Sans Serif"/>
                <a:cs typeface="Microsoft Sans Serif"/>
              </a:rPr>
              <a:t>spectral </a:t>
            </a:r>
            <a:r>
              <a:rPr sz="1100" spc="-20" dirty="0">
                <a:solidFill>
                  <a:srgbClr val="666666"/>
                </a:solidFill>
                <a:latin typeface="Microsoft Sans Serif"/>
                <a:cs typeface="Microsoft Sans Serif"/>
              </a:rPr>
              <a:t>signatures</a:t>
            </a:r>
            <a:r>
              <a:rPr sz="1100" spc="-10" dirty="0">
                <a:solidFill>
                  <a:srgbClr val="666666"/>
                </a:solidFill>
                <a:latin typeface="Microsoft Sans Serif"/>
                <a:cs typeface="Microsoft Sans Serif"/>
              </a:rPr>
              <a:t> </a:t>
            </a:r>
            <a:r>
              <a:rPr sz="1100" dirty="0">
                <a:solidFill>
                  <a:srgbClr val="666666"/>
                </a:solidFill>
                <a:latin typeface="Microsoft Sans Serif"/>
                <a:cs typeface="Microsoft Sans Serif"/>
              </a:rPr>
              <a:t>that</a:t>
            </a:r>
            <a:r>
              <a:rPr sz="1100" spc="-10" dirty="0">
                <a:solidFill>
                  <a:srgbClr val="666666"/>
                </a:solidFill>
                <a:latin typeface="Microsoft Sans Serif"/>
                <a:cs typeface="Microsoft Sans Serif"/>
              </a:rPr>
              <a:t> </a:t>
            </a:r>
            <a:r>
              <a:rPr sz="1100" dirty="0">
                <a:solidFill>
                  <a:srgbClr val="666666"/>
                </a:solidFill>
                <a:latin typeface="Microsoft Sans Serif"/>
                <a:cs typeface="Microsoft Sans Serif"/>
              </a:rPr>
              <a:t>confuse</a:t>
            </a:r>
            <a:r>
              <a:rPr sz="1100" spc="-15" dirty="0">
                <a:solidFill>
                  <a:srgbClr val="666666"/>
                </a:solidFill>
                <a:latin typeface="Microsoft Sans Serif"/>
                <a:cs typeface="Microsoft Sans Serif"/>
              </a:rPr>
              <a:t> </a:t>
            </a:r>
            <a:r>
              <a:rPr sz="1100" spc="-10" dirty="0">
                <a:solidFill>
                  <a:srgbClr val="666666"/>
                </a:solidFill>
                <a:latin typeface="Microsoft Sans Serif"/>
                <a:cs typeface="Microsoft Sans Serif"/>
              </a:rPr>
              <a:t>standard algorithms.</a:t>
            </a:r>
            <a:endParaRPr sz="1100" dirty="0">
              <a:latin typeface="Microsoft Sans Serif"/>
              <a:cs typeface="Microsoft Sans Serif"/>
            </a:endParaRPr>
          </a:p>
        </p:txBody>
      </p:sp>
      <p:grpSp>
        <p:nvGrpSpPr>
          <p:cNvPr id="16" name="object 16"/>
          <p:cNvGrpSpPr/>
          <p:nvPr/>
        </p:nvGrpSpPr>
        <p:grpSpPr>
          <a:xfrm>
            <a:off x="3943827" y="2633260"/>
            <a:ext cx="2964815" cy="1678072"/>
            <a:chOff x="3971924" y="1914522"/>
            <a:chExt cx="2752725" cy="1400175"/>
          </a:xfrm>
        </p:grpSpPr>
        <p:sp>
          <p:nvSpPr>
            <p:cNvPr id="17" name="object 17"/>
            <p:cNvSpPr/>
            <p:nvPr/>
          </p:nvSpPr>
          <p:spPr>
            <a:xfrm>
              <a:off x="3986212" y="1914522"/>
              <a:ext cx="2738755" cy="1400175"/>
            </a:xfrm>
            <a:custGeom>
              <a:avLst/>
              <a:gdLst/>
              <a:ahLst/>
              <a:cxnLst/>
              <a:rect l="l" t="t" r="r" b="b"/>
              <a:pathLst>
                <a:path w="2738754" h="1400175">
                  <a:moveTo>
                    <a:pt x="2667240" y="1400174"/>
                  </a:moveTo>
                  <a:lnTo>
                    <a:pt x="57847" y="1400174"/>
                  </a:lnTo>
                  <a:lnTo>
                    <a:pt x="53821" y="1399681"/>
                  </a:lnTo>
                  <a:lnTo>
                    <a:pt x="15258" y="1374306"/>
                  </a:lnTo>
                  <a:lnTo>
                    <a:pt x="396" y="1333927"/>
                  </a:lnTo>
                  <a:lnTo>
                    <a:pt x="0" y="1328979"/>
                  </a:lnTo>
                  <a:lnTo>
                    <a:pt x="0" y="1323974"/>
                  </a:lnTo>
                  <a:lnTo>
                    <a:pt x="0" y="71195"/>
                  </a:lnTo>
                  <a:lnTo>
                    <a:pt x="12692" y="29696"/>
                  </a:lnTo>
                  <a:lnTo>
                    <a:pt x="41975" y="3878"/>
                  </a:lnTo>
                  <a:lnTo>
                    <a:pt x="57847" y="0"/>
                  </a:lnTo>
                  <a:lnTo>
                    <a:pt x="2667240" y="0"/>
                  </a:lnTo>
                  <a:lnTo>
                    <a:pt x="2708731" y="15613"/>
                  </a:lnTo>
                  <a:lnTo>
                    <a:pt x="2734551" y="51656"/>
                  </a:lnTo>
                  <a:lnTo>
                    <a:pt x="2738436" y="71195"/>
                  </a:lnTo>
                  <a:lnTo>
                    <a:pt x="2738436" y="1328979"/>
                  </a:lnTo>
                  <a:lnTo>
                    <a:pt x="2722815" y="1370455"/>
                  </a:lnTo>
                  <a:lnTo>
                    <a:pt x="2686775" y="1396277"/>
                  </a:lnTo>
                  <a:lnTo>
                    <a:pt x="2672195" y="1399681"/>
                  </a:lnTo>
                  <a:lnTo>
                    <a:pt x="2667240" y="1400174"/>
                  </a:lnTo>
                  <a:close/>
                </a:path>
              </a:pathLst>
            </a:custGeom>
            <a:solidFill>
              <a:srgbClr val="F7F9FA"/>
            </a:solidFill>
          </p:spPr>
          <p:txBody>
            <a:bodyPr wrap="square" lIns="0" tIns="0" rIns="0" bIns="0" rtlCol="0"/>
            <a:lstStyle/>
            <a:p>
              <a:endParaRPr sz="2800"/>
            </a:p>
          </p:txBody>
        </p:sp>
        <p:sp>
          <p:nvSpPr>
            <p:cNvPr id="18" name="object 18"/>
            <p:cNvSpPr/>
            <p:nvPr/>
          </p:nvSpPr>
          <p:spPr>
            <a:xfrm>
              <a:off x="3971924" y="1914895"/>
              <a:ext cx="69215" cy="1399540"/>
            </a:xfrm>
            <a:custGeom>
              <a:avLst/>
              <a:gdLst/>
              <a:ahLst/>
              <a:cxnLst/>
              <a:rect l="l" t="t" r="r" b="b"/>
              <a:pathLst>
                <a:path w="69214" h="1399539">
                  <a:moveTo>
                    <a:pt x="68698" y="1399419"/>
                  </a:moveTo>
                  <a:lnTo>
                    <a:pt x="27882" y="1382530"/>
                  </a:lnTo>
                  <a:lnTo>
                    <a:pt x="3262" y="1345683"/>
                  </a:lnTo>
                  <a:lnTo>
                    <a:pt x="0" y="1323597"/>
                  </a:lnTo>
                  <a:lnTo>
                    <a:pt x="0" y="75822"/>
                  </a:lnTo>
                  <a:lnTo>
                    <a:pt x="12829" y="33479"/>
                  </a:lnTo>
                  <a:lnTo>
                    <a:pt x="47039" y="5422"/>
                  </a:lnTo>
                  <a:lnTo>
                    <a:pt x="68698" y="0"/>
                  </a:lnTo>
                  <a:lnTo>
                    <a:pt x="63809" y="1555"/>
                  </a:lnTo>
                  <a:lnTo>
                    <a:pt x="52139" y="9289"/>
                  </a:lnTo>
                  <a:lnTo>
                    <a:pt x="32199" y="46661"/>
                  </a:lnTo>
                  <a:lnTo>
                    <a:pt x="28575" y="75822"/>
                  </a:lnTo>
                  <a:lnTo>
                    <a:pt x="28575" y="1323597"/>
                  </a:lnTo>
                  <a:lnTo>
                    <a:pt x="36593" y="1365939"/>
                  </a:lnTo>
                  <a:lnTo>
                    <a:pt x="63809" y="1397863"/>
                  </a:lnTo>
                  <a:lnTo>
                    <a:pt x="68698" y="1399419"/>
                  </a:lnTo>
                  <a:close/>
                </a:path>
              </a:pathLst>
            </a:custGeom>
            <a:solidFill>
              <a:srgbClr val="BF382A"/>
            </a:solidFill>
          </p:spPr>
          <p:txBody>
            <a:bodyPr wrap="square" lIns="0" tIns="0" rIns="0" bIns="0" rtlCol="0"/>
            <a:lstStyle/>
            <a:p>
              <a:endParaRPr sz="2800"/>
            </a:p>
          </p:txBody>
        </p:sp>
        <p:pic>
          <p:nvPicPr>
            <p:cNvPr id="19" name="object 19"/>
            <p:cNvPicPr/>
            <p:nvPr/>
          </p:nvPicPr>
          <p:blipFill>
            <a:blip r:embed="rId6" cstate="print"/>
            <a:stretch>
              <a:fillRect/>
            </a:stretch>
          </p:blipFill>
          <p:spPr>
            <a:xfrm>
              <a:off x="5200649" y="2057393"/>
              <a:ext cx="333374" cy="333374"/>
            </a:xfrm>
            <a:prstGeom prst="rect">
              <a:avLst/>
            </a:prstGeom>
          </p:spPr>
        </p:pic>
        <p:pic>
          <p:nvPicPr>
            <p:cNvPr id="20" name="object 20"/>
            <p:cNvPicPr/>
            <p:nvPr/>
          </p:nvPicPr>
          <p:blipFill>
            <a:blip r:embed="rId8" cstate="print"/>
            <a:stretch>
              <a:fillRect/>
            </a:stretch>
          </p:blipFill>
          <p:spPr>
            <a:xfrm>
              <a:off x="5295899" y="2159000"/>
              <a:ext cx="133350" cy="136525"/>
            </a:xfrm>
            <a:prstGeom prst="rect">
              <a:avLst/>
            </a:prstGeom>
          </p:spPr>
        </p:pic>
      </p:grpSp>
      <p:sp>
        <p:nvSpPr>
          <p:cNvPr id="21" name="object 21"/>
          <p:cNvSpPr txBox="1"/>
          <p:nvPr/>
        </p:nvSpPr>
        <p:spPr>
          <a:xfrm>
            <a:off x="4141124" y="3085056"/>
            <a:ext cx="2386965" cy="928972"/>
          </a:xfrm>
          <a:prstGeom prst="rect">
            <a:avLst/>
          </a:prstGeom>
        </p:spPr>
        <p:txBody>
          <a:bodyPr vert="horz" wrap="square" lIns="0" tIns="100330" rIns="0" bIns="0" rtlCol="0">
            <a:spAutoFit/>
          </a:bodyPr>
          <a:lstStyle/>
          <a:p>
            <a:pPr algn="ctr">
              <a:lnSpc>
                <a:spcPct val="100000"/>
              </a:lnSpc>
              <a:spcBef>
                <a:spcPts val="790"/>
              </a:spcBef>
            </a:pPr>
            <a:r>
              <a:rPr sz="1400" b="1" spc="-50" dirty="0">
                <a:solidFill>
                  <a:srgbClr val="1A1A2E"/>
                </a:solidFill>
                <a:latin typeface="Arial"/>
                <a:cs typeface="Arial"/>
              </a:rPr>
              <a:t>Thermal</a:t>
            </a:r>
            <a:r>
              <a:rPr sz="1400" b="1" spc="-55" dirty="0">
                <a:solidFill>
                  <a:srgbClr val="1A1A2E"/>
                </a:solidFill>
                <a:latin typeface="Arial"/>
                <a:cs typeface="Arial"/>
              </a:rPr>
              <a:t> </a:t>
            </a:r>
            <a:r>
              <a:rPr sz="1400" b="1" spc="-80" dirty="0">
                <a:solidFill>
                  <a:srgbClr val="1A1A2E"/>
                </a:solidFill>
                <a:latin typeface="Arial"/>
                <a:cs typeface="Arial"/>
              </a:rPr>
              <a:t>Crossover</a:t>
            </a:r>
            <a:r>
              <a:rPr sz="1400" b="1" spc="-50" dirty="0">
                <a:solidFill>
                  <a:srgbClr val="1A1A2E"/>
                </a:solidFill>
                <a:latin typeface="Arial"/>
                <a:cs typeface="Arial"/>
              </a:rPr>
              <a:t> </a:t>
            </a:r>
            <a:r>
              <a:rPr sz="1400" b="1" spc="-25" dirty="0">
                <a:solidFill>
                  <a:srgbClr val="1A1A2E"/>
                </a:solidFill>
                <a:latin typeface="Arial"/>
                <a:cs typeface="Arial"/>
              </a:rPr>
              <a:t>Fix</a:t>
            </a:r>
            <a:endParaRPr sz="1400" dirty="0">
              <a:latin typeface="Arial"/>
              <a:cs typeface="Arial"/>
            </a:endParaRPr>
          </a:p>
          <a:p>
            <a:pPr marL="12700" marR="5080" algn="ctr">
              <a:lnSpc>
                <a:spcPct val="111100"/>
              </a:lnSpc>
              <a:spcBef>
                <a:spcPts val="495"/>
              </a:spcBef>
            </a:pPr>
            <a:r>
              <a:rPr sz="1100" spc="-10" dirty="0">
                <a:solidFill>
                  <a:srgbClr val="666666"/>
                </a:solidFill>
                <a:latin typeface="Microsoft Sans Serif"/>
                <a:cs typeface="Microsoft Sans Serif"/>
              </a:rPr>
              <a:t>Prioritizes </a:t>
            </a:r>
            <a:r>
              <a:rPr sz="1100" spc="-100" dirty="0">
                <a:solidFill>
                  <a:srgbClr val="666666"/>
                </a:solidFill>
                <a:latin typeface="Microsoft Sans Serif"/>
                <a:cs typeface="Microsoft Sans Serif"/>
              </a:rPr>
              <a:t>RGB</a:t>
            </a:r>
            <a:r>
              <a:rPr sz="1100" spc="-10" dirty="0">
                <a:solidFill>
                  <a:srgbClr val="666666"/>
                </a:solidFill>
                <a:latin typeface="Microsoft Sans Serif"/>
                <a:cs typeface="Microsoft Sans Serif"/>
              </a:rPr>
              <a:t> optical</a:t>
            </a:r>
            <a:r>
              <a:rPr sz="1100" spc="-5" dirty="0">
                <a:solidFill>
                  <a:srgbClr val="666666"/>
                </a:solidFill>
                <a:latin typeface="Microsoft Sans Serif"/>
                <a:cs typeface="Microsoft Sans Serif"/>
              </a:rPr>
              <a:t> </a:t>
            </a:r>
            <a:r>
              <a:rPr sz="1100" spc="-10" dirty="0">
                <a:solidFill>
                  <a:srgbClr val="666666"/>
                </a:solidFill>
                <a:latin typeface="Microsoft Sans Serif"/>
                <a:cs typeface="Microsoft Sans Serif"/>
              </a:rPr>
              <a:t>detection </a:t>
            </a:r>
            <a:r>
              <a:rPr sz="1100" dirty="0">
                <a:solidFill>
                  <a:srgbClr val="666666"/>
                </a:solidFill>
                <a:latin typeface="Microsoft Sans Serif"/>
                <a:cs typeface="Microsoft Sans Serif"/>
              </a:rPr>
              <a:t>during</a:t>
            </a:r>
            <a:r>
              <a:rPr sz="1100" spc="-5" dirty="0">
                <a:solidFill>
                  <a:srgbClr val="666666"/>
                </a:solidFill>
                <a:latin typeface="Microsoft Sans Serif"/>
                <a:cs typeface="Microsoft Sans Serif"/>
              </a:rPr>
              <a:t> </a:t>
            </a:r>
            <a:r>
              <a:rPr sz="1100" spc="-10" dirty="0">
                <a:solidFill>
                  <a:srgbClr val="666666"/>
                </a:solidFill>
                <a:latin typeface="Microsoft Sans Serif"/>
                <a:cs typeface="Microsoft Sans Serif"/>
              </a:rPr>
              <a:t>daylight </a:t>
            </a:r>
            <a:r>
              <a:rPr sz="1100" dirty="0">
                <a:solidFill>
                  <a:srgbClr val="666666"/>
                </a:solidFill>
                <a:latin typeface="Microsoft Sans Serif"/>
                <a:cs typeface="Microsoft Sans Serif"/>
              </a:rPr>
              <a:t>when</a:t>
            </a:r>
            <a:r>
              <a:rPr sz="1100" spc="-30" dirty="0">
                <a:solidFill>
                  <a:srgbClr val="666666"/>
                </a:solidFill>
                <a:latin typeface="Microsoft Sans Serif"/>
                <a:cs typeface="Microsoft Sans Serif"/>
              </a:rPr>
              <a:t> </a:t>
            </a:r>
            <a:r>
              <a:rPr sz="1100" spc="-20" dirty="0">
                <a:solidFill>
                  <a:srgbClr val="666666"/>
                </a:solidFill>
                <a:latin typeface="Microsoft Sans Serif"/>
                <a:cs typeface="Microsoft Sans Serif"/>
              </a:rPr>
              <a:t>sand</a:t>
            </a:r>
            <a:r>
              <a:rPr sz="1100" spc="-30" dirty="0">
                <a:solidFill>
                  <a:srgbClr val="666666"/>
                </a:solidFill>
                <a:latin typeface="Microsoft Sans Serif"/>
                <a:cs typeface="Microsoft Sans Serif"/>
              </a:rPr>
              <a:t> </a:t>
            </a:r>
            <a:r>
              <a:rPr sz="1100" spc="-10" dirty="0">
                <a:solidFill>
                  <a:srgbClr val="666666"/>
                </a:solidFill>
                <a:latin typeface="Microsoft Sans Serif"/>
                <a:cs typeface="Microsoft Sans Serif"/>
              </a:rPr>
              <a:t>temps</a:t>
            </a:r>
            <a:r>
              <a:rPr sz="1100" spc="-30" dirty="0">
                <a:solidFill>
                  <a:srgbClr val="666666"/>
                </a:solidFill>
                <a:latin typeface="Microsoft Sans Serif"/>
                <a:cs typeface="Microsoft Sans Serif"/>
              </a:rPr>
              <a:t> </a:t>
            </a:r>
            <a:r>
              <a:rPr sz="1100" spc="-10" dirty="0">
                <a:solidFill>
                  <a:srgbClr val="666666"/>
                </a:solidFill>
                <a:latin typeface="Microsoft Sans Serif"/>
                <a:cs typeface="Microsoft Sans Serif"/>
              </a:rPr>
              <a:t>match</a:t>
            </a:r>
            <a:r>
              <a:rPr sz="1100" spc="-30" dirty="0">
                <a:solidFill>
                  <a:srgbClr val="666666"/>
                </a:solidFill>
                <a:latin typeface="Microsoft Sans Serif"/>
                <a:cs typeface="Microsoft Sans Serif"/>
              </a:rPr>
              <a:t> </a:t>
            </a:r>
            <a:r>
              <a:rPr sz="1100" spc="-25" dirty="0">
                <a:solidFill>
                  <a:srgbClr val="666666"/>
                </a:solidFill>
                <a:latin typeface="Microsoft Sans Serif"/>
                <a:cs typeface="Microsoft Sans Serif"/>
              </a:rPr>
              <a:t>human </a:t>
            </a:r>
            <a:r>
              <a:rPr sz="1100" dirty="0">
                <a:solidFill>
                  <a:srgbClr val="666666"/>
                </a:solidFill>
                <a:latin typeface="Microsoft Sans Serif"/>
                <a:cs typeface="Microsoft Sans Serif"/>
              </a:rPr>
              <a:t>body</a:t>
            </a:r>
            <a:r>
              <a:rPr sz="1100" spc="-30" dirty="0">
                <a:solidFill>
                  <a:srgbClr val="666666"/>
                </a:solidFill>
                <a:latin typeface="Microsoft Sans Serif"/>
                <a:cs typeface="Microsoft Sans Serif"/>
              </a:rPr>
              <a:t> </a:t>
            </a:r>
            <a:r>
              <a:rPr sz="1100" spc="-20" dirty="0">
                <a:solidFill>
                  <a:srgbClr val="666666"/>
                </a:solidFill>
                <a:latin typeface="Microsoft Sans Serif"/>
                <a:cs typeface="Microsoft Sans Serif"/>
              </a:rPr>
              <a:t>heat.</a:t>
            </a:r>
            <a:endParaRPr sz="1100" dirty="0">
              <a:latin typeface="Microsoft Sans Serif"/>
              <a:cs typeface="Microsoft Sans Serif"/>
            </a:endParaRPr>
          </a:p>
        </p:txBody>
      </p:sp>
      <p:grpSp>
        <p:nvGrpSpPr>
          <p:cNvPr id="22" name="object 22"/>
          <p:cNvGrpSpPr/>
          <p:nvPr/>
        </p:nvGrpSpPr>
        <p:grpSpPr>
          <a:xfrm>
            <a:off x="7031734" y="2611520"/>
            <a:ext cx="2811372" cy="1677311"/>
            <a:chOff x="6867524" y="1914522"/>
            <a:chExt cx="2752725" cy="1400175"/>
          </a:xfrm>
        </p:grpSpPr>
        <p:sp>
          <p:nvSpPr>
            <p:cNvPr id="23" name="object 23"/>
            <p:cNvSpPr/>
            <p:nvPr/>
          </p:nvSpPr>
          <p:spPr>
            <a:xfrm>
              <a:off x="6881811" y="1914522"/>
              <a:ext cx="2738755" cy="1400175"/>
            </a:xfrm>
            <a:custGeom>
              <a:avLst/>
              <a:gdLst/>
              <a:ahLst/>
              <a:cxnLst/>
              <a:rect l="l" t="t" r="r" b="b"/>
              <a:pathLst>
                <a:path w="2738754" h="1400175">
                  <a:moveTo>
                    <a:pt x="2667241" y="1400174"/>
                  </a:moveTo>
                  <a:lnTo>
                    <a:pt x="57847" y="1400174"/>
                  </a:lnTo>
                  <a:lnTo>
                    <a:pt x="53821" y="1399681"/>
                  </a:lnTo>
                  <a:lnTo>
                    <a:pt x="15259" y="1374306"/>
                  </a:lnTo>
                  <a:lnTo>
                    <a:pt x="396" y="1333927"/>
                  </a:lnTo>
                  <a:lnTo>
                    <a:pt x="0" y="1328979"/>
                  </a:lnTo>
                  <a:lnTo>
                    <a:pt x="0" y="1323974"/>
                  </a:lnTo>
                  <a:lnTo>
                    <a:pt x="0" y="71195"/>
                  </a:lnTo>
                  <a:lnTo>
                    <a:pt x="12692" y="29696"/>
                  </a:lnTo>
                  <a:lnTo>
                    <a:pt x="41975" y="3878"/>
                  </a:lnTo>
                  <a:lnTo>
                    <a:pt x="57847" y="0"/>
                  </a:lnTo>
                  <a:lnTo>
                    <a:pt x="2667241" y="0"/>
                  </a:lnTo>
                  <a:lnTo>
                    <a:pt x="2708731" y="15613"/>
                  </a:lnTo>
                  <a:lnTo>
                    <a:pt x="2734550" y="51656"/>
                  </a:lnTo>
                  <a:lnTo>
                    <a:pt x="2738437" y="71195"/>
                  </a:lnTo>
                  <a:lnTo>
                    <a:pt x="2738437" y="1328979"/>
                  </a:lnTo>
                  <a:lnTo>
                    <a:pt x="2722815" y="1370455"/>
                  </a:lnTo>
                  <a:lnTo>
                    <a:pt x="2686775" y="1396277"/>
                  </a:lnTo>
                  <a:lnTo>
                    <a:pt x="2672196" y="1399681"/>
                  </a:lnTo>
                  <a:lnTo>
                    <a:pt x="2667241" y="1400174"/>
                  </a:lnTo>
                  <a:close/>
                </a:path>
              </a:pathLst>
            </a:custGeom>
            <a:solidFill>
              <a:srgbClr val="F7F9FA"/>
            </a:solidFill>
          </p:spPr>
          <p:txBody>
            <a:bodyPr wrap="square" lIns="0" tIns="0" rIns="0" bIns="0" rtlCol="0"/>
            <a:lstStyle/>
            <a:p>
              <a:endParaRPr sz="2800"/>
            </a:p>
          </p:txBody>
        </p:sp>
        <p:sp>
          <p:nvSpPr>
            <p:cNvPr id="24" name="object 24"/>
            <p:cNvSpPr/>
            <p:nvPr/>
          </p:nvSpPr>
          <p:spPr>
            <a:xfrm>
              <a:off x="6867524" y="1914895"/>
              <a:ext cx="69215" cy="1399540"/>
            </a:xfrm>
            <a:custGeom>
              <a:avLst/>
              <a:gdLst/>
              <a:ahLst/>
              <a:cxnLst/>
              <a:rect l="l" t="t" r="r" b="b"/>
              <a:pathLst>
                <a:path w="69215" h="1399539">
                  <a:moveTo>
                    <a:pt x="68698" y="1399420"/>
                  </a:moveTo>
                  <a:lnTo>
                    <a:pt x="27882" y="1382530"/>
                  </a:lnTo>
                  <a:lnTo>
                    <a:pt x="3262" y="1345683"/>
                  </a:lnTo>
                  <a:lnTo>
                    <a:pt x="0" y="1323597"/>
                  </a:lnTo>
                  <a:lnTo>
                    <a:pt x="0" y="75822"/>
                  </a:lnTo>
                  <a:lnTo>
                    <a:pt x="12830" y="33479"/>
                  </a:lnTo>
                  <a:lnTo>
                    <a:pt x="47038" y="5422"/>
                  </a:lnTo>
                  <a:lnTo>
                    <a:pt x="68698" y="0"/>
                  </a:lnTo>
                  <a:lnTo>
                    <a:pt x="63809" y="1556"/>
                  </a:lnTo>
                  <a:lnTo>
                    <a:pt x="52140" y="9289"/>
                  </a:lnTo>
                  <a:lnTo>
                    <a:pt x="32199" y="46661"/>
                  </a:lnTo>
                  <a:lnTo>
                    <a:pt x="28575" y="75822"/>
                  </a:lnTo>
                  <a:lnTo>
                    <a:pt x="28575" y="1323597"/>
                  </a:lnTo>
                  <a:lnTo>
                    <a:pt x="36593" y="1365939"/>
                  </a:lnTo>
                  <a:lnTo>
                    <a:pt x="63809" y="1397863"/>
                  </a:lnTo>
                  <a:lnTo>
                    <a:pt x="68698" y="1399420"/>
                  </a:lnTo>
                  <a:close/>
                </a:path>
              </a:pathLst>
            </a:custGeom>
            <a:solidFill>
              <a:srgbClr val="BF382A"/>
            </a:solidFill>
          </p:spPr>
          <p:txBody>
            <a:bodyPr wrap="square" lIns="0" tIns="0" rIns="0" bIns="0" rtlCol="0"/>
            <a:lstStyle/>
            <a:p>
              <a:endParaRPr sz="2800"/>
            </a:p>
          </p:txBody>
        </p:sp>
        <p:pic>
          <p:nvPicPr>
            <p:cNvPr id="25" name="object 25"/>
            <p:cNvPicPr/>
            <p:nvPr/>
          </p:nvPicPr>
          <p:blipFill>
            <a:blip r:embed="rId9" cstate="print"/>
            <a:stretch>
              <a:fillRect/>
            </a:stretch>
          </p:blipFill>
          <p:spPr>
            <a:xfrm>
              <a:off x="8086723" y="2057393"/>
              <a:ext cx="333374" cy="333374"/>
            </a:xfrm>
            <a:prstGeom prst="rect">
              <a:avLst/>
            </a:prstGeom>
          </p:spPr>
        </p:pic>
        <p:pic>
          <p:nvPicPr>
            <p:cNvPr id="26" name="object 26"/>
            <p:cNvPicPr/>
            <p:nvPr/>
          </p:nvPicPr>
          <p:blipFill>
            <a:blip r:embed="rId10" cstate="print"/>
            <a:stretch>
              <a:fillRect/>
            </a:stretch>
          </p:blipFill>
          <p:spPr>
            <a:xfrm>
              <a:off x="8205787" y="2159000"/>
              <a:ext cx="101600" cy="136525"/>
            </a:xfrm>
            <a:prstGeom prst="rect">
              <a:avLst/>
            </a:prstGeom>
          </p:spPr>
        </p:pic>
      </p:grpSp>
      <p:sp>
        <p:nvSpPr>
          <p:cNvPr id="27" name="object 27"/>
          <p:cNvSpPr txBox="1"/>
          <p:nvPr/>
        </p:nvSpPr>
        <p:spPr>
          <a:xfrm>
            <a:off x="7312970" y="3063316"/>
            <a:ext cx="2214245" cy="947632"/>
          </a:xfrm>
          <a:prstGeom prst="rect">
            <a:avLst/>
          </a:prstGeom>
        </p:spPr>
        <p:txBody>
          <a:bodyPr vert="horz" wrap="square" lIns="0" tIns="100330" rIns="0" bIns="0" rtlCol="0">
            <a:spAutoFit/>
          </a:bodyPr>
          <a:lstStyle/>
          <a:p>
            <a:pPr algn="ctr">
              <a:lnSpc>
                <a:spcPct val="100000"/>
              </a:lnSpc>
              <a:spcBef>
                <a:spcPts val="790"/>
              </a:spcBef>
            </a:pPr>
            <a:r>
              <a:rPr sz="1400" b="1" spc="-90" dirty="0">
                <a:solidFill>
                  <a:srgbClr val="1A1A2E"/>
                </a:solidFill>
                <a:latin typeface="Arial"/>
                <a:cs typeface="Arial"/>
              </a:rPr>
              <a:t>Autonomous</a:t>
            </a:r>
            <a:r>
              <a:rPr sz="1400" b="1" spc="-30" dirty="0">
                <a:solidFill>
                  <a:srgbClr val="1A1A2E"/>
                </a:solidFill>
                <a:latin typeface="Arial"/>
                <a:cs typeface="Arial"/>
              </a:rPr>
              <a:t> </a:t>
            </a:r>
            <a:r>
              <a:rPr sz="1400" b="1" spc="-10" dirty="0">
                <a:solidFill>
                  <a:srgbClr val="1A1A2E"/>
                </a:solidFill>
                <a:latin typeface="Arial"/>
                <a:cs typeface="Arial"/>
              </a:rPr>
              <a:t>Logging</a:t>
            </a:r>
            <a:endParaRPr sz="1400" dirty="0">
              <a:latin typeface="Arial"/>
              <a:cs typeface="Arial"/>
            </a:endParaRPr>
          </a:p>
          <a:p>
            <a:pPr marL="12065" marR="5080" indent="-635" algn="ctr">
              <a:lnSpc>
                <a:spcPct val="114599"/>
              </a:lnSpc>
              <a:spcBef>
                <a:spcPts val="459"/>
              </a:spcBef>
            </a:pPr>
            <a:r>
              <a:rPr sz="1100" spc="-10" dirty="0">
                <a:solidFill>
                  <a:srgbClr val="666666"/>
                </a:solidFill>
                <a:latin typeface="Microsoft Sans Serif"/>
                <a:cs typeface="Microsoft Sans Serif"/>
              </a:rPr>
              <a:t>Logs</a:t>
            </a:r>
            <a:r>
              <a:rPr sz="1100" spc="-35" dirty="0">
                <a:solidFill>
                  <a:srgbClr val="666666"/>
                </a:solidFill>
                <a:latin typeface="Microsoft Sans Serif"/>
                <a:cs typeface="Microsoft Sans Serif"/>
              </a:rPr>
              <a:t> </a:t>
            </a:r>
            <a:r>
              <a:rPr sz="1100" spc="-90" dirty="0">
                <a:solidFill>
                  <a:srgbClr val="666666"/>
                </a:solidFill>
                <a:latin typeface="Microsoft Sans Serif"/>
                <a:cs typeface="Microsoft Sans Serif"/>
              </a:rPr>
              <a:t>GPS</a:t>
            </a:r>
            <a:r>
              <a:rPr sz="1100" spc="-10" dirty="0">
                <a:solidFill>
                  <a:srgbClr val="666666"/>
                </a:solidFill>
                <a:latin typeface="Microsoft Sans Serif"/>
                <a:cs typeface="Microsoft Sans Serif"/>
              </a:rPr>
              <a:t> coordinates</a:t>
            </a:r>
            <a:r>
              <a:rPr sz="1100" spc="-25" dirty="0">
                <a:solidFill>
                  <a:srgbClr val="666666"/>
                </a:solidFill>
                <a:latin typeface="Microsoft Sans Serif"/>
                <a:cs typeface="Microsoft Sans Serif"/>
              </a:rPr>
              <a:t> </a:t>
            </a:r>
            <a:r>
              <a:rPr sz="1100" spc="-20" dirty="0">
                <a:solidFill>
                  <a:srgbClr val="666666"/>
                </a:solidFill>
                <a:latin typeface="Microsoft Sans Serif"/>
                <a:cs typeface="Microsoft Sans Serif"/>
              </a:rPr>
              <a:t>and </a:t>
            </a:r>
            <a:r>
              <a:rPr sz="1100" spc="-10" dirty="0">
                <a:solidFill>
                  <a:srgbClr val="666666"/>
                </a:solidFill>
                <a:latin typeface="Microsoft Sans Serif"/>
                <a:cs typeface="Microsoft Sans Serif"/>
              </a:rPr>
              <a:t>captures </a:t>
            </a:r>
            <a:r>
              <a:rPr sz="1100" spc="-20" dirty="0">
                <a:solidFill>
                  <a:srgbClr val="666666"/>
                </a:solidFill>
                <a:latin typeface="Microsoft Sans Serif"/>
                <a:cs typeface="Microsoft Sans Serif"/>
              </a:rPr>
              <a:t>timestamped images</a:t>
            </a:r>
            <a:r>
              <a:rPr sz="1100" spc="-15" dirty="0">
                <a:solidFill>
                  <a:srgbClr val="666666"/>
                </a:solidFill>
                <a:latin typeface="Microsoft Sans Serif"/>
                <a:cs typeface="Microsoft Sans Serif"/>
              </a:rPr>
              <a:t> </a:t>
            </a:r>
            <a:r>
              <a:rPr sz="1100" spc="-10" dirty="0">
                <a:solidFill>
                  <a:srgbClr val="666666"/>
                </a:solidFill>
                <a:latin typeface="Microsoft Sans Serif"/>
                <a:cs typeface="Microsoft Sans Serif"/>
              </a:rPr>
              <a:t>locally.</a:t>
            </a:r>
            <a:r>
              <a:rPr sz="1100" spc="-15" dirty="0">
                <a:solidFill>
                  <a:srgbClr val="666666"/>
                </a:solidFill>
                <a:latin typeface="Microsoft Sans Serif"/>
                <a:cs typeface="Microsoft Sans Serif"/>
              </a:rPr>
              <a:t> </a:t>
            </a:r>
            <a:r>
              <a:rPr sz="1100" dirty="0">
                <a:solidFill>
                  <a:srgbClr val="666666"/>
                </a:solidFill>
                <a:latin typeface="Microsoft Sans Serif"/>
                <a:cs typeface="Microsoft Sans Serif"/>
              </a:rPr>
              <a:t>Auto-returns</a:t>
            </a:r>
            <a:r>
              <a:rPr sz="1100" spc="-15" dirty="0">
                <a:solidFill>
                  <a:srgbClr val="666666"/>
                </a:solidFill>
                <a:latin typeface="Microsoft Sans Serif"/>
                <a:cs typeface="Microsoft Sans Serif"/>
              </a:rPr>
              <a:t> </a:t>
            </a:r>
            <a:r>
              <a:rPr sz="1100" spc="-25" dirty="0">
                <a:solidFill>
                  <a:srgbClr val="666666"/>
                </a:solidFill>
                <a:latin typeface="Microsoft Sans Serif"/>
                <a:cs typeface="Microsoft Sans Serif"/>
              </a:rPr>
              <a:t>to </a:t>
            </a:r>
            <a:r>
              <a:rPr sz="1100" spc="-20" dirty="0">
                <a:solidFill>
                  <a:srgbClr val="666666"/>
                </a:solidFill>
                <a:latin typeface="Microsoft Sans Serif"/>
                <a:cs typeface="Microsoft Sans Serif"/>
              </a:rPr>
              <a:t>base</a:t>
            </a:r>
            <a:r>
              <a:rPr sz="1100" spc="-30" dirty="0">
                <a:solidFill>
                  <a:srgbClr val="666666"/>
                </a:solidFill>
                <a:latin typeface="Microsoft Sans Serif"/>
                <a:cs typeface="Microsoft Sans Serif"/>
              </a:rPr>
              <a:t> </a:t>
            </a:r>
            <a:r>
              <a:rPr sz="1100" dirty="0">
                <a:solidFill>
                  <a:srgbClr val="666666"/>
                </a:solidFill>
                <a:latin typeface="Microsoft Sans Serif"/>
                <a:cs typeface="Microsoft Sans Serif"/>
              </a:rPr>
              <a:t>on</a:t>
            </a:r>
            <a:r>
              <a:rPr sz="1100" spc="-30" dirty="0">
                <a:solidFill>
                  <a:srgbClr val="666666"/>
                </a:solidFill>
                <a:latin typeface="Microsoft Sans Serif"/>
                <a:cs typeface="Microsoft Sans Serif"/>
              </a:rPr>
              <a:t> </a:t>
            </a:r>
            <a:r>
              <a:rPr sz="1100" dirty="0">
                <a:solidFill>
                  <a:srgbClr val="666666"/>
                </a:solidFill>
                <a:latin typeface="Microsoft Sans Serif"/>
                <a:cs typeface="Microsoft Sans Serif"/>
              </a:rPr>
              <a:t>low</a:t>
            </a:r>
            <a:r>
              <a:rPr sz="1100" spc="-30" dirty="0">
                <a:solidFill>
                  <a:srgbClr val="666666"/>
                </a:solidFill>
                <a:latin typeface="Microsoft Sans Serif"/>
                <a:cs typeface="Microsoft Sans Serif"/>
              </a:rPr>
              <a:t> </a:t>
            </a:r>
            <a:r>
              <a:rPr sz="1100" spc="-10" dirty="0">
                <a:solidFill>
                  <a:srgbClr val="666666"/>
                </a:solidFill>
                <a:latin typeface="Microsoft Sans Serif"/>
                <a:cs typeface="Microsoft Sans Serif"/>
              </a:rPr>
              <a:t>battery.</a:t>
            </a:r>
            <a:endParaRPr sz="1100" dirty="0">
              <a:latin typeface="Microsoft Sans Serif"/>
              <a:cs typeface="Microsoft Sans Serif"/>
            </a:endParaRPr>
          </a:p>
        </p:txBody>
      </p:sp>
      <p:sp>
        <p:nvSpPr>
          <p:cNvPr id="28" name="object 28"/>
          <p:cNvSpPr txBox="1"/>
          <p:nvPr/>
        </p:nvSpPr>
        <p:spPr>
          <a:xfrm>
            <a:off x="1161207" y="4983376"/>
            <a:ext cx="7684134" cy="693780"/>
          </a:xfrm>
          <a:prstGeom prst="rect">
            <a:avLst/>
          </a:prstGeom>
        </p:spPr>
        <p:txBody>
          <a:bodyPr vert="horz" wrap="square" lIns="0" tIns="74930" rIns="0" bIns="0" rtlCol="0">
            <a:spAutoFit/>
          </a:bodyPr>
          <a:lstStyle/>
          <a:p>
            <a:pPr marL="148590">
              <a:lnSpc>
                <a:spcPct val="100000"/>
              </a:lnSpc>
              <a:spcBef>
                <a:spcPts val="590"/>
              </a:spcBef>
            </a:pPr>
            <a:r>
              <a:rPr sz="1200" b="1" spc="-50" dirty="0">
                <a:solidFill>
                  <a:srgbClr val="333333"/>
                </a:solidFill>
                <a:latin typeface="Arial"/>
                <a:cs typeface="Arial"/>
              </a:rPr>
              <a:t>Core</a:t>
            </a:r>
            <a:r>
              <a:rPr sz="1200" b="1" spc="-75" dirty="0">
                <a:solidFill>
                  <a:srgbClr val="333333"/>
                </a:solidFill>
                <a:latin typeface="Arial"/>
                <a:cs typeface="Arial"/>
              </a:rPr>
              <a:t> </a:t>
            </a:r>
            <a:r>
              <a:rPr sz="1200" b="1" spc="-10" dirty="0">
                <a:solidFill>
                  <a:srgbClr val="333333"/>
                </a:solidFill>
                <a:latin typeface="Arial"/>
                <a:cs typeface="Arial"/>
              </a:rPr>
              <a:t>Innovation</a:t>
            </a:r>
            <a:endParaRPr sz="1200" dirty="0">
              <a:latin typeface="Arial"/>
              <a:cs typeface="Arial"/>
            </a:endParaRPr>
          </a:p>
          <a:p>
            <a:pPr marL="12700">
              <a:lnSpc>
                <a:spcPct val="100000"/>
              </a:lnSpc>
              <a:spcBef>
                <a:spcPts val="484"/>
              </a:spcBef>
            </a:pPr>
            <a:r>
              <a:rPr sz="1200" spc="-10" dirty="0">
                <a:solidFill>
                  <a:srgbClr val="545454"/>
                </a:solidFill>
                <a:latin typeface="Microsoft Sans Serif"/>
                <a:cs typeface="Microsoft Sans Serif"/>
              </a:rPr>
              <a:t>Platform-agnostic</a:t>
            </a:r>
            <a:r>
              <a:rPr sz="1200" spc="-25" dirty="0">
                <a:solidFill>
                  <a:srgbClr val="545454"/>
                </a:solidFill>
                <a:latin typeface="Microsoft Sans Serif"/>
                <a:cs typeface="Microsoft Sans Serif"/>
              </a:rPr>
              <a:t> </a:t>
            </a:r>
            <a:r>
              <a:rPr sz="1200" b="1" spc="-30" dirty="0">
                <a:solidFill>
                  <a:srgbClr val="545454"/>
                </a:solidFill>
                <a:latin typeface="Arial"/>
                <a:cs typeface="Arial"/>
              </a:rPr>
              <a:t>Modular</a:t>
            </a:r>
            <a:r>
              <a:rPr sz="1200" b="1" spc="-55" dirty="0">
                <a:solidFill>
                  <a:srgbClr val="545454"/>
                </a:solidFill>
                <a:latin typeface="Arial"/>
                <a:cs typeface="Arial"/>
              </a:rPr>
              <a:t> </a:t>
            </a:r>
            <a:r>
              <a:rPr sz="1200" b="1" spc="-30" dirty="0">
                <a:solidFill>
                  <a:srgbClr val="545454"/>
                </a:solidFill>
                <a:latin typeface="Arial"/>
                <a:cs typeface="Arial"/>
              </a:rPr>
              <a:t>Intelligent</a:t>
            </a:r>
            <a:r>
              <a:rPr sz="1200" b="1" spc="-55" dirty="0">
                <a:solidFill>
                  <a:srgbClr val="545454"/>
                </a:solidFill>
                <a:latin typeface="Arial"/>
                <a:cs typeface="Arial"/>
              </a:rPr>
              <a:t> </a:t>
            </a:r>
            <a:r>
              <a:rPr sz="1200" b="1" spc="-40" dirty="0">
                <a:solidFill>
                  <a:srgbClr val="545454"/>
                </a:solidFill>
                <a:latin typeface="Arial"/>
                <a:cs typeface="Arial"/>
              </a:rPr>
              <a:t>Payload</a:t>
            </a:r>
            <a:r>
              <a:rPr sz="1200" b="1" spc="-20" dirty="0">
                <a:solidFill>
                  <a:srgbClr val="545454"/>
                </a:solidFill>
                <a:latin typeface="Arial"/>
                <a:cs typeface="Arial"/>
              </a:rPr>
              <a:t> </a:t>
            </a:r>
            <a:r>
              <a:rPr sz="1200" spc="80" dirty="0">
                <a:solidFill>
                  <a:srgbClr val="545454"/>
                </a:solidFill>
                <a:latin typeface="Microsoft Sans Serif"/>
                <a:cs typeface="Microsoft Sans Serif"/>
              </a:rPr>
              <a:t>-</a:t>
            </a:r>
            <a:r>
              <a:rPr sz="1200" spc="-15" dirty="0">
                <a:solidFill>
                  <a:srgbClr val="545454"/>
                </a:solidFill>
                <a:latin typeface="Microsoft Sans Serif"/>
                <a:cs typeface="Microsoft Sans Serif"/>
              </a:rPr>
              <a:t> </a:t>
            </a:r>
            <a:r>
              <a:rPr sz="1200" dirty="0">
                <a:solidFill>
                  <a:srgbClr val="545454"/>
                </a:solidFill>
                <a:latin typeface="Microsoft Sans Serif"/>
                <a:cs typeface="Microsoft Sans Serif"/>
              </a:rPr>
              <a:t>can</a:t>
            </a:r>
            <a:r>
              <a:rPr sz="1200" spc="-10" dirty="0">
                <a:solidFill>
                  <a:srgbClr val="545454"/>
                </a:solidFill>
                <a:latin typeface="Microsoft Sans Serif"/>
                <a:cs typeface="Microsoft Sans Serif"/>
              </a:rPr>
              <a:t> mount</a:t>
            </a:r>
            <a:r>
              <a:rPr sz="1200" spc="-15" dirty="0">
                <a:solidFill>
                  <a:srgbClr val="545454"/>
                </a:solidFill>
                <a:latin typeface="Microsoft Sans Serif"/>
                <a:cs typeface="Microsoft Sans Serif"/>
              </a:rPr>
              <a:t> </a:t>
            </a:r>
            <a:r>
              <a:rPr sz="1200" dirty="0">
                <a:solidFill>
                  <a:srgbClr val="545454"/>
                </a:solidFill>
                <a:latin typeface="Microsoft Sans Serif"/>
                <a:cs typeface="Microsoft Sans Serif"/>
              </a:rPr>
              <a:t>on</a:t>
            </a:r>
            <a:r>
              <a:rPr sz="1200" spc="-10" dirty="0">
                <a:solidFill>
                  <a:srgbClr val="545454"/>
                </a:solidFill>
                <a:latin typeface="Microsoft Sans Serif"/>
                <a:cs typeface="Microsoft Sans Serif"/>
              </a:rPr>
              <a:t> any</a:t>
            </a:r>
            <a:r>
              <a:rPr sz="1200" spc="-15" dirty="0">
                <a:solidFill>
                  <a:srgbClr val="545454"/>
                </a:solidFill>
                <a:latin typeface="Microsoft Sans Serif"/>
                <a:cs typeface="Microsoft Sans Serif"/>
              </a:rPr>
              <a:t> </a:t>
            </a:r>
            <a:r>
              <a:rPr sz="1200" spc="-70" dirty="0">
                <a:solidFill>
                  <a:srgbClr val="545454"/>
                </a:solidFill>
                <a:latin typeface="Microsoft Sans Serif"/>
                <a:cs typeface="Microsoft Sans Serif"/>
              </a:rPr>
              <a:t>UAV</a:t>
            </a:r>
            <a:r>
              <a:rPr sz="1200" spc="-10" dirty="0">
                <a:solidFill>
                  <a:srgbClr val="545454"/>
                </a:solidFill>
                <a:latin typeface="Microsoft Sans Serif"/>
                <a:cs typeface="Microsoft Sans Serif"/>
              </a:rPr>
              <a:t> capable </a:t>
            </a:r>
            <a:r>
              <a:rPr sz="1200" dirty="0">
                <a:solidFill>
                  <a:srgbClr val="545454"/>
                </a:solidFill>
                <a:latin typeface="Microsoft Sans Serif"/>
                <a:cs typeface="Microsoft Sans Serif"/>
              </a:rPr>
              <a:t>of</a:t>
            </a:r>
            <a:r>
              <a:rPr sz="1200" spc="-15" dirty="0">
                <a:solidFill>
                  <a:srgbClr val="545454"/>
                </a:solidFill>
                <a:latin typeface="Microsoft Sans Serif"/>
                <a:cs typeface="Microsoft Sans Serif"/>
              </a:rPr>
              <a:t> </a:t>
            </a:r>
            <a:r>
              <a:rPr sz="1200" dirty="0">
                <a:solidFill>
                  <a:srgbClr val="545454"/>
                </a:solidFill>
                <a:latin typeface="Microsoft Sans Serif"/>
                <a:cs typeface="Microsoft Sans Serif"/>
              </a:rPr>
              <a:t>carrying</a:t>
            </a:r>
            <a:r>
              <a:rPr sz="1200" spc="-10" dirty="0">
                <a:solidFill>
                  <a:srgbClr val="545454"/>
                </a:solidFill>
                <a:latin typeface="Microsoft Sans Serif"/>
                <a:cs typeface="Microsoft Sans Serif"/>
              </a:rPr>
              <a:t> </a:t>
            </a:r>
            <a:r>
              <a:rPr sz="1200" dirty="0">
                <a:solidFill>
                  <a:srgbClr val="545454"/>
                </a:solidFill>
                <a:latin typeface="Microsoft Sans Serif"/>
                <a:cs typeface="Microsoft Sans Serif"/>
              </a:rPr>
              <a:t>500g.</a:t>
            </a:r>
            <a:r>
              <a:rPr sz="1200" spc="-15" dirty="0">
                <a:solidFill>
                  <a:srgbClr val="545454"/>
                </a:solidFill>
                <a:latin typeface="Microsoft Sans Serif"/>
                <a:cs typeface="Microsoft Sans Serif"/>
              </a:rPr>
              <a:t> </a:t>
            </a:r>
            <a:r>
              <a:rPr sz="1200" spc="-25" dirty="0">
                <a:solidFill>
                  <a:srgbClr val="545454"/>
                </a:solidFill>
                <a:latin typeface="Microsoft Sans Serif"/>
                <a:cs typeface="Microsoft Sans Serif"/>
              </a:rPr>
              <a:t>Focuses</a:t>
            </a:r>
            <a:r>
              <a:rPr sz="1200" spc="-10" dirty="0">
                <a:solidFill>
                  <a:srgbClr val="545454"/>
                </a:solidFill>
                <a:latin typeface="Microsoft Sans Serif"/>
                <a:cs typeface="Microsoft Sans Serif"/>
              </a:rPr>
              <a:t> </a:t>
            </a:r>
            <a:r>
              <a:rPr sz="1200" dirty="0">
                <a:solidFill>
                  <a:srgbClr val="545454"/>
                </a:solidFill>
                <a:latin typeface="Microsoft Sans Serif"/>
                <a:cs typeface="Microsoft Sans Serif"/>
              </a:rPr>
              <a:t>on</a:t>
            </a:r>
            <a:r>
              <a:rPr sz="1200" spc="-15" dirty="0">
                <a:solidFill>
                  <a:srgbClr val="545454"/>
                </a:solidFill>
                <a:latin typeface="Microsoft Sans Serif"/>
                <a:cs typeface="Microsoft Sans Serif"/>
              </a:rPr>
              <a:t> </a:t>
            </a:r>
            <a:r>
              <a:rPr sz="1200" spc="-10" dirty="0">
                <a:solidFill>
                  <a:srgbClr val="545454"/>
                </a:solidFill>
                <a:latin typeface="Microsoft Sans Serif"/>
                <a:cs typeface="Microsoft Sans Serif"/>
              </a:rPr>
              <a:t>computing,</a:t>
            </a:r>
            <a:r>
              <a:rPr sz="1200" spc="-15" dirty="0">
                <a:solidFill>
                  <a:srgbClr val="545454"/>
                </a:solidFill>
                <a:latin typeface="Microsoft Sans Serif"/>
                <a:cs typeface="Microsoft Sans Serif"/>
              </a:rPr>
              <a:t> </a:t>
            </a:r>
            <a:r>
              <a:rPr sz="1200" spc="-10" dirty="0">
                <a:solidFill>
                  <a:srgbClr val="545454"/>
                </a:solidFill>
                <a:latin typeface="Microsoft Sans Serif"/>
                <a:cs typeface="Microsoft Sans Serif"/>
              </a:rPr>
              <a:t>vision, </a:t>
            </a:r>
            <a:r>
              <a:rPr sz="1200" spc="-20" dirty="0">
                <a:solidFill>
                  <a:srgbClr val="545454"/>
                </a:solidFill>
                <a:latin typeface="Microsoft Sans Serif"/>
                <a:cs typeface="Microsoft Sans Serif"/>
              </a:rPr>
              <a:t>and</a:t>
            </a:r>
            <a:r>
              <a:rPr sz="1200" spc="-15" dirty="0">
                <a:solidFill>
                  <a:srgbClr val="545454"/>
                </a:solidFill>
                <a:latin typeface="Microsoft Sans Serif"/>
                <a:cs typeface="Microsoft Sans Serif"/>
              </a:rPr>
              <a:t> </a:t>
            </a:r>
            <a:r>
              <a:rPr sz="1200" dirty="0">
                <a:solidFill>
                  <a:srgbClr val="545454"/>
                </a:solidFill>
                <a:latin typeface="Microsoft Sans Serif"/>
                <a:cs typeface="Microsoft Sans Serif"/>
              </a:rPr>
              <a:t>software</a:t>
            </a:r>
            <a:r>
              <a:rPr sz="1200" spc="-10" dirty="0">
                <a:solidFill>
                  <a:srgbClr val="545454"/>
                </a:solidFill>
                <a:latin typeface="Microsoft Sans Serif"/>
                <a:cs typeface="Microsoft Sans Serif"/>
              </a:rPr>
              <a:t> integration.</a:t>
            </a:r>
            <a:endParaRPr sz="1200" dirty="0">
              <a:latin typeface="Microsoft Sans Serif"/>
              <a:cs typeface="Microsoft Sans Serif"/>
            </a:endParaRPr>
          </a:p>
        </p:txBody>
      </p:sp>
      <p:sp>
        <p:nvSpPr>
          <p:cNvPr id="29" name="object 29"/>
          <p:cNvSpPr/>
          <p:nvPr/>
        </p:nvSpPr>
        <p:spPr>
          <a:xfrm>
            <a:off x="1076324" y="6515096"/>
            <a:ext cx="8543925" cy="9525"/>
          </a:xfrm>
          <a:custGeom>
            <a:avLst/>
            <a:gdLst/>
            <a:ahLst/>
            <a:cxnLst/>
            <a:rect l="l" t="t" r="r" b="b"/>
            <a:pathLst>
              <a:path w="8543925" h="9525">
                <a:moveTo>
                  <a:pt x="8543924" y="9524"/>
                </a:moveTo>
                <a:lnTo>
                  <a:pt x="0" y="9524"/>
                </a:lnTo>
                <a:lnTo>
                  <a:pt x="0" y="0"/>
                </a:lnTo>
                <a:lnTo>
                  <a:pt x="8543924" y="0"/>
                </a:lnTo>
                <a:lnTo>
                  <a:pt x="8543924" y="9524"/>
                </a:lnTo>
                <a:close/>
              </a:path>
            </a:pathLst>
          </a:custGeom>
          <a:solidFill>
            <a:srgbClr val="EDEDED"/>
          </a:solidFill>
        </p:spPr>
        <p:txBody>
          <a:bodyPr wrap="square" lIns="0" tIns="0" rIns="0" bIns="0" rtlCol="0"/>
          <a:lstStyle/>
          <a:p>
            <a:endParaRPr/>
          </a:p>
        </p:txBody>
      </p:sp>
      <p:sp>
        <p:nvSpPr>
          <p:cNvPr id="30" name="object 30"/>
          <p:cNvSpPr txBox="1"/>
          <p:nvPr/>
        </p:nvSpPr>
        <p:spPr>
          <a:xfrm>
            <a:off x="1067196" y="6601817"/>
            <a:ext cx="1574800" cy="158115"/>
          </a:xfrm>
          <a:prstGeom prst="rect">
            <a:avLst/>
          </a:prstGeom>
        </p:spPr>
        <p:txBody>
          <a:bodyPr vert="horz" wrap="square" lIns="0" tIns="14604" rIns="0" bIns="0" rtlCol="0">
            <a:spAutoFit/>
          </a:bodyPr>
          <a:lstStyle/>
          <a:p>
            <a:pPr marL="12700">
              <a:lnSpc>
                <a:spcPct val="100000"/>
              </a:lnSpc>
              <a:spcBef>
                <a:spcPts val="114"/>
              </a:spcBef>
            </a:pPr>
            <a:r>
              <a:rPr sz="800" spc="-20" dirty="0">
                <a:solidFill>
                  <a:srgbClr val="878787"/>
                </a:solidFill>
                <a:latin typeface="Microsoft Sans Serif"/>
                <a:cs typeface="Microsoft Sans Serif"/>
              </a:rPr>
              <a:t>GoldenEye </a:t>
            </a:r>
            <a:r>
              <a:rPr sz="850" spc="-45" dirty="0">
                <a:solidFill>
                  <a:srgbClr val="878787"/>
                </a:solidFill>
                <a:latin typeface="Verdana"/>
                <a:cs typeface="Verdana"/>
              </a:rPr>
              <a:t>-</a:t>
            </a:r>
            <a:r>
              <a:rPr sz="850" spc="-90" dirty="0">
                <a:solidFill>
                  <a:srgbClr val="878787"/>
                </a:solidFill>
                <a:latin typeface="Verdana"/>
                <a:cs typeface="Verdana"/>
              </a:rPr>
              <a:t> </a:t>
            </a:r>
            <a:r>
              <a:rPr sz="800" dirty="0">
                <a:solidFill>
                  <a:srgbClr val="878787"/>
                </a:solidFill>
                <a:latin typeface="Microsoft Sans Serif"/>
                <a:cs typeface="Microsoft Sans Serif"/>
              </a:rPr>
              <a:t>AI</a:t>
            </a:r>
            <a:r>
              <a:rPr sz="800" spc="-10" dirty="0">
                <a:solidFill>
                  <a:srgbClr val="878787"/>
                </a:solidFill>
                <a:latin typeface="Microsoft Sans Serif"/>
                <a:cs typeface="Microsoft Sans Serif"/>
              </a:rPr>
              <a:t> </a:t>
            </a:r>
            <a:r>
              <a:rPr sz="800" spc="-55" dirty="0">
                <a:solidFill>
                  <a:srgbClr val="878787"/>
                </a:solidFill>
                <a:latin typeface="Microsoft Sans Serif"/>
                <a:cs typeface="Microsoft Sans Serif"/>
              </a:rPr>
              <a:t>SAR</a:t>
            </a:r>
            <a:r>
              <a:rPr sz="800" spc="-5" dirty="0">
                <a:solidFill>
                  <a:srgbClr val="878787"/>
                </a:solidFill>
                <a:latin typeface="Microsoft Sans Serif"/>
                <a:cs typeface="Microsoft Sans Serif"/>
              </a:rPr>
              <a:t> </a:t>
            </a:r>
            <a:r>
              <a:rPr sz="800" dirty="0">
                <a:solidFill>
                  <a:srgbClr val="878787"/>
                </a:solidFill>
                <a:latin typeface="Microsoft Sans Serif"/>
                <a:cs typeface="Microsoft Sans Serif"/>
              </a:rPr>
              <a:t>Drone</a:t>
            </a:r>
            <a:r>
              <a:rPr sz="800" spc="-10" dirty="0">
                <a:solidFill>
                  <a:srgbClr val="878787"/>
                </a:solidFill>
                <a:latin typeface="Microsoft Sans Serif"/>
                <a:cs typeface="Microsoft Sans Serif"/>
              </a:rPr>
              <a:t> System</a:t>
            </a:r>
            <a:endParaRPr sz="800">
              <a:latin typeface="Microsoft Sans Serif"/>
              <a:cs typeface="Microsoft Sans Serif"/>
            </a:endParaRPr>
          </a:p>
        </p:txBody>
      </p:sp>
      <p:pic>
        <p:nvPicPr>
          <p:cNvPr id="31" name="object 31"/>
          <p:cNvPicPr/>
          <p:nvPr/>
        </p:nvPicPr>
        <p:blipFill>
          <a:blip r:embed="rId11" cstate="print"/>
          <a:stretch>
            <a:fillRect/>
          </a:stretch>
        </p:blipFill>
        <p:spPr>
          <a:xfrm>
            <a:off x="9410699" y="6619871"/>
            <a:ext cx="209549" cy="209540"/>
          </a:xfrm>
          <a:prstGeom prst="rect">
            <a:avLst/>
          </a:prstGeom>
        </p:spPr>
      </p:pic>
      <p:sp>
        <p:nvSpPr>
          <p:cNvPr id="32" name="object 32"/>
          <p:cNvSpPr txBox="1"/>
          <p:nvPr/>
        </p:nvSpPr>
        <p:spPr>
          <a:xfrm>
            <a:off x="9458870" y="6645350"/>
            <a:ext cx="106045" cy="151130"/>
          </a:xfrm>
          <a:prstGeom prst="rect">
            <a:avLst/>
          </a:prstGeom>
        </p:spPr>
        <p:txBody>
          <a:bodyPr vert="horz" wrap="square" lIns="0" tIns="15875" rIns="0" bIns="0" rtlCol="0">
            <a:spAutoFit/>
          </a:bodyPr>
          <a:lstStyle/>
          <a:p>
            <a:pPr marL="12700">
              <a:lnSpc>
                <a:spcPct val="100000"/>
              </a:lnSpc>
              <a:spcBef>
                <a:spcPts val="125"/>
              </a:spcBef>
            </a:pPr>
            <a:r>
              <a:rPr sz="800" b="1" spc="-114" dirty="0">
                <a:solidFill>
                  <a:srgbClr val="FFFFFF"/>
                </a:solidFill>
                <a:latin typeface="Arial"/>
                <a:cs typeface="Arial"/>
              </a:rPr>
              <a:t>11</a:t>
            </a:r>
            <a:endParaRPr sz="800">
              <a:latin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7286625">
              <a:lnSpc>
                <a:spcPct val="100000"/>
              </a:lnSpc>
              <a:spcBef>
                <a:spcPts val="100"/>
              </a:spcBef>
            </a:pPr>
            <a:r>
              <a:rPr spc="265" dirty="0"/>
              <a:t>05</a:t>
            </a:r>
          </a:p>
        </p:txBody>
      </p:sp>
      <p:sp>
        <p:nvSpPr>
          <p:cNvPr id="3" name="object 3"/>
          <p:cNvSpPr txBox="1"/>
          <p:nvPr/>
        </p:nvSpPr>
        <p:spPr>
          <a:xfrm>
            <a:off x="3513038" y="3348588"/>
            <a:ext cx="3670935" cy="1017269"/>
          </a:xfrm>
          <a:prstGeom prst="rect">
            <a:avLst/>
          </a:prstGeom>
        </p:spPr>
        <p:txBody>
          <a:bodyPr vert="horz" wrap="square" lIns="0" tIns="13335" rIns="0" bIns="0" rtlCol="0">
            <a:spAutoFit/>
          </a:bodyPr>
          <a:lstStyle/>
          <a:p>
            <a:pPr algn="ctr">
              <a:lnSpc>
                <a:spcPct val="100000"/>
              </a:lnSpc>
              <a:spcBef>
                <a:spcPts val="105"/>
              </a:spcBef>
            </a:pPr>
            <a:r>
              <a:rPr sz="3900" b="1" spc="-315" dirty="0">
                <a:solidFill>
                  <a:srgbClr val="FFFFFF"/>
                </a:solidFill>
                <a:latin typeface="Arial"/>
                <a:cs typeface="Arial"/>
              </a:rPr>
              <a:t>System</a:t>
            </a:r>
            <a:r>
              <a:rPr sz="3900" b="1" spc="-395" dirty="0">
                <a:solidFill>
                  <a:srgbClr val="FFFFFF"/>
                </a:solidFill>
                <a:latin typeface="Arial"/>
                <a:cs typeface="Arial"/>
              </a:rPr>
              <a:t> </a:t>
            </a:r>
            <a:r>
              <a:rPr sz="3900" b="1" spc="-160" dirty="0">
                <a:solidFill>
                  <a:srgbClr val="FFFFFF"/>
                </a:solidFill>
                <a:latin typeface="Arial"/>
                <a:cs typeface="Arial"/>
              </a:rPr>
              <a:t>Overview</a:t>
            </a:r>
            <a:endParaRPr sz="3900">
              <a:latin typeface="Arial"/>
              <a:cs typeface="Arial"/>
            </a:endParaRPr>
          </a:p>
          <a:p>
            <a:pPr algn="ctr">
              <a:lnSpc>
                <a:spcPct val="100000"/>
              </a:lnSpc>
              <a:spcBef>
                <a:spcPts val="1320"/>
              </a:spcBef>
            </a:pPr>
            <a:r>
              <a:rPr sz="1500" spc="-40" dirty="0">
                <a:solidFill>
                  <a:srgbClr val="FFFFFF"/>
                </a:solidFill>
                <a:latin typeface="Microsoft Sans Serif"/>
                <a:cs typeface="Microsoft Sans Serif"/>
              </a:rPr>
              <a:t>Hardware</a:t>
            </a:r>
            <a:r>
              <a:rPr sz="1500" spc="-60" dirty="0">
                <a:solidFill>
                  <a:srgbClr val="FFFFFF"/>
                </a:solidFill>
                <a:latin typeface="Microsoft Sans Serif"/>
                <a:cs typeface="Microsoft Sans Serif"/>
              </a:rPr>
              <a:t> </a:t>
            </a:r>
            <a:r>
              <a:rPr sz="1500" spc="-35" dirty="0">
                <a:solidFill>
                  <a:srgbClr val="FFFFFF"/>
                </a:solidFill>
                <a:latin typeface="Microsoft Sans Serif"/>
                <a:cs typeface="Microsoft Sans Serif"/>
              </a:rPr>
              <a:t>and</a:t>
            </a:r>
            <a:r>
              <a:rPr sz="1500" spc="-60" dirty="0">
                <a:solidFill>
                  <a:srgbClr val="FFFFFF"/>
                </a:solidFill>
                <a:latin typeface="Microsoft Sans Serif"/>
                <a:cs typeface="Microsoft Sans Serif"/>
              </a:rPr>
              <a:t> </a:t>
            </a:r>
            <a:r>
              <a:rPr sz="1500" spc="-10" dirty="0">
                <a:solidFill>
                  <a:srgbClr val="FFFFFF"/>
                </a:solidFill>
                <a:latin typeface="Microsoft Sans Serif"/>
                <a:cs typeface="Microsoft Sans Serif"/>
              </a:rPr>
              <a:t>software</a:t>
            </a:r>
            <a:r>
              <a:rPr sz="1500" spc="-55" dirty="0">
                <a:solidFill>
                  <a:srgbClr val="FFFFFF"/>
                </a:solidFill>
                <a:latin typeface="Microsoft Sans Serif"/>
                <a:cs typeface="Microsoft Sans Serif"/>
              </a:rPr>
              <a:t> </a:t>
            </a:r>
            <a:r>
              <a:rPr sz="1500" spc="-10" dirty="0">
                <a:solidFill>
                  <a:srgbClr val="FFFFFF"/>
                </a:solidFill>
                <a:latin typeface="Microsoft Sans Serif"/>
                <a:cs typeface="Microsoft Sans Serif"/>
              </a:rPr>
              <a:t>architecture</a:t>
            </a:r>
            <a:endParaRPr sz="1500">
              <a:latin typeface="Microsoft Sans Serif"/>
              <a:cs typeface="Microsoft Sans Serif"/>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76324" y="1285871"/>
            <a:ext cx="8543925" cy="28575"/>
          </a:xfrm>
          <a:custGeom>
            <a:avLst/>
            <a:gdLst/>
            <a:ahLst/>
            <a:cxnLst/>
            <a:rect l="l" t="t" r="r" b="b"/>
            <a:pathLst>
              <a:path w="8543925" h="28575">
                <a:moveTo>
                  <a:pt x="8543924" y="28574"/>
                </a:moveTo>
                <a:lnTo>
                  <a:pt x="0" y="28574"/>
                </a:lnTo>
                <a:lnTo>
                  <a:pt x="0" y="0"/>
                </a:lnTo>
                <a:lnTo>
                  <a:pt x="8543924" y="0"/>
                </a:lnTo>
                <a:lnTo>
                  <a:pt x="8543924" y="28574"/>
                </a:lnTo>
                <a:close/>
              </a:path>
            </a:pathLst>
          </a:custGeom>
          <a:solidFill>
            <a:srgbClr val="BF382A"/>
          </a:solidFill>
        </p:spPr>
        <p:txBody>
          <a:bodyPr wrap="square" lIns="0" tIns="0" rIns="0" bIns="0" rtlCol="0"/>
          <a:lstStyle/>
          <a:p>
            <a:endParaRPr/>
          </a:p>
        </p:txBody>
      </p:sp>
      <p:pic>
        <p:nvPicPr>
          <p:cNvPr id="3" name="object 3"/>
          <p:cNvPicPr/>
          <p:nvPr/>
        </p:nvPicPr>
        <p:blipFill>
          <a:blip r:embed="rId3" cstate="print"/>
          <a:stretch>
            <a:fillRect/>
          </a:stretch>
        </p:blipFill>
        <p:spPr>
          <a:xfrm>
            <a:off x="1079896" y="962025"/>
            <a:ext cx="209550" cy="187325"/>
          </a:xfrm>
          <a:prstGeom prst="rect">
            <a:avLst/>
          </a:prstGeom>
        </p:spPr>
      </p:pic>
      <p:sp>
        <p:nvSpPr>
          <p:cNvPr id="4" name="object 4"/>
          <p:cNvSpPr txBox="1">
            <a:spLocks noGrp="1"/>
          </p:cNvSpPr>
          <p:nvPr>
            <p:ph type="title"/>
          </p:nvPr>
        </p:nvSpPr>
        <p:spPr>
          <a:xfrm>
            <a:off x="1331942" y="673106"/>
            <a:ext cx="8446691" cy="607027"/>
          </a:xfrm>
          <a:prstGeom prst="rect">
            <a:avLst/>
          </a:prstGeom>
        </p:spPr>
        <p:txBody>
          <a:bodyPr vert="horz" wrap="square" lIns="0" tIns="174436" rIns="0" bIns="0" rtlCol="0">
            <a:spAutoFit/>
          </a:bodyPr>
          <a:lstStyle/>
          <a:p>
            <a:pPr marL="64769">
              <a:lnSpc>
                <a:spcPct val="100000"/>
              </a:lnSpc>
              <a:spcBef>
                <a:spcPts val="90"/>
              </a:spcBef>
            </a:pPr>
            <a:r>
              <a:rPr sz="2800" spc="-75" dirty="0">
                <a:solidFill>
                  <a:srgbClr val="BF382A"/>
                </a:solidFill>
              </a:rPr>
              <a:t>Hardware</a:t>
            </a:r>
            <a:r>
              <a:rPr sz="2800" spc="-180" dirty="0">
                <a:solidFill>
                  <a:srgbClr val="BF382A"/>
                </a:solidFill>
              </a:rPr>
              <a:t> </a:t>
            </a:r>
            <a:r>
              <a:rPr sz="2800" spc="-100" dirty="0">
                <a:solidFill>
                  <a:srgbClr val="BF382A"/>
                </a:solidFill>
              </a:rPr>
              <a:t>Architecture:</a:t>
            </a:r>
            <a:r>
              <a:rPr sz="2800" spc="-155" dirty="0">
                <a:solidFill>
                  <a:srgbClr val="BF382A"/>
                </a:solidFill>
              </a:rPr>
              <a:t> </a:t>
            </a:r>
            <a:r>
              <a:rPr sz="2800" spc="-114" dirty="0">
                <a:solidFill>
                  <a:srgbClr val="BF382A"/>
                </a:solidFill>
              </a:rPr>
              <a:t>The</a:t>
            </a:r>
            <a:r>
              <a:rPr sz="2800" spc="-125" dirty="0">
                <a:solidFill>
                  <a:srgbClr val="BF382A"/>
                </a:solidFill>
              </a:rPr>
              <a:t> </a:t>
            </a:r>
            <a:r>
              <a:rPr sz="2800" spc="-85" dirty="0">
                <a:solidFill>
                  <a:srgbClr val="BF382A"/>
                </a:solidFill>
              </a:rPr>
              <a:t>Intelligent</a:t>
            </a:r>
            <a:r>
              <a:rPr sz="2800" spc="-120" dirty="0">
                <a:solidFill>
                  <a:srgbClr val="BF382A"/>
                </a:solidFill>
              </a:rPr>
              <a:t> </a:t>
            </a:r>
            <a:r>
              <a:rPr sz="2800" spc="-75" dirty="0">
                <a:solidFill>
                  <a:srgbClr val="BF382A"/>
                </a:solidFill>
              </a:rPr>
              <a:t>Payload</a:t>
            </a:r>
            <a:endParaRPr sz="2800" dirty="0"/>
          </a:p>
        </p:txBody>
      </p:sp>
      <p:grpSp>
        <p:nvGrpSpPr>
          <p:cNvPr id="5" name="object 5"/>
          <p:cNvGrpSpPr/>
          <p:nvPr/>
        </p:nvGrpSpPr>
        <p:grpSpPr>
          <a:xfrm>
            <a:off x="1095951" y="2038842"/>
            <a:ext cx="2826546" cy="2329955"/>
            <a:chOff x="1076324" y="1457321"/>
            <a:chExt cx="2752725" cy="1562100"/>
          </a:xfrm>
        </p:grpSpPr>
        <p:sp>
          <p:nvSpPr>
            <p:cNvPr id="6" name="object 6"/>
            <p:cNvSpPr/>
            <p:nvPr/>
          </p:nvSpPr>
          <p:spPr>
            <a:xfrm>
              <a:off x="1090612" y="1457321"/>
              <a:ext cx="2738755" cy="1562100"/>
            </a:xfrm>
            <a:custGeom>
              <a:avLst/>
              <a:gdLst/>
              <a:ahLst/>
              <a:cxnLst/>
              <a:rect l="l" t="t" r="r" b="b"/>
              <a:pathLst>
                <a:path w="2738754" h="1562100">
                  <a:moveTo>
                    <a:pt x="2667240" y="1562090"/>
                  </a:moveTo>
                  <a:lnTo>
                    <a:pt x="57847" y="1562090"/>
                  </a:lnTo>
                  <a:lnTo>
                    <a:pt x="53821" y="1561606"/>
                  </a:lnTo>
                  <a:lnTo>
                    <a:pt x="15259" y="1536241"/>
                  </a:lnTo>
                  <a:lnTo>
                    <a:pt x="396" y="1495852"/>
                  </a:lnTo>
                  <a:lnTo>
                    <a:pt x="0" y="1490894"/>
                  </a:lnTo>
                  <a:lnTo>
                    <a:pt x="0" y="1485899"/>
                  </a:lnTo>
                  <a:lnTo>
                    <a:pt x="0" y="71186"/>
                  </a:lnTo>
                  <a:lnTo>
                    <a:pt x="12692" y="29691"/>
                  </a:lnTo>
                  <a:lnTo>
                    <a:pt x="41975" y="3878"/>
                  </a:lnTo>
                  <a:lnTo>
                    <a:pt x="57847" y="0"/>
                  </a:lnTo>
                  <a:lnTo>
                    <a:pt x="2667240" y="0"/>
                  </a:lnTo>
                  <a:lnTo>
                    <a:pt x="2708731" y="15608"/>
                  </a:lnTo>
                  <a:lnTo>
                    <a:pt x="2734551" y="51653"/>
                  </a:lnTo>
                  <a:lnTo>
                    <a:pt x="2738437" y="71186"/>
                  </a:lnTo>
                  <a:lnTo>
                    <a:pt x="2738437" y="1490894"/>
                  </a:lnTo>
                  <a:lnTo>
                    <a:pt x="2722815" y="1532390"/>
                  </a:lnTo>
                  <a:lnTo>
                    <a:pt x="2686774" y="1558192"/>
                  </a:lnTo>
                  <a:lnTo>
                    <a:pt x="2672195" y="1561606"/>
                  </a:lnTo>
                  <a:lnTo>
                    <a:pt x="2667240" y="1562090"/>
                  </a:lnTo>
                  <a:close/>
                </a:path>
              </a:pathLst>
            </a:custGeom>
            <a:solidFill>
              <a:srgbClr val="F7F9FA"/>
            </a:solidFill>
          </p:spPr>
          <p:txBody>
            <a:bodyPr wrap="square" lIns="0" tIns="0" rIns="0" bIns="0" rtlCol="0"/>
            <a:lstStyle/>
            <a:p>
              <a:endParaRPr sz="3200"/>
            </a:p>
          </p:txBody>
        </p:sp>
        <p:sp>
          <p:nvSpPr>
            <p:cNvPr id="7" name="object 7"/>
            <p:cNvSpPr/>
            <p:nvPr/>
          </p:nvSpPr>
          <p:spPr>
            <a:xfrm>
              <a:off x="1076324" y="1457696"/>
              <a:ext cx="69215" cy="1561465"/>
            </a:xfrm>
            <a:custGeom>
              <a:avLst/>
              <a:gdLst/>
              <a:ahLst/>
              <a:cxnLst/>
              <a:rect l="l" t="t" r="r" b="b"/>
              <a:pathLst>
                <a:path w="69215" h="1561464">
                  <a:moveTo>
                    <a:pt x="68698" y="1561344"/>
                  </a:moveTo>
                  <a:lnTo>
                    <a:pt x="27882" y="1544455"/>
                  </a:lnTo>
                  <a:lnTo>
                    <a:pt x="3262" y="1507608"/>
                  </a:lnTo>
                  <a:lnTo>
                    <a:pt x="0" y="1485522"/>
                  </a:lnTo>
                  <a:lnTo>
                    <a:pt x="0" y="75822"/>
                  </a:lnTo>
                  <a:lnTo>
                    <a:pt x="12830" y="33480"/>
                  </a:lnTo>
                  <a:lnTo>
                    <a:pt x="47039" y="5422"/>
                  </a:lnTo>
                  <a:lnTo>
                    <a:pt x="68698" y="0"/>
                  </a:lnTo>
                  <a:lnTo>
                    <a:pt x="63809" y="1555"/>
                  </a:lnTo>
                  <a:lnTo>
                    <a:pt x="52139" y="9289"/>
                  </a:lnTo>
                  <a:lnTo>
                    <a:pt x="32200" y="46661"/>
                  </a:lnTo>
                  <a:lnTo>
                    <a:pt x="28575" y="75822"/>
                  </a:lnTo>
                  <a:lnTo>
                    <a:pt x="28575" y="1485522"/>
                  </a:lnTo>
                  <a:lnTo>
                    <a:pt x="36593" y="1527864"/>
                  </a:lnTo>
                  <a:lnTo>
                    <a:pt x="63809" y="1559788"/>
                  </a:lnTo>
                  <a:lnTo>
                    <a:pt x="68698" y="1561344"/>
                  </a:lnTo>
                  <a:close/>
                </a:path>
              </a:pathLst>
            </a:custGeom>
            <a:solidFill>
              <a:srgbClr val="BF382A"/>
            </a:solidFill>
          </p:spPr>
          <p:txBody>
            <a:bodyPr wrap="square" lIns="0" tIns="0" rIns="0" bIns="0" rtlCol="0"/>
            <a:lstStyle/>
            <a:p>
              <a:endParaRPr sz="3200"/>
            </a:p>
          </p:txBody>
        </p:sp>
        <p:pic>
          <p:nvPicPr>
            <p:cNvPr id="8" name="object 8"/>
            <p:cNvPicPr/>
            <p:nvPr/>
          </p:nvPicPr>
          <p:blipFill>
            <a:blip r:embed="rId4" cstate="print"/>
            <a:stretch>
              <a:fillRect/>
            </a:stretch>
          </p:blipFill>
          <p:spPr>
            <a:xfrm>
              <a:off x="2305049" y="1600194"/>
              <a:ext cx="333374" cy="333374"/>
            </a:xfrm>
            <a:prstGeom prst="rect">
              <a:avLst/>
            </a:prstGeom>
          </p:spPr>
        </p:pic>
        <p:pic>
          <p:nvPicPr>
            <p:cNvPr id="9" name="object 9"/>
            <p:cNvPicPr/>
            <p:nvPr/>
          </p:nvPicPr>
          <p:blipFill>
            <a:blip r:embed="rId5" cstate="print"/>
            <a:stretch>
              <a:fillRect/>
            </a:stretch>
          </p:blipFill>
          <p:spPr>
            <a:xfrm>
              <a:off x="2402681" y="1701799"/>
              <a:ext cx="133350" cy="136525"/>
            </a:xfrm>
            <a:prstGeom prst="rect">
              <a:avLst/>
            </a:prstGeom>
          </p:spPr>
        </p:pic>
      </p:grpSp>
      <p:sp>
        <p:nvSpPr>
          <p:cNvPr id="10" name="object 10"/>
          <p:cNvSpPr txBox="1"/>
          <p:nvPr/>
        </p:nvSpPr>
        <p:spPr>
          <a:xfrm>
            <a:off x="1396686" y="2660975"/>
            <a:ext cx="2265045" cy="1599540"/>
          </a:xfrm>
          <a:prstGeom prst="rect">
            <a:avLst/>
          </a:prstGeom>
        </p:spPr>
        <p:txBody>
          <a:bodyPr vert="horz" wrap="square" lIns="0" tIns="97790" rIns="0" bIns="0" rtlCol="0">
            <a:spAutoFit/>
          </a:bodyPr>
          <a:lstStyle/>
          <a:p>
            <a:pPr algn="ctr">
              <a:lnSpc>
                <a:spcPct val="100000"/>
              </a:lnSpc>
              <a:spcBef>
                <a:spcPts val="770"/>
              </a:spcBef>
            </a:pPr>
            <a:r>
              <a:rPr sz="1600" b="1" spc="-70" dirty="0">
                <a:solidFill>
                  <a:srgbClr val="1A1A2E"/>
                </a:solidFill>
                <a:latin typeface="Arial"/>
                <a:cs typeface="Arial"/>
              </a:rPr>
              <a:t>Raspberry</a:t>
            </a:r>
            <a:r>
              <a:rPr sz="1600" b="1" spc="-65" dirty="0">
                <a:solidFill>
                  <a:srgbClr val="1A1A2E"/>
                </a:solidFill>
                <a:latin typeface="Arial"/>
                <a:cs typeface="Arial"/>
              </a:rPr>
              <a:t> </a:t>
            </a:r>
            <a:r>
              <a:rPr sz="1600" b="1" spc="-75" dirty="0">
                <a:solidFill>
                  <a:srgbClr val="1A1A2E"/>
                </a:solidFill>
                <a:latin typeface="Arial"/>
                <a:cs typeface="Arial"/>
              </a:rPr>
              <a:t>Pi</a:t>
            </a:r>
            <a:r>
              <a:rPr sz="1600" b="1" spc="-65" dirty="0">
                <a:solidFill>
                  <a:srgbClr val="1A1A2E"/>
                </a:solidFill>
                <a:latin typeface="Arial"/>
                <a:cs typeface="Arial"/>
              </a:rPr>
              <a:t> </a:t>
            </a:r>
            <a:r>
              <a:rPr sz="1600" b="1" spc="-50" dirty="0">
                <a:solidFill>
                  <a:srgbClr val="1A1A2E"/>
                </a:solidFill>
                <a:latin typeface="Arial"/>
                <a:cs typeface="Arial"/>
              </a:rPr>
              <a:t>5</a:t>
            </a:r>
            <a:endParaRPr sz="1600" dirty="0">
              <a:latin typeface="Arial"/>
              <a:cs typeface="Arial"/>
            </a:endParaRPr>
          </a:p>
          <a:p>
            <a:pPr algn="ctr">
              <a:lnSpc>
                <a:spcPct val="100000"/>
              </a:lnSpc>
              <a:spcBef>
                <a:spcPts val="615"/>
              </a:spcBef>
            </a:pPr>
            <a:r>
              <a:rPr sz="1200" b="1" spc="-85" dirty="0">
                <a:solidFill>
                  <a:srgbClr val="BF382A"/>
                </a:solidFill>
                <a:latin typeface="Tahoma"/>
                <a:cs typeface="Tahoma"/>
              </a:rPr>
              <a:t>8</a:t>
            </a:r>
            <a:r>
              <a:rPr sz="1200" b="1" spc="-85" dirty="0">
                <a:solidFill>
                  <a:srgbClr val="BF382A"/>
                </a:solidFill>
                <a:latin typeface="Arial"/>
                <a:cs typeface="Arial"/>
              </a:rPr>
              <a:t>GB</a:t>
            </a:r>
            <a:r>
              <a:rPr sz="1200" b="1" spc="-40" dirty="0">
                <a:solidFill>
                  <a:srgbClr val="BF382A"/>
                </a:solidFill>
                <a:latin typeface="Arial"/>
                <a:cs typeface="Arial"/>
              </a:rPr>
              <a:t> </a:t>
            </a:r>
            <a:r>
              <a:rPr sz="1200" b="1" spc="-25" dirty="0">
                <a:solidFill>
                  <a:srgbClr val="BF382A"/>
                </a:solidFill>
                <a:latin typeface="Arial"/>
                <a:cs typeface="Arial"/>
              </a:rPr>
              <a:t>RAM</a:t>
            </a:r>
            <a:endParaRPr sz="1200" dirty="0">
              <a:latin typeface="Arial"/>
              <a:cs typeface="Arial"/>
            </a:endParaRPr>
          </a:p>
          <a:p>
            <a:pPr algn="ctr">
              <a:lnSpc>
                <a:spcPct val="100000"/>
              </a:lnSpc>
              <a:spcBef>
                <a:spcPts val="120"/>
              </a:spcBef>
            </a:pPr>
            <a:r>
              <a:rPr sz="1200" spc="-20" dirty="0">
                <a:solidFill>
                  <a:srgbClr val="666666"/>
                </a:solidFill>
                <a:latin typeface="Microsoft Sans Serif"/>
                <a:cs typeface="Microsoft Sans Serif"/>
              </a:rPr>
              <a:t>Quad-</a:t>
            </a:r>
            <a:r>
              <a:rPr sz="1200" dirty="0">
                <a:solidFill>
                  <a:srgbClr val="666666"/>
                </a:solidFill>
                <a:latin typeface="Microsoft Sans Serif"/>
                <a:cs typeface="Microsoft Sans Serif"/>
              </a:rPr>
              <a:t>core</a:t>
            </a:r>
            <a:r>
              <a:rPr sz="1200" spc="-5" dirty="0">
                <a:solidFill>
                  <a:srgbClr val="666666"/>
                </a:solidFill>
                <a:latin typeface="Microsoft Sans Serif"/>
                <a:cs typeface="Microsoft Sans Serif"/>
              </a:rPr>
              <a:t> </a:t>
            </a:r>
            <a:r>
              <a:rPr sz="1200" spc="-10" dirty="0">
                <a:solidFill>
                  <a:srgbClr val="666666"/>
                </a:solidFill>
                <a:latin typeface="Microsoft Sans Serif"/>
                <a:cs typeface="Microsoft Sans Serif"/>
              </a:rPr>
              <a:t>Cortex-</a:t>
            </a:r>
            <a:r>
              <a:rPr sz="1200" spc="-30" dirty="0">
                <a:solidFill>
                  <a:srgbClr val="666666"/>
                </a:solidFill>
                <a:latin typeface="Microsoft Sans Serif"/>
                <a:cs typeface="Microsoft Sans Serif"/>
              </a:rPr>
              <a:t>A76.</a:t>
            </a:r>
            <a:r>
              <a:rPr sz="1200" spc="-5" dirty="0">
                <a:solidFill>
                  <a:srgbClr val="666666"/>
                </a:solidFill>
                <a:latin typeface="Microsoft Sans Serif"/>
                <a:cs typeface="Microsoft Sans Serif"/>
              </a:rPr>
              <a:t> </a:t>
            </a:r>
            <a:r>
              <a:rPr sz="1200" spc="-10" dirty="0">
                <a:solidFill>
                  <a:srgbClr val="666666"/>
                </a:solidFill>
                <a:latin typeface="Microsoft Sans Serif"/>
                <a:cs typeface="Microsoft Sans Serif"/>
              </a:rPr>
              <a:t>Mission</a:t>
            </a:r>
            <a:r>
              <a:rPr sz="1200" dirty="0">
                <a:solidFill>
                  <a:srgbClr val="666666"/>
                </a:solidFill>
                <a:latin typeface="Microsoft Sans Serif"/>
                <a:cs typeface="Microsoft Sans Serif"/>
              </a:rPr>
              <a:t> </a:t>
            </a:r>
            <a:r>
              <a:rPr sz="1200" spc="-10" dirty="0">
                <a:solidFill>
                  <a:srgbClr val="666666"/>
                </a:solidFill>
                <a:latin typeface="Microsoft Sans Serif"/>
                <a:cs typeface="Microsoft Sans Serif"/>
              </a:rPr>
              <a:t>computer</a:t>
            </a:r>
            <a:r>
              <a:rPr sz="1200" spc="-5" dirty="0">
                <a:solidFill>
                  <a:srgbClr val="666666"/>
                </a:solidFill>
                <a:latin typeface="Microsoft Sans Serif"/>
                <a:cs typeface="Microsoft Sans Serif"/>
              </a:rPr>
              <a:t> </a:t>
            </a:r>
            <a:r>
              <a:rPr sz="1200" spc="-25" dirty="0">
                <a:solidFill>
                  <a:srgbClr val="666666"/>
                </a:solidFill>
                <a:latin typeface="Microsoft Sans Serif"/>
                <a:cs typeface="Microsoft Sans Serif"/>
              </a:rPr>
              <a:t>for</a:t>
            </a:r>
            <a:endParaRPr sz="1200" dirty="0">
              <a:latin typeface="Microsoft Sans Serif"/>
              <a:cs typeface="Microsoft Sans Serif"/>
            </a:endParaRPr>
          </a:p>
          <a:p>
            <a:pPr marL="284480" marR="276860" algn="ctr">
              <a:lnSpc>
                <a:spcPct val="111100"/>
              </a:lnSpc>
              <a:spcBef>
                <a:spcPts val="75"/>
              </a:spcBef>
            </a:pPr>
            <a:r>
              <a:rPr sz="1200" spc="-60" dirty="0">
                <a:solidFill>
                  <a:srgbClr val="666666"/>
                </a:solidFill>
                <a:latin typeface="Microsoft Sans Serif"/>
                <a:cs typeface="Microsoft Sans Serif"/>
              </a:rPr>
              <a:t>OS,</a:t>
            </a:r>
            <a:r>
              <a:rPr sz="1200" spc="-10" dirty="0">
                <a:solidFill>
                  <a:srgbClr val="666666"/>
                </a:solidFill>
                <a:latin typeface="Microsoft Sans Serif"/>
                <a:cs typeface="Microsoft Sans Serif"/>
              </a:rPr>
              <a:t> telemetry,</a:t>
            </a:r>
            <a:r>
              <a:rPr sz="1200" spc="-15" dirty="0">
                <a:solidFill>
                  <a:srgbClr val="666666"/>
                </a:solidFill>
                <a:latin typeface="Microsoft Sans Serif"/>
                <a:cs typeface="Microsoft Sans Serif"/>
              </a:rPr>
              <a:t> </a:t>
            </a:r>
            <a:r>
              <a:rPr sz="1200" spc="-20" dirty="0">
                <a:solidFill>
                  <a:srgbClr val="666666"/>
                </a:solidFill>
                <a:latin typeface="Microsoft Sans Serif"/>
                <a:cs typeface="Microsoft Sans Serif"/>
              </a:rPr>
              <a:t>and</a:t>
            </a:r>
            <a:r>
              <a:rPr sz="1200" spc="-10" dirty="0">
                <a:solidFill>
                  <a:srgbClr val="666666"/>
                </a:solidFill>
                <a:latin typeface="Microsoft Sans Serif"/>
                <a:cs typeface="Microsoft Sans Serif"/>
              </a:rPr>
              <a:t> </a:t>
            </a:r>
            <a:r>
              <a:rPr sz="1200" dirty="0">
                <a:solidFill>
                  <a:srgbClr val="666666"/>
                </a:solidFill>
                <a:latin typeface="Microsoft Sans Serif"/>
                <a:cs typeface="Microsoft Sans Serif"/>
              </a:rPr>
              <a:t>flight</a:t>
            </a:r>
            <a:r>
              <a:rPr sz="1200" spc="-10" dirty="0">
                <a:solidFill>
                  <a:srgbClr val="666666"/>
                </a:solidFill>
                <a:latin typeface="Microsoft Sans Serif"/>
                <a:cs typeface="Microsoft Sans Serif"/>
              </a:rPr>
              <a:t> controller communication.</a:t>
            </a:r>
            <a:endParaRPr sz="1200" dirty="0">
              <a:latin typeface="Microsoft Sans Serif"/>
              <a:cs typeface="Microsoft Sans Serif"/>
            </a:endParaRPr>
          </a:p>
        </p:txBody>
      </p:sp>
      <p:grpSp>
        <p:nvGrpSpPr>
          <p:cNvPr id="11" name="object 11"/>
          <p:cNvGrpSpPr/>
          <p:nvPr/>
        </p:nvGrpSpPr>
        <p:grpSpPr>
          <a:xfrm>
            <a:off x="3991551" y="2038840"/>
            <a:ext cx="2812201" cy="2329007"/>
            <a:chOff x="3971924" y="1457319"/>
            <a:chExt cx="2752725" cy="1562100"/>
          </a:xfrm>
        </p:grpSpPr>
        <p:pic>
          <p:nvPicPr>
            <p:cNvPr id="12" name="object 12"/>
            <p:cNvPicPr/>
            <p:nvPr/>
          </p:nvPicPr>
          <p:blipFill>
            <a:blip r:embed="rId6" cstate="print"/>
            <a:stretch>
              <a:fillRect/>
            </a:stretch>
          </p:blipFill>
          <p:spPr>
            <a:xfrm>
              <a:off x="4000499" y="1457319"/>
              <a:ext cx="2724149" cy="1562099"/>
            </a:xfrm>
            <a:prstGeom prst="rect">
              <a:avLst/>
            </a:prstGeom>
          </p:spPr>
        </p:pic>
        <p:sp>
          <p:nvSpPr>
            <p:cNvPr id="13" name="object 13"/>
            <p:cNvSpPr/>
            <p:nvPr/>
          </p:nvSpPr>
          <p:spPr>
            <a:xfrm>
              <a:off x="3971924" y="1457696"/>
              <a:ext cx="69215" cy="1561465"/>
            </a:xfrm>
            <a:custGeom>
              <a:avLst/>
              <a:gdLst/>
              <a:ahLst/>
              <a:cxnLst/>
              <a:rect l="l" t="t" r="r" b="b"/>
              <a:pathLst>
                <a:path w="69214" h="1561464">
                  <a:moveTo>
                    <a:pt x="68698" y="1561344"/>
                  </a:moveTo>
                  <a:lnTo>
                    <a:pt x="27882" y="1544455"/>
                  </a:lnTo>
                  <a:lnTo>
                    <a:pt x="3262" y="1507608"/>
                  </a:lnTo>
                  <a:lnTo>
                    <a:pt x="0" y="1485522"/>
                  </a:lnTo>
                  <a:lnTo>
                    <a:pt x="0" y="75822"/>
                  </a:lnTo>
                  <a:lnTo>
                    <a:pt x="12829" y="33480"/>
                  </a:lnTo>
                  <a:lnTo>
                    <a:pt x="47039" y="5422"/>
                  </a:lnTo>
                  <a:lnTo>
                    <a:pt x="68698" y="0"/>
                  </a:lnTo>
                  <a:lnTo>
                    <a:pt x="63809" y="1556"/>
                  </a:lnTo>
                  <a:lnTo>
                    <a:pt x="52139" y="9289"/>
                  </a:lnTo>
                  <a:lnTo>
                    <a:pt x="32199" y="46661"/>
                  </a:lnTo>
                  <a:lnTo>
                    <a:pt x="28575" y="75822"/>
                  </a:lnTo>
                  <a:lnTo>
                    <a:pt x="28575" y="1485522"/>
                  </a:lnTo>
                  <a:lnTo>
                    <a:pt x="36593" y="1527864"/>
                  </a:lnTo>
                  <a:lnTo>
                    <a:pt x="63809" y="1559788"/>
                  </a:lnTo>
                  <a:lnTo>
                    <a:pt x="68698" y="1561344"/>
                  </a:lnTo>
                  <a:close/>
                </a:path>
              </a:pathLst>
            </a:custGeom>
            <a:solidFill>
              <a:srgbClr val="BF382A"/>
            </a:solidFill>
          </p:spPr>
          <p:txBody>
            <a:bodyPr wrap="square" lIns="0" tIns="0" rIns="0" bIns="0" rtlCol="0"/>
            <a:lstStyle/>
            <a:p>
              <a:endParaRPr sz="3200"/>
            </a:p>
          </p:txBody>
        </p:sp>
        <p:sp>
          <p:nvSpPr>
            <p:cNvPr id="14" name="object 14"/>
            <p:cNvSpPr/>
            <p:nvPr/>
          </p:nvSpPr>
          <p:spPr>
            <a:xfrm>
              <a:off x="5200649" y="1600196"/>
              <a:ext cx="333375" cy="333375"/>
            </a:xfrm>
            <a:custGeom>
              <a:avLst/>
              <a:gdLst/>
              <a:ahLst/>
              <a:cxnLst/>
              <a:rect l="l" t="t" r="r" b="b"/>
              <a:pathLst>
                <a:path w="333375" h="333375">
                  <a:moveTo>
                    <a:pt x="279977" y="333365"/>
                  </a:moveTo>
                  <a:lnTo>
                    <a:pt x="53397" y="333365"/>
                  </a:lnTo>
                  <a:lnTo>
                    <a:pt x="49680" y="333002"/>
                  </a:lnTo>
                  <a:lnTo>
                    <a:pt x="14084" y="313971"/>
                  </a:lnTo>
                  <a:lnTo>
                    <a:pt x="0" y="279974"/>
                  </a:lnTo>
                  <a:lnTo>
                    <a:pt x="0" y="276224"/>
                  </a:lnTo>
                  <a:lnTo>
                    <a:pt x="0" y="53392"/>
                  </a:lnTo>
                  <a:lnTo>
                    <a:pt x="19391" y="14082"/>
                  </a:lnTo>
                  <a:lnTo>
                    <a:pt x="53397" y="0"/>
                  </a:lnTo>
                  <a:lnTo>
                    <a:pt x="279977" y="0"/>
                  </a:lnTo>
                  <a:lnTo>
                    <a:pt x="319288" y="19385"/>
                  </a:lnTo>
                  <a:lnTo>
                    <a:pt x="333374" y="53392"/>
                  </a:lnTo>
                  <a:lnTo>
                    <a:pt x="333374" y="279974"/>
                  </a:lnTo>
                  <a:lnTo>
                    <a:pt x="313981" y="319273"/>
                  </a:lnTo>
                  <a:lnTo>
                    <a:pt x="283693" y="333002"/>
                  </a:lnTo>
                  <a:lnTo>
                    <a:pt x="279977" y="333365"/>
                  </a:lnTo>
                  <a:close/>
                </a:path>
              </a:pathLst>
            </a:custGeom>
            <a:solidFill>
              <a:srgbClr val="FFFFFF">
                <a:alpha val="19999"/>
              </a:srgbClr>
            </a:solidFill>
          </p:spPr>
          <p:txBody>
            <a:bodyPr wrap="square" lIns="0" tIns="0" rIns="0" bIns="0" rtlCol="0"/>
            <a:lstStyle/>
            <a:p>
              <a:endParaRPr sz="3200"/>
            </a:p>
          </p:txBody>
        </p:sp>
        <p:pic>
          <p:nvPicPr>
            <p:cNvPr id="15" name="object 15"/>
            <p:cNvPicPr/>
            <p:nvPr/>
          </p:nvPicPr>
          <p:blipFill>
            <a:blip r:embed="rId7" cstate="print"/>
            <a:stretch>
              <a:fillRect/>
            </a:stretch>
          </p:blipFill>
          <p:spPr>
            <a:xfrm>
              <a:off x="5295899" y="1701799"/>
              <a:ext cx="133350" cy="136525"/>
            </a:xfrm>
            <a:prstGeom prst="rect">
              <a:avLst/>
            </a:prstGeom>
          </p:spPr>
        </p:pic>
      </p:grpSp>
      <p:sp>
        <p:nvSpPr>
          <p:cNvPr id="16" name="object 16"/>
          <p:cNvSpPr txBox="1"/>
          <p:nvPr/>
        </p:nvSpPr>
        <p:spPr>
          <a:xfrm>
            <a:off x="4332215" y="2745193"/>
            <a:ext cx="2169795" cy="1389483"/>
          </a:xfrm>
          <a:prstGeom prst="rect">
            <a:avLst/>
          </a:prstGeom>
        </p:spPr>
        <p:txBody>
          <a:bodyPr vert="horz" wrap="square" lIns="0" tIns="103505" rIns="0" bIns="0" rtlCol="0">
            <a:spAutoFit/>
          </a:bodyPr>
          <a:lstStyle/>
          <a:p>
            <a:pPr algn="ctr">
              <a:lnSpc>
                <a:spcPct val="100000"/>
              </a:lnSpc>
              <a:spcBef>
                <a:spcPts val="815"/>
              </a:spcBef>
            </a:pPr>
            <a:r>
              <a:rPr sz="1600" b="1" spc="-20" dirty="0">
                <a:solidFill>
                  <a:srgbClr val="1A1A2E"/>
                </a:solidFill>
                <a:latin typeface="Arial"/>
                <a:cs typeface="Arial"/>
              </a:rPr>
              <a:t>Hailo-</a:t>
            </a:r>
            <a:r>
              <a:rPr sz="1600" b="1" spc="-70" dirty="0">
                <a:solidFill>
                  <a:srgbClr val="1A1A2E"/>
                </a:solidFill>
                <a:latin typeface="Arial"/>
                <a:cs typeface="Arial"/>
              </a:rPr>
              <a:t>8L</a:t>
            </a:r>
            <a:r>
              <a:rPr sz="1600" b="1" spc="-120" dirty="0">
                <a:solidFill>
                  <a:srgbClr val="1A1A2E"/>
                </a:solidFill>
                <a:latin typeface="Arial"/>
                <a:cs typeface="Arial"/>
              </a:rPr>
              <a:t> </a:t>
            </a:r>
            <a:r>
              <a:rPr sz="1600" b="1" spc="-40" dirty="0">
                <a:solidFill>
                  <a:srgbClr val="1A1A2E"/>
                </a:solidFill>
                <a:latin typeface="Arial"/>
                <a:cs typeface="Arial"/>
              </a:rPr>
              <a:t>AI</a:t>
            </a:r>
            <a:r>
              <a:rPr sz="1600" b="1" spc="-75" dirty="0">
                <a:solidFill>
                  <a:srgbClr val="1A1A2E"/>
                </a:solidFill>
                <a:latin typeface="Arial"/>
                <a:cs typeface="Arial"/>
              </a:rPr>
              <a:t> </a:t>
            </a:r>
            <a:r>
              <a:rPr sz="1600" b="1" spc="-25" dirty="0">
                <a:solidFill>
                  <a:srgbClr val="1A1A2E"/>
                </a:solidFill>
                <a:latin typeface="Arial"/>
                <a:cs typeface="Arial"/>
              </a:rPr>
              <a:t>Kit</a:t>
            </a:r>
            <a:endParaRPr sz="1600" dirty="0">
              <a:latin typeface="Arial"/>
              <a:cs typeface="Arial"/>
            </a:endParaRPr>
          </a:p>
          <a:p>
            <a:pPr algn="ctr">
              <a:lnSpc>
                <a:spcPct val="100000"/>
              </a:lnSpc>
              <a:spcBef>
                <a:spcPts val="615"/>
              </a:spcBef>
            </a:pPr>
            <a:r>
              <a:rPr sz="1200" b="1" spc="-80" dirty="0">
                <a:solidFill>
                  <a:srgbClr val="666666"/>
                </a:solidFill>
                <a:latin typeface="Arial"/>
                <a:cs typeface="Arial"/>
              </a:rPr>
              <a:t>13</a:t>
            </a:r>
            <a:r>
              <a:rPr sz="1200" b="1" spc="-30" dirty="0">
                <a:solidFill>
                  <a:srgbClr val="666666"/>
                </a:solidFill>
                <a:latin typeface="Arial"/>
                <a:cs typeface="Arial"/>
              </a:rPr>
              <a:t> </a:t>
            </a:r>
            <a:r>
              <a:rPr sz="1200" b="1" spc="-20" dirty="0">
                <a:solidFill>
                  <a:srgbClr val="666666"/>
                </a:solidFill>
                <a:latin typeface="Arial"/>
                <a:cs typeface="Arial"/>
              </a:rPr>
              <a:t>TOPS</a:t>
            </a:r>
            <a:endParaRPr sz="1200" dirty="0">
              <a:latin typeface="Arial"/>
              <a:cs typeface="Arial"/>
            </a:endParaRPr>
          </a:p>
          <a:p>
            <a:pPr marL="100330">
              <a:lnSpc>
                <a:spcPct val="100000"/>
              </a:lnSpc>
              <a:spcBef>
                <a:spcPts val="120"/>
              </a:spcBef>
            </a:pPr>
            <a:r>
              <a:rPr sz="1200" dirty="0">
                <a:solidFill>
                  <a:srgbClr val="666666"/>
                </a:solidFill>
                <a:latin typeface="Microsoft Sans Serif"/>
                <a:cs typeface="Microsoft Sans Serif"/>
              </a:rPr>
              <a:t>M.2</a:t>
            </a:r>
            <a:r>
              <a:rPr sz="1200" spc="-10" dirty="0">
                <a:solidFill>
                  <a:srgbClr val="666666"/>
                </a:solidFill>
                <a:latin typeface="Microsoft Sans Serif"/>
                <a:cs typeface="Microsoft Sans Serif"/>
              </a:rPr>
              <a:t> </a:t>
            </a:r>
            <a:r>
              <a:rPr sz="1200" spc="-60" dirty="0">
                <a:solidFill>
                  <a:srgbClr val="666666"/>
                </a:solidFill>
                <a:latin typeface="Microsoft Sans Serif"/>
                <a:cs typeface="Microsoft Sans Serif"/>
              </a:rPr>
              <a:t>HAT+</a:t>
            </a:r>
            <a:r>
              <a:rPr sz="1200" spc="-10" dirty="0">
                <a:solidFill>
                  <a:srgbClr val="666666"/>
                </a:solidFill>
                <a:latin typeface="Microsoft Sans Serif"/>
                <a:cs typeface="Microsoft Sans Serif"/>
              </a:rPr>
              <a:t> </a:t>
            </a:r>
            <a:r>
              <a:rPr sz="1200" spc="-20" dirty="0">
                <a:solidFill>
                  <a:srgbClr val="666666"/>
                </a:solidFill>
                <a:latin typeface="Microsoft Sans Serif"/>
                <a:cs typeface="Microsoft Sans Serif"/>
              </a:rPr>
              <a:t>neural</a:t>
            </a:r>
            <a:r>
              <a:rPr sz="1200" spc="-10" dirty="0">
                <a:solidFill>
                  <a:srgbClr val="666666"/>
                </a:solidFill>
                <a:latin typeface="Microsoft Sans Serif"/>
                <a:cs typeface="Microsoft Sans Serif"/>
              </a:rPr>
              <a:t> processing.</a:t>
            </a:r>
            <a:r>
              <a:rPr sz="1200" spc="-5" dirty="0">
                <a:solidFill>
                  <a:srgbClr val="666666"/>
                </a:solidFill>
                <a:latin typeface="Microsoft Sans Serif"/>
                <a:cs typeface="Microsoft Sans Serif"/>
              </a:rPr>
              <a:t> </a:t>
            </a:r>
            <a:r>
              <a:rPr sz="1200" spc="-10" dirty="0">
                <a:solidFill>
                  <a:srgbClr val="666666"/>
                </a:solidFill>
                <a:latin typeface="Microsoft Sans Serif"/>
                <a:cs typeface="Microsoft Sans Serif"/>
              </a:rPr>
              <a:t>Dedicated</a:t>
            </a:r>
            <a:endParaRPr sz="1200" dirty="0">
              <a:latin typeface="Microsoft Sans Serif"/>
              <a:cs typeface="Microsoft Sans Serif"/>
            </a:endParaRPr>
          </a:p>
          <a:p>
            <a:pPr marL="12700">
              <a:lnSpc>
                <a:spcPct val="100000"/>
              </a:lnSpc>
              <a:spcBef>
                <a:spcPts val="195"/>
              </a:spcBef>
            </a:pPr>
            <a:r>
              <a:rPr sz="1200" spc="-10" dirty="0">
                <a:solidFill>
                  <a:srgbClr val="666666"/>
                </a:solidFill>
                <a:latin typeface="Microsoft Sans Serif"/>
                <a:cs typeface="Microsoft Sans Serif"/>
              </a:rPr>
              <a:t>exclusively</a:t>
            </a:r>
            <a:r>
              <a:rPr sz="1200" spc="-25" dirty="0">
                <a:solidFill>
                  <a:srgbClr val="666666"/>
                </a:solidFill>
                <a:latin typeface="Microsoft Sans Serif"/>
                <a:cs typeface="Microsoft Sans Serif"/>
              </a:rPr>
              <a:t> </a:t>
            </a:r>
            <a:r>
              <a:rPr sz="1200" dirty="0">
                <a:solidFill>
                  <a:srgbClr val="666666"/>
                </a:solidFill>
                <a:latin typeface="Microsoft Sans Serif"/>
                <a:cs typeface="Microsoft Sans Serif"/>
              </a:rPr>
              <a:t>to</a:t>
            </a:r>
            <a:r>
              <a:rPr sz="1200" spc="-20" dirty="0">
                <a:solidFill>
                  <a:srgbClr val="666666"/>
                </a:solidFill>
                <a:latin typeface="Microsoft Sans Serif"/>
                <a:cs typeface="Microsoft Sans Serif"/>
              </a:rPr>
              <a:t> </a:t>
            </a:r>
            <a:r>
              <a:rPr sz="1200" spc="-35" dirty="0">
                <a:solidFill>
                  <a:srgbClr val="666666"/>
                </a:solidFill>
                <a:latin typeface="Microsoft Sans Serif"/>
                <a:cs typeface="Microsoft Sans Serif"/>
              </a:rPr>
              <a:t>CV</a:t>
            </a:r>
            <a:r>
              <a:rPr sz="1200" spc="-20" dirty="0">
                <a:solidFill>
                  <a:srgbClr val="666666"/>
                </a:solidFill>
                <a:latin typeface="Microsoft Sans Serif"/>
                <a:cs typeface="Microsoft Sans Serif"/>
              </a:rPr>
              <a:t> models </a:t>
            </a:r>
            <a:r>
              <a:rPr sz="1200" spc="80" dirty="0">
                <a:solidFill>
                  <a:srgbClr val="666666"/>
                </a:solidFill>
                <a:latin typeface="Microsoft Sans Serif"/>
                <a:cs typeface="Microsoft Sans Serif"/>
              </a:rPr>
              <a:t>-</a:t>
            </a:r>
            <a:r>
              <a:rPr sz="1200" spc="-20" dirty="0">
                <a:solidFill>
                  <a:srgbClr val="666666"/>
                </a:solidFill>
                <a:latin typeface="Microsoft Sans Serif"/>
                <a:cs typeface="Microsoft Sans Serif"/>
              </a:rPr>
              <a:t> </a:t>
            </a:r>
            <a:r>
              <a:rPr sz="1200" dirty="0">
                <a:solidFill>
                  <a:srgbClr val="666666"/>
                </a:solidFill>
                <a:latin typeface="Microsoft Sans Serif"/>
                <a:cs typeface="Microsoft Sans Serif"/>
              </a:rPr>
              <a:t>frees</a:t>
            </a:r>
            <a:r>
              <a:rPr sz="1200" spc="-25" dirty="0">
                <a:solidFill>
                  <a:srgbClr val="666666"/>
                </a:solidFill>
                <a:latin typeface="Microsoft Sans Serif"/>
                <a:cs typeface="Microsoft Sans Serif"/>
              </a:rPr>
              <a:t> </a:t>
            </a:r>
            <a:r>
              <a:rPr sz="1200" spc="-20" dirty="0">
                <a:solidFill>
                  <a:srgbClr val="666666"/>
                </a:solidFill>
                <a:latin typeface="Microsoft Sans Serif"/>
                <a:cs typeface="Microsoft Sans Serif"/>
              </a:rPr>
              <a:t>main CPU.</a:t>
            </a:r>
            <a:endParaRPr sz="1200" dirty="0">
              <a:latin typeface="Microsoft Sans Serif"/>
              <a:cs typeface="Microsoft Sans Serif"/>
            </a:endParaRPr>
          </a:p>
        </p:txBody>
      </p:sp>
      <p:grpSp>
        <p:nvGrpSpPr>
          <p:cNvPr id="17" name="object 17"/>
          <p:cNvGrpSpPr/>
          <p:nvPr/>
        </p:nvGrpSpPr>
        <p:grpSpPr>
          <a:xfrm>
            <a:off x="6887151" y="2038842"/>
            <a:ext cx="2783008" cy="2328061"/>
            <a:chOff x="6867524" y="1457321"/>
            <a:chExt cx="2752725" cy="1562100"/>
          </a:xfrm>
        </p:grpSpPr>
        <p:sp>
          <p:nvSpPr>
            <p:cNvPr id="18" name="object 18"/>
            <p:cNvSpPr/>
            <p:nvPr/>
          </p:nvSpPr>
          <p:spPr>
            <a:xfrm>
              <a:off x="6881811" y="1457321"/>
              <a:ext cx="2738755" cy="1562100"/>
            </a:xfrm>
            <a:custGeom>
              <a:avLst/>
              <a:gdLst/>
              <a:ahLst/>
              <a:cxnLst/>
              <a:rect l="l" t="t" r="r" b="b"/>
              <a:pathLst>
                <a:path w="2738754" h="1562100">
                  <a:moveTo>
                    <a:pt x="2667241" y="1562090"/>
                  </a:moveTo>
                  <a:lnTo>
                    <a:pt x="57847" y="1562090"/>
                  </a:lnTo>
                  <a:lnTo>
                    <a:pt x="53821" y="1561606"/>
                  </a:lnTo>
                  <a:lnTo>
                    <a:pt x="15259" y="1536241"/>
                  </a:lnTo>
                  <a:lnTo>
                    <a:pt x="396" y="1495852"/>
                  </a:lnTo>
                  <a:lnTo>
                    <a:pt x="0" y="1490894"/>
                  </a:lnTo>
                  <a:lnTo>
                    <a:pt x="0" y="1485899"/>
                  </a:lnTo>
                  <a:lnTo>
                    <a:pt x="0" y="71186"/>
                  </a:lnTo>
                  <a:lnTo>
                    <a:pt x="12692" y="29691"/>
                  </a:lnTo>
                  <a:lnTo>
                    <a:pt x="41975" y="3878"/>
                  </a:lnTo>
                  <a:lnTo>
                    <a:pt x="57847" y="0"/>
                  </a:lnTo>
                  <a:lnTo>
                    <a:pt x="2667241" y="0"/>
                  </a:lnTo>
                  <a:lnTo>
                    <a:pt x="2708731" y="15608"/>
                  </a:lnTo>
                  <a:lnTo>
                    <a:pt x="2734550" y="51653"/>
                  </a:lnTo>
                  <a:lnTo>
                    <a:pt x="2738437" y="71186"/>
                  </a:lnTo>
                  <a:lnTo>
                    <a:pt x="2738437" y="1490894"/>
                  </a:lnTo>
                  <a:lnTo>
                    <a:pt x="2722815" y="1532390"/>
                  </a:lnTo>
                  <a:lnTo>
                    <a:pt x="2686775" y="1558192"/>
                  </a:lnTo>
                  <a:lnTo>
                    <a:pt x="2672196" y="1561606"/>
                  </a:lnTo>
                  <a:lnTo>
                    <a:pt x="2667241" y="1562090"/>
                  </a:lnTo>
                  <a:close/>
                </a:path>
              </a:pathLst>
            </a:custGeom>
            <a:solidFill>
              <a:srgbClr val="F7F9FA"/>
            </a:solidFill>
          </p:spPr>
          <p:txBody>
            <a:bodyPr wrap="square" lIns="0" tIns="0" rIns="0" bIns="0" rtlCol="0"/>
            <a:lstStyle/>
            <a:p>
              <a:endParaRPr sz="3200"/>
            </a:p>
          </p:txBody>
        </p:sp>
        <p:sp>
          <p:nvSpPr>
            <p:cNvPr id="19" name="object 19"/>
            <p:cNvSpPr/>
            <p:nvPr/>
          </p:nvSpPr>
          <p:spPr>
            <a:xfrm>
              <a:off x="6867524" y="1457696"/>
              <a:ext cx="69215" cy="1561465"/>
            </a:xfrm>
            <a:custGeom>
              <a:avLst/>
              <a:gdLst/>
              <a:ahLst/>
              <a:cxnLst/>
              <a:rect l="l" t="t" r="r" b="b"/>
              <a:pathLst>
                <a:path w="69215" h="1561464">
                  <a:moveTo>
                    <a:pt x="68698" y="1561345"/>
                  </a:moveTo>
                  <a:lnTo>
                    <a:pt x="27882" y="1544455"/>
                  </a:lnTo>
                  <a:lnTo>
                    <a:pt x="3262" y="1507609"/>
                  </a:lnTo>
                  <a:lnTo>
                    <a:pt x="0" y="1485522"/>
                  </a:lnTo>
                  <a:lnTo>
                    <a:pt x="0" y="75822"/>
                  </a:lnTo>
                  <a:lnTo>
                    <a:pt x="12830" y="33480"/>
                  </a:lnTo>
                  <a:lnTo>
                    <a:pt x="47038" y="5422"/>
                  </a:lnTo>
                  <a:lnTo>
                    <a:pt x="68698" y="0"/>
                  </a:lnTo>
                  <a:lnTo>
                    <a:pt x="63809" y="1556"/>
                  </a:lnTo>
                  <a:lnTo>
                    <a:pt x="52140" y="9289"/>
                  </a:lnTo>
                  <a:lnTo>
                    <a:pt x="32199" y="46662"/>
                  </a:lnTo>
                  <a:lnTo>
                    <a:pt x="28575" y="75822"/>
                  </a:lnTo>
                  <a:lnTo>
                    <a:pt x="28575" y="1485522"/>
                  </a:lnTo>
                  <a:lnTo>
                    <a:pt x="36593" y="1527864"/>
                  </a:lnTo>
                  <a:lnTo>
                    <a:pt x="63809" y="1559788"/>
                  </a:lnTo>
                  <a:lnTo>
                    <a:pt x="68698" y="1561345"/>
                  </a:lnTo>
                  <a:close/>
                </a:path>
              </a:pathLst>
            </a:custGeom>
            <a:solidFill>
              <a:srgbClr val="BF382A"/>
            </a:solidFill>
          </p:spPr>
          <p:txBody>
            <a:bodyPr wrap="square" lIns="0" tIns="0" rIns="0" bIns="0" rtlCol="0"/>
            <a:lstStyle/>
            <a:p>
              <a:endParaRPr sz="3200"/>
            </a:p>
          </p:txBody>
        </p:sp>
        <p:pic>
          <p:nvPicPr>
            <p:cNvPr id="20" name="object 20"/>
            <p:cNvPicPr/>
            <p:nvPr/>
          </p:nvPicPr>
          <p:blipFill>
            <a:blip r:embed="rId8" cstate="print"/>
            <a:stretch>
              <a:fillRect/>
            </a:stretch>
          </p:blipFill>
          <p:spPr>
            <a:xfrm>
              <a:off x="8086723" y="1600194"/>
              <a:ext cx="333374" cy="333374"/>
            </a:xfrm>
            <a:prstGeom prst="rect">
              <a:avLst/>
            </a:prstGeom>
          </p:spPr>
        </p:pic>
        <p:pic>
          <p:nvPicPr>
            <p:cNvPr id="21" name="object 21"/>
            <p:cNvPicPr/>
            <p:nvPr/>
          </p:nvPicPr>
          <p:blipFill>
            <a:blip r:embed="rId9" cstate="print"/>
            <a:stretch>
              <a:fillRect/>
            </a:stretch>
          </p:blipFill>
          <p:spPr>
            <a:xfrm>
              <a:off x="8189118" y="1708149"/>
              <a:ext cx="133350" cy="120650"/>
            </a:xfrm>
            <a:prstGeom prst="rect">
              <a:avLst/>
            </a:prstGeom>
          </p:spPr>
        </p:pic>
      </p:grpSp>
      <p:sp>
        <p:nvSpPr>
          <p:cNvPr id="22" name="object 22"/>
          <p:cNvSpPr txBox="1"/>
          <p:nvPr/>
        </p:nvSpPr>
        <p:spPr>
          <a:xfrm>
            <a:off x="7198353" y="2697424"/>
            <a:ext cx="2384425" cy="1383712"/>
          </a:xfrm>
          <a:prstGeom prst="rect">
            <a:avLst/>
          </a:prstGeom>
        </p:spPr>
        <p:txBody>
          <a:bodyPr vert="horz" wrap="square" lIns="0" tIns="97790" rIns="0" bIns="0" rtlCol="0">
            <a:spAutoFit/>
          </a:bodyPr>
          <a:lstStyle/>
          <a:p>
            <a:pPr algn="ctr">
              <a:lnSpc>
                <a:spcPct val="100000"/>
              </a:lnSpc>
              <a:spcBef>
                <a:spcPts val="770"/>
              </a:spcBef>
            </a:pPr>
            <a:r>
              <a:rPr sz="1600" b="1" spc="-55" dirty="0">
                <a:solidFill>
                  <a:srgbClr val="1A1A2E"/>
                </a:solidFill>
                <a:latin typeface="Arial"/>
                <a:cs typeface="Arial"/>
              </a:rPr>
              <a:t>Camera</a:t>
            </a:r>
            <a:r>
              <a:rPr sz="1600" b="1" spc="-60" dirty="0">
                <a:solidFill>
                  <a:srgbClr val="1A1A2E"/>
                </a:solidFill>
                <a:latin typeface="Arial"/>
                <a:cs typeface="Arial"/>
              </a:rPr>
              <a:t> </a:t>
            </a:r>
            <a:r>
              <a:rPr sz="1600" b="1" spc="-70" dirty="0">
                <a:solidFill>
                  <a:srgbClr val="1A1A2E"/>
                </a:solidFill>
                <a:latin typeface="Arial"/>
                <a:cs typeface="Arial"/>
              </a:rPr>
              <a:t>Module</a:t>
            </a:r>
            <a:r>
              <a:rPr sz="1600" b="1" spc="-60" dirty="0">
                <a:solidFill>
                  <a:srgbClr val="1A1A2E"/>
                </a:solidFill>
                <a:latin typeface="Arial"/>
                <a:cs typeface="Arial"/>
              </a:rPr>
              <a:t> </a:t>
            </a:r>
            <a:r>
              <a:rPr sz="1600" b="1" spc="-50" dirty="0">
                <a:solidFill>
                  <a:srgbClr val="1A1A2E"/>
                </a:solidFill>
                <a:latin typeface="Arial"/>
                <a:cs typeface="Arial"/>
              </a:rPr>
              <a:t>3</a:t>
            </a:r>
            <a:endParaRPr sz="1600" dirty="0">
              <a:latin typeface="Arial"/>
              <a:cs typeface="Arial"/>
            </a:endParaRPr>
          </a:p>
          <a:p>
            <a:pPr algn="ctr">
              <a:lnSpc>
                <a:spcPct val="100000"/>
              </a:lnSpc>
              <a:spcBef>
                <a:spcPts val="615"/>
              </a:spcBef>
            </a:pPr>
            <a:r>
              <a:rPr sz="1200" b="1" spc="-30" dirty="0">
                <a:solidFill>
                  <a:srgbClr val="BF382A"/>
                </a:solidFill>
                <a:latin typeface="Arial"/>
                <a:cs typeface="Arial"/>
              </a:rPr>
              <a:t>Wide </a:t>
            </a:r>
            <a:r>
              <a:rPr sz="1200" b="1" spc="-25" dirty="0">
                <a:solidFill>
                  <a:srgbClr val="BF382A"/>
                </a:solidFill>
                <a:latin typeface="Arial"/>
                <a:cs typeface="Arial"/>
              </a:rPr>
              <a:t>FOV</a:t>
            </a:r>
            <a:endParaRPr sz="1200" dirty="0">
              <a:latin typeface="Arial"/>
              <a:cs typeface="Arial"/>
            </a:endParaRPr>
          </a:p>
          <a:p>
            <a:pPr algn="ctr">
              <a:lnSpc>
                <a:spcPct val="100000"/>
              </a:lnSpc>
              <a:spcBef>
                <a:spcPts val="120"/>
              </a:spcBef>
            </a:pPr>
            <a:r>
              <a:rPr sz="1200" spc="-35" dirty="0">
                <a:solidFill>
                  <a:srgbClr val="666666"/>
                </a:solidFill>
                <a:latin typeface="Microsoft Sans Serif"/>
                <a:cs typeface="Microsoft Sans Serif"/>
              </a:rPr>
              <a:t>CSI-</a:t>
            </a:r>
            <a:r>
              <a:rPr sz="1200" dirty="0">
                <a:solidFill>
                  <a:srgbClr val="666666"/>
                </a:solidFill>
                <a:latin typeface="Microsoft Sans Serif"/>
                <a:cs typeface="Microsoft Sans Serif"/>
              </a:rPr>
              <a:t>2</a:t>
            </a:r>
            <a:r>
              <a:rPr sz="1200" spc="-10" dirty="0">
                <a:solidFill>
                  <a:srgbClr val="666666"/>
                </a:solidFill>
                <a:latin typeface="Microsoft Sans Serif"/>
                <a:cs typeface="Microsoft Sans Serif"/>
              </a:rPr>
              <a:t> interface.</a:t>
            </a:r>
            <a:r>
              <a:rPr sz="1200" spc="-5" dirty="0">
                <a:solidFill>
                  <a:srgbClr val="666666"/>
                </a:solidFill>
                <a:latin typeface="Microsoft Sans Serif"/>
                <a:cs typeface="Microsoft Sans Serif"/>
              </a:rPr>
              <a:t> </a:t>
            </a:r>
            <a:r>
              <a:rPr sz="1200" spc="-10" dirty="0">
                <a:solidFill>
                  <a:srgbClr val="666666"/>
                </a:solidFill>
                <a:latin typeface="Microsoft Sans Serif"/>
                <a:cs typeface="Microsoft Sans Serif"/>
              </a:rPr>
              <a:t>Wide</a:t>
            </a:r>
            <a:r>
              <a:rPr sz="1200" spc="-5" dirty="0">
                <a:solidFill>
                  <a:srgbClr val="666666"/>
                </a:solidFill>
                <a:latin typeface="Microsoft Sans Serif"/>
                <a:cs typeface="Microsoft Sans Serif"/>
              </a:rPr>
              <a:t> </a:t>
            </a:r>
            <a:r>
              <a:rPr sz="1200" spc="-10" dirty="0">
                <a:solidFill>
                  <a:srgbClr val="666666"/>
                </a:solidFill>
                <a:latin typeface="Microsoft Sans Serif"/>
                <a:cs typeface="Microsoft Sans Serif"/>
              </a:rPr>
              <a:t>variant </a:t>
            </a:r>
            <a:r>
              <a:rPr sz="1200" spc="-20" dirty="0">
                <a:solidFill>
                  <a:srgbClr val="666666"/>
                </a:solidFill>
                <a:latin typeface="Microsoft Sans Serif"/>
                <a:cs typeface="Microsoft Sans Serif"/>
              </a:rPr>
              <a:t>maximizes</a:t>
            </a:r>
            <a:r>
              <a:rPr sz="1200" spc="-5" dirty="0">
                <a:solidFill>
                  <a:srgbClr val="666666"/>
                </a:solidFill>
                <a:latin typeface="Microsoft Sans Serif"/>
                <a:cs typeface="Microsoft Sans Serif"/>
              </a:rPr>
              <a:t> </a:t>
            </a:r>
            <a:r>
              <a:rPr sz="1200" dirty="0">
                <a:solidFill>
                  <a:srgbClr val="666666"/>
                </a:solidFill>
                <a:latin typeface="Microsoft Sans Serif"/>
                <a:cs typeface="Microsoft Sans Serif"/>
              </a:rPr>
              <a:t>field</a:t>
            </a:r>
            <a:r>
              <a:rPr sz="1200" spc="-5" dirty="0">
                <a:solidFill>
                  <a:srgbClr val="666666"/>
                </a:solidFill>
                <a:latin typeface="Microsoft Sans Serif"/>
                <a:cs typeface="Microsoft Sans Serif"/>
              </a:rPr>
              <a:t> </a:t>
            </a:r>
            <a:r>
              <a:rPr sz="1200" spc="-25" dirty="0">
                <a:solidFill>
                  <a:srgbClr val="666666"/>
                </a:solidFill>
                <a:latin typeface="Microsoft Sans Serif"/>
                <a:cs typeface="Microsoft Sans Serif"/>
              </a:rPr>
              <a:t>of</a:t>
            </a:r>
            <a:endParaRPr sz="1200" dirty="0">
              <a:latin typeface="Microsoft Sans Serif"/>
              <a:cs typeface="Microsoft Sans Serif"/>
            </a:endParaRPr>
          </a:p>
          <a:p>
            <a:pPr algn="ctr">
              <a:lnSpc>
                <a:spcPct val="100000"/>
              </a:lnSpc>
              <a:spcBef>
                <a:spcPts val="195"/>
              </a:spcBef>
            </a:pPr>
            <a:r>
              <a:rPr sz="1200" dirty="0">
                <a:solidFill>
                  <a:srgbClr val="666666"/>
                </a:solidFill>
                <a:latin typeface="Microsoft Sans Serif"/>
                <a:cs typeface="Microsoft Sans Serif"/>
              </a:rPr>
              <a:t>view</a:t>
            </a:r>
            <a:r>
              <a:rPr sz="1200" spc="-15" dirty="0">
                <a:solidFill>
                  <a:srgbClr val="666666"/>
                </a:solidFill>
                <a:latin typeface="Microsoft Sans Serif"/>
                <a:cs typeface="Microsoft Sans Serif"/>
              </a:rPr>
              <a:t> </a:t>
            </a:r>
            <a:r>
              <a:rPr sz="1200" dirty="0">
                <a:solidFill>
                  <a:srgbClr val="666666"/>
                </a:solidFill>
                <a:latin typeface="Microsoft Sans Serif"/>
                <a:cs typeface="Microsoft Sans Serif"/>
              </a:rPr>
              <a:t>for</a:t>
            </a:r>
            <a:r>
              <a:rPr sz="1200" spc="-15" dirty="0">
                <a:solidFill>
                  <a:srgbClr val="666666"/>
                </a:solidFill>
                <a:latin typeface="Microsoft Sans Serif"/>
                <a:cs typeface="Microsoft Sans Serif"/>
              </a:rPr>
              <a:t> </a:t>
            </a:r>
            <a:r>
              <a:rPr sz="1200" spc="-10" dirty="0">
                <a:solidFill>
                  <a:srgbClr val="666666"/>
                </a:solidFill>
                <a:latin typeface="Microsoft Sans Serif"/>
                <a:cs typeface="Microsoft Sans Serif"/>
              </a:rPr>
              <a:t>scanning</a:t>
            </a:r>
            <a:r>
              <a:rPr sz="1200" spc="-15" dirty="0">
                <a:solidFill>
                  <a:srgbClr val="666666"/>
                </a:solidFill>
                <a:latin typeface="Microsoft Sans Serif"/>
                <a:cs typeface="Microsoft Sans Serif"/>
              </a:rPr>
              <a:t> </a:t>
            </a:r>
            <a:r>
              <a:rPr sz="1200" spc="-10" dirty="0">
                <a:solidFill>
                  <a:srgbClr val="666666"/>
                </a:solidFill>
                <a:latin typeface="Microsoft Sans Serif"/>
                <a:cs typeface="Microsoft Sans Serif"/>
              </a:rPr>
              <a:t>larger</a:t>
            </a:r>
            <a:r>
              <a:rPr sz="1200" spc="-15" dirty="0">
                <a:solidFill>
                  <a:srgbClr val="666666"/>
                </a:solidFill>
                <a:latin typeface="Microsoft Sans Serif"/>
                <a:cs typeface="Microsoft Sans Serif"/>
              </a:rPr>
              <a:t> </a:t>
            </a:r>
            <a:r>
              <a:rPr sz="1200" spc="-10" dirty="0">
                <a:solidFill>
                  <a:srgbClr val="666666"/>
                </a:solidFill>
                <a:latin typeface="Microsoft Sans Serif"/>
                <a:cs typeface="Microsoft Sans Serif"/>
              </a:rPr>
              <a:t>terrain</a:t>
            </a:r>
            <a:r>
              <a:rPr sz="1200" spc="-15" dirty="0">
                <a:solidFill>
                  <a:srgbClr val="666666"/>
                </a:solidFill>
                <a:latin typeface="Microsoft Sans Serif"/>
                <a:cs typeface="Microsoft Sans Serif"/>
              </a:rPr>
              <a:t> </a:t>
            </a:r>
            <a:r>
              <a:rPr sz="1200" spc="-10" dirty="0">
                <a:solidFill>
                  <a:srgbClr val="666666"/>
                </a:solidFill>
                <a:latin typeface="Microsoft Sans Serif"/>
                <a:cs typeface="Microsoft Sans Serif"/>
              </a:rPr>
              <a:t>areas.</a:t>
            </a:r>
            <a:endParaRPr sz="1200" dirty="0">
              <a:latin typeface="Microsoft Sans Serif"/>
              <a:cs typeface="Microsoft Sans Serif"/>
            </a:endParaRPr>
          </a:p>
        </p:txBody>
      </p:sp>
      <p:grpSp>
        <p:nvGrpSpPr>
          <p:cNvPr id="23" name="object 23"/>
          <p:cNvGrpSpPr/>
          <p:nvPr/>
        </p:nvGrpSpPr>
        <p:grpSpPr>
          <a:xfrm>
            <a:off x="3098741" y="4762499"/>
            <a:ext cx="695325" cy="571500"/>
            <a:chOff x="3162299" y="3162296"/>
            <a:chExt cx="695325" cy="571500"/>
          </a:xfrm>
        </p:grpSpPr>
        <p:sp>
          <p:nvSpPr>
            <p:cNvPr id="24" name="object 24"/>
            <p:cNvSpPr/>
            <p:nvPr/>
          </p:nvSpPr>
          <p:spPr>
            <a:xfrm>
              <a:off x="3167061" y="3167058"/>
              <a:ext cx="685800" cy="561975"/>
            </a:xfrm>
            <a:custGeom>
              <a:avLst/>
              <a:gdLst/>
              <a:ahLst/>
              <a:cxnLst/>
              <a:rect l="l" t="t" r="r" b="b"/>
              <a:pathLst>
                <a:path w="685800" h="561975">
                  <a:moveTo>
                    <a:pt x="636852" y="561965"/>
                  </a:moveTo>
                  <a:lnTo>
                    <a:pt x="48947" y="561965"/>
                  </a:lnTo>
                  <a:lnTo>
                    <a:pt x="45540" y="561631"/>
                  </a:lnTo>
                  <a:lnTo>
                    <a:pt x="10740" y="541539"/>
                  </a:lnTo>
                  <a:lnTo>
                    <a:pt x="0" y="513020"/>
                  </a:lnTo>
                  <a:lnTo>
                    <a:pt x="0" y="509587"/>
                  </a:lnTo>
                  <a:lnTo>
                    <a:pt x="0" y="48954"/>
                  </a:lnTo>
                  <a:lnTo>
                    <a:pt x="17776" y="12911"/>
                  </a:lnTo>
                  <a:lnTo>
                    <a:pt x="48947" y="0"/>
                  </a:lnTo>
                  <a:lnTo>
                    <a:pt x="636852" y="0"/>
                  </a:lnTo>
                  <a:lnTo>
                    <a:pt x="672887" y="17766"/>
                  </a:lnTo>
                  <a:lnTo>
                    <a:pt x="685799" y="48954"/>
                  </a:lnTo>
                  <a:lnTo>
                    <a:pt x="685799" y="513020"/>
                  </a:lnTo>
                  <a:lnTo>
                    <a:pt x="668023" y="549045"/>
                  </a:lnTo>
                  <a:lnTo>
                    <a:pt x="640258" y="561631"/>
                  </a:lnTo>
                  <a:lnTo>
                    <a:pt x="636852" y="561965"/>
                  </a:lnTo>
                  <a:close/>
                </a:path>
              </a:pathLst>
            </a:custGeom>
            <a:solidFill>
              <a:srgbClr val="F7F9FA"/>
            </a:solidFill>
          </p:spPr>
          <p:txBody>
            <a:bodyPr wrap="square" lIns="0" tIns="0" rIns="0" bIns="0" rtlCol="0"/>
            <a:lstStyle/>
            <a:p>
              <a:endParaRPr sz="3200"/>
            </a:p>
          </p:txBody>
        </p:sp>
        <p:sp>
          <p:nvSpPr>
            <p:cNvPr id="25" name="object 25"/>
            <p:cNvSpPr/>
            <p:nvPr/>
          </p:nvSpPr>
          <p:spPr>
            <a:xfrm>
              <a:off x="3167061" y="3167058"/>
              <a:ext cx="685800" cy="561975"/>
            </a:xfrm>
            <a:custGeom>
              <a:avLst/>
              <a:gdLst/>
              <a:ahLst/>
              <a:cxnLst/>
              <a:rect l="l" t="t" r="r" b="b"/>
              <a:pathLst>
                <a:path w="685800" h="561975">
                  <a:moveTo>
                    <a:pt x="0" y="509587"/>
                  </a:moveTo>
                  <a:lnTo>
                    <a:pt x="0" y="52387"/>
                  </a:lnTo>
                  <a:lnTo>
                    <a:pt x="0" y="48954"/>
                  </a:lnTo>
                  <a:lnTo>
                    <a:pt x="335" y="45541"/>
                  </a:lnTo>
                  <a:lnTo>
                    <a:pt x="1006" y="42155"/>
                  </a:lnTo>
                  <a:lnTo>
                    <a:pt x="1677" y="38779"/>
                  </a:lnTo>
                  <a:lnTo>
                    <a:pt x="2671" y="35504"/>
                  </a:lnTo>
                  <a:lnTo>
                    <a:pt x="3987" y="32324"/>
                  </a:lnTo>
                  <a:lnTo>
                    <a:pt x="5303" y="29142"/>
                  </a:lnTo>
                  <a:lnTo>
                    <a:pt x="15344" y="15339"/>
                  </a:lnTo>
                  <a:lnTo>
                    <a:pt x="17776" y="12911"/>
                  </a:lnTo>
                  <a:lnTo>
                    <a:pt x="20422" y="10734"/>
                  </a:lnTo>
                  <a:lnTo>
                    <a:pt x="23282" y="8818"/>
                  </a:lnTo>
                  <a:lnTo>
                    <a:pt x="26142" y="6901"/>
                  </a:lnTo>
                  <a:lnTo>
                    <a:pt x="42167" y="1004"/>
                  </a:lnTo>
                  <a:lnTo>
                    <a:pt x="45540" y="335"/>
                  </a:lnTo>
                  <a:lnTo>
                    <a:pt x="48947" y="0"/>
                  </a:lnTo>
                  <a:lnTo>
                    <a:pt x="52387" y="0"/>
                  </a:lnTo>
                  <a:lnTo>
                    <a:pt x="633412" y="0"/>
                  </a:lnTo>
                  <a:lnTo>
                    <a:pt x="636852" y="0"/>
                  </a:lnTo>
                  <a:lnTo>
                    <a:pt x="640258" y="335"/>
                  </a:lnTo>
                  <a:lnTo>
                    <a:pt x="643632" y="1004"/>
                  </a:lnTo>
                  <a:lnTo>
                    <a:pt x="647006" y="1664"/>
                  </a:lnTo>
                  <a:lnTo>
                    <a:pt x="662516" y="8818"/>
                  </a:lnTo>
                  <a:lnTo>
                    <a:pt x="665377" y="10734"/>
                  </a:lnTo>
                  <a:lnTo>
                    <a:pt x="668023" y="12911"/>
                  </a:lnTo>
                  <a:lnTo>
                    <a:pt x="670455" y="15339"/>
                  </a:lnTo>
                  <a:lnTo>
                    <a:pt x="672887" y="17766"/>
                  </a:lnTo>
                  <a:lnTo>
                    <a:pt x="675059" y="20408"/>
                  </a:lnTo>
                  <a:lnTo>
                    <a:pt x="676970" y="23273"/>
                  </a:lnTo>
                  <a:lnTo>
                    <a:pt x="678881" y="26128"/>
                  </a:lnTo>
                  <a:lnTo>
                    <a:pt x="680495" y="29142"/>
                  </a:lnTo>
                  <a:lnTo>
                    <a:pt x="681812" y="32324"/>
                  </a:lnTo>
                  <a:lnTo>
                    <a:pt x="683128" y="35504"/>
                  </a:lnTo>
                  <a:lnTo>
                    <a:pt x="685800" y="52387"/>
                  </a:lnTo>
                  <a:lnTo>
                    <a:pt x="685800" y="509587"/>
                  </a:lnTo>
                  <a:lnTo>
                    <a:pt x="676970" y="538673"/>
                  </a:lnTo>
                  <a:lnTo>
                    <a:pt x="675059" y="541539"/>
                  </a:lnTo>
                  <a:lnTo>
                    <a:pt x="640258" y="561631"/>
                  </a:lnTo>
                  <a:lnTo>
                    <a:pt x="633412" y="561974"/>
                  </a:lnTo>
                  <a:lnTo>
                    <a:pt x="52387" y="561974"/>
                  </a:lnTo>
                  <a:lnTo>
                    <a:pt x="23282" y="553129"/>
                  </a:lnTo>
                  <a:lnTo>
                    <a:pt x="20422" y="551222"/>
                  </a:lnTo>
                  <a:lnTo>
                    <a:pt x="17776" y="549045"/>
                  </a:lnTo>
                  <a:lnTo>
                    <a:pt x="15344" y="546617"/>
                  </a:lnTo>
                  <a:lnTo>
                    <a:pt x="12911" y="544189"/>
                  </a:lnTo>
                  <a:lnTo>
                    <a:pt x="10740" y="541539"/>
                  </a:lnTo>
                  <a:lnTo>
                    <a:pt x="8828" y="538673"/>
                  </a:lnTo>
                  <a:lnTo>
                    <a:pt x="6917" y="535818"/>
                  </a:lnTo>
                  <a:lnTo>
                    <a:pt x="5303" y="532804"/>
                  </a:lnTo>
                  <a:lnTo>
                    <a:pt x="3987" y="529623"/>
                  </a:lnTo>
                  <a:lnTo>
                    <a:pt x="2671" y="526441"/>
                  </a:lnTo>
                  <a:lnTo>
                    <a:pt x="1677" y="523168"/>
                  </a:lnTo>
                  <a:lnTo>
                    <a:pt x="1006" y="519801"/>
                  </a:lnTo>
                  <a:lnTo>
                    <a:pt x="335" y="516424"/>
                  </a:lnTo>
                  <a:lnTo>
                    <a:pt x="0" y="513020"/>
                  </a:lnTo>
                  <a:lnTo>
                    <a:pt x="0" y="509587"/>
                  </a:lnTo>
                  <a:close/>
                </a:path>
              </a:pathLst>
            </a:custGeom>
            <a:ln w="9524">
              <a:solidFill>
                <a:srgbClr val="EDEDED"/>
              </a:solidFill>
            </a:ln>
          </p:spPr>
          <p:txBody>
            <a:bodyPr wrap="square" lIns="0" tIns="0" rIns="0" bIns="0" rtlCol="0"/>
            <a:lstStyle/>
            <a:p>
              <a:endParaRPr sz="3200"/>
            </a:p>
          </p:txBody>
        </p:sp>
        <p:pic>
          <p:nvPicPr>
            <p:cNvPr id="26" name="object 26"/>
            <p:cNvPicPr/>
            <p:nvPr/>
          </p:nvPicPr>
          <p:blipFill>
            <a:blip r:embed="rId10" cstate="print"/>
            <a:stretch>
              <a:fillRect/>
            </a:stretch>
          </p:blipFill>
          <p:spPr>
            <a:xfrm>
              <a:off x="3423939" y="3270249"/>
              <a:ext cx="171450" cy="152400"/>
            </a:xfrm>
            <a:prstGeom prst="rect">
              <a:avLst/>
            </a:prstGeom>
          </p:spPr>
        </p:pic>
      </p:grpSp>
      <p:sp>
        <p:nvSpPr>
          <p:cNvPr id="27" name="object 27"/>
          <p:cNvSpPr txBox="1"/>
          <p:nvPr/>
        </p:nvSpPr>
        <p:spPr>
          <a:xfrm>
            <a:off x="3172809" y="5061689"/>
            <a:ext cx="546594" cy="200055"/>
          </a:xfrm>
          <a:prstGeom prst="rect">
            <a:avLst/>
          </a:prstGeom>
        </p:spPr>
        <p:txBody>
          <a:bodyPr vert="horz" wrap="square" lIns="0" tIns="15240" rIns="0" bIns="0" rtlCol="0">
            <a:spAutoFit/>
          </a:bodyPr>
          <a:lstStyle/>
          <a:p>
            <a:pPr marL="12700">
              <a:lnSpc>
                <a:spcPct val="100000"/>
              </a:lnSpc>
              <a:spcBef>
                <a:spcPts val="120"/>
              </a:spcBef>
            </a:pPr>
            <a:r>
              <a:rPr sz="1200" spc="-25" dirty="0">
                <a:solidFill>
                  <a:srgbClr val="333333"/>
                </a:solidFill>
                <a:latin typeface="Microsoft Sans Serif"/>
                <a:cs typeface="Microsoft Sans Serif"/>
              </a:rPr>
              <a:t>Camera</a:t>
            </a:r>
            <a:endParaRPr sz="1200" dirty="0">
              <a:latin typeface="Microsoft Sans Serif"/>
              <a:cs typeface="Microsoft Sans Serif"/>
            </a:endParaRPr>
          </a:p>
        </p:txBody>
      </p:sp>
      <p:pic>
        <p:nvPicPr>
          <p:cNvPr id="28" name="object 28"/>
          <p:cNvPicPr/>
          <p:nvPr/>
        </p:nvPicPr>
        <p:blipFill>
          <a:blip r:embed="rId11" cstate="print"/>
          <a:stretch>
            <a:fillRect/>
          </a:stretch>
        </p:blipFill>
        <p:spPr>
          <a:xfrm>
            <a:off x="3868034" y="4994278"/>
            <a:ext cx="117475" cy="101600"/>
          </a:xfrm>
          <a:prstGeom prst="rect">
            <a:avLst/>
          </a:prstGeom>
        </p:spPr>
      </p:pic>
      <p:grpSp>
        <p:nvGrpSpPr>
          <p:cNvPr id="29" name="object 29"/>
          <p:cNvGrpSpPr/>
          <p:nvPr/>
        </p:nvGrpSpPr>
        <p:grpSpPr>
          <a:xfrm>
            <a:off x="4060766" y="4762499"/>
            <a:ext cx="1178338" cy="603161"/>
            <a:chOff x="4124324" y="3162296"/>
            <a:chExt cx="981075" cy="571500"/>
          </a:xfrm>
        </p:grpSpPr>
        <p:pic>
          <p:nvPicPr>
            <p:cNvPr id="30" name="object 30"/>
            <p:cNvPicPr/>
            <p:nvPr/>
          </p:nvPicPr>
          <p:blipFill>
            <a:blip r:embed="rId12" cstate="print"/>
            <a:stretch>
              <a:fillRect/>
            </a:stretch>
          </p:blipFill>
          <p:spPr>
            <a:xfrm>
              <a:off x="4133849" y="3171819"/>
              <a:ext cx="962024" cy="552449"/>
            </a:xfrm>
            <a:prstGeom prst="rect">
              <a:avLst/>
            </a:prstGeom>
          </p:spPr>
        </p:pic>
        <p:sp>
          <p:nvSpPr>
            <p:cNvPr id="31" name="object 31"/>
            <p:cNvSpPr/>
            <p:nvPr/>
          </p:nvSpPr>
          <p:spPr>
            <a:xfrm>
              <a:off x="4129087" y="3167058"/>
              <a:ext cx="971550" cy="561975"/>
            </a:xfrm>
            <a:custGeom>
              <a:avLst/>
              <a:gdLst/>
              <a:ahLst/>
              <a:cxnLst/>
              <a:rect l="l" t="t" r="r" b="b"/>
              <a:pathLst>
                <a:path w="971550" h="561975">
                  <a:moveTo>
                    <a:pt x="0" y="509587"/>
                  </a:moveTo>
                  <a:lnTo>
                    <a:pt x="0" y="52387"/>
                  </a:lnTo>
                  <a:lnTo>
                    <a:pt x="0" y="48954"/>
                  </a:lnTo>
                  <a:lnTo>
                    <a:pt x="335" y="45541"/>
                  </a:lnTo>
                  <a:lnTo>
                    <a:pt x="1006" y="42155"/>
                  </a:lnTo>
                  <a:lnTo>
                    <a:pt x="1677" y="38779"/>
                  </a:lnTo>
                  <a:lnTo>
                    <a:pt x="2670" y="35504"/>
                  </a:lnTo>
                  <a:lnTo>
                    <a:pt x="3987" y="32324"/>
                  </a:lnTo>
                  <a:lnTo>
                    <a:pt x="5303" y="29142"/>
                  </a:lnTo>
                  <a:lnTo>
                    <a:pt x="15343" y="15339"/>
                  </a:lnTo>
                  <a:lnTo>
                    <a:pt x="17775" y="12911"/>
                  </a:lnTo>
                  <a:lnTo>
                    <a:pt x="42166" y="1004"/>
                  </a:lnTo>
                  <a:lnTo>
                    <a:pt x="45540" y="335"/>
                  </a:lnTo>
                  <a:lnTo>
                    <a:pt x="48947" y="0"/>
                  </a:lnTo>
                  <a:lnTo>
                    <a:pt x="52387" y="0"/>
                  </a:lnTo>
                  <a:lnTo>
                    <a:pt x="919162" y="0"/>
                  </a:lnTo>
                  <a:lnTo>
                    <a:pt x="922602" y="0"/>
                  </a:lnTo>
                  <a:lnTo>
                    <a:pt x="926008" y="335"/>
                  </a:lnTo>
                  <a:lnTo>
                    <a:pt x="929381" y="1004"/>
                  </a:lnTo>
                  <a:lnTo>
                    <a:pt x="932755" y="1664"/>
                  </a:lnTo>
                  <a:lnTo>
                    <a:pt x="948266" y="8818"/>
                  </a:lnTo>
                  <a:lnTo>
                    <a:pt x="951126" y="10734"/>
                  </a:lnTo>
                  <a:lnTo>
                    <a:pt x="953772" y="12911"/>
                  </a:lnTo>
                  <a:lnTo>
                    <a:pt x="956205" y="15339"/>
                  </a:lnTo>
                  <a:lnTo>
                    <a:pt x="958637" y="17766"/>
                  </a:lnTo>
                  <a:lnTo>
                    <a:pt x="960809" y="20408"/>
                  </a:lnTo>
                  <a:lnTo>
                    <a:pt x="962720" y="23273"/>
                  </a:lnTo>
                  <a:lnTo>
                    <a:pt x="964631" y="26128"/>
                  </a:lnTo>
                  <a:lnTo>
                    <a:pt x="971549" y="52387"/>
                  </a:lnTo>
                  <a:lnTo>
                    <a:pt x="971549" y="509587"/>
                  </a:lnTo>
                  <a:lnTo>
                    <a:pt x="967561" y="529623"/>
                  </a:lnTo>
                  <a:lnTo>
                    <a:pt x="966244" y="532804"/>
                  </a:lnTo>
                  <a:lnTo>
                    <a:pt x="964631" y="535818"/>
                  </a:lnTo>
                  <a:lnTo>
                    <a:pt x="962719" y="538673"/>
                  </a:lnTo>
                  <a:lnTo>
                    <a:pt x="960809" y="541539"/>
                  </a:lnTo>
                  <a:lnTo>
                    <a:pt x="939210" y="557975"/>
                  </a:lnTo>
                  <a:lnTo>
                    <a:pt x="936031" y="559296"/>
                  </a:lnTo>
                  <a:lnTo>
                    <a:pt x="919162" y="561974"/>
                  </a:lnTo>
                  <a:lnTo>
                    <a:pt x="52387" y="561974"/>
                  </a:lnTo>
                  <a:lnTo>
                    <a:pt x="32338" y="557975"/>
                  </a:lnTo>
                  <a:lnTo>
                    <a:pt x="29160" y="556654"/>
                  </a:lnTo>
                  <a:lnTo>
                    <a:pt x="8828" y="538673"/>
                  </a:lnTo>
                  <a:lnTo>
                    <a:pt x="6917" y="535818"/>
                  </a:lnTo>
                  <a:lnTo>
                    <a:pt x="5303" y="532804"/>
                  </a:lnTo>
                  <a:lnTo>
                    <a:pt x="3987" y="529623"/>
                  </a:lnTo>
                  <a:lnTo>
                    <a:pt x="2670" y="526441"/>
                  </a:lnTo>
                  <a:lnTo>
                    <a:pt x="1677" y="523168"/>
                  </a:lnTo>
                  <a:lnTo>
                    <a:pt x="1006" y="519801"/>
                  </a:lnTo>
                  <a:lnTo>
                    <a:pt x="335" y="516424"/>
                  </a:lnTo>
                  <a:lnTo>
                    <a:pt x="0" y="513020"/>
                  </a:lnTo>
                  <a:lnTo>
                    <a:pt x="0" y="509587"/>
                  </a:lnTo>
                  <a:close/>
                </a:path>
              </a:pathLst>
            </a:custGeom>
            <a:ln w="9524">
              <a:solidFill>
                <a:srgbClr val="EDEDED"/>
              </a:solidFill>
            </a:ln>
          </p:spPr>
          <p:txBody>
            <a:bodyPr wrap="square" lIns="0" tIns="0" rIns="0" bIns="0" rtlCol="0"/>
            <a:lstStyle/>
            <a:p>
              <a:endParaRPr sz="3200"/>
            </a:p>
          </p:txBody>
        </p:sp>
        <p:pic>
          <p:nvPicPr>
            <p:cNvPr id="32" name="object 32"/>
            <p:cNvPicPr/>
            <p:nvPr/>
          </p:nvPicPr>
          <p:blipFill>
            <a:blip r:embed="rId13" cstate="print"/>
            <a:stretch>
              <a:fillRect/>
            </a:stretch>
          </p:blipFill>
          <p:spPr>
            <a:xfrm>
              <a:off x="4531369" y="3257549"/>
              <a:ext cx="171450" cy="174625"/>
            </a:xfrm>
            <a:prstGeom prst="rect">
              <a:avLst/>
            </a:prstGeom>
          </p:spPr>
        </p:pic>
      </p:grpSp>
      <p:sp>
        <p:nvSpPr>
          <p:cNvPr id="33" name="object 33"/>
          <p:cNvSpPr txBox="1"/>
          <p:nvPr/>
        </p:nvSpPr>
        <p:spPr>
          <a:xfrm>
            <a:off x="4200614" y="5061689"/>
            <a:ext cx="1146085" cy="200055"/>
          </a:xfrm>
          <a:prstGeom prst="rect">
            <a:avLst/>
          </a:prstGeom>
        </p:spPr>
        <p:txBody>
          <a:bodyPr vert="horz" wrap="square" lIns="0" tIns="15240" rIns="0" bIns="0" rtlCol="0">
            <a:spAutoFit/>
          </a:bodyPr>
          <a:lstStyle/>
          <a:p>
            <a:pPr marL="12700">
              <a:lnSpc>
                <a:spcPct val="100000"/>
              </a:lnSpc>
              <a:spcBef>
                <a:spcPts val="120"/>
              </a:spcBef>
            </a:pPr>
            <a:r>
              <a:rPr sz="1200" spc="-20" dirty="0">
                <a:solidFill>
                  <a:srgbClr val="FFFFFF"/>
                </a:solidFill>
                <a:latin typeface="Microsoft Sans Serif"/>
                <a:cs typeface="Microsoft Sans Serif"/>
              </a:rPr>
              <a:t>AI</a:t>
            </a:r>
            <a:r>
              <a:rPr sz="1200" spc="-40" dirty="0">
                <a:solidFill>
                  <a:srgbClr val="FFFFFF"/>
                </a:solidFill>
                <a:latin typeface="Microsoft Sans Serif"/>
                <a:cs typeface="Microsoft Sans Serif"/>
              </a:rPr>
              <a:t> </a:t>
            </a:r>
            <a:r>
              <a:rPr sz="1200" spc="-10" dirty="0">
                <a:solidFill>
                  <a:srgbClr val="FFFFFF"/>
                </a:solidFill>
                <a:latin typeface="Microsoft Sans Serif"/>
                <a:cs typeface="Microsoft Sans Serif"/>
              </a:rPr>
              <a:t>Processing</a:t>
            </a:r>
            <a:endParaRPr sz="1200" dirty="0">
              <a:latin typeface="Microsoft Sans Serif"/>
              <a:cs typeface="Microsoft Sans Serif"/>
            </a:endParaRPr>
          </a:p>
        </p:txBody>
      </p:sp>
      <p:pic>
        <p:nvPicPr>
          <p:cNvPr id="34" name="object 34"/>
          <p:cNvPicPr/>
          <p:nvPr/>
        </p:nvPicPr>
        <p:blipFill>
          <a:blip r:embed="rId11" cstate="print"/>
          <a:stretch>
            <a:fillRect/>
          </a:stretch>
        </p:blipFill>
        <p:spPr>
          <a:xfrm>
            <a:off x="5288678" y="4981933"/>
            <a:ext cx="117475" cy="101600"/>
          </a:xfrm>
          <a:prstGeom prst="rect">
            <a:avLst/>
          </a:prstGeom>
        </p:spPr>
      </p:pic>
      <p:grpSp>
        <p:nvGrpSpPr>
          <p:cNvPr id="35" name="object 35"/>
          <p:cNvGrpSpPr/>
          <p:nvPr/>
        </p:nvGrpSpPr>
        <p:grpSpPr>
          <a:xfrm>
            <a:off x="5484385" y="4750153"/>
            <a:ext cx="980678" cy="623071"/>
            <a:chOff x="5381623" y="3162296"/>
            <a:chExt cx="790575" cy="571500"/>
          </a:xfrm>
        </p:grpSpPr>
        <p:sp>
          <p:nvSpPr>
            <p:cNvPr id="36" name="object 36"/>
            <p:cNvSpPr/>
            <p:nvPr/>
          </p:nvSpPr>
          <p:spPr>
            <a:xfrm>
              <a:off x="5386386" y="3167058"/>
              <a:ext cx="781050" cy="561975"/>
            </a:xfrm>
            <a:custGeom>
              <a:avLst/>
              <a:gdLst/>
              <a:ahLst/>
              <a:cxnLst/>
              <a:rect l="l" t="t" r="r" b="b"/>
              <a:pathLst>
                <a:path w="781050" h="561975">
                  <a:moveTo>
                    <a:pt x="732102" y="561965"/>
                  </a:moveTo>
                  <a:lnTo>
                    <a:pt x="48948" y="561965"/>
                  </a:lnTo>
                  <a:lnTo>
                    <a:pt x="45540" y="561631"/>
                  </a:lnTo>
                  <a:lnTo>
                    <a:pt x="10740" y="541539"/>
                  </a:lnTo>
                  <a:lnTo>
                    <a:pt x="0" y="513020"/>
                  </a:lnTo>
                  <a:lnTo>
                    <a:pt x="0" y="509587"/>
                  </a:lnTo>
                  <a:lnTo>
                    <a:pt x="0" y="48954"/>
                  </a:lnTo>
                  <a:lnTo>
                    <a:pt x="17776" y="12911"/>
                  </a:lnTo>
                  <a:lnTo>
                    <a:pt x="48948" y="0"/>
                  </a:lnTo>
                  <a:lnTo>
                    <a:pt x="732102" y="0"/>
                  </a:lnTo>
                  <a:lnTo>
                    <a:pt x="768137" y="17766"/>
                  </a:lnTo>
                  <a:lnTo>
                    <a:pt x="781049" y="48954"/>
                  </a:lnTo>
                  <a:lnTo>
                    <a:pt x="781049" y="513020"/>
                  </a:lnTo>
                  <a:lnTo>
                    <a:pt x="763273" y="549045"/>
                  </a:lnTo>
                  <a:lnTo>
                    <a:pt x="735508" y="561631"/>
                  </a:lnTo>
                  <a:lnTo>
                    <a:pt x="732102" y="561965"/>
                  </a:lnTo>
                  <a:close/>
                </a:path>
              </a:pathLst>
            </a:custGeom>
            <a:solidFill>
              <a:srgbClr val="F7F9FA"/>
            </a:solidFill>
          </p:spPr>
          <p:txBody>
            <a:bodyPr wrap="square" lIns="0" tIns="0" rIns="0" bIns="0" rtlCol="0"/>
            <a:lstStyle/>
            <a:p>
              <a:endParaRPr sz="3200"/>
            </a:p>
          </p:txBody>
        </p:sp>
        <p:sp>
          <p:nvSpPr>
            <p:cNvPr id="37" name="object 37"/>
            <p:cNvSpPr/>
            <p:nvPr/>
          </p:nvSpPr>
          <p:spPr>
            <a:xfrm>
              <a:off x="5386386" y="3167058"/>
              <a:ext cx="781050" cy="561975"/>
            </a:xfrm>
            <a:custGeom>
              <a:avLst/>
              <a:gdLst/>
              <a:ahLst/>
              <a:cxnLst/>
              <a:rect l="l" t="t" r="r" b="b"/>
              <a:pathLst>
                <a:path w="781050" h="561975">
                  <a:moveTo>
                    <a:pt x="0" y="509587"/>
                  </a:moveTo>
                  <a:lnTo>
                    <a:pt x="0" y="52387"/>
                  </a:lnTo>
                  <a:lnTo>
                    <a:pt x="0" y="48954"/>
                  </a:lnTo>
                  <a:lnTo>
                    <a:pt x="335" y="45541"/>
                  </a:lnTo>
                  <a:lnTo>
                    <a:pt x="1006" y="42155"/>
                  </a:lnTo>
                  <a:lnTo>
                    <a:pt x="1678" y="38779"/>
                  </a:lnTo>
                  <a:lnTo>
                    <a:pt x="2671" y="35504"/>
                  </a:lnTo>
                  <a:lnTo>
                    <a:pt x="3988" y="32324"/>
                  </a:lnTo>
                  <a:lnTo>
                    <a:pt x="5304" y="29142"/>
                  </a:lnTo>
                  <a:lnTo>
                    <a:pt x="15344" y="15339"/>
                  </a:lnTo>
                  <a:lnTo>
                    <a:pt x="17776" y="12911"/>
                  </a:lnTo>
                  <a:lnTo>
                    <a:pt x="42167" y="1004"/>
                  </a:lnTo>
                  <a:lnTo>
                    <a:pt x="45540" y="335"/>
                  </a:lnTo>
                  <a:lnTo>
                    <a:pt x="48948" y="0"/>
                  </a:lnTo>
                  <a:lnTo>
                    <a:pt x="52388" y="0"/>
                  </a:lnTo>
                  <a:lnTo>
                    <a:pt x="728663" y="0"/>
                  </a:lnTo>
                  <a:lnTo>
                    <a:pt x="732102" y="0"/>
                  </a:lnTo>
                  <a:lnTo>
                    <a:pt x="735508" y="335"/>
                  </a:lnTo>
                  <a:lnTo>
                    <a:pt x="738882" y="1004"/>
                  </a:lnTo>
                  <a:lnTo>
                    <a:pt x="742255" y="1664"/>
                  </a:lnTo>
                  <a:lnTo>
                    <a:pt x="745531" y="2660"/>
                  </a:lnTo>
                  <a:lnTo>
                    <a:pt x="748709" y="3971"/>
                  </a:lnTo>
                  <a:lnTo>
                    <a:pt x="751887" y="5283"/>
                  </a:lnTo>
                  <a:lnTo>
                    <a:pt x="754906" y="6901"/>
                  </a:lnTo>
                  <a:lnTo>
                    <a:pt x="757766" y="8818"/>
                  </a:lnTo>
                  <a:lnTo>
                    <a:pt x="760626" y="10734"/>
                  </a:lnTo>
                  <a:lnTo>
                    <a:pt x="763273" y="12911"/>
                  </a:lnTo>
                  <a:lnTo>
                    <a:pt x="765705" y="15339"/>
                  </a:lnTo>
                  <a:lnTo>
                    <a:pt x="768137" y="17766"/>
                  </a:lnTo>
                  <a:lnTo>
                    <a:pt x="770309" y="20408"/>
                  </a:lnTo>
                  <a:lnTo>
                    <a:pt x="772220" y="23273"/>
                  </a:lnTo>
                  <a:lnTo>
                    <a:pt x="774131" y="26128"/>
                  </a:lnTo>
                  <a:lnTo>
                    <a:pt x="775744" y="29142"/>
                  </a:lnTo>
                  <a:lnTo>
                    <a:pt x="777061" y="32324"/>
                  </a:lnTo>
                  <a:lnTo>
                    <a:pt x="778378" y="35504"/>
                  </a:lnTo>
                  <a:lnTo>
                    <a:pt x="781050" y="52387"/>
                  </a:lnTo>
                  <a:lnTo>
                    <a:pt x="781050" y="509587"/>
                  </a:lnTo>
                  <a:lnTo>
                    <a:pt x="772220" y="538673"/>
                  </a:lnTo>
                  <a:lnTo>
                    <a:pt x="770309" y="541539"/>
                  </a:lnTo>
                  <a:lnTo>
                    <a:pt x="768137" y="544189"/>
                  </a:lnTo>
                  <a:lnTo>
                    <a:pt x="765705" y="546617"/>
                  </a:lnTo>
                  <a:lnTo>
                    <a:pt x="763273" y="549045"/>
                  </a:lnTo>
                  <a:lnTo>
                    <a:pt x="748709" y="557975"/>
                  </a:lnTo>
                  <a:lnTo>
                    <a:pt x="745531" y="559296"/>
                  </a:lnTo>
                  <a:lnTo>
                    <a:pt x="728663" y="561974"/>
                  </a:lnTo>
                  <a:lnTo>
                    <a:pt x="52388" y="561974"/>
                  </a:lnTo>
                  <a:lnTo>
                    <a:pt x="23282" y="553129"/>
                  </a:lnTo>
                  <a:lnTo>
                    <a:pt x="20421" y="551222"/>
                  </a:lnTo>
                  <a:lnTo>
                    <a:pt x="17776" y="549045"/>
                  </a:lnTo>
                  <a:lnTo>
                    <a:pt x="15344" y="546617"/>
                  </a:lnTo>
                  <a:lnTo>
                    <a:pt x="12911" y="544189"/>
                  </a:lnTo>
                  <a:lnTo>
                    <a:pt x="10740" y="541539"/>
                  </a:lnTo>
                  <a:lnTo>
                    <a:pt x="8829" y="538673"/>
                  </a:lnTo>
                  <a:lnTo>
                    <a:pt x="6918" y="535818"/>
                  </a:lnTo>
                  <a:lnTo>
                    <a:pt x="5304" y="532804"/>
                  </a:lnTo>
                  <a:lnTo>
                    <a:pt x="3988" y="529623"/>
                  </a:lnTo>
                  <a:lnTo>
                    <a:pt x="2671" y="526441"/>
                  </a:lnTo>
                  <a:lnTo>
                    <a:pt x="1678" y="523168"/>
                  </a:lnTo>
                  <a:lnTo>
                    <a:pt x="1006" y="519801"/>
                  </a:lnTo>
                  <a:lnTo>
                    <a:pt x="335" y="516424"/>
                  </a:lnTo>
                  <a:lnTo>
                    <a:pt x="0" y="513020"/>
                  </a:lnTo>
                  <a:lnTo>
                    <a:pt x="0" y="509587"/>
                  </a:lnTo>
                  <a:close/>
                </a:path>
              </a:pathLst>
            </a:custGeom>
            <a:ln w="9524">
              <a:solidFill>
                <a:srgbClr val="EDEDED"/>
              </a:solidFill>
            </a:ln>
          </p:spPr>
          <p:txBody>
            <a:bodyPr wrap="square" lIns="0" tIns="0" rIns="0" bIns="0" rtlCol="0"/>
            <a:lstStyle/>
            <a:p>
              <a:endParaRPr sz="3200"/>
            </a:p>
          </p:txBody>
        </p:sp>
        <p:pic>
          <p:nvPicPr>
            <p:cNvPr id="38" name="object 38"/>
            <p:cNvPicPr/>
            <p:nvPr/>
          </p:nvPicPr>
          <p:blipFill>
            <a:blip r:embed="rId14" cstate="print"/>
            <a:stretch>
              <a:fillRect/>
            </a:stretch>
          </p:blipFill>
          <p:spPr>
            <a:xfrm>
              <a:off x="5687912" y="3257549"/>
              <a:ext cx="171450" cy="174625"/>
            </a:xfrm>
            <a:prstGeom prst="rect">
              <a:avLst/>
            </a:prstGeom>
          </p:spPr>
        </p:pic>
      </p:grpSp>
      <p:sp>
        <p:nvSpPr>
          <p:cNvPr id="39" name="object 39"/>
          <p:cNvSpPr txBox="1"/>
          <p:nvPr/>
        </p:nvSpPr>
        <p:spPr>
          <a:xfrm>
            <a:off x="5621258" y="5049344"/>
            <a:ext cx="843805" cy="200055"/>
          </a:xfrm>
          <a:prstGeom prst="rect">
            <a:avLst/>
          </a:prstGeom>
        </p:spPr>
        <p:txBody>
          <a:bodyPr vert="horz" wrap="square" lIns="0" tIns="15240" rIns="0" bIns="0" rtlCol="0">
            <a:spAutoFit/>
          </a:bodyPr>
          <a:lstStyle/>
          <a:p>
            <a:pPr marL="12700">
              <a:lnSpc>
                <a:spcPct val="100000"/>
              </a:lnSpc>
              <a:spcBef>
                <a:spcPts val="120"/>
              </a:spcBef>
            </a:pPr>
            <a:r>
              <a:rPr sz="1200" spc="-50" dirty="0">
                <a:solidFill>
                  <a:srgbClr val="333333"/>
                </a:solidFill>
                <a:latin typeface="Microsoft Sans Serif"/>
                <a:cs typeface="Microsoft Sans Serif"/>
              </a:rPr>
              <a:t>Pi</a:t>
            </a:r>
            <a:r>
              <a:rPr sz="1200" spc="-20" dirty="0">
                <a:solidFill>
                  <a:srgbClr val="333333"/>
                </a:solidFill>
                <a:latin typeface="Microsoft Sans Serif"/>
                <a:cs typeface="Microsoft Sans Serif"/>
              </a:rPr>
              <a:t> </a:t>
            </a:r>
            <a:r>
              <a:rPr sz="1200" dirty="0">
                <a:solidFill>
                  <a:srgbClr val="333333"/>
                </a:solidFill>
                <a:latin typeface="Microsoft Sans Serif"/>
                <a:cs typeface="Microsoft Sans Serif"/>
              </a:rPr>
              <a:t>5</a:t>
            </a:r>
            <a:r>
              <a:rPr sz="1200" spc="-20" dirty="0">
                <a:solidFill>
                  <a:srgbClr val="333333"/>
                </a:solidFill>
                <a:latin typeface="Microsoft Sans Serif"/>
                <a:cs typeface="Microsoft Sans Serif"/>
              </a:rPr>
              <a:t> </a:t>
            </a:r>
            <a:r>
              <a:rPr sz="1200" spc="-10" dirty="0">
                <a:solidFill>
                  <a:srgbClr val="333333"/>
                </a:solidFill>
                <a:latin typeface="Microsoft Sans Serif"/>
                <a:cs typeface="Microsoft Sans Serif"/>
              </a:rPr>
              <a:t>Logic</a:t>
            </a:r>
            <a:endParaRPr sz="1200" dirty="0">
              <a:latin typeface="Microsoft Sans Serif"/>
              <a:cs typeface="Microsoft Sans Serif"/>
            </a:endParaRPr>
          </a:p>
        </p:txBody>
      </p:sp>
      <p:pic>
        <p:nvPicPr>
          <p:cNvPr id="40" name="object 40"/>
          <p:cNvPicPr/>
          <p:nvPr/>
        </p:nvPicPr>
        <p:blipFill>
          <a:blip r:embed="rId11" cstate="print"/>
          <a:stretch>
            <a:fillRect/>
          </a:stretch>
        </p:blipFill>
        <p:spPr>
          <a:xfrm>
            <a:off x="6584748" y="4960089"/>
            <a:ext cx="117475" cy="101600"/>
          </a:xfrm>
          <a:prstGeom prst="rect">
            <a:avLst/>
          </a:prstGeom>
        </p:spPr>
      </p:pic>
      <p:grpSp>
        <p:nvGrpSpPr>
          <p:cNvPr id="41" name="object 41"/>
          <p:cNvGrpSpPr/>
          <p:nvPr/>
        </p:nvGrpSpPr>
        <p:grpSpPr>
          <a:xfrm>
            <a:off x="6778819" y="4728310"/>
            <a:ext cx="1429925" cy="662836"/>
            <a:chOff x="6438899" y="3162296"/>
            <a:chExt cx="1095375" cy="571500"/>
          </a:xfrm>
        </p:grpSpPr>
        <p:sp>
          <p:nvSpPr>
            <p:cNvPr id="42" name="object 42"/>
            <p:cNvSpPr/>
            <p:nvPr/>
          </p:nvSpPr>
          <p:spPr>
            <a:xfrm>
              <a:off x="6443662" y="3167058"/>
              <a:ext cx="1085850" cy="561975"/>
            </a:xfrm>
            <a:custGeom>
              <a:avLst/>
              <a:gdLst/>
              <a:ahLst/>
              <a:cxnLst/>
              <a:rect l="l" t="t" r="r" b="b"/>
              <a:pathLst>
                <a:path w="1085850" h="561975">
                  <a:moveTo>
                    <a:pt x="1036901" y="561965"/>
                  </a:moveTo>
                  <a:lnTo>
                    <a:pt x="48947" y="561965"/>
                  </a:lnTo>
                  <a:lnTo>
                    <a:pt x="45540" y="561631"/>
                  </a:lnTo>
                  <a:lnTo>
                    <a:pt x="10738" y="541539"/>
                  </a:lnTo>
                  <a:lnTo>
                    <a:pt x="0" y="513020"/>
                  </a:lnTo>
                  <a:lnTo>
                    <a:pt x="0" y="509587"/>
                  </a:lnTo>
                  <a:lnTo>
                    <a:pt x="0" y="48954"/>
                  </a:lnTo>
                  <a:lnTo>
                    <a:pt x="17775" y="12911"/>
                  </a:lnTo>
                  <a:lnTo>
                    <a:pt x="48947" y="0"/>
                  </a:lnTo>
                  <a:lnTo>
                    <a:pt x="1036901" y="0"/>
                  </a:lnTo>
                  <a:lnTo>
                    <a:pt x="1072937" y="17766"/>
                  </a:lnTo>
                  <a:lnTo>
                    <a:pt x="1085849" y="48954"/>
                  </a:lnTo>
                  <a:lnTo>
                    <a:pt x="1085849" y="513020"/>
                  </a:lnTo>
                  <a:lnTo>
                    <a:pt x="1068073" y="549045"/>
                  </a:lnTo>
                  <a:lnTo>
                    <a:pt x="1040307" y="561631"/>
                  </a:lnTo>
                  <a:lnTo>
                    <a:pt x="1036901" y="561965"/>
                  </a:lnTo>
                  <a:close/>
                </a:path>
              </a:pathLst>
            </a:custGeom>
            <a:solidFill>
              <a:srgbClr val="F7F9FA"/>
            </a:solidFill>
          </p:spPr>
          <p:txBody>
            <a:bodyPr wrap="square" lIns="0" tIns="0" rIns="0" bIns="0" rtlCol="0"/>
            <a:lstStyle/>
            <a:p>
              <a:endParaRPr sz="3200"/>
            </a:p>
          </p:txBody>
        </p:sp>
        <p:sp>
          <p:nvSpPr>
            <p:cNvPr id="43" name="object 43"/>
            <p:cNvSpPr/>
            <p:nvPr/>
          </p:nvSpPr>
          <p:spPr>
            <a:xfrm>
              <a:off x="6443662" y="3167058"/>
              <a:ext cx="1085850" cy="561975"/>
            </a:xfrm>
            <a:custGeom>
              <a:avLst/>
              <a:gdLst/>
              <a:ahLst/>
              <a:cxnLst/>
              <a:rect l="l" t="t" r="r" b="b"/>
              <a:pathLst>
                <a:path w="1085850" h="561975">
                  <a:moveTo>
                    <a:pt x="0" y="509587"/>
                  </a:moveTo>
                  <a:lnTo>
                    <a:pt x="0" y="52387"/>
                  </a:lnTo>
                  <a:lnTo>
                    <a:pt x="0" y="48954"/>
                  </a:lnTo>
                  <a:lnTo>
                    <a:pt x="335" y="45541"/>
                  </a:lnTo>
                  <a:lnTo>
                    <a:pt x="1005" y="42155"/>
                  </a:lnTo>
                  <a:lnTo>
                    <a:pt x="1676" y="38779"/>
                  </a:lnTo>
                  <a:lnTo>
                    <a:pt x="2670" y="35504"/>
                  </a:lnTo>
                  <a:lnTo>
                    <a:pt x="3986" y="32324"/>
                  </a:lnTo>
                  <a:lnTo>
                    <a:pt x="5302" y="29142"/>
                  </a:lnTo>
                  <a:lnTo>
                    <a:pt x="15343" y="15339"/>
                  </a:lnTo>
                  <a:lnTo>
                    <a:pt x="17775" y="12911"/>
                  </a:lnTo>
                  <a:lnTo>
                    <a:pt x="42166" y="1004"/>
                  </a:lnTo>
                  <a:lnTo>
                    <a:pt x="45540" y="335"/>
                  </a:lnTo>
                  <a:lnTo>
                    <a:pt x="48947" y="0"/>
                  </a:lnTo>
                  <a:lnTo>
                    <a:pt x="52387" y="0"/>
                  </a:lnTo>
                  <a:lnTo>
                    <a:pt x="1033462" y="0"/>
                  </a:lnTo>
                  <a:lnTo>
                    <a:pt x="1036901" y="0"/>
                  </a:lnTo>
                  <a:lnTo>
                    <a:pt x="1040307" y="335"/>
                  </a:lnTo>
                  <a:lnTo>
                    <a:pt x="1043681" y="1004"/>
                  </a:lnTo>
                  <a:lnTo>
                    <a:pt x="1047055" y="1664"/>
                  </a:lnTo>
                  <a:lnTo>
                    <a:pt x="1070505" y="15339"/>
                  </a:lnTo>
                  <a:lnTo>
                    <a:pt x="1072937" y="17766"/>
                  </a:lnTo>
                  <a:lnTo>
                    <a:pt x="1075109" y="20408"/>
                  </a:lnTo>
                  <a:lnTo>
                    <a:pt x="1077020" y="23273"/>
                  </a:lnTo>
                  <a:lnTo>
                    <a:pt x="1078931" y="26128"/>
                  </a:lnTo>
                  <a:lnTo>
                    <a:pt x="1080544" y="29142"/>
                  </a:lnTo>
                  <a:lnTo>
                    <a:pt x="1081861" y="32324"/>
                  </a:lnTo>
                  <a:lnTo>
                    <a:pt x="1083177" y="35504"/>
                  </a:lnTo>
                  <a:lnTo>
                    <a:pt x="1085849" y="52387"/>
                  </a:lnTo>
                  <a:lnTo>
                    <a:pt x="1085849" y="509587"/>
                  </a:lnTo>
                  <a:lnTo>
                    <a:pt x="1077020" y="538673"/>
                  </a:lnTo>
                  <a:lnTo>
                    <a:pt x="1075109" y="541539"/>
                  </a:lnTo>
                  <a:lnTo>
                    <a:pt x="1072937" y="544189"/>
                  </a:lnTo>
                  <a:lnTo>
                    <a:pt x="1070505" y="546617"/>
                  </a:lnTo>
                  <a:lnTo>
                    <a:pt x="1068073" y="549045"/>
                  </a:lnTo>
                  <a:lnTo>
                    <a:pt x="1033462" y="561974"/>
                  </a:lnTo>
                  <a:lnTo>
                    <a:pt x="52387" y="561974"/>
                  </a:lnTo>
                  <a:lnTo>
                    <a:pt x="32338" y="557975"/>
                  </a:lnTo>
                  <a:lnTo>
                    <a:pt x="29159" y="556654"/>
                  </a:lnTo>
                  <a:lnTo>
                    <a:pt x="15343" y="546617"/>
                  </a:lnTo>
                  <a:lnTo>
                    <a:pt x="12910" y="544189"/>
                  </a:lnTo>
                  <a:lnTo>
                    <a:pt x="10738" y="541539"/>
                  </a:lnTo>
                  <a:lnTo>
                    <a:pt x="8827" y="538673"/>
                  </a:lnTo>
                  <a:lnTo>
                    <a:pt x="6916" y="535818"/>
                  </a:lnTo>
                  <a:lnTo>
                    <a:pt x="5302" y="532804"/>
                  </a:lnTo>
                  <a:lnTo>
                    <a:pt x="3986" y="529623"/>
                  </a:lnTo>
                  <a:lnTo>
                    <a:pt x="2670" y="526441"/>
                  </a:lnTo>
                  <a:lnTo>
                    <a:pt x="1676" y="523168"/>
                  </a:lnTo>
                  <a:lnTo>
                    <a:pt x="1005" y="519801"/>
                  </a:lnTo>
                  <a:lnTo>
                    <a:pt x="335" y="516424"/>
                  </a:lnTo>
                  <a:lnTo>
                    <a:pt x="0" y="513020"/>
                  </a:lnTo>
                  <a:lnTo>
                    <a:pt x="0" y="509587"/>
                  </a:lnTo>
                  <a:close/>
                </a:path>
              </a:pathLst>
            </a:custGeom>
            <a:ln w="9524">
              <a:solidFill>
                <a:srgbClr val="EDEDED"/>
              </a:solidFill>
            </a:ln>
          </p:spPr>
          <p:txBody>
            <a:bodyPr wrap="square" lIns="0" tIns="0" rIns="0" bIns="0" rtlCol="0"/>
            <a:lstStyle/>
            <a:p>
              <a:endParaRPr sz="3200"/>
            </a:p>
          </p:txBody>
        </p:sp>
        <p:pic>
          <p:nvPicPr>
            <p:cNvPr id="44" name="object 44"/>
            <p:cNvPicPr/>
            <p:nvPr/>
          </p:nvPicPr>
          <p:blipFill>
            <a:blip r:embed="rId15" cstate="print"/>
            <a:stretch>
              <a:fillRect/>
            </a:stretch>
          </p:blipFill>
          <p:spPr>
            <a:xfrm>
              <a:off x="6877942" y="3257549"/>
              <a:ext cx="215900" cy="174625"/>
            </a:xfrm>
            <a:prstGeom prst="rect">
              <a:avLst/>
            </a:prstGeom>
          </p:spPr>
        </p:pic>
      </p:grpSp>
      <p:sp>
        <p:nvSpPr>
          <p:cNvPr id="45" name="object 45"/>
          <p:cNvSpPr txBox="1"/>
          <p:nvPr/>
        </p:nvSpPr>
        <p:spPr>
          <a:xfrm>
            <a:off x="6917329" y="5027500"/>
            <a:ext cx="1228329" cy="200055"/>
          </a:xfrm>
          <a:prstGeom prst="rect">
            <a:avLst/>
          </a:prstGeom>
        </p:spPr>
        <p:txBody>
          <a:bodyPr vert="horz" wrap="square" lIns="0" tIns="15240" rIns="0" bIns="0" rtlCol="0">
            <a:spAutoFit/>
          </a:bodyPr>
          <a:lstStyle/>
          <a:p>
            <a:pPr marL="12700">
              <a:lnSpc>
                <a:spcPct val="100000"/>
              </a:lnSpc>
              <a:spcBef>
                <a:spcPts val="120"/>
              </a:spcBef>
            </a:pPr>
            <a:r>
              <a:rPr sz="1200" spc="-20" dirty="0">
                <a:solidFill>
                  <a:srgbClr val="333333"/>
                </a:solidFill>
                <a:latin typeface="Microsoft Sans Serif"/>
                <a:cs typeface="Microsoft Sans Serif"/>
              </a:rPr>
              <a:t>Flight</a:t>
            </a:r>
            <a:r>
              <a:rPr sz="1200" dirty="0">
                <a:solidFill>
                  <a:srgbClr val="333333"/>
                </a:solidFill>
                <a:latin typeface="Microsoft Sans Serif"/>
                <a:cs typeface="Microsoft Sans Serif"/>
              </a:rPr>
              <a:t> </a:t>
            </a:r>
            <a:r>
              <a:rPr sz="1200" spc="-10" dirty="0">
                <a:solidFill>
                  <a:srgbClr val="333333"/>
                </a:solidFill>
                <a:latin typeface="Microsoft Sans Serif"/>
                <a:cs typeface="Microsoft Sans Serif"/>
              </a:rPr>
              <a:t>Controller</a:t>
            </a:r>
            <a:endParaRPr sz="1200" dirty="0">
              <a:latin typeface="Microsoft Sans Serif"/>
              <a:cs typeface="Microsoft Sans Serif"/>
            </a:endParaRPr>
          </a:p>
        </p:txBody>
      </p:sp>
      <p:sp>
        <p:nvSpPr>
          <p:cNvPr id="46" name="object 46"/>
          <p:cNvSpPr/>
          <p:nvPr/>
        </p:nvSpPr>
        <p:spPr>
          <a:xfrm>
            <a:off x="1076324" y="6515096"/>
            <a:ext cx="8543925" cy="9525"/>
          </a:xfrm>
          <a:custGeom>
            <a:avLst/>
            <a:gdLst/>
            <a:ahLst/>
            <a:cxnLst/>
            <a:rect l="l" t="t" r="r" b="b"/>
            <a:pathLst>
              <a:path w="8543925" h="9525">
                <a:moveTo>
                  <a:pt x="8543924" y="9524"/>
                </a:moveTo>
                <a:lnTo>
                  <a:pt x="0" y="9524"/>
                </a:lnTo>
                <a:lnTo>
                  <a:pt x="0" y="0"/>
                </a:lnTo>
                <a:lnTo>
                  <a:pt x="8543924" y="0"/>
                </a:lnTo>
                <a:lnTo>
                  <a:pt x="8543924" y="9524"/>
                </a:lnTo>
                <a:close/>
              </a:path>
            </a:pathLst>
          </a:custGeom>
          <a:solidFill>
            <a:srgbClr val="EDEDED"/>
          </a:solidFill>
        </p:spPr>
        <p:txBody>
          <a:bodyPr wrap="square" lIns="0" tIns="0" rIns="0" bIns="0" rtlCol="0"/>
          <a:lstStyle/>
          <a:p>
            <a:endParaRPr/>
          </a:p>
        </p:txBody>
      </p:sp>
      <p:sp>
        <p:nvSpPr>
          <p:cNvPr id="47" name="object 47"/>
          <p:cNvSpPr txBox="1"/>
          <p:nvPr/>
        </p:nvSpPr>
        <p:spPr>
          <a:xfrm>
            <a:off x="1067196" y="6601817"/>
            <a:ext cx="1574800" cy="158115"/>
          </a:xfrm>
          <a:prstGeom prst="rect">
            <a:avLst/>
          </a:prstGeom>
        </p:spPr>
        <p:txBody>
          <a:bodyPr vert="horz" wrap="square" lIns="0" tIns="14604" rIns="0" bIns="0" rtlCol="0">
            <a:spAutoFit/>
          </a:bodyPr>
          <a:lstStyle/>
          <a:p>
            <a:pPr marL="12700">
              <a:lnSpc>
                <a:spcPct val="100000"/>
              </a:lnSpc>
              <a:spcBef>
                <a:spcPts val="114"/>
              </a:spcBef>
            </a:pPr>
            <a:r>
              <a:rPr sz="800" spc="-20" dirty="0">
                <a:solidFill>
                  <a:srgbClr val="878787"/>
                </a:solidFill>
                <a:latin typeface="Microsoft Sans Serif"/>
                <a:cs typeface="Microsoft Sans Serif"/>
              </a:rPr>
              <a:t>GoldenEye </a:t>
            </a:r>
            <a:r>
              <a:rPr sz="850" spc="-45" dirty="0">
                <a:solidFill>
                  <a:srgbClr val="878787"/>
                </a:solidFill>
                <a:latin typeface="Verdana"/>
                <a:cs typeface="Verdana"/>
              </a:rPr>
              <a:t>-</a:t>
            </a:r>
            <a:r>
              <a:rPr sz="850" spc="-90" dirty="0">
                <a:solidFill>
                  <a:srgbClr val="878787"/>
                </a:solidFill>
                <a:latin typeface="Verdana"/>
                <a:cs typeface="Verdana"/>
              </a:rPr>
              <a:t> </a:t>
            </a:r>
            <a:r>
              <a:rPr sz="800" dirty="0">
                <a:solidFill>
                  <a:srgbClr val="878787"/>
                </a:solidFill>
                <a:latin typeface="Microsoft Sans Serif"/>
                <a:cs typeface="Microsoft Sans Serif"/>
              </a:rPr>
              <a:t>AI</a:t>
            </a:r>
            <a:r>
              <a:rPr sz="800" spc="-10" dirty="0">
                <a:solidFill>
                  <a:srgbClr val="878787"/>
                </a:solidFill>
                <a:latin typeface="Microsoft Sans Serif"/>
                <a:cs typeface="Microsoft Sans Serif"/>
              </a:rPr>
              <a:t> </a:t>
            </a:r>
            <a:r>
              <a:rPr sz="800" spc="-55" dirty="0">
                <a:solidFill>
                  <a:srgbClr val="878787"/>
                </a:solidFill>
                <a:latin typeface="Microsoft Sans Serif"/>
                <a:cs typeface="Microsoft Sans Serif"/>
              </a:rPr>
              <a:t>SAR</a:t>
            </a:r>
            <a:r>
              <a:rPr sz="800" spc="-5" dirty="0">
                <a:solidFill>
                  <a:srgbClr val="878787"/>
                </a:solidFill>
                <a:latin typeface="Microsoft Sans Serif"/>
                <a:cs typeface="Microsoft Sans Serif"/>
              </a:rPr>
              <a:t> </a:t>
            </a:r>
            <a:r>
              <a:rPr sz="800" dirty="0">
                <a:solidFill>
                  <a:srgbClr val="878787"/>
                </a:solidFill>
                <a:latin typeface="Microsoft Sans Serif"/>
                <a:cs typeface="Microsoft Sans Serif"/>
              </a:rPr>
              <a:t>Drone</a:t>
            </a:r>
            <a:r>
              <a:rPr sz="800" spc="-10" dirty="0">
                <a:solidFill>
                  <a:srgbClr val="878787"/>
                </a:solidFill>
                <a:latin typeface="Microsoft Sans Serif"/>
                <a:cs typeface="Microsoft Sans Serif"/>
              </a:rPr>
              <a:t> System</a:t>
            </a:r>
            <a:endParaRPr sz="800">
              <a:latin typeface="Microsoft Sans Serif"/>
              <a:cs typeface="Microsoft Sans Serif"/>
            </a:endParaRPr>
          </a:p>
        </p:txBody>
      </p:sp>
      <p:pic>
        <p:nvPicPr>
          <p:cNvPr id="48" name="object 48"/>
          <p:cNvPicPr/>
          <p:nvPr/>
        </p:nvPicPr>
        <p:blipFill>
          <a:blip r:embed="rId16" cstate="print"/>
          <a:stretch>
            <a:fillRect/>
          </a:stretch>
        </p:blipFill>
        <p:spPr>
          <a:xfrm>
            <a:off x="9410699" y="6619871"/>
            <a:ext cx="209549" cy="209540"/>
          </a:xfrm>
          <a:prstGeom prst="rect">
            <a:avLst/>
          </a:prstGeom>
        </p:spPr>
      </p:pic>
      <p:sp>
        <p:nvSpPr>
          <p:cNvPr id="49" name="object 49"/>
          <p:cNvSpPr txBox="1"/>
          <p:nvPr/>
        </p:nvSpPr>
        <p:spPr>
          <a:xfrm>
            <a:off x="9448750" y="6645350"/>
            <a:ext cx="126364" cy="151130"/>
          </a:xfrm>
          <a:prstGeom prst="rect">
            <a:avLst/>
          </a:prstGeom>
        </p:spPr>
        <p:txBody>
          <a:bodyPr vert="horz" wrap="square" lIns="0" tIns="15875" rIns="0" bIns="0" rtlCol="0">
            <a:spAutoFit/>
          </a:bodyPr>
          <a:lstStyle/>
          <a:p>
            <a:pPr marL="12700">
              <a:lnSpc>
                <a:spcPct val="100000"/>
              </a:lnSpc>
              <a:spcBef>
                <a:spcPts val="125"/>
              </a:spcBef>
            </a:pPr>
            <a:r>
              <a:rPr sz="800" b="1" spc="-35" dirty="0">
                <a:solidFill>
                  <a:srgbClr val="FFFFFF"/>
                </a:solidFill>
                <a:latin typeface="Arial"/>
                <a:cs typeface="Arial"/>
              </a:rPr>
              <a:t>13</a:t>
            </a:r>
            <a:endParaRPr sz="800">
              <a:latin typeface="Arial"/>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8" name="object 2">
            <a:extLst>
              <a:ext uri="{FF2B5EF4-FFF2-40B4-BE49-F238E27FC236}">
                <a16:creationId xmlns:a16="http://schemas.microsoft.com/office/drawing/2014/main" id="{76E3CAEC-8043-62B7-47DD-988855720F77}"/>
              </a:ext>
            </a:extLst>
          </p:cNvPr>
          <p:cNvSpPr/>
          <p:nvPr/>
        </p:nvSpPr>
        <p:spPr>
          <a:xfrm>
            <a:off x="1076324" y="1285871"/>
            <a:ext cx="8543925" cy="28575"/>
          </a:xfrm>
          <a:custGeom>
            <a:avLst/>
            <a:gdLst/>
            <a:ahLst/>
            <a:cxnLst/>
            <a:rect l="l" t="t" r="r" b="b"/>
            <a:pathLst>
              <a:path w="8543925" h="28575">
                <a:moveTo>
                  <a:pt x="8543924" y="28574"/>
                </a:moveTo>
                <a:lnTo>
                  <a:pt x="0" y="28574"/>
                </a:lnTo>
                <a:lnTo>
                  <a:pt x="0" y="0"/>
                </a:lnTo>
                <a:lnTo>
                  <a:pt x="8543924" y="0"/>
                </a:lnTo>
                <a:lnTo>
                  <a:pt x="8543924" y="28574"/>
                </a:lnTo>
                <a:close/>
              </a:path>
            </a:pathLst>
          </a:custGeom>
          <a:solidFill>
            <a:srgbClr val="BF382A"/>
          </a:solidFill>
        </p:spPr>
        <p:txBody>
          <a:bodyPr wrap="square" lIns="0" tIns="0" rIns="0" bIns="0" rtlCol="0"/>
          <a:lstStyle/>
          <a:p>
            <a:endParaRPr/>
          </a:p>
        </p:txBody>
      </p:sp>
      <p:pic>
        <p:nvPicPr>
          <p:cNvPr id="79" name="object 3">
            <a:extLst>
              <a:ext uri="{FF2B5EF4-FFF2-40B4-BE49-F238E27FC236}">
                <a16:creationId xmlns:a16="http://schemas.microsoft.com/office/drawing/2014/main" id="{3F044FCC-B8BE-D39E-984B-A66EF1449C92}"/>
              </a:ext>
            </a:extLst>
          </p:cNvPr>
          <p:cNvPicPr/>
          <p:nvPr/>
        </p:nvPicPr>
        <p:blipFill>
          <a:blip r:embed="rId3" cstate="print"/>
          <a:stretch>
            <a:fillRect/>
          </a:stretch>
        </p:blipFill>
        <p:spPr>
          <a:xfrm>
            <a:off x="1079896" y="946150"/>
            <a:ext cx="263525" cy="215900"/>
          </a:xfrm>
          <a:prstGeom prst="rect">
            <a:avLst/>
          </a:prstGeom>
        </p:spPr>
      </p:pic>
      <p:sp>
        <p:nvSpPr>
          <p:cNvPr id="80" name="object 4">
            <a:extLst>
              <a:ext uri="{FF2B5EF4-FFF2-40B4-BE49-F238E27FC236}">
                <a16:creationId xmlns:a16="http://schemas.microsoft.com/office/drawing/2014/main" id="{91BDEBD8-581B-87BA-0FB1-CD48562EE493}"/>
              </a:ext>
            </a:extLst>
          </p:cNvPr>
          <p:cNvSpPr txBox="1">
            <a:spLocks/>
          </p:cNvSpPr>
          <p:nvPr/>
        </p:nvSpPr>
        <p:spPr>
          <a:xfrm>
            <a:off x="1424384" y="883762"/>
            <a:ext cx="3909695" cy="298450"/>
          </a:xfrm>
          <a:prstGeom prst="rect">
            <a:avLst/>
          </a:prstGeom>
        </p:spPr>
        <p:txBody>
          <a:bodyPr vert="horz" wrap="square" lIns="0" tIns="11430" rIns="0" bIns="0" rtlCol="0">
            <a:spAutoFit/>
          </a:bodyPr>
          <a:lstStyle>
            <a:lvl1pPr>
              <a:defRPr sz="6600" b="1" i="0">
                <a:solidFill>
                  <a:schemeClr val="bg1"/>
                </a:solidFill>
                <a:latin typeface="Arial"/>
                <a:ea typeface="+mj-ea"/>
                <a:cs typeface="Arial"/>
              </a:defRPr>
            </a:lvl1pPr>
          </a:lstStyle>
          <a:p>
            <a:pPr marL="12700">
              <a:spcBef>
                <a:spcPts val="90"/>
              </a:spcBef>
            </a:pPr>
            <a:r>
              <a:rPr lang="en-US" sz="1800" spc="-80" dirty="0">
                <a:solidFill>
                  <a:srgbClr val="BF382A"/>
                </a:solidFill>
              </a:rPr>
              <a:t>Software</a:t>
            </a:r>
            <a:r>
              <a:rPr lang="en-US" sz="1800" spc="-175" dirty="0">
                <a:solidFill>
                  <a:srgbClr val="BF382A"/>
                </a:solidFill>
              </a:rPr>
              <a:t> </a:t>
            </a:r>
            <a:r>
              <a:rPr lang="en-US" sz="1800" spc="-100" dirty="0">
                <a:solidFill>
                  <a:srgbClr val="BF382A"/>
                </a:solidFill>
              </a:rPr>
              <a:t>Architecture:</a:t>
            </a:r>
            <a:r>
              <a:rPr lang="en-US" sz="1800" spc="-145" dirty="0">
                <a:solidFill>
                  <a:srgbClr val="BF382A"/>
                </a:solidFill>
              </a:rPr>
              <a:t> </a:t>
            </a:r>
            <a:r>
              <a:rPr lang="en-US" sz="1800" spc="-65" dirty="0">
                <a:solidFill>
                  <a:srgbClr val="BF382A"/>
                </a:solidFill>
              </a:rPr>
              <a:t>Three-</a:t>
            </a:r>
            <a:r>
              <a:rPr lang="en-US" sz="1800" spc="-55" dirty="0">
                <a:solidFill>
                  <a:srgbClr val="BF382A"/>
                </a:solidFill>
              </a:rPr>
              <a:t>Tier</a:t>
            </a:r>
            <a:r>
              <a:rPr lang="en-US" sz="1800" spc="-120" dirty="0">
                <a:solidFill>
                  <a:srgbClr val="BF382A"/>
                </a:solidFill>
              </a:rPr>
              <a:t> </a:t>
            </a:r>
            <a:r>
              <a:rPr lang="en-US" sz="1800" spc="-65" dirty="0">
                <a:solidFill>
                  <a:srgbClr val="BF382A"/>
                </a:solidFill>
              </a:rPr>
              <a:t>Stack</a:t>
            </a:r>
            <a:endParaRPr lang="en-US" sz="1800" dirty="0"/>
          </a:p>
        </p:txBody>
      </p:sp>
      <p:sp>
        <p:nvSpPr>
          <p:cNvPr id="81" name="object 5">
            <a:extLst>
              <a:ext uri="{FF2B5EF4-FFF2-40B4-BE49-F238E27FC236}">
                <a16:creationId xmlns:a16="http://schemas.microsoft.com/office/drawing/2014/main" id="{48B330BA-EB59-A37E-11D7-68BBC9CF68BD}"/>
              </a:ext>
            </a:extLst>
          </p:cNvPr>
          <p:cNvSpPr/>
          <p:nvPr/>
        </p:nvSpPr>
        <p:spPr>
          <a:xfrm>
            <a:off x="1076324" y="6515096"/>
            <a:ext cx="8543925" cy="9525"/>
          </a:xfrm>
          <a:custGeom>
            <a:avLst/>
            <a:gdLst/>
            <a:ahLst/>
            <a:cxnLst/>
            <a:rect l="l" t="t" r="r" b="b"/>
            <a:pathLst>
              <a:path w="8543925" h="9525">
                <a:moveTo>
                  <a:pt x="8543924" y="9524"/>
                </a:moveTo>
                <a:lnTo>
                  <a:pt x="0" y="9524"/>
                </a:lnTo>
                <a:lnTo>
                  <a:pt x="0" y="0"/>
                </a:lnTo>
                <a:lnTo>
                  <a:pt x="8543924" y="0"/>
                </a:lnTo>
                <a:lnTo>
                  <a:pt x="8543924" y="9524"/>
                </a:lnTo>
                <a:close/>
              </a:path>
            </a:pathLst>
          </a:custGeom>
          <a:solidFill>
            <a:srgbClr val="EDEDED"/>
          </a:solidFill>
        </p:spPr>
        <p:txBody>
          <a:bodyPr wrap="square" lIns="0" tIns="0" rIns="0" bIns="0" rtlCol="0"/>
          <a:lstStyle/>
          <a:p>
            <a:endParaRPr/>
          </a:p>
        </p:txBody>
      </p:sp>
      <p:sp>
        <p:nvSpPr>
          <p:cNvPr id="82" name="object 6">
            <a:extLst>
              <a:ext uri="{FF2B5EF4-FFF2-40B4-BE49-F238E27FC236}">
                <a16:creationId xmlns:a16="http://schemas.microsoft.com/office/drawing/2014/main" id="{A82DB8A0-5D70-04A6-77A6-9103FEEA918D}"/>
              </a:ext>
            </a:extLst>
          </p:cNvPr>
          <p:cNvSpPr txBox="1"/>
          <p:nvPr/>
        </p:nvSpPr>
        <p:spPr>
          <a:xfrm>
            <a:off x="1067196" y="6601817"/>
            <a:ext cx="1574800" cy="158115"/>
          </a:xfrm>
          <a:prstGeom prst="rect">
            <a:avLst/>
          </a:prstGeom>
        </p:spPr>
        <p:txBody>
          <a:bodyPr vert="horz" wrap="square" lIns="0" tIns="14604" rIns="0" bIns="0" rtlCol="0">
            <a:spAutoFit/>
          </a:bodyPr>
          <a:lstStyle/>
          <a:p>
            <a:pPr marL="12700">
              <a:lnSpc>
                <a:spcPct val="100000"/>
              </a:lnSpc>
              <a:spcBef>
                <a:spcPts val="114"/>
              </a:spcBef>
            </a:pPr>
            <a:r>
              <a:rPr sz="800" spc="-20" dirty="0">
                <a:solidFill>
                  <a:srgbClr val="878787"/>
                </a:solidFill>
                <a:latin typeface="Microsoft Sans Serif"/>
                <a:cs typeface="Microsoft Sans Serif"/>
              </a:rPr>
              <a:t>GoldenEye </a:t>
            </a:r>
            <a:r>
              <a:rPr sz="850" spc="-45" dirty="0">
                <a:solidFill>
                  <a:srgbClr val="878787"/>
                </a:solidFill>
                <a:latin typeface="Verdana"/>
                <a:cs typeface="Verdana"/>
              </a:rPr>
              <a:t>-</a:t>
            </a:r>
            <a:r>
              <a:rPr sz="850" spc="-90" dirty="0">
                <a:solidFill>
                  <a:srgbClr val="878787"/>
                </a:solidFill>
                <a:latin typeface="Verdana"/>
                <a:cs typeface="Verdana"/>
              </a:rPr>
              <a:t> </a:t>
            </a:r>
            <a:r>
              <a:rPr sz="800" dirty="0">
                <a:solidFill>
                  <a:srgbClr val="878787"/>
                </a:solidFill>
                <a:latin typeface="Microsoft Sans Serif"/>
                <a:cs typeface="Microsoft Sans Serif"/>
              </a:rPr>
              <a:t>AI</a:t>
            </a:r>
            <a:r>
              <a:rPr sz="800" spc="-10" dirty="0">
                <a:solidFill>
                  <a:srgbClr val="878787"/>
                </a:solidFill>
                <a:latin typeface="Microsoft Sans Serif"/>
                <a:cs typeface="Microsoft Sans Serif"/>
              </a:rPr>
              <a:t> </a:t>
            </a:r>
            <a:r>
              <a:rPr sz="800" spc="-55" dirty="0">
                <a:solidFill>
                  <a:srgbClr val="878787"/>
                </a:solidFill>
                <a:latin typeface="Microsoft Sans Serif"/>
                <a:cs typeface="Microsoft Sans Serif"/>
              </a:rPr>
              <a:t>SAR</a:t>
            </a:r>
            <a:r>
              <a:rPr sz="800" spc="-5" dirty="0">
                <a:solidFill>
                  <a:srgbClr val="878787"/>
                </a:solidFill>
                <a:latin typeface="Microsoft Sans Serif"/>
                <a:cs typeface="Microsoft Sans Serif"/>
              </a:rPr>
              <a:t> </a:t>
            </a:r>
            <a:r>
              <a:rPr sz="800" dirty="0">
                <a:solidFill>
                  <a:srgbClr val="878787"/>
                </a:solidFill>
                <a:latin typeface="Microsoft Sans Serif"/>
                <a:cs typeface="Microsoft Sans Serif"/>
              </a:rPr>
              <a:t>Drone</a:t>
            </a:r>
            <a:r>
              <a:rPr sz="800" spc="-10" dirty="0">
                <a:solidFill>
                  <a:srgbClr val="878787"/>
                </a:solidFill>
                <a:latin typeface="Microsoft Sans Serif"/>
                <a:cs typeface="Microsoft Sans Serif"/>
              </a:rPr>
              <a:t> System</a:t>
            </a:r>
            <a:endParaRPr sz="800">
              <a:latin typeface="Microsoft Sans Serif"/>
              <a:cs typeface="Microsoft Sans Serif"/>
            </a:endParaRPr>
          </a:p>
        </p:txBody>
      </p:sp>
      <p:pic>
        <p:nvPicPr>
          <p:cNvPr id="83" name="object 7">
            <a:extLst>
              <a:ext uri="{FF2B5EF4-FFF2-40B4-BE49-F238E27FC236}">
                <a16:creationId xmlns:a16="http://schemas.microsoft.com/office/drawing/2014/main" id="{836E447B-137E-B6D3-D523-151770B93140}"/>
              </a:ext>
            </a:extLst>
          </p:cNvPr>
          <p:cNvPicPr/>
          <p:nvPr/>
        </p:nvPicPr>
        <p:blipFill>
          <a:blip r:embed="rId4" cstate="print"/>
          <a:stretch>
            <a:fillRect/>
          </a:stretch>
        </p:blipFill>
        <p:spPr>
          <a:xfrm>
            <a:off x="9410699" y="6619871"/>
            <a:ext cx="209549" cy="209540"/>
          </a:xfrm>
          <a:prstGeom prst="rect">
            <a:avLst/>
          </a:prstGeom>
        </p:spPr>
      </p:pic>
      <p:sp>
        <p:nvSpPr>
          <p:cNvPr id="84" name="object 8">
            <a:extLst>
              <a:ext uri="{FF2B5EF4-FFF2-40B4-BE49-F238E27FC236}">
                <a16:creationId xmlns:a16="http://schemas.microsoft.com/office/drawing/2014/main" id="{1AC545E3-56E9-F18E-CEA0-84EF7F9B87CF}"/>
              </a:ext>
            </a:extLst>
          </p:cNvPr>
          <p:cNvSpPr txBox="1"/>
          <p:nvPr/>
        </p:nvSpPr>
        <p:spPr>
          <a:xfrm>
            <a:off x="9447262" y="6645350"/>
            <a:ext cx="129539" cy="151130"/>
          </a:xfrm>
          <a:prstGeom prst="rect">
            <a:avLst/>
          </a:prstGeom>
        </p:spPr>
        <p:txBody>
          <a:bodyPr vert="horz" wrap="square" lIns="0" tIns="15875" rIns="0" bIns="0" rtlCol="0">
            <a:spAutoFit/>
          </a:bodyPr>
          <a:lstStyle/>
          <a:p>
            <a:pPr marL="12700">
              <a:lnSpc>
                <a:spcPct val="100000"/>
              </a:lnSpc>
              <a:spcBef>
                <a:spcPts val="125"/>
              </a:spcBef>
            </a:pPr>
            <a:r>
              <a:rPr sz="800" b="1" spc="-25" dirty="0">
                <a:solidFill>
                  <a:srgbClr val="FFFFFF"/>
                </a:solidFill>
                <a:latin typeface="Arial"/>
                <a:cs typeface="Arial"/>
              </a:rPr>
              <a:t>14</a:t>
            </a:r>
            <a:endParaRPr sz="800">
              <a:latin typeface="Arial"/>
              <a:cs typeface="Arial"/>
            </a:endParaRPr>
          </a:p>
        </p:txBody>
      </p:sp>
      <p:grpSp>
        <p:nvGrpSpPr>
          <p:cNvPr id="85" name="object 9">
            <a:extLst>
              <a:ext uri="{FF2B5EF4-FFF2-40B4-BE49-F238E27FC236}">
                <a16:creationId xmlns:a16="http://schemas.microsoft.com/office/drawing/2014/main" id="{5685E3C1-8FF1-71C4-436F-73E7976F345A}"/>
              </a:ext>
            </a:extLst>
          </p:cNvPr>
          <p:cNvGrpSpPr/>
          <p:nvPr/>
        </p:nvGrpSpPr>
        <p:grpSpPr>
          <a:xfrm>
            <a:off x="1104899" y="1485894"/>
            <a:ext cx="171450" cy="2352675"/>
            <a:chOff x="1104899" y="1485894"/>
            <a:chExt cx="171450" cy="2352675"/>
          </a:xfrm>
        </p:grpSpPr>
        <p:pic>
          <p:nvPicPr>
            <p:cNvPr id="86" name="object 10">
              <a:extLst>
                <a:ext uri="{FF2B5EF4-FFF2-40B4-BE49-F238E27FC236}">
                  <a16:creationId xmlns:a16="http://schemas.microsoft.com/office/drawing/2014/main" id="{B3008293-0938-7AB1-2ED7-BBFF17A7AA43}"/>
                </a:ext>
              </a:extLst>
            </p:cNvPr>
            <p:cNvPicPr/>
            <p:nvPr/>
          </p:nvPicPr>
          <p:blipFill>
            <a:blip r:embed="rId5" cstate="print"/>
            <a:stretch>
              <a:fillRect/>
            </a:stretch>
          </p:blipFill>
          <p:spPr>
            <a:xfrm>
              <a:off x="1123949" y="1504946"/>
              <a:ext cx="19049" cy="2333624"/>
            </a:xfrm>
            <a:prstGeom prst="rect">
              <a:avLst/>
            </a:prstGeom>
          </p:spPr>
        </p:pic>
        <p:pic>
          <p:nvPicPr>
            <p:cNvPr id="87" name="object 11">
              <a:extLst>
                <a:ext uri="{FF2B5EF4-FFF2-40B4-BE49-F238E27FC236}">
                  <a16:creationId xmlns:a16="http://schemas.microsoft.com/office/drawing/2014/main" id="{F71772EC-7C90-E19B-E781-DF6503851489}"/>
                </a:ext>
              </a:extLst>
            </p:cNvPr>
            <p:cNvPicPr/>
            <p:nvPr/>
          </p:nvPicPr>
          <p:blipFill>
            <a:blip r:embed="rId6" cstate="print"/>
            <a:stretch>
              <a:fillRect/>
            </a:stretch>
          </p:blipFill>
          <p:spPr>
            <a:xfrm>
              <a:off x="1104899" y="1485894"/>
              <a:ext cx="171450" cy="171440"/>
            </a:xfrm>
            <a:prstGeom prst="rect">
              <a:avLst/>
            </a:prstGeom>
          </p:spPr>
        </p:pic>
        <p:pic>
          <p:nvPicPr>
            <p:cNvPr id="88" name="object 12">
              <a:extLst>
                <a:ext uri="{FF2B5EF4-FFF2-40B4-BE49-F238E27FC236}">
                  <a16:creationId xmlns:a16="http://schemas.microsoft.com/office/drawing/2014/main" id="{7D8D2C26-DE74-CD28-9A4E-2308406C03AC}"/>
                </a:ext>
              </a:extLst>
            </p:cNvPr>
            <p:cNvPicPr/>
            <p:nvPr/>
          </p:nvPicPr>
          <p:blipFill>
            <a:blip r:embed="rId7" cstate="print"/>
            <a:stretch>
              <a:fillRect/>
            </a:stretch>
          </p:blipFill>
          <p:spPr>
            <a:xfrm>
              <a:off x="1104899" y="2333619"/>
              <a:ext cx="171450" cy="171440"/>
            </a:xfrm>
            <a:prstGeom prst="rect">
              <a:avLst/>
            </a:prstGeom>
          </p:spPr>
        </p:pic>
        <p:pic>
          <p:nvPicPr>
            <p:cNvPr id="89" name="object 13">
              <a:extLst>
                <a:ext uri="{FF2B5EF4-FFF2-40B4-BE49-F238E27FC236}">
                  <a16:creationId xmlns:a16="http://schemas.microsoft.com/office/drawing/2014/main" id="{679FFA1A-6378-2A64-4730-F6D4CDD8F48D}"/>
                </a:ext>
              </a:extLst>
            </p:cNvPr>
            <p:cNvPicPr/>
            <p:nvPr/>
          </p:nvPicPr>
          <p:blipFill>
            <a:blip r:embed="rId8" cstate="print"/>
            <a:stretch>
              <a:fillRect/>
            </a:stretch>
          </p:blipFill>
          <p:spPr>
            <a:xfrm>
              <a:off x="1104899" y="3181344"/>
              <a:ext cx="171450" cy="171449"/>
            </a:xfrm>
            <a:prstGeom prst="rect">
              <a:avLst/>
            </a:prstGeom>
          </p:spPr>
        </p:pic>
      </p:grpSp>
      <p:grpSp>
        <p:nvGrpSpPr>
          <p:cNvPr id="90" name="object 14">
            <a:extLst>
              <a:ext uri="{FF2B5EF4-FFF2-40B4-BE49-F238E27FC236}">
                <a16:creationId xmlns:a16="http://schemas.microsoft.com/office/drawing/2014/main" id="{36EAEF28-6FDB-A44E-B292-0620E1BA26E5}"/>
              </a:ext>
            </a:extLst>
          </p:cNvPr>
          <p:cNvGrpSpPr/>
          <p:nvPr/>
        </p:nvGrpSpPr>
        <p:grpSpPr>
          <a:xfrm>
            <a:off x="1399031" y="1694688"/>
            <a:ext cx="3432175" cy="317500"/>
            <a:chOff x="1399031" y="1694688"/>
            <a:chExt cx="3432175" cy="317500"/>
          </a:xfrm>
        </p:grpSpPr>
        <p:sp>
          <p:nvSpPr>
            <p:cNvPr id="91" name="object 15">
              <a:extLst>
                <a:ext uri="{FF2B5EF4-FFF2-40B4-BE49-F238E27FC236}">
                  <a16:creationId xmlns:a16="http://schemas.microsoft.com/office/drawing/2014/main" id="{91725297-823F-1D75-DD02-38A69629E55C}"/>
                </a:ext>
              </a:extLst>
            </p:cNvPr>
            <p:cNvSpPr/>
            <p:nvPr/>
          </p:nvSpPr>
          <p:spPr>
            <a:xfrm>
              <a:off x="1399031" y="1694688"/>
              <a:ext cx="1097280" cy="317500"/>
            </a:xfrm>
            <a:custGeom>
              <a:avLst/>
              <a:gdLst/>
              <a:ahLst/>
              <a:cxnLst/>
              <a:rect l="l" t="t" r="r" b="b"/>
              <a:pathLst>
                <a:path w="1097280" h="317500">
                  <a:moveTo>
                    <a:pt x="1097279" y="316991"/>
                  </a:moveTo>
                  <a:lnTo>
                    <a:pt x="0" y="316991"/>
                  </a:lnTo>
                  <a:lnTo>
                    <a:pt x="0" y="0"/>
                  </a:lnTo>
                  <a:lnTo>
                    <a:pt x="1097279" y="0"/>
                  </a:lnTo>
                  <a:lnTo>
                    <a:pt x="1097279" y="38861"/>
                  </a:lnTo>
                  <a:lnTo>
                    <a:pt x="86867" y="38861"/>
                  </a:lnTo>
                  <a:lnTo>
                    <a:pt x="79266" y="39559"/>
                  </a:lnTo>
                  <a:lnTo>
                    <a:pt x="49465" y="69360"/>
                  </a:lnTo>
                  <a:lnTo>
                    <a:pt x="48767" y="76961"/>
                  </a:lnTo>
                  <a:lnTo>
                    <a:pt x="48767" y="219836"/>
                  </a:lnTo>
                  <a:lnTo>
                    <a:pt x="72241" y="255147"/>
                  </a:lnTo>
                  <a:lnTo>
                    <a:pt x="86867" y="257936"/>
                  </a:lnTo>
                  <a:lnTo>
                    <a:pt x="1097279" y="257936"/>
                  </a:lnTo>
                  <a:lnTo>
                    <a:pt x="1097279" y="316991"/>
                  </a:lnTo>
                  <a:close/>
                </a:path>
                <a:path w="1097280" h="317500">
                  <a:moveTo>
                    <a:pt x="1097279" y="257936"/>
                  </a:moveTo>
                  <a:lnTo>
                    <a:pt x="1010792" y="257936"/>
                  </a:lnTo>
                  <a:lnTo>
                    <a:pt x="1018394" y="257239"/>
                  </a:lnTo>
                  <a:lnTo>
                    <a:pt x="1025418" y="255147"/>
                  </a:lnTo>
                  <a:lnTo>
                    <a:pt x="1048892" y="219836"/>
                  </a:lnTo>
                  <a:lnTo>
                    <a:pt x="1048892" y="76961"/>
                  </a:lnTo>
                  <a:lnTo>
                    <a:pt x="1025418" y="41651"/>
                  </a:lnTo>
                  <a:lnTo>
                    <a:pt x="1010792" y="38861"/>
                  </a:lnTo>
                  <a:lnTo>
                    <a:pt x="1097279" y="38861"/>
                  </a:lnTo>
                  <a:lnTo>
                    <a:pt x="1097279" y="257936"/>
                  </a:lnTo>
                  <a:close/>
                </a:path>
              </a:pathLst>
            </a:custGeom>
            <a:solidFill>
              <a:srgbClr val="000000">
                <a:alpha val="10198"/>
              </a:srgbClr>
            </a:solidFill>
          </p:spPr>
          <p:txBody>
            <a:bodyPr wrap="square" lIns="0" tIns="0" rIns="0" bIns="0" rtlCol="0"/>
            <a:lstStyle/>
            <a:p>
              <a:endParaRPr/>
            </a:p>
          </p:txBody>
        </p:sp>
        <p:sp>
          <p:nvSpPr>
            <p:cNvPr id="92" name="object 16">
              <a:extLst>
                <a:ext uri="{FF2B5EF4-FFF2-40B4-BE49-F238E27FC236}">
                  <a16:creationId xmlns:a16="http://schemas.microsoft.com/office/drawing/2014/main" id="{6A85C044-4F36-A57F-9B2D-7295B893EC16}"/>
                </a:ext>
              </a:extLst>
            </p:cNvPr>
            <p:cNvSpPr/>
            <p:nvPr/>
          </p:nvSpPr>
          <p:spPr>
            <a:xfrm>
              <a:off x="1438274" y="1724021"/>
              <a:ext cx="1019175" cy="238125"/>
            </a:xfrm>
            <a:custGeom>
              <a:avLst/>
              <a:gdLst/>
              <a:ahLst/>
              <a:cxnLst/>
              <a:rect l="l" t="t" r="r" b="b"/>
              <a:pathLst>
                <a:path w="1019175" h="238125">
                  <a:moveTo>
                    <a:pt x="977865" y="238115"/>
                  </a:moveTo>
                  <a:lnTo>
                    <a:pt x="41309" y="238115"/>
                  </a:lnTo>
                  <a:lnTo>
                    <a:pt x="35234" y="236906"/>
                  </a:lnTo>
                  <a:lnTo>
                    <a:pt x="1208" y="202880"/>
                  </a:lnTo>
                  <a:lnTo>
                    <a:pt x="0" y="196816"/>
                  </a:lnTo>
                  <a:lnTo>
                    <a:pt x="0" y="190499"/>
                  </a:lnTo>
                  <a:lnTo>
                    <a:pt x="0" y="41299"/>
                  </a:lnTo>
                  <a:lnTo>
                    <a:pt x="23565" y="6027"/>
                  </a:lnTo>
                  <a:lnTo>
                    <a:pt x="41309" y="0"/>
                  </a:lnTo>
                  <a:lnTo>
                    <a:pt x="977865" y="0"/>
                  </a:lnTo>
                  <a:lnTo>
                    <a:pt x="1013132" y="23552"/>
                  </a:lnTo>
                  <a:lnTo>
                    <a:pt x="1019174" y="41299"/>
                  </a:lnTo>
                  <a:lnTo>
                    <a:pt x="1019174" y="196816"/>
                  </a:lnTo>
                  <a:lnTo>
                    <a:pt x="995609" y="232069"/>
                  </a:lnTo>
                  <a:lnTo>
                    <a:pt x="983940" y="236906"/>
                  </a:lnTo>
                  <a:lnTo>
                    <a:pt x="977865" y="238115"/>
                  </a:lnTo>
                  <a:close/>
                </a:path>
              </a:pathLst>
            </a:custGeom>
            <a:solidFill>
              <a:srgbClr val="FFFFFF"/>
            </a:solidFill>
          </p:spPr>
          <p:txBody>
            <a:bodyPr wrap="square" lIns="0" tIns="0" rIns="0" bIns="0" rtlCol="0"/>
            <a:lstStyle/>
            <a:p>
              <a:endParaRPr/>
            </a:p>
          </p:txBody>
        </p:sp>
        <p:pic>
          <p:nvPicPr>
            <p:cNvPr id="93" name="object 17">
              <a:extLst>
                <a:ext uri="{FF2B5EF4-FFF2-40B4-BE49-F238E27FC236}">
                  <a16:creationId xmlns:a16="http://schemas.microsoft.com/office/drawing/2014/main" id="{AA8F8716-DB6D-6BC8-101C-177CDA0192CD}"/>
                </a:ext>
              </a:extLst>
            </p:cNvPr>
            <p:cNvPicPr/>
            <p:nvPr/>
          </p:nvPicPr>
          <p:blipFill>
            <a:blip r:embed="rId9" cstate="print"/>
            <a:stretch>
              <a:fillRect/>
            </a:stretch>
          </p:blipFill>
          <p:spPr>
            <a:xfrm>
              <a:off x="1533921" y="1797049"/>
              <a:ext cx="111125" cy="85725"/>
            </a:xfrm>
            <a:prstGeom prst="rect">
              <a:avLst/>
            </a:prstGeom>
          </p:spPr>
        </p:pic>
        <p:sp>
          <p:nvSpPr>
            <p:cNvPr id="94" name="object 18">
              <a:extLst>
                <a:ext uri="{FF2B5EF4-FFF2-40B4-BE49-F238E27FC236}">
                  <a16:creationId xmlns:a16="http://schemas.microsoft.com/office/drawing/2014/main" id="{FD428B8C-5772-E907-506E-CFA0BF0D56D6}"/>
                </a:ext>
              </a:extLst>
            </p:cNvPr>
            <p:cNvSpPr/>
            <p:nvPr/>
          </p:nvSpPr>
          <p:spPr>
            <a:xfrm>
              <a:off x="2474975" y="1694688"/>
              <a:ext cx="1106805" cy="317500"/>
            </a:xfrm>
            <a:custGeom>
              <a:avLst/>
              <a:gdLst/>
              <a:ahLst/>
              <a:cxnLst/>
              <a:rect l="l" t="t" r="r" b="b"/>
              <a:pathLst>
                <a:path w="1106804" h="317500">
                  <a:moveTo>
                    <a:pt x="1106423" y="316991"/>
                  </a:moveTo>
                  <a:lnTo>
                    <a:pt x="0" y="316991"/>
                  </a:lnTo>
                  <a:lnTo>
                    <a:pt x="0" y="0"/>
                  </a:lnTo>
                  <a:lnTo>
                    <a:pt x="1106423" y="0"/>
                  </a:lnTo>
                  <a:lnTo>
                    <a:pt x="1106423" y="38861"/>
                  </a:lnTo>
                  <a:lnTo>
                    <a:pt x="87248" y="38861"/>
                  </a:lnTo>
                  <a:lnTo>
                    <a:pt x="79647" y="39559"/>
                  </a:lnTo>
                  <a:lnTo>
                    <a:pt x="49846" y="69360"/>
                  </a:lnTo>
                  <a:lnTo>
                    <a:pt x="49148" y="76961"/>
                  </a:lnTo>
                  <a:lnTo>
                    <a:pt x="49148" y="219836"/>
                  </a:lnTo>
                  <a:lnTo>
                    <a:pt x="72622" y="255147"/>
                  </a:lnTo>
                  <a:lnTo>
                    <a:pt x="87248" y="257936"/>
                  </a:lnTo>
                  <a:lnTo>
                    <a:pt x="1106423" y="257936"/>
                  </a:lnTo>
                  <a:lnTo>
                    <a:pt x="1106423" y="316991"/>
                  </a:lnTo>
                  <a:close/>
                </a:path>
                <a:path w="1106804" h="317500">
                  <a:moveTo>
                    <a:pt x="1106423" y="257936"/>
                  </a:moveTo>
                  <a:lnTo>
                    <a:pt x="1020698" y="257936"/>
                  </a:lnTo>
                  <a:lnTo>
                    <a:pt x="1028300" y="257239"/>
                  </a:lnTo>
                  <a:lnTo>
                    <a:pt x="1035324" y="255147"/>
                  </a:lnTo>
                  <a:lnTo>
                    <a:pt x="1058798" y="219836"/>
                  </a:lnTo>
                  <a:lnTo>
                    <a:pt x="1058798" y="76961"/>
                  </a:lnTo>
                  <a:lnTo>
                    <a:pt x="1035324" y="41651"/>
                  </a:lnTo>
                  <a:lnTo>
                    <a:pt x="1020698" y="38861"/>
                  </a:lnTo>
                  <a:lnTo>
                    <a:pt x="1106423" y="38861"/>
                  </a:lnTo>
                  <a:lnTo>
                    <a:pt x="1106423" y="257936"/>
                  </a:lnTo>
                  <a:close/>
                </a:path>
              </a:pathLst>
            </a:custGeom>
            <a:solidFill>
              <a:srgbClr val="000000">
                <a:alpha val="10198"/>
              </a:srgbClr>
            </a:solidFill>
          </p:spPr>
          <p:txBody>
            <a:bodyPr wrap="square" lIns="0" tIns="0" rIns="0" bIns="0" rtlCol="0"/>
            <a:lstStyle/>
            <a:p>
              <a:endParaRPr/>
            </a:p>
          </p:txBody>
        </p:sp>
        <p:sp>
          <p:nvSpPr>
            <p:cNvPr id="95" name="object 19">
              <a:extLst>
                <a:ext uri="{FF2B5EF4-FFF2-40B4-BE49-F238E27FC236}">
                  <a16:creationId xmlns:a16="http://schemas.microsoft.com/office/drawing/2014/main" id="{254D8CD5-534A-F1E1-B572-A66D3399D6C5}"/>
                </a:ext>
              </a:extLst>
            </p:cNvPr>
            <p:cNvSpPr/>
            <p:nvPr/>
          </p:nvSpPr>
          <p:spPr>
            <a:xfrm>
              <a:off x="2514599" y="1724021"/>
              <a:ext cx="1028700" cy="238125"/>
            </a:xfrm>
            <a:custGeom>
              <a:avLst/>
              <a:gdLst/>
              <a:ahLst/>
              <a:cxnLst/>
              <a:rect l="l" t="t" r="r" b="b"/>
              <a:pathLst>
                <a:path w="1028700" h="238125">
                  <a:moveTo>
                    <a:pt x="987390" y="238115"/>
                  </a:moveTo>
                  <a:lnTo>
                    <a:pt x="41309" y="238115"/>
                  </a:lnTo>
                  <a:lnTo>
                    <a:pt x="35234" y="236906"/>
                  </a:lnTo>
                  <a:lnTo>
                    <a:pt x="1208" y="202880"/>
                  </a:lnTo>
                  <a:lnTo>
                    <a:pt x="0" y="196816"/>
                  </a:lnTo>
                  <a:lnTo>
                    <a:pt x="0" y="190499"/>
                  </a:lnTo>
                  <a:lnTo>
                    <a:pt x="0" y="41299"/>
                  </a:lnTo>
                  <a:lnTo>
                    <a:pt x="23564" y="6027"/>
                  </a:lnTo>
                  <a:lnTo>
                    <a:pt x="41309" y="0"/>
                  </a:lnTo>
                  <a:lnTo>
                    <a:pt x="987390" y="0"/>
                  </a:lnTo>
                  <a:lnTo>
                    <a:pt x="1022657" y="23552"/>
                  </a:lnTo>
                  <a:lnTo>
                    <a:pt x="1028699" y="41299"/>
                  </a:lnTo>
                  <a:lnTo>
                    <a:pt x="1028699" y="196816"/>
                  </a:lnTo>
                  <a:lnTo>
                    <a:pt x="1005134" y="232069"/>
                  </a:lnTo>
                  <a:lnTo>
                    <a:pt x="993465" y="236906"/>
                  </a:lnTo>
                  <a:lnTo>
                    <a:pt x="987390" y="238115"/>
                  </a:lnTo>
                  <a:close/>
                </a:path>
              </a:pathLst>
            </a:custGeom>
            <a:solidFill>
              <a:srgbClr val="FFFFFF"/>
            </a:solidFill>
          </p:spPr>
          <p:txBody>
            <a:bodyPr wrap="square" lIns="0" tIns="0" rIns="0" bIns="0" rtlCol="0"/>
            <a:lstStyle/>
            <a:p>
              <a:endParaRPr/>
            </a:p>
          </p:txBody>
        </p:sp>
        <p:pic>
          <p:nvPicPr>
            <p:cNvPr id="96" name="object 20">
              <a:extLst>
                <a:ext uri="{FF2B5EF4-FFF2-40B4-BE49-F238E27FC236}">
                  <a16:creationId xmlns:a16="http://schemas.microsoft.com/office/drawing/2014/main" id="{ABFAFCAF-ADDB-402A-619E-9B197F236C30}"/>
                </a:ext>
              </a:extLst>
            </p:cNvPr>
            <p:cNvPicPr/>
            <p:nvPr/>
          </p:nvPicPr>
          <p:blipFill>
            <a:blip r:embed="rId10" cstate="print"/>
            <a:stretch>
              <a:fillRect/>
            </a:stretch>
          </p:blipFill>
          <p:spPr>
            <a:xfrm>
              <a:off x="2616596" y="1790699"/>
              <a:ext cx="76200" cy="101600"/>
            </a:xfrm>
            <a:prstGeom prst="rect">
              <a:avLst/>
            </a:prstGeom>
          </p:spPr>
        </p:pic>
        <p:sp>
          <p:nvSpPr>
            <p:cNvPr id="97" name="object 21">
              <a:extLst>
                <a:ext uri="{FF2B5EF4-FFF2-40B4-BE49-F238E27FC236}">
                  <a16:creationId xmlns:a16="http://schemas.microsoft.com/office/drawing/2014/main" id="{EE60438A-2D2F-42B4-B2EE-F991462FCBE9}"/>
                </a:ext>
              </a:extLst>
            </p:cNvPr>
            <p:cNvSpPr/>
            <p:nvPr/>
          </p:nvSpPr>
          <p:spPr>
            <a:xfrm>
              <a:off x="3560063" y="1694688"/>
              <a:ext cx="1271270" cy="317500"/>
            </a:xfrm>
            <a:custGeom>
              <a:avLst/>
              <a:gdLst/>
              <a:ahLst/>
              <a:cxnLst/>
              <a:rect l="l" t="t" r="r" b="b"/>
              <a:pathLst>
                <a:path w="1271270" h="317500">
                  <a:moveTo>
                    <a:pt x="1271015" y="316991"/>
                  </a:moveTo>
                  <a:lnTo>
                    <a:pt x="0" y="316991"/>
                  </a:lnTo>
                  <a:lnTo>
                    <a:pt x="0" y="0"/>
                  </a:lnTo>
                  <a:lnTo>
                    <a:pt x="1271015" y="0"/>
                  </a:lnTo>
                  <a:lnTo>
                    <a:pt x="1271015" y="38861"/>
                  </a:lnTo>
                  <a:lnTo>
                    <a:pt x="88010" y="38861"/>
                  </a:lnTo>
                  <a:lnTo>
                    <a:pt x="80408" y="39559"/>
                  </a:lnTo>
                  <a:lnTo>
                    <a:pt x="50608" y="69360"/>
                  </a:lnTo>
                  <a:lnTo>
                    <a:pt x="49910" y="76961"/>
                  </a:lnTo>
                  <a:lnTo>
                    <a:pt x="49910" y="219836"/>
                  </a:lnTo>
                  <a:lnTo>
                    <a:pt x="73384" y="255147"/>
                  </a:lnTo>
                  <a:lnTo>
                    <a:pt x="88010" y="257936"/>
                  </a:lnTo>
                  <a:lnTo>
                    <a:pt x="1271015" y="257936"/>
                  </a:lnTo>
                  <a:lnTo>
                    <a:pt x="1271015" y="316991"/>
                  </a:lnTo>
                  <a:close/>
                </a:path>
                <a:path w="1271270" h="317500">
                  <a:moveTo>
                    <a:pt x="1271015" y="257936"/>
                  </a:moveTo>
                  <a:lnTo>
                    <a:pt x="1183385" y="257936"/>
                  </a:lnTo>
                  <a:lnTo>
                    <a:pt x="1190987" y="257239"/>
                  </a:lnTo>
                  <a:lnTo>
                    <a:pt x="1198011" y="255147"/>
                  </a:lnTo>
                  <a:lnTo>
                    <a:pt x="1221485" y="219836"/>
                  </a:lnTo>
                  <a:lnTo>
                    <a:pt x="1221485" y="76961"/>
                  </a:lnTo>
                  <a:lnTo>
                    <a:pt x="1198011" y="41651"/>
                  </a:lnTo>
                  <a:lnTo>
                    <a:pt x="1183385" y="38861"/>
                  </a:lnTo>
                  <a:lnTo>
                    <a:pt x="1271015" y="38861"/>
                  </a:lnTo>
                  <a:lnTo>
                    <a:pt x="1271015" y="257936"/>
                  </a:lnTo>
                  <a:close/>
                </a:path>
              </a:pathLst>
            </a:custGeom>
            <a:solidFill>
              <a:srgbClr val="000000">
                <a:alpha val="10198"/>
              </a:srgbClr>
            </a:solidFill>
          </p:spPr>
          <p:txBody>
            <a:bodyPr wrap="square" lIns="0" tIns="0" rIns="0" bIns="0" rtlCol="0"/>
            <a:lstStyle/>
            <a:p>
              <a:endParaRPr/>
            </a:p>
          </p:txBody>
        </p:sp>
        <p:sp>
          <p:nvSpPr>
            <p:cNvPr id="98" name="object 22">
              <a:extLst>
                <a:ext uri="{FF2B5EF4-FFF2-40B4-BE49-F238E27FC236}">
                  <a16:creationId xmlns:a16="http://schemas.microsoft.com/office/drawing/2014/main" id="{B42166A5-69B9-DD38-5606-BF5E6F21612F}"/>
                </a:ext>
              </a:extLst>
            </p:cNvPr>
            <p:cNvSpPr/>
            <p:nvPr/>
          </p:nvSpPr>
          <p:spPr>
            <a:xfrm>
              <a:off x="3600449" y="1724021"/>
              <a:ext cx="1190625" cy="238125"/>
            </a:xfrm>
            <a:custGeom>
              <a:avLst/>
              <a:gdLst/>
              <a:ahLst/>
              <a:cxnLst/>
              <a:rect l="l" t="t" r="r" b="b"/>
              <a:pathLst>
                <a:path w="1190625" h="238125">
                  <a:moveTo>
                    <a:pt x="1149315" y="238115"/>
                  </a:moveTo>
                  <a:lnTo>
                    <a:pt x="41309" y="238115"/>
                  </a:lnTo>
                  <a:lnTo>
                    <a:pt x="35234" y="236906"/>
                  </a:lnTo>
                  <a:lnTo>
                    <a:pt x="1208" y="202880"/>
                  </a:lnTo>
                  <a:lnTo>
                    <a:pt x="0" y="196816"/>
                  </a:lnTo>
                  <a:lnTo>
                    <a:pt x="0" y="190499"/>
                  </a:lnTo>
                  <a:lnTo>
                    <a:pt x="0" y="41299"/>
                  </a:lnTo>
                  <a:lnTo>
                    <a:pt x="23564" y="6027"/>
                  </a:lnTo>
                  <a:lnTo>
                    <a:pt x="41309" y="0"/>
                  </a:lnTo>
                  <a:lnTo>
                    <a:pt x="1149315" y="0"/>
                  </a:lnTo>
                  <a:lnTo>
                    <a:pt x="1184582" y="23552"/>
                  </a:lnTo>
                  <a:lnTo>
                    <a:pt x="1190624" y="41299"/>
                  </a:lnTo>
                  <a:lnTo>
                    <a:pt x="1190624" y="196816"/>
                  </a:lnTo>
                  <a:lnTo>
                    <a:pt x="1167059" y="232069"/>
                  </a:lnTo>
                  <a:lnTo>
                    <a:pt x="1155389" y="236906"/>
                  </a:lnTo>
                  <a:lnTo>
                    <a:pt x="1149315" y="238115"/>
                  </a:lnTo>
                  <a:close/>
                </a:path>
              </a:pathLst>
            </a:custGeom>
            <a:solidFill>
              <a:srgbClr val="FFFFFF"/>
            </a:solidFill>
          </p:spPr>
          <p:txBody>
            <a:bodyPr wrap="square" lIns="0" tIns="0" rIns="0" bIns="0" rtlCol="0"/>
            <a:lstStyle/>
            <a:p>
              <a:endParaRPr/>
            </a:p>
          </p:txBody>
        </p:sp>
        <p:pic>
          <p:nvPicPr>
            <p:cNvPr id="99" name="object 23">
              <a:extLst>
                <a:ext uri="{FF2B5EF4-FFF2-40B4-BE49-F238E27FC236}">
                  <a16:creationId xmlns:a16="http://schemas.microsoft.com/office/drawing/2014/main" id="{AA5CBAF1-C0B5-80CA-0ECC-F35B42A18405}"/>
                </a:ext>
              </a:extLst>
            </p:cNvPr>
            <p:cNvPicPr/>
            <p:nvPr/>
          </p:nvPicPr>
          <p:blipFill>
            <a:blip r:embed="rId11" cstate="print"/>
            <a:stretch>
              <a:fillRect/>
            </a:stretch>
          </p:blipFill>
          <p:spPr>
            <a:xfrm>
              <a:off x="3692574" y="1803399"/>
              <a:ext cx="107950" cy="73025"/>
            </a:xfrm>
            <a:prstGeom prst="rect">
              <a:avLst/>
            </a:prstGeom>
          </p:spPr>
        </p:pic>
      </p:grpSp>
      <p:grpSp>
        <p:nvGrpSpPr>
          <p:cNvPr id="100" name="object 24">
            <a:extLst>
              <a:ext uri="{FF2B5EF4-FFF2-40B4-BE49-F238E27FC236}">
                <a16:creationId xmlns:a16="http://schemas.microsoft.com/office/drawing/2014/main" id="{D2C3E340-39FE-D438-0514-843ABD5DBA85}"/>
              </a:ext>
            </a:extLst>
          </p:cNvPr>
          <p:cNvGrpSpPr/>
          <p:nvPr/>
        </p:nvGrpSpPr>
        <p:grpSpPr>
          <a:xfrm>
            <a:off x="1399031" y="2542032"/>
            <a:ext cx="1945005" cy="317500"/>
            <a:chOff x="1399031" y="2542032"/>
            <a:chExt cx="1945005" cy="317500"/>
          </a:xfrm>
        </p:grpSpPr>
        <p:sp>
          <p:nvSpPr>
            <p:cNvPr id="101" name="object 25">
              <a:extLst>
                <a:ext uri="{FF2B5EF4-FFF2-40B4-BE49-F238E27FC236}">
                  <a16:creationId xmlns:a16="http://schemas.microsoft.com/office/drawing/2014/main" id="{5F2E944A-C13A-6BBB-F794-B0919F5563EF}"/>
                </a:ext>
              </a:extLst>
            </p:cNvPr>
            <p:cNvSpPr/>
            <p:nvPr/>
          </p:nvSpPr>
          <p:spPr>
            <a:xfrm>
              <a:off x="1399031" y="2542032"/>
              <a:ext cx="899160" cy="317500"/>
            </a:xfrm>
            <a:custGeom>
              <a:avLst/>
              <a:gdLst/>
              <a:ahLst/>
              <a:cxnLst/>
              <a:rect l="l" t="t" r="r" b="b"/>
              <a:pathLst>
                <a:path w="899160" h="317500">
                  <a:moveTo>
                    <a:pt x="899159" y="316991"/>
                  </a:moveTo>
                  <a:lnTo>
                    <a:pt x="0" y="316991"/>
                  </a:lnTo>
                  <a:lnTo>
                    <a:pt x="0" y="0"/>
                  </a:lnTo>
                  <a:lnTo>
                    <a:pt x="899159" y="0"/>
                  </a:lnTo>
                  <a:lnTo>
                    <a:pt x="899159" y="39242"/>
                  </a:lnTo>
                  <a:lnTo>
                    <a:pt x="86867" y="39242"/>
                  </a:lnTo>
                  <a:lnTo>
                    <a:pt x="79266" y="39940"/>
                  </a:lnTo>
                  <a:lnTo>
                    <a:pt x="49465" y="69741"/>
                  </a:lnTo>
                  <a:lnTo>
                    <a:pt x="48767" y="77342"/>
                  </a:lnTo>
                  <a:lnTo>
                    <a:pt x="48767" y="220217"/>
                  </a:lnTo>
                  <a:lnTo>
                    <a:pt x="72241" y="255528"/>
                  </a:lnTo>
                  <a:lnTo>
                    <a:pt x="86867" y="258317"/>
                  </a:lnTo>
                  <a:lnTo>
                    <a:pt x="899159" y="258317"/>
                  </a:lnTo>
                  <a:lnTo>
                    <a:pt x="899159" y="316991"/>
                  </a:lnTo>
                  <a:close/>
                </a:path>
                <a:path w="899160" h="317500">
                  <a:moveTo>
                    <a:pt x="899159" y="258317"/>
                  </a:moveTo>
                  <a:lnTo>
                    <a:pt x="810767" y="258317"/>
                  </a:lnTo>
                  <a:lnTo>
                    <a:pt x="818369" y="257620"/>
                  </a:lnTo>
                  <a:lnTo>
                    <a:pt x="825393" y="255528"/>
                  </a:lnTo>
                  <a:lnTo>
                    <a:pt x="848867" y="220217"/>
                  </a:lnTo>
                  <a:lnTo>
                    <a:pt x="848867" y="77342"/>
                  </a:lnTo>
                  <a:lnTo>
                    <a:pt x="825393" y="42032"/>
                  </a:lnTo>
                  <a:lnTo>
                    <a:pt x="810767" y="39242"/>
                  </a:lnTo>
                  <a:lnTo>
                    <a:pt x="899159" y="39242"/>
                  </a:lnTo>
                  <a:lnTo>
                    <a:pt x="899159" y="258317"/>
                  </a:lnTo>
                  <a:close/>
                </a:path>
              </a:pathLst>
            </a:custGeom>
            <a:solidFill>
              <a:srgbClr val="000000">
                <a:alpha val="10198"/>
              </a:srgbClr>
            </a:solidFill>
          </p:spPr>
          <p:txBody>
            <a:bodyPr wrap="square" lIns="0" tIns="0" rIns="0" bIns="0" rtlCol="0"/>
            <a:lstStyle/>
            <a:p>
              <a:endParaRPr/>
            </a:p>
          </p:txBody>
        </p:sp>
        <p:sp>
          <p:nvSpPr>
            <p:cNvPr id="102" name="object 26">
              <a:extLst>
                <a:ext uri="{FF2B5EF4-FFF2-40B4-BE49-F238E27FC236}">
                  <a16:creationId xmlns:a16="http://schemas.microsoft.com/office/drawing/2014/main" id="{6A3B1C93-C8BF-38A4-9FF3-FCE0C6696129}"/>
                </a:ext>
              </a:extLst>
            </p:cNvPr>
            <p:cNvSpPr/>
            <p:nvPr/>
          </p:nvSpPr>
          <p:spPr>
            <a:xfrm>
              <a:off x="1438274" y="2571745"/>
              <a:ext cx="819150" cy="238125"/>
            </a:xfrm>
            <a:custGeom>
              <a:avLst/>
              <a:gdLst/>
              <a:ahLst/>
              <a:cxnLst/>
              <a:rect l="l" t="t" r="r" b="b"/>
              <a:pathLst>
                <a:path w="819150" h="238125">
                  <a:moveTo>
                    <a:pt x="777840" y="238115"/>
                  </a:moveTo>
                  <a:lnTo>
                    <a:pt x="41309" y="238115"/>
                  </a:lnTo>
                  <a:lnTo>
                    <a:pt x="35234" y="236906"/>
                  </a:lnTo>
                  <a:lnTo>
                    <a:pt x="1208" y="202871"/>
                  </a:lnTo>
                  <a:lnTo>
                    <a:pt x="0" y="196796"/>
                  </a:lnTo>
                  <a:lnTo>
                    <a:pt x="0" y="190499"/>
                  </a:lnTo>
                  <a:lnTo>
                    <a:pt x="0" y="41299"/>
                  </a:lnTo>
                  <a:lnTo>
                    <a:pt x="23565" y="6027"/>
                  </a:lnTo>
                  <a:lnTo>
                    <a:pt x="41309" y="0"/>
                  </a:lnTo>
                  <a:lnTo>
                    <a:pt x="777840" y="0"/>
                  </a:lnTo>
                  <a:lnTo>
                    <a:pt x="813107" y="23561"/>
                  </a:lnTo>
                  <a:lnTo>
                    <a:pt x="819149" y="41299"/>
                  </a:lnTo>
                  <a:lnTo>
                    <a:pt x="819149" y="196796"/>
                  </a:lnTo>
                  <a:lnTo>
                    <a:pt x="795584" y="232069"/>
                  </a:lnTo>
                  <a:lnTo>
                    <a:pt x="783915" y="236906"/>
                  </a:lnTo>
                  <a:lnTo>
                    <a:pt x="777840" y="238115"/>
                  </a:lnTo>
                  <a:close/>
                </a:path>
              </a:pathLst>
            </a:custGeom>
            <a:solidFill>
              <a:srgbClr val="FFFFFF"/>
            </a:solidFill>
          </p:spPr>
          <p:txBody>
            <a:bodyPr wrap="square" lIns="0" tIns="0" rIns="0" bIns="0" rtlCol="0"/>
            <a:lstStyle/>
            <a:p>
              <a:endParaRPr/>
            </a:p>
          </p:txBody>
        </p:sp>
        <p:pic>
          <p:nvPicPr>
            <p:cNvPr id="103" name="object 27">
              <a:extLst>
                <a:ext uri="{FF2B5EF4-FFF2-40B4-BE49-F238E27FC236}">
                  <a16:creationId xmlns:a16="http://schemas.microsoft.com/office/drawing/2014/main" id="{A569E4EF-5E55-8FE2-D42A-B3E46B2DA897}"/>
                </a:ext>
              </a:extLst>
            </p:cNvPr>
            <p:cNvPicPr/>
            <p:nvPr/>
          </p:nvPicPr>
          <p:blipFill>
            <a:blip r:embed="rId12" cstate="print"/>
            <a:stretch>
              <a:fillRect/>
            </a:stretch>
          </p:blipFill>
          <p:spPr>
            <a:xfrm>
              <a:off x="1537096" y="2644774"/>
              <a:ext cx="85725" cy="88900"/>
            </a:xfrm>
            <a:prstGeom prst="rect">
              <a:avLst/>
            </a:prstGeom>
          </p:spPr>
        </p:pic>
        <p:sp>
          <p:nvSpPr>
            <p:cNvPr id="104" name="object 28">
              <a:extLst>
                <a:ext uri="{FF2B5EF4-FFF2-40B4-BE49-F238E27FC236}">
                  <a16:creationId xmlns:a16="http://schemas.microsoft.com/office/drawing/2014/main" id="{051FDEAD-E81A-01B5-15F0-BA94CF179232}"/>
                </a:ext>
              </a:extLst>
            </p:cNvPr>
            <p:cNvSpPr/>
            <p:nvPr/>
          </p:nvSpPr>
          <p:spPr>
            <a:xfrm>
              <a:off x="2273807" y="2542032"/>
              <a:ext cx="1069975" cy="317500"/>
            </a:xfrm>
            <a:custGeom>
              <a:avLst/>
              <a:gdLst/>
              <a:ahLst/>
              <a:cxnLst/>
              <a:rect l="l" t="t" r="r" b="b"/>
              <a:pathLst>
                <a:path w="1069975" h="317500">
                  <a:moveTo>
                    <a:pt x="1069847" y="316991"/>
                  </a:moveTo>
                  <a:lnTo>
                    <a:pt x="0" y="316991"/>
                  </a:lnTo>
                  <a:lnTo>
                    <a:pt x="0" y="0"/>
                  </a:lnTo>
                  <a:lnTo>
                    <a:pt x="1069847" y="0"/>
                  </a:lnTo>
                  <a:lnTo>
                    <a:pt x="1069847" y="39242"/>
                  </a:lnTo>
                  <a:lnTo>
                    <a:pt x="88391" y="39242"/>
                  </a:lnTo>
                  <a:lnTo>
                    <a:pt x="80790" y="39940"/>
                  </a:lnTo>
                  <a:lnTo>
                    <a:pt x="50989" y="69741"/>
                  </a:lnTo>
                  <a:lnTo>
                    <a:pt x="50291" y="77342"/>
                  </a:lnTo>
                  <a:lnTo>
                    <a:pt x="50291" y="220217"/>
                  </a:lnTo>
                  <a:lnTo>
                    <a:pt x="73766" y="255528"/>
                  </a:lnTo>
                  <a:lnTo>
                    <a:pt x="88391" y="258317"/>
                  </a:lnTo>
                  <a:lnTo>
                    <a:pt x="1069847" y="258317"/>
                  </a:lnTo>
                  <a:lnTo>
                    <a:pt x="1069847" y="316991"/>
                  </a:lnTo>
                  <a:close/>
                </a:path>
                <a:path w="1069975" h="317500">
                  <a:moveTo>
                    <a:pt x="1069847" y="258317"/>
                  </a:moveTo>
                  <a:lnTo>
                    <a:pt x="983741" y="258317"/>
                  </a:lnTo>
                  <a:lnTo>
                    <a:pt x="991343" y="257620"/>
                  </a:lnTo>
                  <a:lnTo>
                    <a:pt x="998367" y="255528"/>
                  </a:lnTo>
                  <a:lnTo>
                    <a:pt x="1021841" y="220217"/>
                  </a:lnTo>
                  <a:lnTo>
                    <a:pt x="1021841" y="77342"/>
                  </a:lnTo>
                  <a:lnTo>
                    <a:pt x="998367" y="42032"/>
                  </a:lnTo>
                  <a:lnTo>
                    <a:pt x="983741" y="39242"/>
                  </a:lnTo>
                  <a:lnTo>
                    <a:pt x="1069847" y="39242"/>
                  </a:lnTo>
                  <a:lnTo>
                    <a:pt x="1069847" y="258317"/>
                  </a:lnTo>
                  <a:close/>
                </a:path>
              </a:pathLst>
            </a:custGeom>
            <a:solidFill>
              <a:srgbClr val="000000">
                <a:alpha val="10198"/>
              </a:srgbClr>
            </a:solidFill>
          </p:spPr>
          <p:txBody>
            <a:bodyPr wrap="square" lIns="0" tIns="0" rIns="0" bIns="0" rtlCol="0"/>
            <a:lstStyle/>
            <a:p>
              <a:endParaRPr/>
            </a:p>
          </p:txBody>
        </p:sp>
        <p:sp>
          <p:nvSpPr>
            <p:cNvPr id="105" name="object 29">
              <a:extLst>
                <a:ext uri="{FF2B5EF4-FFF2-40B4-BE49-F238E27FC236}">
                  <a16:creationId xmlns:a16="http://schemas.microsoft.com/office/drawing/2014/main" id="{B245CD9D-FF2C-D7B0-35E7-50FABFEEDE8E}"/>
                </a:ext>
              </a:extLst>
            </p:cNvPr>
            <p:cNvSpPr/>
            <p:nvPr/>
          </p:nvSpPr>
          <p:spPr>
            <a:xfrm>
              <a:off x="2314574" y="2571745"/>
              <a:ext cx="990600" cy="238125"/>
            </a:xfrm>
            <a:custGeom>
              <a:avLst/>
              <a:gdLst/>
              <a:ahLst/>
              <a:cxnLst/>
              <a:rect l="l" t="t" r="r" b="b"/>
              <a:pathLst>
                <a:path w="990600" h="238125">
                  <a:moveTo>
                    <a:pt x="949290" y="238115"/>
                  </a:moveTo>
                  <a:lnTo>
                    <a:pt x="41309" y="238115"/>
                  </a:lnTo>
                  <a:lnTo>
                    <a:pt x="35234" y="236906"/>
                  </a:lnTo>
                  <a:lnTo>
                    <a:pt x="1208" y="202871"/>
                  </a:lnTo>
                  <a:lnTo>
                    <a:pt x="0" y="196796"/>
                  </a:lnTo>
                  <a:lnTo>
                    <a:pt x="0" y="190499"/>
                  </a:lnTo>
                  <a:lnTo>
                    <a:pt x="0" y="41299"/>
                  </a:lnTo>
                  <a:lnTo>
                    <a:pt x="23564" y="6027"/>
                  </a:lnTo>
                  <a:lnTo>
                    <a:pt x="41309" y="0"/>
                  </a:lnTo>
                  <a:lnTo>
                    <a:pt x="949290" y="0"/>
                  </a:lnTo>
                  <a:lnTo>
                    <a:pt x="984557" y="23561"/>
                  </a:lnTo>
                  <a:lnTo>
                    <a:pt x="990599" y="41299"/>
                  </a:lnTo>
                  <a:lnTo>
                    <a:pt x="990599" y="196796"/>
                  </a:lnTo>
                  <a:lnTo>
                    <a:pt x="967034" y="232069"/>
                  </a:lnTo>
                  <a:lnTo>
                    <a:pt x="955365" y="236906"/>
                  </a:lnTo>
                  <a:lnTo>
                    <a:pt x="949290" y="238115"/>
                  </a:lnTo>
                  <a:close/>
                </a:path>
              </a:pathLst>
            </a:custGeom>
            <a:solidFill>
              <a:srgbClr val="FFFFFF"/>
            </a:solidFill>
          </p:spPr>
          <p:txBody>
            <a:bodyPr wrap="square" lIns="0" tIns="0" rIns="0" bIns="0" rtlCol="0"/>
            <a:lstStyle/>
            <a:p>
              <a:endParaRPr/>
            </a:p>
          </p:txBody>
        </p:sp>
        <p:pic>
          <p:nvPicPr>
            <p:cNvPr id="106" name="object 30">
              <a:extLst>
                <a:ext uri="{FF2B5EF4-FFF2-40B4-BE49-F238E27FC236}">
                  <a16:creationId xmlns:a16="http://schemas.microsoft.com/office/drawing/2014/main" id="{861E0149-EC40-240E-C29B-C877F22D79E3}"/>
                </a:ext>
              </a:extLst>
            </p:cNvPr>
            <p:cNvPicPr/>
            <p:nvPr/>
          </p:nvPicPr>
          <p:blipFill>
            <a:blip r:embed="rId13" cstate="print"/>
            <a:stretch>
              <a:fillRect/>
            </a:stretch>
          </p:blipFill>
          <p:spPr>
            <a:xfrm>
              <a:off x="2410866" y="2644774"/>
              <a:ext cx="107950" cy="85725"/>
            </a:xfrm>
            <a:prstGeom prst="rect">
              <a:avLst/>
            </a:prstGeom>
          </p:spPr>
        </p:pic>
      </p:grpSp>
      <p:grpSp>
        <p:nvGrpSpPr>
          <p:cNvPr id="107" name="object 31">
            <a:extLst>
              <a:ext uri="{FF2B5EF4-FFF2-40B4-BE49-F238E27FC236}">
                <a16:creationId xmlns:a16="http://schemas.microsoft.com/office/drawing/2014/main" id="{D9A251B5-4138-C286-8EAF-784152DCEBE7}"/>
              </a:ext>
            </a:extLst>
          </p:cNvPr>
          <p:cNvGrpSpPr/>
          <p:nvPr/>
        </p:nvGrpSpPr>
        <p:grpSpPr>
          <a:xfrm>
            <a:off x="1399031" y="3389376"/>
            <a:ext cx="2487295" cy="317500"/>
            <a:chOff x="1399031" y="3389376"/>
            <a:chExt cx="2487295" cy="317500"/>
          </a:xfrm>
        </p:grpSpPr>
        <p:sp>
          <p:nvSpPr>
            <p:cNvPr id="108" name="object 32">
              <a:extLst>
                <a:ext uri="{FF2B5EF4-FFF2-40B4-BE49-F238E27FC236}">
                  <a16:creationId xmlns:a16="http://schemas.microsoft.com/office/drawing/2014/main" id="{F6870ABF-0D1A-F959-6E5F-74CAF79D5CB5}"/>
                </a:ext>
              </a:extLst>
            </p:cNvPr>
            <p:cNvSpPr/>
            <p:nvPr/>
          </p:nvSpPr>
          <p:spPr>
            <a:xfrm>
              <a:off x="1399031" y="3389376"/>
              <a:ext cx="1191895" cy="317500"/>
            </a:xfrm>
            <a:custGeom>
              <a:avLst/>
              <a:gdLst/>
              <a:ahLst/>
              <a:cxnLst/>
              <a:rect l="l" t="t" r="r" b="b"/>
              <a:pathLst>
                <a:path w="1191895" h="317500">
                  <a:moveTo>
                    <a:pt x="1191767" y="316991"/>
                  </a:moveTo>
                  <a:lnTo>
                    <a:pt x="0" y="316991"/>
                  </a:lnTo>
                  <a:lnTo>
                    <a:pt x="0" y="0"/>
                  </a:lnTo>
                  <a:lnTo>
                    <a:pt x="1191767" y="0"/>
                  </a:lnTo>
                  <a:lnTo>
                    <a:pt x="1191767" y="39623"/>
                  </a:lnTo>
                  <a:lnTo>
                    <a:pt x="86867" y="39623"/>
                  </a:lnTo>
                  <a:lnTo>
                    <a:pt x="79266" y="40321"/>
                  </a:lnTo>
                  <a:lnTo>
                    <a:pt x="49465" y="70122"/>
                  </a:lnTo>
                  <a:lnTo>
                    <a:pt x="48767" y="77723"/>
                  </a:lnTo>
                  <a:lnTo>
                    <a:pt x="48767" y="220598"/>
                  </a:lnTo>
                  <a:lnTo>
                    <a:pt x="72241" y="255908"/>
                  </a:lnTo>
                  <a:lnTo>
                    <a:pt x="86867" y="258698"/>
                  </a:lnTo>
                  <a:lnTo>
                    <a:pt x="1191767" y="258698"/>
                  </a:lnTo>
                  <a:lnTo>
                    <a:pt x="1191767" y="316991"/>
                  </a:lnTo>
                  <a:close/>
                </a:path>
                <a:path w="1191895" h="317500">
                  <a:moveTo>
                    <a:pt x="1191767" y="258698"/>
                  </a:moveTo>
                  <a:lnTo>
                    <a:pt x="1106042" y="258698"/>
                  </a:lnTo>
                  <a:lnTo>
                    <a:pt x="1113644" y="258001"/>
                  </a:lnTo>
                  <a:lnTo>
                    <a:pt x="1120668" y="255908"/>
                  </a:lnTo>
                  <a:lnTo>
                    <a:pt x="1144142" y="220598"/>
                  </a:lnTo>
                  <a:lnTo>
                    <a:pt x="1144142" y="77723"/>
                  </a:lnTo>
                  <a:lnTo>
                    <a:pt x="1120668" y="42413"/>
                  </a:lnTo>
                  <a:lnTo>
                    <a:pt x="1106042" y="39623"/>
                  </a:lnTo>
                  <a:lnTo>
                    <a:pt x="1191767" y="39623"/>
                  </a:lnTo>
                  <a:lnTo>
                    <a:pt x="1191767" y="258698"/>
                  </a:lnTo>
                  <a:close/>
                </a:path>
              </a:pathLst>
            </a:custGeom>
            <a:solidFill>
              <a:srgbClr val="000000">
                <a:alpha val="10198"/>
              </a:srgbClr>
            </a:solidFill>
          </p:spPr>
          <p:txBody>
            <a:bodyPr wrap="square" lIns="0" tIns="0" rIns="0" bIns="0" rtlCol="0"/>
            <a:lstStyle/>
            <a:p>
              <a:endParaRPr/>
            </a:p>
          </p:txBody>
        </p:sp>
        <p:sp>
          <p:nvSpPr>
            <p:cNvPr id="109" name="object 33">
              <a:extLst>
                <a:ext uri="{FF2B5EF4-FFF2-40B4-BE49-F238E27FC236}">
                  <a16:creationId xmlns:a16="http://schemas.microsoft.com/office/drawing/2014/main" id="{753D3482-386B-E40A-BCB4-B039C9952F9E}"/>
                </a:ext>
              </a:extLst>
            </p:cNvPr>
            <p:cNvSpPr/>
            <p:nvPr/>
          </p:nvSpPr>
          <p:spPr>
            <a:xfrm>
              <a:off x="1438274" y="3419471"/>
              <a:ext cx="1114425" cy="238125"/>
            </a:xfrm>
            <a:custGeom>
              <a:avLst/>
              <a:gdLst/>
              <a:ahLst/>
              <a:cxnLst/>
              <a:rect l="l" t="t" r="r" b="b"/>
              <a:pathLst>
                <a:path w="1114425" h="238125">
                  <a:moveTo>
                    <a:pt x="1073115" y="238115"/>
                  </a:moveTo>
                  <a:lnTo>
                    <a:pt x="41309" y="238115"/>
                  </a:lnTo>
                  <a:lnTo>
                    <a:pt x="35234" y="236906"/>
                  </a:lnTo>
                  <a:lnTo>
                    <a:pt x="1208" y="202880"/>
                  </a:lnTo>
                  <a:lnTo>
                    <a:pt x="0" y="196806"/>
                  </a:lnTo>
                  <a:lnTo>
                    <a:pt x="0" y="190499"/>
                  </a:lnTo>
                  <a:lnTo>
                    <a:pt x="0" y="41308"/>
                  </a:lnTo>
                  <a:lnTo>
                    <a:pt x="23565" y="6036"/>
                  </a:lnTo>
                  <a:lnTo>
                    <a:pt x="41309" y="0"/>
                  </a:lnTo>
                  <a:lnTo>
                    <a:pt x="1073115" y="0"/>
                  </a:lnTo>
                  <a:lnTo>
                    <a:pt x="1108382" y="23552"/>
                  </a:lnTo>
                  <a:lnTo>
                    <a:pt x="1114425" y="41308"/>
                  </a:lnTo>
                  <a:lnTo>
                    <a:pt x="1114425" y="196806"/>
                  </a:lnTo>
                  <a:lnTo>
                    <a:pt x="1090859" y="232069"/>
                  </a:lnTo>
                  <a:lnTo>
                    <a:pt x="1079190" y="236906"/>
                  </a:lnTo>
                  <a:lnTo>
                    <a:pt x="1073115" y="238115"/>
                  </a:lnTo>
                  <a:close/>
                </a:path>
              </a:pathLst>
            </a:custGeom>
            <a:solidFill>
              <a:srgbClr val="FFFFFF"/>
            </a:solidFill>
          </p:spPr>
          <p:txBody>
            <a:bodyPr wrap="square" lIns="0" tIns="0" rIns="0" bIns="0" rtlCol="0"/>
            <a:lstStyle/>
            <a:p>
              <a:endParaRPr/>
            </a:p>
          </p:txBody>
        </p:sp>
        <p:pic>
          <p:nvPicPr>
            <p:cNvPr id="110" name="object 34">
              <a:extLst>
                <a:ext uri="{FF2B5EF4-FFF2-40B4-BE49-F238E27FC236}">
                  <a16:creationId xmlns:a16="http://schemas.microsoft.com/office/drawing/2014/main" id="{14ABC070-E361-363A-A374-915AFE17FE82}"/>
                </a:ext>
              </a:extLst>
            </p:cNvPr>
            <p:cNvPicPr/>
            <p:nvPr/>
          </p:nvPicPr>
          <p:blipFill>
            <a:blip r:embed="rId14" cstate="print"/>
            <a:stretch>
              <a:fillRect/>
            </a:stretch>
          </p:blipFill>
          <p:spPr>
            <a:xfrm>
              <a:off x="1537096" y="3486150"/>
              <a:ext cx="120650" cy="98425"/>
            </a:xfrm>
            <a:prstGeom prst="rect">
              <a:avLst/>
            </a:prstGeom>
          </p:spPr>
        </p:pic>
        <p:sp>
          <p:nvSpPr>
            <p:cNvPr id="111" name="object 35">
              <a:extLst>
                <a:ext uri="{FF2B5EF4-FFF2-40B4-BE49-F238E27FC236}">
                  <a16:creationId xmlns:a16="http://schemas.microsoft.com/office/drawing/2014/main" id="{31778DE4-D2A1-BB7B-04DF-D114C1C4784E}"/>
                </a:ext>
              </a:extLst>
            </p:cNvPr>
            <p:cNvSpPr/>
            <p:nvPr/>
          </p:nvSpPr>
          <p:spPr>
            <a:xfrm>
              <a:off x="2569463" y="3389376"/>
              <a:ext cx="1316990" cy="317500"/>
            </a:xfrm>
            <a:custGeom>
              <a:avLst/>
              <a:gdLst/>
              <a:ahLst/>
              <a:cxnLst/>
              <a:rect l="l" t="t" r="r" b="b"/>
              <a:pathLst>
                <a:path w="1316989" h="317500">
                  <a:moveTo>
                    <a:pt x="1316735" y="316991"/>
                  </a:moveTo>
                  <a:lnTo>
                    <a:pt x="0" y="316991"/>
                  </a:lnTo>
                  <a:lnTo>
                    <a:pt x="0" y="0"/>
                  </a:lnTo>
                  <a:lnTo>
                    <a:pt x="1316735" y="0"/>
                  </a:lnTo>
                  <a:lnTo>
                    <a:pt x="1316735" y="39623"/>
                  </a:lnTo>
                  <a:lnTo>
                    <a:pt x="88010" y="39623"/>
                  </a:lnTo>
                  <a:lnTo>
                    <a:pt x="80409" y="40321"/>
                  </a:lnTo>
                  <a:lnTo>
                    <a:pt x="50608" y="70122"/>
                  </a:lnTo>
                  <a:lnTo>
                    <a:pt x="49910" y="77723"/>
                  </a:lnTo>
                  <a:lnTo>
                    <a:pt x="49910" y="220598"/>
                  </a:lnTo>
                  <a:lnTo>
                    <a:pt x="73385" y="255908"/>
                  </a:lnTo>
                  <a:lnTo>
                    <a:pt x="88010" y="258698"/>
                  </a:lnTo>
                  <a:lnTo>
                    <a:pt x="1316735" y="258698"/>
                  </a:lnTo>
                  <a:lnTo>
                    <a:pt x="1316735" y="316991"/>
                  </a:lnTo>
                  <a:close/>
                </a:path>
                <a:path w="1316989" h="317500">
                  <a:moveTo>
                    <a:pt x="1316735" y="258698"/>
                  </a:moveTo>
                  <a:lnTo>
                    <a:pt x="1231010" y="258698"/>
                  </a:lnTo>
                  <a:lnTo>
                    <a:pt x="1238612" y="258001"/>
                  </a:lnTo>
                  <a:lnTo>
                    <a:pt x="1245636" y="255908"/>
                  </a:lnTo>
                  <a:lnTo>
                    <a:pt x="1269110" y="220598"/>
                  </a:lnTo>
                  <a:lnTo>
                    <a:pt x="1269110" y="77723"/>
                  </a:lnTo>
                  <a:lnTo>
                    <a:pt x="1245636" y="42413"/>
                  </a:lnTo>
                  <a:lnTo>
                    <a:pt x="1231010" y="39623"/>
                  </a:lnTo>
                  <a:lnTo>
                    <a:pt x="1316735" y="39623"/>
                  </a:lnTo>
                  <a:lnTo>
                    <a:pt x="1316735" y="258698"/>
                  </a:lnTo>
                  <a:close/>
                </a:path>
              </a:pathLst>
            </a:custGeom>
            <a:solidFill>
              <a:srgbClr val="000000">
                <a:alpha val="10198"/>
              </a:srgbClr>
            </a:solidFill>
          </p:spPr>
          <p:txBody>
            <a:bodyPr wrap="square" lIns="0" tIns="0" rIns="0" bIns="0" rtlCol="0"/>
            <a:lstStyle/>
            <a:p>
              <a:endParaRPr/>
            </a:p>
          </p:txBody>
        </p:sp>
        <p:sp>
          <p:nvSpPr>
            <p:cNvPr id="112" name="object 36">
              <a:extLst>
                <a:ext uri="{FF2B5EF4-FFF2-40B4-BE49-F238E27FC236}">
                  <a16:creationId xmlns:a16="http://schemas.microsoft.com/office/drawing/2014/main" id="{0184281F-7729-3069-D4DB-D9DA145EF579}"/>
                </a:ext>
              </a:extLst>
            </p:cNvPr>
            <p:cNvSpPr/>
            <p:nvPr/>
          </p:nvSpPr>
          <p:spPr>
            <a:xfrm>
              <a:off x="2609849" y="3419471"/>
              <a:ext cx="1238250" cy="238125"/>
            </a:xfrm>
            <a:custGeom>
              <a:avLst/>
              <a:gdLst/>
              <a:ahLst/>
              <a:cxnLst/>
              <a:rect l="l" t="t" r="r" b="b"/>
              <a:pathLst>
                <a:path w="1238250" h="238125">
                  <a:moveTo>
                    <a:pt x="1196940" y="238115"/>
                  </a:moveTo>
                  <a:lnTo>
                    <a:pt x="41309" y="238115"/>
                  </a:lnTo>
                  <a:lnTo>
                    <a:pt x="35234" y="236906"/>
                  </a:lnTo>
                  <a:lnTo>
                    <a:pt x="1208" y="202880"/>
                  </a:lnTo>
                  <a:lnTo>
                    <a:pt x="0" y="196806"/>
                  </a:lnTo>
                  <a:lnTo>
                    <a:pt x="0" y="190499"/>
                  </a:lnTo>
                  <a:lnTo>
                    <a:pt x="0" y="41308"/>
                  </a:lnTo>
                  <a:lnTo>
                    <a:pt x="23564" y="6036"/>
                  </a:lnTo>
                  <a:lnTo>
                    <a:pt x="41309" y="0"/>
                  </a:lnTo>
                  <a:lnTo>
                    <a:pt x="1196940" y="0"/>
                  </a:lnTo>
                  <a:lnTo>
                    <a:pt x="1232207" y="23552"/>
                  </a:lnTo>
                  <a:lnTo>
                    <a:pt x="1238249" y="41308"/>
                  </a:lnTo>
                  <a:lnTo>
                    <a:pt x="1238249" y="196806"/>
                  </a:lnTo>
                  <a:lnTo>
                    <a:pt x="1214684" y="232069"/>
                  </a:lnTo>
                  <a:lnTo>
                    <a:pt x="1203015" y="236906"/>
                  </a:lnTo>
                  <a:lnTo>
                    <a:pt x="1196940" y="238115"/>
                  </a:lnTo>
                  <a:close/>
                </a:path>
              </a:pathLst>
            </a:custGeom>
            <a:solidFill>
              <a:srgbClr val="FFFFFF"/>
            </a:solidFill>
          </p:spPr>
          <p:txBody>
            <a:bodyPr wrap="square" lIns="0" tIns="0" rIns="0" bIns="0" rtlCol="0"/>
            <a:lstStyle/>
            <a:p>
              <a:endParaRPr/>
            </a:p>
          </p:txBody>
        </p:sp>
        <p:pic>
          <p:nvPicPr>
            <p:cNvPr id="113" name="object 37">
              <a:extLst>
                <a:ext uri="{FF2B5EF4-FFF2-40B4-BE49-F238E27FC236}">
                  <a16:creationId xmlns:a16="http://schemas.microsoft.com/office/drawing/2014/main" id="{E5CFF187-ACDA-19F0-5D4F-53014BD80B95}"/>
                </a:ext>
              </a:extLst>
            </p:cNvPr>
            <p:cNvPicPr/>
            <p:nvPr/>
          </p:nvPicPr>
          <p:blipFill>
            <a:blip r:embed="rId15" cstate="print"/>
            <a:stretch>
              <a:fillRect/>
            </a:stretch>
          </p:blipFill>
          <p:spPr>
            <a:xfrm>
              <a:off x="2703909" y="3486150"/>
              <a:ext cx="95250" cy="98425"/>
            </a:xfrm>
            <a:prstGeom prst="rect">
              <a:avLst/>
            </a:prstGeom>
          </p:spPr>
        </p:pic>
      </p:grpSp>
      <p:sp>
        <p:nvSpPr>
          <p:cNvPr id="114" name="object 38">
            <a:extLst>
              <a:ext uri="{FF2B5EF4-FFF2-40B4-BE49-F238E27FC236}">
                <a16:creationId xmlns:a16="http://schemas.microsoft.com/office/drawing/2014/main" id="{76E4E7E7-5EF7-7255-26C2-0EED0F29D422}"/>
              </a:ext>
            </a:extLst>
          </p:cNvPr>
          <p:cNvSpPr txBox="1"/>
          <p:nvPr/>
        </p:nvSpPr>
        <p:spPr>
          <a:xfrm>
            <a:off x="1429146" y="1443550"/>
            <a:ext cx="5145405" cy="2531270"/>
          </a:xfrm>
          <a:prstGeom prst="rect">
            <a:avLst/>
          </a:prstGeom>
        </p:spPr>
        <p:txBody>
          <a:bodyPr vert="horz" wrap="square" lIns="0" tIns="13335" rIns="0" bIns="0" rtlCol="0">
            <a:spAutoFit/>
          </a:bodyPr>
          <a:lstStyle/>
          <a:p>
            <a:pPr marL="12700">
              <a:lnSpc>
                <a:spcPct val="100000"/>
              </a:lnSpc>
              <a:spcBef>
                <a:spcPts val="105"/>
              </a:spcBef>
            </a:pPr>
            <a:r>
              <a:rPr sz="1050" b="1" spc="-30" dirty="0">
                <a:solidFill>
                  <a:srgbClr val="BF382A"/>
                </a:solidFill>
                <a:latin typeface="Arial"/>
                <a:cs typeface="Arial"/>
              </a:rPr>
              <a:t>Tier</a:t>
            </a:r>
            <a:r>
              <a:rPr sz="1050" b="1" spc="-65" dirty="0">
                <a:solidFill>
                  <a:srgbClr val="BF382A"/>
                </a:solidFill>
                <a:latin typeface="Arial"/>
                <a:cs typeface="Arial"/>
              </a:rPr>
              <a:t> </a:t>
            </a:r>
            <a:r>
              <a:rPr sz="1050" b="1" spc="-150" dirty="0">
                <a:solidFill>
                  <a:srgbClr val="BF382A"/>
                </a:solidFill>
                <a:latin typeface="Arial"/>
                <a:cs typeface="Arial"/>
              </a:rPr>
              <a:t>1:</a:t>
            </a:r>
            <a:r>
              <a:rPr sz="1050" b="1" spc="-65" dirty="0">
                <a:solidFill>
                  <a:srgbClr val="BF382A"/>
                </a:solidFill>
                <a:latin typeface="Arial"/>
                <a:cs typeface="Arial"/>
              </a:rPr>
              <a:t> Perception </a:t>
            </a:r>
            <a:r>
              <a:rPr sz="1050" b="1" spc="-20" dirty="0">
                <a:solidFill>
                  <a:srgbClr val="BF382A"/>
                </a:solidFill>
                <a:latin typeface="Arial"/>
                <a:cs typeface="Arial"/>
              </a:rPr>
              <a:t>Layer</a:t>
            </a:r>
            <a:endParaRPr sz="1050" dirty="0">
              <a:latin typeface="Arial"/>
              <a:cs typeface="Arial"/>
            </a:endParaRPr>
          </a:p>
          <a:p>
            <a:pPr marL="12700" marR="1832610" indent="240029">
              <a:lnSpc>
                <a:spcPct val="201399"/>
              </a:lnSpc>
              <a:spcBef>
                <a:spcPts val="160"/>
              </a:spcBef>
              <a:tabLst>
                <a:tab pos="1305560" algn="l"/>
                <a:tab pos="2408555" algn="l"/>
              </a:tabLst>
            </a:pPr>
            <a:r>
              <a:rPr sz="850" spc="-50" dirty="0">
                <a:solidFill>
                  <a:srgbClr val="333333"/>
                </a:solidFill>
                <a:latin typeface="Microsoft Sans Serif"/>
                <a:cs typeface="Microsoft Sans Serif"/>
              </a:rPr>
              <a:t>YOLOv</a:t>
            </a:r>
            <a:r>
              <a:rPr sz="800" spc="-50" dirty="0">
                <a:solidFill>
                  <a:srgbClr val="333333"/>
                </a:solidFill>
                <a:latin typeface="Microsoft Sans Serif"/>
                <a:cs typeface="Microsoft Sans Serif"/>
              </a:rPr>
              <a:t>8</a:t>
            </a:r>
            <a:r>
              <a:rPr sz="800" spc="-15" dirty="0">
                <a:solidFill>
                  <a:srgbClr val="333333"/>
                </a:solidFill>
                <a:latin typeface="Microsoft Sans Serif"/>
                <a:cs typeface="Microsoft Sans Serif"/>
              </a:rPr>
              <a:t> </a:t>
            </a:r>
            <a:r>
              <a:rPr sz="850" spc="-20" dirty="0">
                <a:solidFill>
                  <a:srgbClr val="333333"/>
                </a:solidFill>
                <a:latin typeface="Microsoft Sans Serif"/>
                <a:cs typeface="Microsoft Sans Serif"/>
              </a:rPr>
              <a:t>Model</a:t>
            </a:r>
            <a:r>
              <a:rPr sz="850" dirty="0">
                <a:solidFill>
                  <a:srgbClr val="333333"/>
                </a:solidFill>
                <a:latin typeface="Microsoft Sans Serif"/>
                <a:cs typeface="Microsoft Sans Serif"/>
              </a:rPr>
              <a:t>	</a:t>
            </a:r>
            <a:r>
              <a:rPr sz="850" spc="-45" dirty="0">
                <a:solidFill>
                  <a:srgbClr val="333333"/>
                </a:solidFill>
                <a:latin typeface="Microsoft Sans Serif"/>
                <a:cs typeface="Microsoft Sans Serif"/>
              </a:rPr>
              <a:t>AI</a:t>
            </a:r>
            <a:r>
              <a:rPr sz="850" spc="-10" dirty="0">
                <a:solidFill>
                  <a:srgbClr val="333333"/>
                </a:solidFill>
                <a:latin typeface="Microsoft Sans Serif"/>
                <a:cs typeface="Microsoft Sans Serif"/>
              </a:rPr>
              <a:t> </a:t>
            </a:r>
            <a:r>
              <a:rPr sz="850" spc="-75" dirty="0">
                <a:solidFill>
                  <a:srgbClr val="333333"/>
                </a:solidFill>
                <a:latin typeface="Microsoft Sans Serif"/>
                <a:cs typeface="Microsoft Sans Serif"/>
              </a:rPr>
              <a:t>HAT</a:t>
            </a:r>
            <a:r>
              <a:rPr sz="850" spc="-10" dirty="0">
                <a:solidFill>
                  <a:srgbClr val="333333"/>
                </a:solidFill>
                <a:latin typeface="Microsoft Sans Serif"/>
                <a:cs typeface="Microsoft Sans Serif"/>
              </a:rPr>
              <a:t> Runtime</a:t>
            </a:r>
            <a:r>
              <a:rPr sz="850" dirty="0">
                <a:solidFill>
                  <a:srgbClr val="333333"/>
                </a:solidFill>
                <a:latin typeface="Microsoft Sans Serif"/>
                <a:cs typeface="Microsoft Sans Serif"/>
              </a:rPr>
              <a:t>	</a:t>
            </a:r>
            <a:r>
              <a:rPr sz="800" dirty="0">
                <a:solidFill>
                  <a:srgbClr val="333333"/>
                </a:solidFill>
                <a:latin typeface="Microsoft Sans Serif"/>
                <a:cs typeface="Microsoft Sans Serif"/>
              </a:rPr>
              <a:t>60</a:t>
            </a:r>
            <a:r>
              <a:rPr sz="800" spc="35" dirty="0">
                <a:solidFill>
                  <a:srgbClr val="333333"/>
                </a:solidFill>
                <a:latin typeface="Microsoft Sans Serif"/>
                <a:cs typeface="Microsoft Sans Serif"/>
              </a:rPr>
              <a:t> </a:t>
            </a:r>
            <a:r>
              <a:rPr sz="850" spc="-95" dirty="0">
                <a:solidFill>
                  <a:srgbClr val="333333"/>
                </a:solidFill>
                <a:latin typeface="Microsoft Sans Serif"/>
                <a:cs typeface="Microsoft Sans Serif"/>
              </a:rPr>
              <a:t>FPS</a:t>
            </a:r>
            <a:r>
              <a:rPr sz="850" spc="20" dirty="0">
                <a:solidFill>
                  <a:srgbClr val="333333"/>
                </a:solidFill>
                <a:latin typeface="Microsoft Sans Serif"/>
                <a:cs typeface="Microsoft Sans Serif"/>
              </a:rPr>
              <a:t> </a:t>
            </a:r>
            <a:r>
              <a:rPr sz="850" spc="-10" dirty="0">
                <a:solidFill>
                  <a:srgbClr val="333333"/>
                </a:solidFill>
                <a:latin typeface="Microsoft Sans Serif"/>
                <a:cs typeface="Microsoft Sans Serif"/>
              </a:rPr>
              <a:t>Processing </a:t>
            </a:r>
            <a:r>
              <a:rPr sz="900" spc="-20" dirty="0">
                <a:solidFill>
                  <a:srgbClr val="666666"/>
                </a:solidFill>
                <a:latin typeface="Microsoft Sans Serif"/>
                <a:cs typeface="Microsoft Sans Serif"/>
              </a:rPr>
              <a:t>Processes </a:t>
            </a:r>
            <a:r>
              <a:rPr sz="900" dirty="0">
                <a:solidFill>
                  <a:srgbClr val="666666"/>
                </a:solidFill>
                <a:latin typeface="Microsoft Sans Serif"/>
                <a:cs typeface="Microsoft Sans Serif"/>
              </a:rPr>
              <a:t>raw</a:t>
            </a:r>
            <a:r>
              <a:rPr sz="900" spc="-20" dirty="0">
                <a:solidFill>
                  <a:srgbClr val="666666"/>
                </a:solidFill>
                <a:latin typeface="Microsoft Sans Serif"/>
                <a:cs typeface="Microsoft Sans Serif"/>
              </a:rPr>
              <a:t> </a:t>
            </a:r>
            <a:r>
              <a:rPr sz="900" dirty="0">
                <a:solidFill>
                  <a:srgbClr val="666666"/>
                </a:solidFill>
                <a:latin typeface="Microsoft Sans Serif"/>
                <a:cs typeface="Microsoft Sans Serif"/>
              </a:rPr>
              <a:t>video</a:t>
            </a:r>
            <a:r>
              <a:rPr sz="900" spc="-20" dirty="0">
                <a:solidFill>
                  <a:srgbClr val="666666"/>
                </a:solidFill>
                <a:latin typeface="Microsoft Sans Serif"/>
                <a:cs typeface="Microsoft Sans Serif"/>
              </a:rPr>
              <a:t> </a:t>
            </a:r>
            <a:r>
              <a:rPr sz="900" spc="-10" dirty="0">
                <a:solidFill>
                  <a:srgbClr val="666666"/>
                </a:solidFill>
                <a:latin typeface="Microsoft Sans Serif"/>
                <a:cs typeface="Microsoft Sans Serif"/>
              </a:rPr>
              <a:t>frames</a:t>
            </a:r>
            <a:r>
              <a:rPr sz="900" spc="-20" dirty="0">
                <a:solidFill>
                  <a:srgbClr val="666666"/>
                </a:solidFill>
                <a:latin typeface="Microsoft Sans Serif"/>
                <a:cs typeface="Microsoft Sans Serif"/>
              </a:rPr>
              <a:t> </a:t>
            </a:r>
            <a:r>
              <a:rPr sz="900" dirty="0">
                <a:solidFill>
                  <a:srgbClr val="666666"/>
                </a:solidFill>
                <a:latin typeface="Microsoft Sans Serif"/>
                <a:cs typeface="Microsoft Sans Serif"/>
              </a:rPr>
              <a:t>to</a:t>
            </a:r>
            <a:r>
              <a:rPr sz="900" spc="-20" dirty="0">
                <a:solidFill>
                  <a:srgbClr val="666666"/>
                </a:solidFill>
                <a:latin typeface="Microsoft Sans Serif"/>
                <a:cs typeface="Microsoft Sans Serif"/>
              </a:rPr>
              <a:t> </a:t>
            </a:r>
            <a:r>
              <a:rPr sz="900" dirty="0">
                <a:solidFill>
                  <a:srgbClr val="666666"/>
                </a:solidFill>
                <a:latin typeface="Microsoft Sans Serif"/>
                <a:cs typeface="Microsoft Sans Serif"/>
              </a:rPr>
              <a:t>identify</a:t>
            </a:r>
            <a:r>
              <a:rPr sz="900" spc="-20" dirty="0">
                <a:solidFill>
                  <a:srgbClr val="666666"/>
                </a:solidFill>
                <a:latin typeface="Microsoft Sans Serif"/>
                <a:cs typeface="Microsoft Sans Serif"/>
              </a:rPr>
              <a:t> </a:t>
            </a:r>
            <a:r>
              <a:rPr sz="900" spc="-25" dirty="0">
                <a:solidFill>
                  <a:srgbClr val="666666"/>
                </a:solidFill>
                <a:latin typeface="Microsoft Sans Serif"/>
                <a:cs typeface="Microsoft Sans Serif"/>
              </a:rPr>
              <a:t>human</a:t>
            </a:r>
            <a:r>
              <a:rPr sz="900" spc="-15" dirty="0">
                <a:solidFill>
                  <a:srgbClr val="666666"/>
                </a:solidFill>
                <a:latin typeface="Microsoft Sans Serif"/>
                <a:cs typeface="Microsoft Sans Serif"/>
              </a:rPr>
              <a:t> </a:t>
            </a:r>
            <a:r>
              <a:rPr sz="900" spc="-10" dirty="0">
                <a:solidFill>
                  <a:srgbClr val="666666"/>
                </a:solidFill>
                <a:latin typeface="Microsoft Sans Serif"/>
                <a:cs typeface="Microsoft Sans Serif"/>
              </a:rPr>
              <a:t>targets</a:t>
            </a:r>
            <a:r>
              <a:rPr sz="900" spc="-20" dirty="0">
                <a:solidFill>
                  <a:srgbClr val="666666"/>
                </a:solidFill>
                <a:latin typeface="Microsoft Sans Serif"/>
                <a:cs typeface="Microsoft Sans Serif"/>
              </a:rPr>
              <a:t> </a:t>
            </a:r>
            <a:r>
              <a:rPr sz="900" dirty="0">
                <a:solidFill>
                  <a:srgbClr val="666666"/>
                </a:solidFill>
                <a:latin typeface="Microsoft Sans Serif"/>
                <a:cs typeface="Microsoft Sans Serif"/>
              </a:rPr>
              <a:t>in</a:t>
            </a:r>
            <a:r>
              <a:rPr sz="900" spc="-20" dirty="0">
                <a:solidFill>
                  <a:srgbClr val="666666"/>
                </a:solidFill>
                <a:latin typeface="Microsoft Sans Serif"/>
                <a:cs typeface="Microsoft Sans Serif"/>
              </a:rPr>
              <a:t> </a:t>
            </a:r>
            <a:r>
              <a:rPr sz="900" dirty="0">
                <a:solidFill>
                  <a:srgbClr val="666666"/>
                </a:solidFill>
                <a:latin typeface="Microsoft Sans Serif"/>
                <a:cs typeface="Microsoft Sans Serif"/>
              </a:rPr>
              <a:t>real-</a:t>
            </a:r>
            <a:r>
              <a:rPr sz="900" spc="-20" dirty="0">
                <a:solidFill>
                  <a:srgbClr val="666666"/>
                </a:solidFill>
                <a:latin typeface="Microsoft Sans Serif"/>
                <a:cs typeface="Microsoft Sans Serif"/>
              </a:rPr>
              <a:t>time. </a:t>
            </a:r>
            <a:r>
              <a:rPr sz="1050" b="1" spc="-30" dirty="0">
                <a:solidFill>
                  <a:srgbClr val="BF382A"/>
                </a:solidFill>
                <a:latin typeface="Arial"/>
                <a:cs typeface="Arial"/>
              </a:rPr>
              <a:t>Tier</a:t>
            </a:r>
            <a:r>
              <a:rPr sz="1050" b="1" spc="-80" dirty="0">
                <a:solidFill>
                  <a:srgbClr val="BF382A"/>
                </a:solidFill>
                <a:latin typeface="Arial"/>
                <a:cs typeface="Arial"/>
              </a:rPr>
              <a:t> </a:t>
            </a:r>
            <a:r>
              <a:rPr sz="1050" b="1" spc="-60" dirty="0">
                <a:solidFill>
                  <a:srgbClr val="BF382A"/>
                </a:solidFill>
                <a:latin typeface="Arial"/>
                <a:cs typeface="Arial"/>
              </a:rPr>
              <a:t>2:</a:t>
            </a:r>
            <a:r>
              <a:rPr sz="1050" b="1" spc="-75" dirty="0">
                <a:solidFill>
                  <a:srgbClr val="BF382A"/>
                </a:solidFill>
                <a:latin typeface="Arial"/>
                <a:cs typeface="Arial"/>
              </a:rPr>
              <a:t> </a:t>
            </a:r>
            <a:r>
              <a:rPr sz="1050" b="1" spc="-85" dirty="0">
                <a:solidFill>
                  <a:srgbClr val="BF382A"/>
                </a:solidFill>
                <a:latin typeface="Arial"/>
                <a:cs typeface="Arial"/>
              </a:rPr>
              <a:t>Logic</a:t>
            </a:r>
            <a:r>
              <a:rPr sz="1050" b="1" spc="-80" dirty="0">
                <a:solidFill>
                  <a:srgbClr val="BF382A"/>
                </a:solidFill>
                <a:latin typeface="Arial"/>
                <a:cs typeface="Arial"/>
              </a:rPr>
              <a:t> </a:t>
            </a:r>
            <a:r>
              <a:rPr sz="1050" b="1" spc="-20" dirty="0">
                <a:solidFill>
                  <a:srgbClr val="BF382A"/>
                </a:solidFill>
                <a:latin typeface="Arial"/>
                <a:cs typeface="Arial"/>
              </a:rPr>
              <a:t>Layer</a:t>
            </a:r>
            <a:endParaRPr sz="1050" dirty="0">
              <a:latin typeface="Arial"/>
              <a:cs typeface="Arial"/>
            </a:endParaRPr>
          </a:p>
          <a:p>
            <a:pPr>
              <a:lnSpc>
                <a:spcPct val="100000"/>
              </a:lnSpc>
              <a:spcBef>
                <a:spcPts val="265"/>
              </a:spcBef>
            </a:pPr>
            <a:endParaRPr sz="800" dirty="0">
              <a:latin typeface="Arial"/>
              <a:cs typeface="Arial"/>
            </a:endParaRPr>
          </a:p>
          <a:p>
            <a:pPr marL="229235">
              <a:lnSpc>
                <a:spcPct val="100000"/>
              </a:lnSpc>
              <a:spcBef>
                <a:spcPts val="5"/>
              </a:spcBef>
              <a:tabLst>
                <a:tab pos="1126490" algn="l"/>
              </a:tabLst>
            </a:pPr>
            <a:r>
              <a:rPr sz="850" spc="-25" dirty="0">
                <a:solidFill>
                  <a:srgbClr val="333333"/>
                </a:solidFill>
                <a:latin typeface="Microsoft Sans Serif"/>
                <a:cs typeface="Microsoft Sans Serif"/>
              </a:rPr>
              <a:t>Python</a:t>
            </a:r>
            <a:r>
              <a:rPr sz="850" spc="-5" dirty="0">
                <a:solidFill>
                  <a:srgbClr val="333333"/>
                </a:solidFill>
                <a:latin typeface="Microsoft Sans Serif"/>
                <a:cs typeface="Microsoft Sans Serif"/>
              </a:rPr>
              <a:t> </a:t>
            </a:r>
            <a:r>
              <a:rPr sz="800" spc="-20" dirty="0">
                <a:solidFill>
                  <a:srgbClr val="333333"/>
                </a:solidFill>
                <a:latin typeface="Microsoft Sans Serif"/>
                <a:cs typeface="Microsoft Sans Serif"/>
              </a:rPr>
              <a:t>3.11</a:t>
            </a:r>
            <a:r>
              <a:rPr sz="800" dirty="0">
                <a:solidFill>
                  <a:srgbClr val="333333"/>
                </a:solidFill>
                <a:latin typeface="Microsoft Sans Serif"/>
                <a:cs typeface="Microsoft Sans Serif"/>
              </a:rPr>
              <a:t>	</a:t>
            </a:r>
            <a:r>
              <a:rPr sz="850" spc="-30" dirty="0">
                <a:solidFill>
                  <a:srgbClr val="333333"/>
                </a:solidFill>
                <a:latin typeface="Microsoft Sans Serif"/>
                <a:cs typeface="Microsoft Sans Serif"/>
              </a:rPr>
              <a:t>State</a:t>
            </a:r>
            <a:r>
              <a:rPr sz="850" spc="-25" dirty="0">
                <a:solidFill>
                  <a:srgbClr val="333333"/>
                </a:solidFill>
                <a:latin typeface="Microsoft Sans Serif"/>
                <a:cs typeface="Microsoft Sans Serif"/>
              </a:rPr>
              <a:t> </a:t>
            </a:r>
            <a:r>
              <a:rPr sz="850" spc="-10" dirty="0">
                <a:solidFill>
                  <a:srgbClr val="333333"/>
                </a:solidFill>
                <a:latin typeface="Microsoft Sans Serif"/>
                <a:cs typeface="Microsoft Sans Serif"/>
              </a:rPr>
              <a:t>Machine</a:t>
            </a:r>
            <a:endParaRPr sz="850" dirty="0">
              <a:latin typeface="Microsoft Sans Serif"/>
              <a:cs typeface="Microsoft Sans Serif"/>
            </a:endParaRPr>
          </a:p>
          <a:p>
            <a:pPr>
              <a:lnSpc>
                <a:spcPct val="100000"/>
              </a:lnSpc>
              <a:spcBef>
                <a:spcPts val="254"/>
              </a:spcBef>
            </a:pPr>
            <a:endParaRPr sz="750" dirty="0">
              <a:latin typeface="Microsoft Sans Serif"/>
              <a:cs typeface="Microsoft Sans Serif"/>
            </a:endParaRPr>
          </a:p>
          <a:p>
            <a:pPr marL="12700">
              <a:lnSpc>
                <a:spcPct val="100000"/>
              </a:lnSpc>
            </a:pPr>
            <a:r>
              <a:rPr sz="900" spc="-30" dirty="0">
                <a:solidFill>
                  <a:srgbClr val="666666"/>
                </a:solidFill>
                <a:latin typeface="Microsoft Sans Serif"/>
                <a:cs typeface="Microsoft Sans Serif"/>
              </a:rPr>
              <a:t>Requires</a:t>
            </a:r>
            <a:r>
              <a:rPr sz="900" spc="-10" dirty="0">
                <a:solidFill>
                  <a:srgbClr val="666666"/>
                </a:solidFill>
                <a:latin typeface="Microsoft Sans Serif"/>
                <a:cs typeface="Microsoft Sans Serif"/>
              </a:rPr>
              <a:t> </a:t>
            </a:r>
            <a:r>
              <a:rPr sz="900" dirty="0">
                <a:solidFill>
                  <a:srgbClr val="666666"/>
                </a:solidFill>
                <a:latin typeface="Microsoft Sans Serif"/>
                <a:cs typeface="Microsoft Sans Serif"/>
              </a:rPr>
              <a:t>target</a:t>
            </a:r>
            <a:r>
              <a:rPr sz="900" spc="-5" dirty="0">
                <a:solidFill>
                  <a:srgbClr val="666666"/>
                </a:solidFill>
                <a:latin typeface="Microsoft Sans Serif"/>
                <a:cs typeface="Microsoft Sans Serif"/>
              </a:rPr>
              <a:t> </a:t>
            </a:r>
            <a:r>
              <a:rPr sz="900" dirty="0">
                <a:solidFill>
                  <a:srgbClr val="666666"/>
                </a:solidFill>
                <a:latin typeface="Microsoft Sans Serif"/>
                <a:cs typeface="Microsoft Sans Serif"/>
              </a:rPr>
              <a:t>in</a:t>
            </a:r>
            <a:r>
              <a:rPr sz="900" spc="-10" dirty="0">
                <a:solidFill>
                  <a:srgbClr val="666666"/>
                </a:solidFill>
                <a:latin typeface="Microsoft Sans Serif"/>
                <a:cs typeface="Microsoft Sans Serif"/>
              </a:rPr>
              <a:t> </a:t>
            </a:r>
            <a:r>
              <a:rPr sz="900" b="1" dirty="0">
                <a:solidFill>
                  <a:srgbClr val="666666"/>
                </a:solidFill>
                <a:latin typeface="Arial"/>
                <a:cs typeface="Arial"/>
              </a:rPr>
              <a:t>5+</a:t>
            </a:r>
            <a:r>
              <a:rPr sz="900" b="1" spc="-50" dirty="0">
                <a:solidFill>
                  <a:srgbClr val="666666"/>
                </a:solidFill>
                <a:latin typeface="Arial"/>
                <a:cs typeface="Arial"/>
              </a:rPr>
              <a:t> </a:t>
            </a:r>
            <a:r>
              <a:rPr sz="900" b="1" spc="-35" dirty="0">
                <a:solidFill>
                  <a:srgbClr val="666666"/>
                </a:solidFill>
                <a:latin typeface="Arial"/>
                <a:cs typeface="Arial"/>
              </a:rPr>
              <a:t>consecutive</a:t>
            </a:r>
            <a:r>
              <a:rPr sz="900" b="1" spc="-55" dirty="0">
                <a:solidFill>
                  <a:srgbClr val="666666"/>
                </a:solidFill>
                <a:latin typeface="Arial"/>
                <a:cs typeface="Arial"/>
              </a:rPr>
              <a:t> </a:t>
            </a:r>
            <a:r>
              <a:rPr sz="900" b="1" spc="-25" dirty="0">
                <a:solidFill>
                  <a:srgbClr val="666666"/>
                </a:solidFill>
                <a:latin typeface="Arial"/>
                <a:cs typeface="Arial"/>
              </a:rPr>
              <a:t>frames</a:t>
            </a:r>
            <a:r>
              <a:rPr sz="900" b="1" spc="-20" dirty="0">
                <a:solidFill>
                  <a:srgbClr val="666666"/>
                </a:solidFill>
                <a:latin typeface="Arial"/>
                <a:cs typeface="Arial"/>
              </a:rPr>
              <a:t> </a:t>
            </a:r>
            <a:r>
              <a:rPr sz="900" dirty="0">
                <a:solidFill>
                  <a:srgbClr val="666666"/>
                </a:solidFill>
                <a:latin typeface="Microsoft Sans Serif"/>
                <a:cs typeface="Microsoft Sans Serif"/>
              </a:rPr>
              <a:t>for</a:t>
            </a:r>
            <a:r>
              <a:rPr sz="900" spc="-5" dirty="0">
                <a:solidFill>
                  <a:srgbClr val="666666"/>
                </a:solidFill>
                <a:latin typeface="Microsoft Sans Serif"/>
                <a:cs typeface="Microsoft Sans Serif"/>
              </a:rPr>
              <a:t> </a:t>
            </a:r>
            <a:r>
              <a:rPr sz="900" spc="-10" dirty="0">
                <a:solidFill>
                  <a:srgbClr val="666666"/>
                </a:solidFill>
                <a:latin typeface="Microsoft Sans Serif"/>
                <a:cs typeface="Microsoft Sans Serif"/>
              </a:rPr>
              <a:t>Confirmed </a:t>
            </a:r>
            <a:r>
              <a:rPr sz="900" spc="-20" dirty="0">
                <a:solidFill>
                  <a:srgbClr val="666666"/>
                </a:solidFill>
                <a:latin typeface="Microsoft Sans Serif"/>
                <a:cs typeface="Microsoft Sans Serif"/>
              </a:rPr>
              <a:t>Find</a:t>
            </a:r>
            <a:r>
              <a:rPr sz="900" spc="-5" dirty="0">
                <a:solidFill>
                  <a:srgbClr val="666666"/>
                </a:solidFill>
                <a:latin typeface="Microsoft Sans Serif"/>
                <a:cs typeface="Microsoft Sans Serif"/>
              </a:rPr>
              <a:t> </a:t>
            </a:r>
            <a:r>
              <a:rPr sz="900" dirty="0">
                <a:solidFill>
                  <a:srgbClr val="666666"/>
                </a:solidFill>
                <a:latin typeface="Microsoft Sans Serif"/>
                <a:cs typeface="Microsoft Sans Serif"/>
              </a:rPr>
              <a:t>to</a:t>
            </a:r>
            <a:r>
              <a:rPr sz="900" spc="-5" dirty="0">
                <a:solidFill>
                  <a:srgbClr val="666666"/>
                </a:solidFill>
                <a:latin typeface="Microsoft Sans Serif"/>
                <a:cs typeface="Microsoft Sans Serif"/>
              </a:rPr>
              <a:t> </a:t>
            </a:r>
            <a:r>
              <a:rPr sz="900" spc="-10" dirty="0">
                <a:solidFill>
                  <a:srgbClr val="666666"/>
                </a:solidFill>
                <a:latin typeface="Microsoft Sans Serif"/>
                <a:cs typeface="Microsoft Sans Serif"/>
              </a:rPr>
              <a:t>prevent false</a:t>
            </a:r>
            <a:r>
              <a:rPr sz="900" spc="-5" dirty="0">
                <a:solidFill>
                  <a:srgbClr val="666666"/>
                </a:solidFill>
                <a:latin typeface="Microsoft Sans Serif"/>
                <a:cs typeface="Microsoft Sans Serif"/>
              </a:rPr>
              <a:t> </a:t>
            </a:r>
            <a:r>
              <a:rPr sz="900" spc="-10" dirty="0">
                <a:solidFill>
                  <a:srgbClr val="666666"/>
                </a:solidFill>
                <a:latin typeface="Microsoft Sans Serif"/>
                <a:cs typeface="Microsoft Sans Serif"/>
              </a:rPr>
              <a:t>alarms.</a:t>
            </a:r>
            <a:endParaRPr sz="900" dirty="0">
              <a:latin typeface="Microsoft Sans Serif"/>
              <a:cs typeface="Microsoft Sans Serif"/>
            </a:endParaRPr>
          </a:p>
          <a:p>
            <a:pPr>
              <a:lnSpc>
                <a:spcPct val="100000"/>
              </a:lnSpc>
              <a:spcBef>
                <a:spcPts val="110"/>
              </a:spcBef>
            </a:pPr>
            <a:endParaRPr sz="800" dirty="0">
              <a:latin typeface="Microsoft Sans Serif"/>
              <a:cs typeface="Microsoft Sans Serif"/>
            </a:endParaRPr>
          </a:p>
          <a:p>
            <a:pPr marL="12700">
              <a:lnSpc>
                <a:spcPct val="100000"/>
              </a:lnSpc>
              <a:spcBef>
                <a:spcPts val="5"/>
              </a:spcBef>
            </a:pPr>
            <a:r>
              <a:rPr sz="1050" b="1" spc="-30" dirty="0">
                <a:solidFill>
                  <a:srgbClr val="BF382A"/>
                </a:solidFill>
                <a:latin typeface="Arial"/>
                <a:cs typeface="Arial"/>
              </a:rPr>
              <a:t>Tier</a:t>
            </a:r>
            <a:r>
              <a:rPr sz="1050" b="1" spc="-75" dirty="0">
                <a:solidFill>
                  <a:srgbClr val="BF382A"/>
                </a:solidFill>
                <a:latin typeface="Arial"/>
                <a:cs typeface="Arial"/>
              </a:rPr>
              <a:t> </a:t>
            </a:r>
            <a:r>
              <a:rPr sz="1050" b="1" spc="-60" dirty="0">
                <a:solidFill>
                  <a:srgbClr val="BF382A"/>
                </a:solidFill>
                <a:latin typeface="Arial"/>
                <a:cs typeface="Arial"/>
              </a:rPr>
              <a:t>3:</a:t>
            </a:r>
            <a:r>
              <a:rPr sz="1050" b="1" spc="-75" dirty="0">
                <a:solidFill>
                  <a:srgbClr val="BF382A"/>
                </a:solidFill>
                <a:latin typeface="Arial"/>
                <a:cs typeface="Arial"/>
              </a:rPr>
              <a:t> </a:t>
            </a:r>
            <a:r>
              <a:rPr sz="1050" b="1" spc="-60" dirty="0">
                <a:solidFill>
                  <a:srgbClr val="BF382A"/>
                </a:solidFill>
                <a:latin typeface="Arial"/>
                <a:cs typeface="Arial"/>
              </a:rPr>
              <a:t>Control</a:t>
            </a:r>
            <a:r>
              <a:rPr sz="1050" b="1" spc="-75" dirty="0">
                <a:solidFill>
                  <a:srgbClr val="BF382A"/>
                </a:solidFill>
                <a:latin typeface="Arial"/>
                <a:cs typeface="Arial"/>
              </a:rPr>
              <a:t> </a:t>
            </a:r>
            <a:r>
              <a:rPr sz="1050" b="1" spc="-20" dirty="0">
                <a:solidFill>
                  <a:srgbClr val="BF382A"/>
                </a:solidFill>
                <a:latin typeface="Arial"/>
                <a:cs typeface="Arial"/>
              </a:rPr>
              <a:t>Layer</a:t>
            </a:r>
            <a:endParaRPr sz="1050" dirty="0">
              <a:latin typeface="Arial"/>
              <a:cs typeface="Arial"/>
            </a:endParaRPr>
          </a:p>
          <a:p>
            <a:pPr>
              <a:lnSpc>
                <a:spcPct val="100000"/>
              </a:lnSpc>
              <a:spcBef>
                <a:spcPts val="95"/>
              </a:spcBef>
            </a:pPr>
            <a:endParaRPr sz="950" dirty="0">
              <a:latin typeface="Arial"/>
              <a:cs typeface="Arial"/>
            </a:endParaRPr>
          </a:p>
          <a:p>
            <a:pPr marL="264795">
              <a:lnSpc>
                <a:spcPct val="100000"/>
              </a:lnSpc>
              <a:tabLst>
                <a:tab pos="1407795" algn="l"/>
              </a:tabLst>
            </a:pPr>
            <a:r>
              <a:rPr sz="850" spc="-15" dirty="0">
                <a:solidFill>
                  <a:srgbClr val="333333"/>
                </a:solidFill>
                <a:latin typeface="Microsoft Sans Serif"/>
                <a:cs typeface="Microsoft Sans Serif"/>
              </a:rPr>
              <a:t>DroneKit</a:t>
            </a:r>
            <a:r>
              <a:rPr sz="800" spc="-15" dirty="0">
                <a:solidFill>
                  <a:srgbClr val="333333"/>
                </a:solidFill>
                <a:latin typeface="Microsoft Sans Serif"/>
                <a:cs typeface="Microsoft Sans Serif"/>
              </a:rPr>
              <a:t>-</a:t>
            </a:r>
            <a:r>
              <a:rPr sz="850" spc="-10" dirty="0">
                <a:solidFill>
                  <a:srgbClr val="333333"/>
                </a:solidFill>
                <a:latin typeface="Microsoft Sans Serif"/>
                <a:cs typeface="Microsoft Sans Serif"/>
              </a:rPr>
              <a:t>Python</a:t>
            </a:r>
            <a:r>
              <a:rPr sz="850" dirty="0">
                <a:solidFill>
                  <a:srgbClr val="333333"/>
                </a:solidFill>
                <a:latin typeface="Microsoft Sans Serif"/>
                <a:cs typeface="Microsoft Sans Serif"/>
              </a:rPr>
              <a:t>	</a:t>
            </a:r>
            <a:r>
              <a:rPr sz="850" spc="-65" dirty="0">
                <a:solidFill>
                  <a:srgbClr val="333333"/>
                </a:solidFill>
                <a:latin typeface="Microsoft Sans Serif"/>
                <a:cs typeface="Microsoft Sans Serif"/>
              </a:rPr>
              <a:t>UART</a:t>
            </a:r>
            <a:r>
              <a:rPr sz="800" spc="-65" dirty="0">
                <a:solidFill>
                  <a:srgbClr val="333333"/>
                </a:solidFill>
                <a:latin typeface="Microsoft Sans Serif"/>
                <a:cs typeface="Microsoft Sans Serif"/>
              </a:rPr>
              <a:t>/</a:t>
            </a:r>
            <a:r>
              <a:rPr sz="850" spc="-65" dirty="0">
                <a:solidFill>
                  <a:srgbClr val="333333"/>
                </a:solidFill>
                <a:latin typeface="Microsoft Sans Serif"/>
                <a:cs typeface="Microsoft Sans Serif"/>
              </a:rPr>
              <a:t>USB</a:t>
            </a:r>
            <a:r>
              <a:rPr sz="850" spc="5" dirty="0">
                <a:solidFill>
                  <a:srgbClr val="333333"/>
                </a:solidFill>
                <a:latin typeface="Microsoft Sans Serif"/>
                <a:cs typeface="Microsoft Sans Serif"/>
              </a:rPr>
              <a:t> </a:t>
            </a:r>
            <a:r>
              <a:rPr sz="850" spc="-10" dirty="0">
                <a:solidFill>
                  <a:srgbClr val="333333"/>
                </a:solidFill>
                <a:latin typeface="Microsoft Sans Serif"/>
                <a:cs typeface="Microsoft Sans Serif"/>
              </a:rPr>
              <a:t>Interface</a:t>
            </a:r>
            <a:endParaRPr sz="850" dirty="0">
              <a:latin typeface="Microsoft Sans Serif"/>
              <a:cs typeface="Microsoft Sans Serif"/>
            </a:endParaRPr>
          </a:p>
          <a:p>
            <a:pPr>
              <a:lnSpc>
                <a:spcPct val="100000"/>
              </a:lnSpc>
              <a:spcBef>
                <a:spcPts val="254"/>
              </a:spcBef>
            </a:pPr>
            <a:endParaRPr sz="750" dirty="0">
              <a:latin typeface="Microsoft Sans Serif"/>
              <a:cs typeface="Microsoft Sans Serif"/>
            </a:endParaRPr>
          </a:p>
          <a:p>
            <a:pPr marL="12700">
              <a:lnSpc>
                <a:spcPct val="100000"/>
              </a:lnSpc>
            </a:pPr>
            <a:r>
              <a:rPr sz="900" spc="-25" dirty="0">
                <a:solidFill>
                  <a:srgbClr val="666666"/>
                </a:solidFill>
                <a:latin typeface="Microsoft Sans Serif"/>
                <a:cs typeface="Microsoft Sans Serif"/>
              </a:rPr>
              <a:t>Translates</a:t>
            </a:r>
            <a:r>
              <a:rPr sz="900" spc="-30" dirty="0">
                <a:solidFill>
                  <a:srgbClr val="666666"/>
                </a:solidFill>
                <a:latin typeface="Microsoft Sans Serif"/>
                <a:cs typeface="Microsoft Sans Serif"/>
              </a:rPr>
              <a:t> </a:t>
            </a:r>
            <a:r>
              <a:rPr sz="900" spc="-10" dirty="0">
                <a:solidFill>
                  <a:srgbClr val="666666"/>
                </a:solidFill>
                <a:latin typeface="Microsoft Sans Serif"/>
                <a:cs typeface="Microsoft Sans Serif"/>
              </a:rPr>
              <a:t>Confirmed</a:t>
            </a:r>
            <a:r>
              <a:rPr sz="900" spc="-15" dirty="0">
                <a:solidFill>
                  <a:srgbClr val="666666"/>
                </a:solidFill>
                <a:latin typeface="Microsoft Sans Serif"/>
                <a:cs typeface="Microsoft Sans Serif"/>
              </a:rPr>
              <a:t> </a:t>
            </a:r>
            <a:r>
              <a:rPr sz="900" spc="-20" dirty="0">
                <a:solidFill>
                  <a:srgbClr val="666666"/>
                </a:solidFill>
                <a:latin typeface="Microsoft Sans Serif"/>
                <a:cs typeface="Microsoft Sans Serif"/>
              </a:rPr>
              <a:t>Find </a:t>
            </a:r>
            <a:r>
              <a:rPr sz="900" dirty="0">
                <a:solidFill>
                  <a:srgbClr val="666666"/>
                </a:solidFill>
                <a:latin typeface="Microsoft Sans Serif"/>
                <a:cs typeface="Microsoft Sans Serif"/>
              </a:rPr>
              <a:t>into</a:t>
            </a:r>
            <a:r>
              <a:rPr sz="900" spc="-15" dirty="0">
                <a:solidFill>
                  <a:srgbClr val="666666"/>
                </a:solidFill>
                <a:latin typeface="Microsoft Sans Serif"/>
                <a:cs typeface="Microsoft Sans Serif"/>
              </a:rPr>
              <a:t> </a:t>
            </a:r>
            <a:r>
              <a:rPr sz="900" spc="-20" dirty="0">
                <a:solidFill>
                  <a:srgbClr val="666666"/>
                </a:solidFill>
                <a:latin typeface="Microsoft Sans Serif"/>
                <a:cs typeface="Microsoft Sans Serif"/>
              </a:rPr>
              <a:t>commands</a:t>
            </a:r>
            <a:r>
              <a:rPr sz="900" spc="-15" dirty="0">
                <a:solidFill>
                  <a:srgbClr val="666666"/>
                </a:solidFill>
                <a:latin typeface="Microsoft Sans Serif"/>
                <a:cs typeface="Microsoft Sans Serif"/>
              </a:rPr>
              <a:t> </a:t>
            </a:r>
            <a:r>
              <a:rPr sz="900" dirty="0">
                <a:solidFill>
                  <a:srgbClr val="666666"/>
                </a:solidFill>
                <a:latin typeface="Microsoft Sans Serif"/>
                <a:cs typeface="Microsoft Sans Serif"/>
              </a:rPr>
              <a:t>to</a:t>
            </a:r>
            <a:r>
              <a:rPr sz="900" spc="-15" dirty="0">
                <a:solidFill>
                  <a:srgbClr val="666666"/>
                </a:solidFill>
                <a:latin typeface="Microsoft Sans Serif"/>
                <a:cs typeface="Microsoft Sans Serif"/>
              </a:rPr>
              <a:t> </a:t>
            </a:r>
            <a:r>
              <a:rPr sz="900" spc="-10" dirty="0">
                <a:solidFill>
                  <a:srgbClr val="666666"/>
                </a:solidFill>
                <a:latin typeface="Microsoft Sans Serif"/>
                <a:cs typeface="Microsoft Sans Serif"/>
              </a:rPr>
              <a:t>halt</a:t>
            </a:r>
            <a:r>
              <a:rPr sz="900" spc="-20" dirty="0">
                <a:solidFill>
                  <a:srgbClr val="666666"/>
                </a:solidFill>
                <a:latin typeface="Microsoft Sans Serif"/>
                <a:cs typeface="Microsoft Sans Serif"/>
              </a:rPr>
              <a:t> </a:t>
            </a:r>
            <a:r>
              <a:rPr sz="900" spc="-10" dirty="0">
                <a:solidFill>
                  <a:srgbClr val="666666"/>
                </a:solidFill>
                <a:latin typeface="Microsoft Sans Serif"/>
                <a:cs typeface="Microsoft Sans Serif"/>
              </a:rPr>
              <a:t>drone</a:t>
            </a:r>
            <a:r>
              <a:rPr sz="900" spc="-15" dirty="0">
                <a:solidFill>
                  <a:srgbClr val="666666"/>
                </a:solidFill>
                <a:latin typeface="Microsoft Sans Serif"/>
                <a:cs typeface="Microsoft Sans Serif"/>
              </a:rPr>
              <a:t> </a:t>
            </a:r>
            <a:r>
              <a:rPr sz="900" spc="-20" dirty="0">
                <a:solidFill>
                  <a:srgbClr val="666666"/>
                </a:solidFill>
                <a:latin typeface="Microsoft Sans Serif"/>
                <a:cs typeface="Microsoft Sans Serif"/>
              </a:rPr>
              <a:t>and</a:t>
            </a:r>
            <a:r>
              <a:rPr sz="900" spc="-15" dirty="0">
                <a:solidFill>
                  <a:srgbClr val="666666"/>
                </a:solidFill>
                <a:latin typeface="Microsoft Sans Serif"/>
                <a:cs typeface="Microsoft Sans Serif"/>
              </a:rPr>
              <a:t> </a:t>
            </a:r>
            <a:r>
              <a:rPr sz="900" dirty="0">
                <a:solidFill>
                  <a:srgbClr val="666666"/>
                </a:solidFill>
                <a:latin typeface="Microsoft Sans Serif"/>
                <a:cs typeface="Microsoft Sans Serif"/>
              </a:rPr>
              <a:t>tag</a:t>
            </a:r>
            <a:r>
              <a:rPr sz="900" spc="-15" dirty="0">
                <a:solidFill>
                  <a:srgbClr val="666666"/>
                </a:solidFill>
                <a:latin typeface="Microsoft Sans Serif"/>
                <a:cs typeface="Microsoft Sans Serif"/>
              </a:rPr>
              <a:t> </a:t>
            </a:r>
            <a:r>
              <a:rPr sz="900" spc="-90" dirty="0">
                <a:solidFill>
                  <a:srgbClr val="666666"/>
                </a:solidFill>
                <a:latin typeface="Microsoft Sans Serif"/>
                <a:cs typeface="Microsoft Sans Serif"/>
              </a:rPr>
              <a:t>GPS</a:t>
            </a:r>
            <a:r>
              <a:rPr sz="900" spc="-10" dirty="0">
                <a:solidFill>
                  <a:srgbClr val="666666"/>
                </a:solidFill>
                <a:latin typeface="Microsoft Sans Serif"/>
                <a:cs typeface="Microsoft Sans Serif"/>
              </a:rPr>
              <a:t> location.</a:t>
            </a:r>
            <a:r>
              <a:rPr sz="900" spc="-15" dirty="0">
                <a:solidFill>
                  <a:srgbClr val="666666"/>
                </a:solidFill>
                <a:latin typeface="Microsoft Sans Serif"/>
                <a:cs typeface="Microsoft Sans Serif"/>
              </a:rPr>
              <a:t> </a:t>
            </a:r>
            <a:r>
              <a:rPr sz="900" dirty="0">
                <a:solidFill>
                  <a:srgbClr val="666666"/>
                </a:solidFill>
                <a:latin typeface="Microsoft Sans Serif"/>
                <a:cs typeface="Microsoft Sans Serif"/>
              </a:rPr>
              <a:t>Auto-</a:t>
            </a:r>
            <a:r>
              <a:rPr sz="900" spc="-75" dirty="0">
                <a:solidFill>
                  <a:srgbClr val="666666"/>
                </a:solidFill>
                <a:latin typeface="Microsoft Sans Serif"/>
                <a:cs typeface="Microsoft Sans Serif"/>
              </a:rPr>
              <a:t>RTB</a:t>
            </a:r>
            <a:r>
              <a:rPr sz="900" spc="-10" dirty="0">
                <a:solidFill>
                  <a:srgbClr val="666666"/>
                </a:solidFill>
                <a:latin typeface="Microsoft Sans Serif"/>
                <a:cs typeface="Microsoft Sans Serif"/>
              </a:rPr>
              <a:t> </a:t>
            </a:r>
            <a:r>
              <a:rPr sz="900" dirty="0">
                <a:solidFill>
                  <a:srgbClr val="666666"/>
                </a:solidFill>
                <a:latin typeface="Microsoft Sans Serif"/>
                <a:cs typeface="Microsoft Sans Serif"/>
              </a:rPr>
              <a:t>on</a:t>
            </a:r>
            <a:r>
              <a:rPr sz="900" spc="-20" dirty="0">
                <a:solidFill>
                  <a:srgbClr val="666666"/>
                </a:solidFill>
                <a:latin typeface="Microsoft Sans Serif"/>
                <a:cs typeface="Microsoft Sans Serif"/>
              </a:rPr>
              <a:t> </a:t>
            </a:r>
            <a:r>
              <a:rPr sz="900" dirty="0">
                <a:solidFill>
                  <a:srgbClr val="666666"/>
                </a:solidFill>
                <a:latin typeface="Microsoft Sans Serif"/>
                <a:cs typeface="Microsoft Sans Serif"/>
              </a:rPr>
              <a:t>low</a:t>
            </a:r>
            <a:r>
              <a:rPr sz="900" spc="-15" dirty="0">
                <a:solidFill>
                  <a:srgbClr val="666666"/>
                </a:solidFill>
                <a:latin typeface="Microsoft Sans Serif"/>
                <a:cs typeface="Microsoft Sans Serif"/>
              </a:rPr>
              <a:t> </a:t>
            </a:r>
            <a:r>
              <a:rPr sz="900" spc="-10" dirty="0">
                <a:solidFill>
                  <a:srgbClr val="666666"/>
                </a:solidFill>
                <a:latin typeface="Microsoft Sans Serif"/>
                <a:cs typeface="Microsoft Sans Serif"/>
              </a:rPr>
              <a:t>battery.</a:t>
            </a:r>
            <a:endParaRPr sz="900" dirty="0">
              <a:latin typeface="Microsoft Sans Serif"/>
              <a:cs typeface="Microsoft Sans Serif"/>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7265670">
              <a:lnSpc>
                <a:spcPct val="100000"/>
              </a:lnSpc>
              <a:spcBef>
                <a:spcPts val="100"/>
              </a:spcBef>
            </a:pPr>
            <a:r>
              <a:rPr spc="360" dirty="0"/>
              <a:t>06</a:t>
            </a:r>
          </a:p>
        </p:txBody>
      </p:sp>
      <p:sp>
        <p:nvSpPr>
          <p:cNvPr id="3" name="object 3"/>
          <p:cNvSpPr txBox="1"/>
          <p:nvPr/>
        </p:nvSpPr>
        <p:spPr>
          <a:xfrm>
            <a:off x="3345160" y="3348588"/>
            <a:ext cx="4006850" cy="1017269"/>
          </a:xfrm>
          <a:prstGeom prst="rect">
            <a:avLst/>
          </a:prstGeom>
        </p:spPr>
        <p:txBody>
          <a:bodyPr vert="horz" wrap="square" lIns="0" tIns="13335" rIns="0" bIns="0" rtlCol="0">
            <a:spAutoFit/>
          </a:bodyPr>
          <a:lstStyle/>
          <a:p>
            <a:pPr algn="ctr">
              <a:lnSpc>
                <a:spcPct val="100000"/>
              </a:lnSpc>
              <a:spcBef>
                <a:spcPts val="105"/>
              </a:spcBef>
            </a:pPr>
            <a:r>
              <a:rPr sz="3900" b="1" spc="-310" dirty="0">
                <a:solidFill>
                  <a:srgbClr val="FFFFFF"/>
                </a:solidFill>
                <a:latin typeface="Arial"/>
                <a:cs typeface="Arial"/>
              </a:rPr>
              <a:t>Key</a:t>
            </a:r>
            <a:r>
              <a:rPr sz="3900" b="1" spc="-395" dirty="0">
                <a:solidFill>
                  <a:srgbClr val="FFFFFF"/>
                </a:solidFill>
                <a:latin typeface="Arial"/>
                <a:cs typeface="Arial"/>
              </a:rPr>
              <a:t> </a:t>
            </a:r>
            <a:r>
              <a:rPr sz="3900" b="1" spc="-210" dirty="0">
                <a:solidFill>
                  <a:srgbClr val="FFFFFF"/>
                </a:solidFill>
                <a:latin typeface="Arial"/>
                <a:cs typeface="Arial"/>
              </a:rPr>
              <a:t>Functionalities</a:t>
            </a:r>
            <a:endParaRPr sz="3900">
              <a:latin typeface="Arial"/>
              <a:cs typeface="Arial"/>
            </a:endParaRPr>
          </a:p>
          <a:p>
            <a:pPr algn="ctr">
              <a:lnSpc>
                <a:spcPct val="100000"/>
              </a:lnSpc>
              <a:spcBef>
                <a:spcPts val="1320"/>
              </a:spcBef>
            </a:pPr>
            <a:r>
              <a:rPr sz="1500" spc="-45" dirty="0">
                <a:solidFill>
                  <a:srgbClr val="FFFFFF"/>
                </a:solidFill>
                <a:latin typeface="Microsoft Sans Serif"/>
                <a:cs typeface="Microsoft Sans Serif"/>
              </a:rPr>
              <a:t>Core</a:t>
            </a:r>
            <a:r>
              <a:rPr sz="1500" spc="-30" dirty="0">
                <a:solidFill>
                  <a:srgbClr val="FFFFFF"/>
                </a:solidFill>
                <a:latin typeface="Microsoft Sans Serif"/>
                <a:cs typeface="Microsoft Sans Serif"/>
              </a:rPr>
              <a:t> </a:t>
            </a:r>
            <a:r>
              <a:rPr sz="1500" spc="-25" dirty="0">
                <a:solidFill>
                  <a:srgbClr val="FFFFFF"/>
                </a:solidFill>
                <a:latin typeface="Microsoft Sans Serif"/>
                <a:cs typeface="Microsoft Sans Serif"/>
              </a:rPr>
              <a:t>capabilities </a:t>
            </a:r>
            <a:r>
              <a:rPr sz="1500" dirty="0">
                <a:solidFill>
                  <a:srgbClr val="FFFFFF"/>
                </a:solidFill>
                <a:latin typeface="Microsoft Sans Serif"/>
                <a:cs typeface="Microsoft Sans Serif"/>
              </a:rPr>
              <a:t>of</a:t>
            </a:r>
            <a:r>
              <a:rPr sz="1500" spc="-30" dirty="0">
                <a:solidFill>
                  <a:srgbClr val="FFFFFF"/>
                </a:solidFill>
                <a:latin typeface="Microsoft Sans Serif"/>
                <a:cs typeface="Microsoft Sans Serif"/>
              </a:rPr>
              <a:t> </a:t>
            </a:r>
            <a:r>
              <a:rPr sz="1500" dirty="0">
                <a:solidFill>
                  <a:srgbClr val="FFFFFF"/>
                </a:solidFill>
                <a:latin typeface="Microsoft Sans Serif"/>
                <a:cs typeface="Microsoft Sans Serif"/>
              </a:rPr>
              <a:t>the</a:t>
            </a:r>
            <a:r>
              <a:rPr sz="1500" spc="-25" dirty="0">
                <a:solidFill>
                  <a:srgbClr val="FFFFFF"/>
                </a:solidFill>
                <a:latin typeface="Microsoft Sans Serif"/>
                <a:cs typeface="Microsoft Sans Serif"/>
              </a:rPr>
              <a:t> </a:t>
            </a:r>
            <a:r>
              <a:rPr sz="1500" spc="-10" dirty="0">
                <a:solidFill>
                  <a:srgbClr val="FFFFFF"/>
                </a:solidFill>
                <a:latin typeface="Microsoft Sans Serif"/>
                <a:cs typeface="Microsoft Sans Serif"/>
              </a:rPr>
              <a:t>system</a:t>
            </a:r>
            <a:endParaRPr sz="1500">
              <a:latin typeface="Microsoft Sans Serif"/>
              <a:cs typeface="Microsoft Sans Serif"/>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76324" y="1285870"/>
            <a:ext cx="8543925" cy="28575"/>
          </a:xfrm>
          <a:custGeom>
            <a:avLst/>
            <a:gdLst/>
            <a:ahLst/>
            <a:cxnLst/>
            <a:rect l="l" t="t" r="r" b="b"/>
            <a:pathLst>
              <a:path w="8543925" h="28575">
                <a:moveTo>
                  <a:pt x="8543924" y="28574"/>
                </a:moveTo>
                <a:lnTo>
                  <a:pt x="0" y="28574"/>
                </a:lnTo>
                <a:lnTo>
                  <a:pt x="0" y="0"/>
                </a:lnTo>
                <a:lnTo>
                  <a:pt x="8543924" y="0"/>
                </a:lnTo>
                <a:lnTo>
                  <a:pt x="8543924" y="28574"/>
                </a:lnTo>
                <a:close/>
              </a:path>
            </a:pathLst>
          </a:custGeom>
          <a:solidFill>
            <a:srgbClr val="BF382A"/>
          </a:solidFill>
        </p:spPr>
        <p:txBody>
          <a:bodyPr wrap="square" lIns="0" tIns="0" rIns="0" bIns="0" rtlCol="0"/>
          <a:lstStyle/>
          <a:p>
            <a:endParaRPr/>
          </a:p>
        </p:txBody>
      </p:sp>
      <p:pic>
        <p:nvPicPr>
          <p:cNvPr id="3" name="object 3"/>
          <p:cNvPicPr/>
          <p:nvPr/>
        </p:nvPicPr>
        <p:blipFill>
          <a:blip r:embed="rId3" cstate="print"/>
          <a:stretch>
            <a:fillRect/>
          </a:stretch>
        </p:blipFill>
        <p:spPr>
          <a:xfrm>
            <a:off x="1079896" y="952500"/>
            <a:ext cx="260350" cy="209550"/>
          </a:xfrm>
          <a:prstGeom prst="rect">
            <a:avLst/>
          </a:prstGeom>
        </p:spPr>
      </p:pic>
      <p:sp>
        <p:nvSpPr>
          <p:cNvPr id="4" name="object 4"/>
          <p:cNvSpPr txBox="1">
            <a:spLocks noGrp="1"/>
          </p:cNvSpPr>
          <p:nvPr>
            <p:ph type="title"/>
          </p:nvPr>
        </p:nvSpPr>
        <p:spPr>
          <a:xfrm>
            <a:off x="1318771" y="637113"/>
            <a:ext cx="8310264" cy="607027"/>
          </a:xfrm>
          <a:prstGeom prst="rect">
            <a:avLst/>
          </a:prstGeom>
        </p:spPr>
        <p:txBody>
          <a:bodyPr vert="horz" wrap="square" lIns="0" tIns="174436" rIns="0" bIns="0" rtlCol="0">
            <a:spAutoFit/>
          </a:bodyPr>
          <a:lstStyle/>
          <a:p>
            <a:pPr marL="117475">
              <a:lnSpc>
                <a:spcPct val="100000"/>
              </a:lnSpc>
              <a:spcBef>
                <a:spcPts val="90"/>
              </a:spcBef>
            </a:pPr>
            <a:r>
              <a:rPr sz="2800" spc="-155" dirty="0">
                <a:solidFill>
                  <a:srgbClr val="BF382A"/>
                </a:solidFill>
              </a:rPr>
              <a:t>Key</a:t>
            </a:r>
            <a:r>
              <a:rPr sz="2800" spc="-175" dirty="0">
                <a:solidFill>
                  <a:srgbClr val="BF382A"/>
                </a:solidFill>
              </a:rPr>
              <a:t> </a:t>
            </a:r>
            <a:r>
              <a:rPr sz="2800" spc="-105" dirty="0">
                <a:solidFill>
                  <a:srgbClr val="BF382A"/>
                </a:solidFill>
              </a:rPr>
              <a:t>Functionalities</a:t>
            </a:r>
            <a:endParaRPr sz="2800" dirty="0"/>
          </a:p>
        </p:txBody>
      </p:sp>
      <p:grpSp>
        <p:nvGrpSpPr>
          <p:cNvPr id="5" name="object 5"/>
          <p:cNvGrpSpPr/>
          <p:nvPr/>
        </p:nvGrpSpPr>
        <p:grpSpPr>
          <a:xfrm>
            <a:off x="1084793" y="1885629"/>
            <a:ext cx="2753043" cy="1787846"/>
            <a:chOff x="1076324" y="1457320"/>
            <a:chExt cx="2752725" cy="1400175"/>
          </a:xfrm>
        </p:grpSpPr>
        <p:sp>
          <p:nvSpPr>
            <p:cNvPr id="6" name="object 6"/>
            <p:cNvSpPr/>
            <p:nvPr/>
          </p:nvSpPr>
          <p:spPr>
            <a:xfrm>
              <a:off x="1090612" y="1457320"/>
              <a:ext cx="2738755" cy="1400175"/>
            </a:xfrm>
            <a:custGeom>
              <a:avLst/>
              <a:gdLst/>
              <a:ahLst/>
              <a:cxnLst/>
              <a:rect l="l" t="t" r="r" b="b"/>
              <a:pathLst>
                <a:path w="2738754" h="1400175">
                  <a:moveTo>
                    <a:pt x="2667240" y="1400165"/>
                  </a:moveTo>
                  <a:lnTo>
                    <a:pt x="57847" y="1400165"/>
                  </a:lnTo>
                  <a:lnTo>
                    <a:pt x="53821" y="1399672"/>
                  </a:lnTo>
                  <a:lnTo>
                    <a:pt x="15259" y="1374306"/>
                  </a:lnTo>
                  <a:lnTo>
                    <a:pt x="396" y="1333927"/>
                  </a:lnTo>
                  <a:lnTo>
                    <a:pt x="0" y="1328969"/>
                  </a:lnTo>
                  <a:lnTo>
                    <a:pt x="0" y="1323974"/>
                  </a:lnTo>
                  <a:lnTo>
                    <a:pt x="0" y="71186"/>
                  </a:lnTo>
                  <a:lnTo>
                    <a:pt x="12692" y="29691"/>
                  </a:lnTo>
                  <a:lnTo>
                    <a:pt x="41975" y="3878"/>
                  </a:lnTo>
                  <a:lnTo>
                    <a:pt x="57847" y="0"/>
                  </a:lnTo>
                  <a:lnTo>
                    <a:pt x="2667240" y="0"/>
                  </a:lnTo>
                  <a:lnTo>
                    <a:pt x="2708731" y="15608"/>
                  </a:lnTo>
                  <a:lnTo>
                    <a:pt x="2734551" y="51643"/>
                  </a:lnTo>
                  <a:lnTo>
                    <a:pt x="2738437" y="71186"/>
                  </a:lnTo>
                  <a:lnTo>
                    <a:pt x="2738437" y="1328969"/>
                  </a:lnTo>
                  <a:lnTo>
                    <a:pt x="2722815" y="1370446"/>
                  </a:lnTo>
                  <a:lnTo>
                    <a:pt x="2686774" y="1396277"/>
                  </a:lnTo>
                  <a:lnTo>
                    <a:pt x="2672195" y="1399672"/>
                  </a:lnTo>
                  <a:lnTo>
                    <a:pt x="2667240" y="1400165"/>
                  </a:lnTo>
                  <a:close/>
                </a:path>
              </a:pathLst>
            </a:custGeom>
            <a:solidFill>
              <a:srgbClr val="F7F9FA"/>
            </a:solidFill>
          </p:spPr>
          <p:txBody>
            <a:bodyPr wrap="square" lIns="0" tIns="0" rIns="0" bIns="0" rtlCol="0"/>
            <a:lstStyle/>
            <a:p>
              <a:endParaRPr sz="2800"/>
            </a:p>
          </p:txBody>
        </p:sp>
        <p:sp>
          <p:nvSpPr>
            <p:cNvPr id="7" name="object 7"/>
            <p:cNvSpPr/>
            <p:nvPr/>
          </p:nvSpPr>
          <p:spPr>
            <a:xfrm>
              <a:off x="1076324" y="1457698"/>
              <a:ext cx="69215" cy="1399540"/>
            </a:xfrm>
            <a:custGeom>
              <a:avLst/>
              <a:gdLst/>
              <a:ahLst/>
              <a:cxnLst/>
              <a:rect l="l" t="t" r="r" b="b"/>
              <a:pathLst>
                <a:path w="69215" h="1399539">
                  <a:moveTo>
                    <a:pt x="68698" y="1399419"/>
                  </a:moveTo>
                  <a:lnTo>
                    <a:pt x="27882" y="1382530"/>
                  </a:lnTo>
                  <a:lnTo>
                    <a:pt x="3262" y="1345683"/>
                  </a:lnTo>
                  <a:lnTo>
                    <a:pt x="0" y="1323597"/>
                  </a:lnTo>
                  <a:lnTo>
                    <a:pt x="0" y="75822"/>
                  </a:lnTo>
                  <a:lnTo>
                    <a:pt x="12830" y="33480"/>
                  </a:lnTo>
                  <a:lnTo>
                    <a:pt x="47039" y="5422"/>
                  </a:lnTo>
                  <a:lnTo>
                    <a:pt x="68698" y="0"/>
                  </a:lnTo>
                  <a:lnTo>
                    <a:pt x="63809" y="1555"/>
                  </a:lnTo>
                  <a:lnTo>
                    <a:pt x="52139" y="9289"/>
                  </a:lnTo>
                  <a:lnTo>
                    <a:pt x="32200" y="46661"/>
                  </a:lnTo>
                  <a:lnTo>
                    <a:pt x="28575" y="75822"/>
                  </a:lnTo>
                  <a:lnTo>
                    <a:pt x="28575" y="1323597"/>
                  </a:lnTo>
                  <a:lnTo>
                    <a:pt x="36593" y="1365939"/>
                  </a:lnTo>
                  <a:lnTo>
                    <a:pt x="63809" y="1397863"/>
                  </a:lnTo>
                  <a:lnTo>
                    <a:pt x="68698" y="1399419"/>
                  </a:lnTo>
                  <a:close/>
                </a:path>
              </a:pathLst>
            </a:custGeom>
            <a:solidFill>
              <a:srgbClr val="BF382A"/>
            </a:solidFill>
          </p:spPr>
          <p:txBody>
            <a:bodyPr wrap="square" lIns="0" tIns="0" rIns="0" bIns="0" rtlCol="0"/>
            <a:lstStyle/>
            <a:p>
              <a:endParaRPr sz="2800"/>
            </a:p>
          </p:txBody>
        </p:sp>
        <p:pic>
          <p:nvPicPr>
            <p:cNvPr id="8" name="object 8"/>
            <p:cNvPicPr/>
            <p:nvPr/>
          </p:nvPicPr>
          <p:blipFill>
            <a:blip r:embed="rId4" cstate="print"/>
            <a:stretch>
              <a:fillRect/>
            </a:stretch>
          </p:blipFill>
          <p:spPr>
            <a:xfrm>
              <a:off x="1247774" y="1600195"/>
              <a:ext cx="333374" cy="333374"/>
            </a:xfrm>
            <a:prstGeom prst="rect">
              <a:avLst/>
            </a:prstGeom>
          </p:spPr>
        </p:pic>
        <p:pic>
          <p:nvPicPr>
            <p:cNvPr id="9" name="object 9"/>
            <p:cNvPicPr/>
            <p:nvPr/>
          </p:nvPicPr>
          <p:blipFill>
            <a:blip r:embed="rId5" cstate="print"/>
            <a:stretch>
              <a:fillRect/>
            </a:stretch>
          </p:blipFill>
          <p:spPr>
            <a:xfrm>
              <a:off x="1334690" y="1701799"/>
              <a:ext cx="168275" cy="136525"/>
            </a:xfrm>
            <a:prstGeom prst="rect">
              <a:avLst/>
            </a:prstGeom>
          </p:spPr>
        </p:pic>
      </p:grpSp>
      <p:sp>
        <p:nvSpPr>
          <p:cNvPr id="10" name="object 10"/>
          <p:cNvSpPr txBox="1"/>
          <p:nvPr/>
        </p:nvSpPr>
        <p:spPr>
          <a:xfrm>
            <a:off x="1402139" y="2429779"/>
            <a:ext cx="2273935" cy="1142300"/>
          </a:xfrm>
          <a:prstGeom prst="rect">
            <a:avLst/>
          </a:prstGeom>
        </p:spPr>
        <p:txBody>
          <a:bodyPr vert="horz" wrap="square" lIns="0" tIns="100330" rIns="0" bIns="0" rtlCol="0">
            <a:spAutoFit/>
          </a:bodyPr>
          <a:lstStyle/>
          <a:p>
            <a:pPr marL="12700">
              <a:lnSpc>
                <a:spcPct val="100000"/>
              </a:lnSpc>
              <a:spcBef>
                <a:spcPts val="790"/>
              </a:spcBef>
            </a:pPr>
            <a:r>
              <a:rPr sz="1400" b="1" spc="-80" dirty="0">
                <a:solidFill>
                  <a:srgbClr val="1A1A2E"/>
                </a:solidFill>
                <a:latin typeface="Arial"/>
                <a:cs typeface="Arial"/>
              </a:rPr>
              <a:t>Human</a:t>
            </a:r>
            <a:r>
              <a:rPr sz="1400" b="1" spc="-65" dirty="0">
                <a:solidFill>
                  <a:srgbClr val="1A1A2E"/>
                </a:solidFill>
                <a:latin typeface="Arial"/>
                <a:cs typeface="Arial"/>
              </a:rPr>
              <a:t> </a:t>
            </a:r>
            <a:r>
              <a:rPr sz="1400" b="1" spc="-10" dirty="0">
                <a:solidFill>
                  <a:srgbClr val="1A1A2E"/>
                </a:solidFill>
                <a:latin typeface="Arial"/>
                <a:cs typeface="Arial"/>
              </a:rPr>
              <a:t>Detection</a:t>
            </a:r>
            <a:endParaRPr sz="1400" dirty="0">
              <a:latin typeface="Arial"/>
              <a:cs typeface="Arial"/>
            </a:endParaRPr>
          </a:p>
          <a:p>
            <a:pPr marL="12700" marR="5080">
              <a:lnSpc>
                <a:spcPct val="114599"/>
              </a:lnSpc>
              <a:spcBef>
                <a:spcPts val="459"/>
              </a:spcBef>
            </a:pPr>
            <a:r>
              <a:rPr sz="1100" spc="-10" dirty="0">
                <a:solidFill>
                  <a:srgbClr val="666666"/>
                </a:solidFill>
                <a:latin typeface="Microsoft Sans Serif"/>
                <a:cs typeface="Microsoft Sans Serif"/>
              </a:rPr>
              <a:t>Detect</a:t>
            </a:r>
            <a:r>
              <a:rPr sz="1100" spc="-15" dirty="0">
                <a:solidFill>
                  <a:srgbClr val="666666"/>
                </a:solidFill>
                <a:latin typeface="Microsoft Sans Serif"/>
                <a:cs typeface="Microsoft Sans Serif"/>
              </a:rPr>
              <a:t> </a:t>
            </a:r>
            <a:r>
              <a:rPr sz="1100" spc="-25" dirty="0">
                <a:solidFill>
                  <a:srgbClr val="666666"/>
                </a:solidFill>
                <a:latin typeface="Microsoft Sans Serif"/>
                <a:cs typeface="Microsoft Sans Serif"/>
              </a:rPr>
              <a:t>humans</a:t>
            </a:r>
            <a:r>
              <a:rPr sz="1100" spc="-10" dirty="0">
                <a:solidFill>
                  <a:srgbClr val="666666"/>
                </a:solidFill>
                <a:latin typeface="Microsoft Sans Serif"/>
                <a:cs typeface="Microsoft Sans Serif"/>
              </a:rPr>
              <a:t> </a:t>
            </a:r>
            <a:r>
              <a:rPr sz="1100" dirty="0">
                <a:solidFill>
                  <a:srgbClr val="666666"/>
                </a:solidFill>
                <a:latin typeface="Microsoft Sans Serif"/>
                <a:cs typeface="Microsoft Sans Serif"/>
              </a:rPr>
              <a:t>from</a:t>
            </a:r>
            <a:r>
              <a:rPr sz="1100" spc="-15" dirty="0">
                <a:solidFill>
                  <a:srgbClr val="666666"/>
                </a:solidFill>
                <a:latin typeface="Microsoft Sans Serif"/>
                <a:cs typeface="Microsoft Sans Serif"/>
              </a:rPr>
              <a:t> </a:t>
            </a:r>
            <a:r>
              <a:rPr sz="1100" spc="-20" dirty="0">
                <a:solidFill>
                  <a:srgbClr val="666666"/>
                </a:solidFill>
                <a:latin typeface="Microsoft Sans Serif"/>
                <a:cs typeface="Microsoft Sans Serif"/>
              </a:rPr>
              <a:t>aerial</a:t>
            </a:r>
            <a:r>
              <a:rPr sz="1100" spc="-10" dirty="0">
                <a:solidFill>
                  <a:srgbClr val="666666"/>
                </a:solidFill>
                <a:latin typeface="Microsoft Sans Serif"/>
                <a:cs typeface="Microsoft Sans Serif"/>
              </a:rPr>
              <a:t> imagery </a:t>
            </a:r>
            <a:r>
              <a:rPr sz="1100" spc="-20" dirty="0">
                <a:solidFill>
                  <a:srgbClr val="666666"/>
                </a:solidFill>
                <a:latin typeface="Microsoft Sans Serif"/>
                <a:cs typeface="Microsoft Sans Serif"/>
              </a:rPr>
              <a:t>with </a:t>
            </a:r>
            <a:r>
              <a:rPr sz="1100" spc="-10" dirty="0">
                <a:solidFill>
                  <a:srgbClr val="666666"/>
                </a:solidFill>
                <a:latin typeface="Microsoft Sans Serif"/>
                <a:cs typeface="Microsoft Sans Serif"/>
              </a:rPr>
              <a:t>bounding</a:t>
            </a:r>
            <a:r>
              <a:rPr sz="1100" spc="-30" dirty="0">
                <a:solidFill>
                  <a:srgbClr val="666666"/>
                </a:solidFill>
                <a:latin typeface="Microsoft Sans Serif"/>
                <a:cs typeface="Microsoft Sans Serif"/>
              </a:rPr>
              <a:t> </a:t>
            </a:r>
            <a:r>
              <a:rPr sz="1100" spc="-20" dirty="0">
                <a:solidFill>
                  <a:srgbClr val="666666"/>
                </a:solidFill>
                <a:latin typeface="Microsoft Sans Serif"/>
                <a:cs typeface="Microsoft Sans Serif"/>
              </a:rPr>
              <a:t>boxes</a:t>
            </a:r>
            <a:r>
              <a:rPr sz="1100" spc="-25" dirty="0">
                <a:solidFill>
                  <a:srgbClr val="666666"/>
                </a:solidFill>
                <a:latin typeface="Microsoft Sans Serif"/>
                <a:cs typeface="Microsoft Sans Serif"/>
              </a:rPr>
              <a:t> </a:t>
            </a:r>
            <a:r>
              <a:rPr sz="1100" spc="-20" dirty="0">
                <a:solidFill>
                  <a:srgbClr val="666666"/>
                </a:solidFill>
                <a:latin typeface="Microsoft Sans Serif"/>
                <a:cs typeface="Microsoft Sans Serif"/>
              </a:rPr>
              <a:t>and</a:t>
            </a:r>
            <a:r>
              <a:rPr sz="1100" spc="-25" dirty="0">
                <a:solidFill>
                  <a:srgbClr val="666666"/>
                </a:solidFill>
                <a:latin typeface="Microsoft Sans Serif"/>
                <a:cs typeface="Microsoft Sans Serif"/>
              </a:rPr>
              <a:t> </a:t>
            </a:r>
            <a:r>
              <a:rPr sz="1100" dirty="0">
                <a:solidFill>
                  <a:srgbClr val="666666"/>
                </a:solidFill>
                <a:latin typeface="Microsoft Sans Serif"/>
                <a:cs typeface="Microsoft Sans Serif"/>
              </a:rPr>
              <a:t>confidence</a:t>
            </a:r>
            <a:r>
              <a:rPr sz="1100" spc="-25" dirty="0">
                <a:solidFill>
                  <a:srgbClr val="666666"/>
                </a:solidFill>
                <a:latin typeface="Microsoft Sans Serif"/>
                <a:cs typeface="Microsoft Sans Serif"/>
              </a:rPr>
              <a:t> </a:t>
            </a:r>
            <a:r>
              <a:rPr sz="1100" spc="-10" dirty="0">
                <a:solidFill>
                  <a:srgbClr val="666666"/>
                </a:solidFill>
                <a:latin typeface="Microsoft Sans Serif"/>
                <a:cs typeface="Microsoft Sans Serif"/>
              </a:rPr>
              <a:t>scores.</a:t>
            </a:r>
            <a:r>
              <a:rPr sz="1100" spc="-25" dirty="0">
                <a:solidFill>
                  <a:srgbClr val="666666"/>
                </a:solidFill>
                <a:latin typeface="Microsoft Sans Serif"/>
                <a:cs typeface="Microsoft Sans Serif"/>
              </a:rPr>
              <a:t> </a:t>
            </a:r>
            <a:r>
              <a:rPr sz="1100" spc="-20" dirty="0">
                <a:solidFill>
                  <a:srgbClr val="666666"/>
                </a:solidFill>
                <a:latin typeface="Microsoft Sans Serif"/>
                <a:cs typeface="Microsoft Sans Serif"/>
              </a:rPr>
              <a:t>Top- </a:t>
            </a:r>
            <a:r>
              <a:rPr sz="1100" dirty="0">
                <a:solidFill>
                  <a:srgbClr val="666666"/>
                </a:solidFill>
                <a:latin typeface="Microsoft Sans Serif"/>
                <a:cs typeface="Microsoft Sans Serif"/>
              </a:rPr>
              <a:t>down</a:t>
            </a:r>
            <a:r>
              <a:rPr sz="1100" spc="-35" dirty="0">
                <a:solidFill>
                  <a:srgbClr val="666666"/>
                </a:solidFill>
                <a:latin typeface="Microsoft Sans Serif"/>
                <a:cs typeface="Microsoft Sans Serif"/>
              </a:rPr>
              <a:t> </a:t>
            </a:r>
            <a:r>
              <a:rPr sz="1100" spc="-20" dirty="0">
                <a:solidFill>
                  <a:srgbClr val="666666"/>
                </a:solidFill>
                <a:latin typeface="Microsoft Sans Serif"/>
                <a:cs typeface="Microsoft Sans Serif"/>
              </a:rPr>
              <a:t>and</a:t>
            </a:r>
            <a:r>
              <a:rPr sz="1100" spc="-30" dirty="0">
                <a:solidFill>
                  <a:srgbClr val="666666"/>
                </a:solidFill>
                <a:latin typeface="Microsoft Sans Serif"/>
                <a:cs typeface="Microsoft Sans Serif"/>
              </a:rPr>
              <a:t> </a:t>
            </a:r>
            <a:r>
              <a:rPr sz="1100" spc="-10" dirty="0">
                <a:solidFill>
                  <a:srgbClr val="666666"/>
                </a:solidFill>
                <a:latin typeface="Microsoft Sans Serif"/>
                <a:cs typeface="Microsoft Sans Serif"/>
              </a:rPr>
              <a:t>oblique</a:t>
            </a:r>
            <a:r>
              <a:rPr sz="1100" spc="-30" dirty="0">
                <a:solidFill>
                  <a:srgbClr val="666666"/>
                </a:solidFill>
                <a:latin typeface="Microsoft Sans Serif"/>
                <a:cs typeface="Microsoft Sans Serif"/>
              </a:rPr>
              <a:t> </a:t>
            </a:r>
            <a:r>
              <a:rPr sz="1100" spc="-10" dirty="0">
                <a:solidFill>
                  <a:srgbClr val="666666"/>
                </a:solidFill>
                <a:latin typeface="Microsoft Sans Serif"/>
                <a:cs typeface="Microsoft Sans Serif"/>
              </a:rPr>
              <a:t>angles.</a:t>
            </a:r>
            <a:endParaRPr sz="1100" dirty="0">
              <a:latin typeface="Microsoft Sans Serif"/>
              <a:cs typeface="Microsoft Sans Serif"/>
            </a:endParaRPr>
          </a:p>
        </p:txBody>
      </p:sp>
      <p:grpSp>
        <p:nvGrpSpPr>
          <p:cNvPr id="11" name="object 11"/>
          <p:cNvGrpSpPr/>
          <p:nvPr/>
        </p:nvGrpSpPr>
        <p:grpSpPr>
          <a:xfrm>
            <a:off x="3980393" y="1885629"/>
            <a:ext cx="2712625" cy="1787518"/>
            <a:chOff x="3971924" y="1457320"/>
            <a:chExt cx="2752725" cy="1400175"/>
          </a:xfrm>
        </p:grpSpPr>
        <p:sp>
          <p:nvSpPr>
            <p:cNvPr id="12" name="object 12"/>
            <p:cNvSpPr/>
            <p:nvPr/>
          </p:nvSpPr>
          <p:spPr>
            <a:xfrm>
              <a:off x="3986212" y="1457320"/>
              <a:ext cx="2738755" cy="1400175"/>
            </a:xfrm>
            <a:custGeom>
              <a:avLst/>
              <a:gdLst/>
              <a:ahLst/>
              <a:cxnLst/>
              <a:rect l="l" t="t" r="r" b="b"/>
              <a:pathLst>
                <a:path w="2738754" h="1400175">
                  <a:moveTo>
                    <a:pt x="2667240" y="1400165"/>
                  </a:moveTo>
                  <a:lnTo>
                    <a:pt x="57847" y="1400165"/>
                  </a:lnTo>
                  <a:lnTo>
                    <a:pt x="53821" y="1399672"/>
                  </a:lnTo>
                  <a:lnTo>
                    <a:pt x="15258" y="1374306"/>
                  </a:lnTo>
                  <a:lnTo>
                    <a:pt x="396" y="1333927"/>
                  </a:lnTo>
                  <a:lnTo>
                    <a:pt x="0" y="1328969"/>
                  </a:lnTo>
                  <a:lnTo>
                    <a:pt x="0" y="1323974"/>
                  </a:lnTo>
                  <a:lnTo>
                    <a:pt x="0" y="71186"/>
                  </a:lnTo>
                  <a:lnTo>
                    <a:pt x="12692" y="29691"/>
                  </a:lnTo>
                  <a:lnTo>
                    <a:pt x="41975" y="3878"/>
                  </a:lnTo>
                  <a:lnTo>
                    <a:pt x="57847" y="0"/>
                  </a:lnTo>
                  <a:lnTo>
                    <a:pt x="2667240" y="0"/>
                  </a:lnTo>
                  <a:lnTo>
                    <a:pt x="2708731" y="15608"/>
                  </a:lnTo>
                  <a:lnTo>
                    <a:pt x="2734551" y="51643"/>
                  </a:lnTo>
                  <a:lnTo>
                    <a:pt x="2738436" y="71186"/>
                  </a:lnTo>
                  <a:lnTo>
                    <a:pt x="2738436" y="1328969"/>
                  </a:lnTo>
                  <a:lnTo>
                    <a:pt x="2722815" y="1370446"/>
                  </a:lnTo>
                  <a:lnTo>
                    <a:pt x="2686775" y="1396277"/>
                  </a:lnTo>
                  <a:lnTo>
                    <a:pt x="2672195" y="1399672"/>
                  </a:lnTo>
                  <a:lnTo>
                    <a:pt x="2667240" y="1400165"/>
                  </a:lnTo>
                  <a:close/>
                </a:path>
              </a:pathLst>
            </a:custGeom>
            <a:solidFill>
              <a:srgbClr val="F7F9FA"/>
            </a:solidFill>
          </p:spPr>
          <p:txBody>
            <a:bodyPr wrap="square" lIns="0" tIns="0" rIns="0" bIns="0" rtlCol="0"/>
            <a:lstStyle/>
            <a:p>
              <a:endParaRPr sz="2800"/>
            </a:p>
          </p:txBody>
        </p:sp>
        <p:sp>
          <p:nvSpPr>
            <p:cNvPr id="13" name="object 13"/>
            <p:cNvSpPr/>
            <p:nvPr/>
          </p:nvSpPr>
          <p:spPr>
            <a:xfrm>
              <a:off x="3971924" y="1457698"/>
              <a:ext cx="69215" cy="1399540"/>
            </a:xfrm>
            <a:custGeom>
              <a:avLst/>
              <a:gdLst/>
              <a:ahLst/>
              <a:cxnLst/>
              <a:rect l="l" t="t" r="r" b="b"/>
              <a:pathLst>
                <a:path w="69214" h="1399539">
                  <a:moveTo>
                    <a:pt x="68698" y="1399419"/>
                  </a:moveTo>
                  <a:lnTo>
                    <a:pt x="27882" y="1382530"/>
                  </a:lnTo>
                  <a:lnTo>
                    <a:pt x="3262" y="1345683"/>
                  </a:lnTo>
                  <a:lnTo>
                    <a:pt x="0" y="1323597"/>
                  </a:lnTo>
                  <a:lnTo>
                    <a:pt x="0" y="75822"/>
                  </a:lnTo>
                  <a:lnTo>
                    <a:pt x="12829" y="33480"/>
                  </a:lnTo>
                  <a:lnTo>
                    <a:pt x="47039" y="5422"/>
                  </a:lnTo>
                  <a:lnTo>
                    <a:pt x="68698" y="0"/>
                  </a:lnTo>
                  <a:lnTo>
                    <a:pt x="63809" y="1556"/>
                  </a:lnTo>
                  <a:lnTo>
                    <a:pt x="52139" y="9289"/>
                  </a:lnTo>
                  <a:lnTo>
                    <a:pt x="32199" y="46661"/>
                  </a:lnTo>
                  <a:lnTo>
                    <a:pt x="28575" y="75822"/>
                  </a:lnTo>
                  <a:lnTo>
                    <a:pt x="28575" y="1323597"/>
                  </a:lnTo>
                  <a:lnTo>
                    <a:pt x="36593" y="1365939"/>
                  </a:lnTo>
                  <a:lnTo>
                    <a:pt x="63809" y="1397863"/>
                  </a:lnTo>
                  <a:lnTo>
                    <a:pt x="68698" y="1399419"/>
                  </a:lnTo>
                  <a:close/>
                </a:path>
              </a:pathLst>
            </a:custGeom>
            <a:solidFill>
              <a:srgbClr val="BF382A"/>
            </a:solidFill>
          </p:spPr>
          <p:txBody>
            <a:bodyPr wrap="square" lIns="0" tIns="0" rIns="0" bIns="0" rtlCol="0"/>
            <a:lstStyle/>
            <a:p>
              <a:endParaRPr sz="2800"/>
            </a:p>
          </p:txBody>
        </p:sp>
        <p:pic>
          <p:nvPicPr>
            <p:cNvPr id="14" name="object 14"/>
            <p:cNvPicPr/>
            <p:nvPr/>
          </p:nvPicPr>
          <p:blipFill>
            <a:blip r:embed="rId4" cstate="print"/>
            <a:stretch>
              <a:fillRect/>
            </a:stretch>
          </p:blipFill>
          <p:spPr>
            <a:xfrm>
              <a:off x="4143374" y="1600195"/>
              <a:ext cx="333374" cy="333374"/>
            </a:xfrm>
            <a:prstGeom prst="rect">
              <a:avLst/>
            </a:prstGeom>
          </p:spPr>
        </p:pic>
        <p:pic>
          <p:nvPicPr>
            <p:cNvPr id="15" name="object 15"/>
            <p:cNvPicPr/>
            <p:nvPr/>
          </p:nvPicPr>
          <p:blipFill>
            <a:blip r:embed="rId6" cstate="print"/>
            <a:stretch>
              <a:fillRect/>
            </a:stretch>
          </p:blipFill>
          <p:spPr>
            <a:xfrm>
              <a:off x="4259262" y="1698624"/>
              <a:ext cx="104775" cy="139700"/>
            </a:xfrm>
            <a:prstGeom prst="rect">
              <a:avLst/>
            </a:prstGeom>
          </p:spPr>
        </p:pic>
      </p:grpSp>
      <p:sp>
        <p:nvSpPr>
          <p:cNvPr id="16" name="object 16"/>
          <p:cNvSpPr txBox="1"/>
          <p:nvPr/>
        </p:nvSpPr>
        <p:spPr>
          <a:xfrm>
            <a:off x="4313604" y="2414909"/>
            <a:ext cx="2226945" cy="928972"/>
          </a:xfrm>
          <a:prstGeom prst="rect">
            <a:avLst/>
          </a:prstGeom>
        </p:spPr>
        <p:txBody>
          <a:bodyPr vert="horz" wrap="square" lIns="0" tIns="100330" rIns="0" bIns="0" rtlCol="0">
            <a:spAutoFit/>
          </a:bodyPr>
          <a:lstStyle/>
          <a:p>
            <a:pPr marL="12700">
              <a:lnSpc>
                <a:spcPct val="100000"/>
              </a:lnSpc>
              <a:spcBef>
                <a:spcPts val="790"/>
              </a:spcBef>
            </a:pPr>
            <a:r>
              <a:rPr sz="1400" b="1" spc="-50" dirty="0">
                <a:solidFill>
                  <a:srgbClr val="1A1A2E"/>
                </a:solidFill>
                <a:latin typeface="Arial"/>
                <a:cs typeface="Arial"/>
              </a:rPr>
              <a:t>Real-</a:t>
            </a:r>
            <a:r>
              <a:rPr sz="1400" b="1" spc="-55" dirty="0">
                <a:solidFill>
                  <a:srgbClr val="1A1A2E"/>
                </a:solidFill>
                <a:latin typeface="Arial"/>
                <a:cs typeface="Arial"/>
              </a:rPr>
              <a:t>Time</a:t>
            </a:r>
            <a:r>
              <a:rPr sz="1400" b="1" spc="-45" dirty="0">
                <a:solidFill>
                  <a:srgbClr val="1A1A2E"/>
                </a:solidFill>
                <a:latin typeface="Arial"/>
                <a:cs typeface="Arial"/>
              </a:rPr>
              <a:t> </a:t>
            </a:r>
            <a:r>
              <a:rPr sz="1400" b="1" spc="-10" dirty="0">
                <a:solidFill>
                  <a:srgbClr val="1A1A2E"/>
                </a:solidFill>
                <a:latin typeface="Arial"/>
                <a:cs typeface="Arial"/>
              </a:rPr>
              <a:t>Inference</a:t>
            </a:r>
            <a:endParaRPr sz="1400" dirty="0">
              <a:latin typeface="Arial"/>
              <a:cs typeface="Arial"/>
            </a:endParaRPr>
          </a:p>
          <a:p>
            <a:pPr marL="12700" marR="5080">
              <a:lnSpc>
                <a:spcPct val="111100"/>
              </a:lnSpc>
              <a:spcBef>
                <a:spcPts val="495"/>
              </a:spcBef>
            </a:pPr>
            <a:r>
              <a:rPr sz="1100" spc="-10" dirty="0">
                <a:solidFill>
                  <a:srgbClr val="666666"/>
                </a:solidFill>
                <a:latin typeface="Microsoft Sans Serif"/>
                <a:cs typeface="Microsoft Sans Serif"/>
              </a:rPr>
              <a:t>Detection</a:t>
            </a:r>
            <a:r>
              <a:rPr sz="1100" spc="-30" dirty="0">
                <a:solidFill>
                  <a:srgbClr val="666666"/>
                </a:solidFill>
                <a:latin typeface="Microsoft Sans Serif"/>
                <a:cs typeface="Microsoft Sans Serif"/>
              </a:rPr>
              <a:t> </a:t>
            </a:r>
            <a:r>
              <a:rPr sz="1100" dirty="0">
                <a:solidFill>
                  <a:srgbClr val="666666"/>
                </a:solidFill>
                <a:latin typeface="Microsoft Sans Serif"/>
                <a:cs typeface="Microsoft Sans Serif"/>
              </a:rPr>
              <a:t>from</a:t>
            </a:r>
            <a:r>
              <a:rPr sz="1100" spc="-30" dirty="0">
                <a:solidFill>
                  <a:srgbClr val="666666"/>
                </a:solidFill>
                <a:latin typeface="Microsoft Sans Serif"/>
                <a:cs typeface="Microsoft Sans Serif"/>
              </a:rPr>
              <a:t> </a:t>
            </a:r>
            <a:r>
              <a:rPr sz="1100" spc="-10" dirty="0">
                <a:solidFill>
                  <a:srgbClr val="666666"/>
                </a:solidFill>
                <a:latin typeface="Microsoft Sans Serif"/>
                <a:cs typeface="Microsoft Sans Serif"/>
              </a:rPr>
              <a:t>live</a:t>
            </a:r>
            <a:r>
              <a:rPr sz="1100" spc="-25" dirty="0">
                <a:solidFill>
                  <a:srgbClr val="666666"/>
                </a:solidFill>
                <a:latin typeface="Microsoft Sans Serif"/>
                <a:cs typeface="Microsoft Sans Serif"/>
              </a:rPr>
              <a:t> </a:t>
            </a:r>
            <a:r>
              <a:rPr sz="1100" dirty="0">
                <a:solidFill>
                  <a:srgbClr val="666666"/>
                </a:solidFill>
                <a:latin typeface="Microsoft Sans Serif"/>
                <a:cs typeface="Microsoft Sans Serif"/>
              </a:rPr>
              <a:t>video</a:t>
            </a:r>
            <a:r>
              <a:rPr sz="1100" spc="-30" dirty="0">
                <a:solidFill>
                  <a:srgbClr val="666666"/>
                </a:solidFill>
                <a:latin typeface="Microsoft Sans Serif"/>
                <a:cs typeface="Microsoft Sans Serif"/>
              </a:rPr>
              <a:t> </a:t>
            </a:r>
            <a:r>
              <a:rPr sz="1100" spc="-10" dirty="0">
                <a:solidFill>
                  <a:srgbClr val="666666"/>
                </a:solidFill>
                <a:latin typeface="Microsoft Sans Serif"/>
                <a:cs typeface="Microsoft Sans Serif"/>
              </a:rPr>
              <a:t>stream</a:t>
            </a:r>
            <a:r>
              <a:rPr sz="1100" spc="-30" dirty="0">
                <a:solidFill>
                  <a:srgbClr val="666666"/>
                </a:solidFill>
                <a:latin typeface="Microsoft Sans Serif"/>
                <a:cs typeface="Microsoft Sans Serif"/>
              </a:rPr>
              <a:t> </a:t>
            </a:r>
            <a:r>
              <a:rPr sz="1100" dirty="0">
                <a:solidFill>
                  <a:srgbClr val="666666"/>
                </a:solidFill>
                <a:latin typeface="Microsoft Sans Serif"/>
                <a:cs typeface="Microsoft Sans Serif"/>
              </a:rPr>
              <a:t>at</a:t>
            </a:r>
            <a:r>
              <a:rPr sz="1100" spc="-25" dirty="0">
                <a:solidFill>
                  <a:srgbClr val="666666"/>
                </a:solidFill>
                <a:latin typeface="Microsoft Sans Serif"/>
                <a:cs typeface="Microsoft Sans Serif"/>
              </a:rPr>
              <a:t> </a:t>
            </a:r>
            <a:r>
              <a:rPr sz="1100" dirty="0">
                <a:solidFill>
                  <a:srgbClr val="666666"/>
                </a:solidFill>
                <a:latin typeface="Microsoft Sans Serif"/>
                <a:cs typeface="Microsoft Sans Serif"/>
              </a:rPr>
              <a:t>60</a:t>
            </a:r>
            <a:r>
              <a:rPr sz="1100" spc="-30" dirty="0">
                <a:solidFill>
                  <a:srgbClr val="666666"/>
                </a:solidFill>
                <a:latin typeface="Microsoft Sans Serif"/>
                <a:cs typeface="Microsoft Sans Serif"/>
              </a:rPr>
              <a:t> </a:t>
            </a:r>
            <a:r>
              <a:rPr sz="1100" spc="-20" dirty="0">
                <a:solidFill>
                  <a:srgbClr val="666666"/>
                </a:solidFill>
                <a:latin typeface="Microsoft Sans Serif"/>
                <a:cs typeface="Microsoft Sans Serif"/>
              </a:rPr>
              <a:t>FPS. Continuous</a:t>
            </a:r>
            <a:r>
              <a:rPr sz="1100" spc="-15" dirty="0">
                <a:solidFill>
                  <a:srgbClr val="666666"/>
                </a:solidFill>
                <a:latin typeface="Microsoft Sans Serif"/>
                <a:cs typeface="Microsoft Sans Serif"/>
              </a:rPr>
              <a:t> </a:t>
            </a:r>
            <a:r>
              <a:rPr sz="1100" spc="-10" dirty="0">
                <a:solidFill>
                  <a:srgbClr val="666666"/>
                </a:solidFill>
                <a:latin typeface="Microsoft Sans Serif"/>
                <a:cs typeface="Microsoft Sans Serif"/>
              </a:rPr>
              <a:t>processing</a:t>
            </a:r>
            <a:r>
              <a:rPr sz="1100" spc="-15" dirty="0">
                <a:solidFill>
                  <a:srgbClr val="666666"/>
                </a:solidFill>
                <a:latin typeface="Microsoft Sans Serif"/>
                <a:cs typeface="Microsoft Sans Serif"/>
              </a:rPr>
              <a:t> </a:t>
            </a:r>
            <a:r>
              <a:rPr sz="1100" dirty="0">
                <a:solidFill>
                  <a:srgbClr val="666666"/>
                </a:solidFill>
                <a:latin typeface="Microsoft Sans Serif"/>
                <a:cs typeface="Microsoft Sans Serif"/>
              </a:rPr>
              <a:t>without</a:t>
            </a:r>
            <a:r>
              <a:rPr sz="1100" spc="-15" dirty="0">
                <a:solidFill>
                  <a:srgbClr val="666666"/>
                </a:solidFill>
                <a:latin typeface="Microsoft Sans Serif"/>
                <a:cs typeface="Microsoft Sans Serif"/>
              </a:rPr>
              <a:t> </a:t>
            </a:r>
            <a:r>
              <a:rPr sz="1100" dirty="0">
                <a:solidFill>
                  <a:srgbClr val="666666"/>
                </a:solidFill>
                <a:latin typeface="Microsoft Sans Serif"/>
                <a:cs typeface="Microsoft Sans Serif"/>
              </a:rPr>
              <a:t>frame</a:t>
            </a:r>
            <a:r>
              <a:rPr sz="1100" spc="-15" dirty="0">
                <a:solidFill>
                  <a:srgbClr val="666666"/>
                </a:solidFill>
                <a:latin typeface="Microsoft Sans Serif"/>
                <a:cs typeface="Microsoft Sans Serif"/>
              </a:rPr>
              <a:t> </a:t>
            </a:r>
            <a:r>
              <a:rPr sz="1100" spc="-10" dirty="0">
                <a:solidFill>
                  <a:srgbClr val="666666"/>
                </a:solidFill>
                <a:latin typeface="Microsoft Sans Serif"/>
                <a:cs typeface="Microsoft Sans Serif"/>
              </a:rPr>
              <a:t>drops.</a:t>
            </a:r>
            <a:endParaRPr sz="1100" dirty="0">
              <a:latin typeface="Microsoft Sans Serif"/>
              <a:cs typeface="Microsoft Sans Serif"/>
            </a:endParaRPr>
          </a:p>
        </p:txBody>
      </p:sp>
      <p:grpSp>
        <p:nvGrpSpPr>
          <p:cNvPr id="17" name="object 17"/>
          <p:cNvGrpSpPr/>
          <p:nvPr/>
        </p:nvGrpSpPr>
        <p:grpSpPr>
          <a:xfrm>
            <a:off x="6875993" y="1885629"/>
            <a:ext cx="2744255" cy="1739565"/>
            <a:chOff x="6867524" y="1457320"/>
            <a:chExt cx="2752725" cy="1400175"/>
          </a:xfrm>
        </p:grpSpPr>
        <p:sp>
          <p:nvSpPr>
            <p:cNvPr id="18" name="object 18"/>
            <p:cNvSpPr/>
            <p:nvPr/>
          </p:nvSpPr>
          <p:spPr>
            <a:xfrm>
              <a:off x="6881811" y="1457320"/>
              <a:ext cx="2738755" cy="1400175"/>
            </a:xfrm>
            <a:custGeom>
              <a:avLst/>
              <a:gdLst/>
              <a:ahLst/>
              <a:cxnLst/>
              <a:rect l="l" t="t" r="r" b="b"/>
              <a:pathLst>
                <a:path w="2738754" h="1400175">
                  <a:moveTo>
                    <a:pt x="2667241" y="1400165"/>
                  </a:moveTo>
                  <a:lnTo>
                    <a:pt x="57847" y="1400165"/>
                  </a:lnTo>
                  <a:lnTo>
                    <a:pt x="53821" y="1399672"/>
                  </a:lnTo>
                  <a:lnTo>
                    <a:pt x="15259" y="1374306"/>
                  </a:lnTo>
                  <a:lnTo>
                    <a:pt x="396" y="1333927"/>
                  </a:lnTo>
                  <a:lnTo>
                    <a:pt x="0" y="1328969"/>
                  </a:lnTo>
                  <a:lnTo>
                    <a:pt x="0" y="1323974"/>
                  </a:lnTo>
                  <a:lnTo>
                    <a:pt x="0" y="71186"/>
                  </a:lnTo>
                  <a:lnTo>
                    <a:pt x="12692" y="29691"/>
                  </a:lnTo>
                  <a:lnTo>
                    <a:pt x="41975" y="3878"/>
                  </a:lnTo>
                  <a:lnTo>
                    <a:pt x="57847" y="0"/>
                  </a:lnTo>
                  <a:lnTo>
                    <a:pt x="2667241" y="0"/>
                  </a:lnTo>
                  <a:lnTo>
                    <a:pt x="2708731" y="15608"/>
                  </a:lnTo>
                  <a:lnTo>
                    <a:pt x="2734550" y="51643"/>
                  </a:lnTo>
                  <a:lnTo>
                    <a:pt x="2738437" y="71186"/>
                  </a:lnTo>
                  <a:lnTo>
                    <a:pt x="2738437" y="1328969"/>
                  </a:lnTo>
                  <a:lnTo>
                    <a:pt x="2722815" y="1370446"/>
                  </a:lnTo>
                  <a:lnTo>
                    <a:pt x="2686775" y="1396277"/>
                  </a:lnTo>
                  <a:lnTo>
                    <a:pt x="2672196" y="1399672"/>
                  </a:lnTo>
                  <a:lnTo>
                    <a:pt x="2667241" y="1400165"/>
                  </a:lnTo>
                  <a:close/>
                </a:path>
              </a:pathLst>
            </a:custGeom>
            <a:solidFill>
              <a:srgbClr val="F7F9FA"/>
            </a:solidFill>
          </p:spPr>
          <p:txBody>
            <a:bodyPr wrap="square" lIns="0" tIns="0" rIns="0" bIns="0" rtlCol="0"/>
            <a:lstStyle/>
            <a:p>
              <a:endParaRPr sz="2800"/>
            </a:p>
          </p:txBody>
        </p:sp>
        <p:sp>
          <p:nvSpPr>
            <p:cNvPr id="19" name="object 19"/>
            <p:cNvSpPr/>
            <p:nvPr/>
          </p:nvSpPr>
          <p:spPr>
            <a:xfrm>
              <a:off x="6867524" y="1457698"/>
              <a:ext cx="69215" cy="1399540"/>
            </a:xfrm>
            <a:custGeom>
              <a:avLst/>
              <a:gdLst/>
              <a:ahLst/>
              <a:cxnLst/>
              <a:rect l="l" t="t" r="r" b="b"/>
              <a:pathLst>
                <a:path w="69215" h="1399539">
                  <a:moveTo>
                    <a:pt x="68698" y="1399420"/>
                  </a:moveTo>
                  <a:lnTo>
                    <a:pt x="27882" y="1382530"/>
                  </a:lnTo>
                  <a:lnTo>
                    <a:pt x="3262" y="1345684"/>
                  </a:lnTo>
                  <a:lnTo>
                    <a:pt x="0" y="1323597"/>
                  </a:lnTo>
                  <a:lnTo>
                    <a:pt x="0" y="75822"/>
                  </a:lnTo>
                  <a:lnTo>
                    <a:pt x="12830" y="33480"/>
                  </a:lnTo>
                  <a:lnTo>
                    <a:pt x="47038" y="5422"/>
                  </a:lnTo>
                  <a:lnTo>
                    <a:pt x="68698" y="0"/>
                  </a:lnTo>
                  <a:lnTo>
                    <a:pt x="63809" y="1556"/>
                  </a:lnTo>
                  <a:lnTo>
                    <a:pt x="52140" y="9289"/>
                  </a:lnTo>
                  <a:lnTo>
                    <a:pt x="32199" y="46662"/>
                  </a:lnTo>
                  <a:lnTo>
                    <a:pt x="28575" y="75822"/>
                  </a:lnTo>
                  <a:lnTo>
                    <a:pt x="28575" y="1323597"/>
                  </a:lnTo>
                  <a:lnTo>
                    <a:pt x="36593" y="1365939"/>
                  </a:lnTo>
                  <a:lnTo>
                    <a:pt x="63809" y="1397863"/>
                  </a:lnTo>
                  <a:lnTo>
                    <a:pt x="68698" y="1399420"/>
                  </a:lnTo>
                  <a:close/>
                </a:path>
              </a:pathLst>
            </a:custGeom>
            <a:solidFill>
              <a:srgbClr val="BF382A"/>
            </a:solidFill>
          </p:spPr>
          <p:txBody>
            <a:bodyPr wrap="square" lIns="0" tIns="0" rIns="0" bIns="0" rtlCol="0"/>
            <a:lstStyle/>
            <a:p>
              <a:endParaRPr sz="2800"/>
            </a:p>
          </p:txBody>
        </p:sp>
        <p:pic>
          <p:nvPicPr>
            <p:cNvPr id="20" name="object 20"/>
            <p:cNvPicPr/>
            <p:nvPr/>
          </p:nvPicPr>
          <p:blipFill>
            <a:blip r:embed="rId4" cstate="print"/>
            <a:stretch>
              <a:fillRect/>
            </a:stretch>
          </p:blipFill>
          <p:spPr>
            <a:xfrm>
              <a:off x="7038973" y="1600195"/>
              <a:ext cx="333375" cy="333374"/>
            </a:xfrm>
            <a:prstGeom prst="rect">
              <a:avLst/>
            </a:prstGeom>
          </p:spPr>
        </p:pic>
        <p:pic>
          <p:nvPicPr>
            <p:cNvPr id="21" name="object 21"/>
            <p:cNvPicPr/>
            <p:nvPr/>
          </p:nvPicPr>
          <p:blipFill>
            <a:blip r:embed="rId7" cstate="print"/>
            <a:stretch>
              <a:fillRect/>
            </a:stretch>
          </p:blipFill>
          <p:spPr>
            <a:xfrm>
              <a:off x="7134621" y="1701799"/>
              <a:ext cx="139700" cy="136525"/>
            </a:xfrm>
            <a:prstGeom prst="rect">
              <a:avLst/>
            </a:prstGeom>
          </p:spPr>
        </p:pic>
      </p:grpSp>
      <p:sp>
        <p:nvSpPr>
          <p:cNvPr id="22" name="object 22"/>
          <p:cNvSpPr txBox="1"/>
          <p:nvPr/>
        </p:nvSpPr>
        <p:spPr>
          <a:xfrm>
            <a:off x="7211903" y="2429779"/>
            <a:ext cx="2295525" cy="928972"/>
          </a:xfrm>
          <a:prstGeom prst="rect">
            <a:avLst/>
          </a:prstGeom>
        </p:spPr>
        <p:txBody>
          <a:bodyPr vert="horz" wrap="square" lIns="0" tIns="100330" rIns="0" bIns="0" rtlCol="0">
            <a:spAutoFit/>
          </a:bodyPr>
          <a:lstStyle/>
          <a:p>
            <a:pPr marL="12700">
              <a:lnSpc>
                <a:spcPct val="100000"/>
              </a:lnSpc>
              <a:spcBef>
                <a:spcPts val="790"/>
              </a:spcBef>
            </a:pPr>
            <a:r>
              <a:rPr sz="1400" b="1" spc="-45" dirty="0">
                <a:solidFill>
                  <a:srgbClr val="1A1A2E"/>
                </a:solidFill>
                <a:latin typeface="Arial"/>
                <a:cs typeface="Arial"/>
              </a:rPr>
              <a:t>Desert</a:t>
            </a:r>
            <a:r>
              <a:rPr sz="1400" b="1" spc="-65" dirty="0">
                <a:solidFill>
                  <a:srgbClr val="1A1A2E"/>
                </a:solidFill>
                <a:latin typeface="Arial"/>
                <a:cs typeface="Arial"/>
              </a:rPr>
              <a:t> </a:t>
            </a:r>
            <a:r>
              <a:rPr sz="1400" b="1" spc="-10" dirty="0">
                <a:solidFill>
                  <a:srgbClr val="1A1A2E"/>
                </a:solidFill>
                <a:latin typeface="Arial"/>
                <a:cs typeface="Arial"/>
              </a:rPr>
              <a:t>Robustness</a:t>
            </a:r>
            <a:endParaRPr sz="1400" dirty="0">
              <a:latin typeface="Arial"/>
              <a:cs typeface="Arial"/>
            </a:endParaRPr>
          </a:p>
          <a:p>
            <a:pPr marL="12700" marR="5080">
              <a:lnSpc>
                <a:spcPct val="111100"/>
              </a:lnSpc>
              <a:spcBef>
                <a:spcPts val="495"/>
              </a:spcBef>
            </a:pPr>
            <a:r>
              <a:rPr sz="1100" spc="-35" dirty="0">
                <a:solidFill>
                  <a:srgbClr val="666666"/>
                </a:solidFill>
                <a:latin typeface="Microsoft Sans Serif"/>
                <a:cs typeface="Microsoft Sans Serif"/>
              </a:rPr>
              <a:t>Reliable</a:t>
            </a:r>
            <a:r>
              <a:rPr sz="1100" spc="-20" dirty="0">
                <a:solidFill>
                  <a:srgbClr val="666666"/>
                </a:solidFill>
                <a:latin typeface="Microsoft Sans Serif"/>
                <a:cs typeface="Microsoft Sans Serif"/>
              </a:rPr>
              <a:t> </a:t>
            </a:r>
            <a:r>
              <a:rPr sz="1100" dirty="0">
                <a:solidFill>
                  <a:srgbClr val="666666"/>
                </a:solidFill>
                <a:latin typeface="Microsoft Sans Serif"/>
                <a:cs typeface="Microsoft Sans Serif"/>
              </a:rPr>
              <a:t>in</a:t>
            </a:r>
            <a:r>
              <a:rPr sz="1100" spc="-15" dirty="0">
                <a:solidFill>
                  <a:srgbClr val="666666"/>
                </a:solidFill>
                <a:latin typeface="Microsoft Sans Serif"/>
                <a:cs typeface="Microsoft Sans Serif"/>
              </a:rPr>
              <a:t> </a:t>
            </a:r>
            <a:r>
              <a:rPr sz="1100" dirty="0">
                <a:solidFill>
                  <a:srgbClr val="666666"/>
                </a:solidFill>
                <a:latin typeface="Microsoft Sans Serif"/>
                <a:cs typeface="Microsoft Sans Serif"/>
              </a:rPr>
              <a:t>low</a:t>
            </a:r>
            <a:r>
              <a:rPr sz="1100" spc="-15" dirty="0">
                <a:solidFill>
                  <a:srgbClr val="666666"/>
                </a:solidFill>
                <a:latin typeface="Microsoft Sans Serif"/>
                <a:cs typeface="Microsoft Sans Serif"/>
              </a:rPr>
              <a:t> </a:t>
            </a:r>
            <a:r>
              <a:rPr sz="1100" spc="-10" dirty="0">
                <a:solidFill>
                  <a:srgbClr val="666666"/>
                </a:solidFill>
                <a:latin typeface="Microsoft Sans Serif"/>
                <a:cs typeface="Microsoft Sans Serif"/>
              </a:rPr>
              <a:t>contrast,</a:t>
            </a:r>
            <a:r>
              <a:rPr sz="1100" spc="-15" dirty="0">
                <a:solidFill>
                  <a:srgbClr val="666666"/>
                </a:solidFill>
                <a:latin typeface="Microsoft Sans Serif"/>
                <a:cs typeface="Microsoft Sans Serif"/>
              </a:rPr>
              <a:t> </a:t>
            </a:r>
            <a:r>
              <a:rPr sz="1100" spc="-10" dirty="0">
                <a:solidFill>
                  <a:srgbClr val="666666"/>
                </a:solidFill>
                <a:latin typeface="Microsoft Sans Serif"/>
                <a:cs typeface="Microsoft Sans Serif"/>
              </a:rPr>
              <a:t>harsh</a:t>
            </a:r>
            <a:r>
              <a:rPr sz="1100" spc="-15" dirty="0">
                <a:solidFill>
                  <a:srgbClr val="666666"/>
                </a:solidFill>
                <a:latin typeface="Microsoft Sans Serif"/>
                <a:cs typeface="Microsoft Sans Serif"/>
              </a:rPr>
              <a:t> </a:t>
            </a:r>
            <a:r>
              <a:rPr sz="1100" spc="-10" dirty="0">
                <a:solidFill>
                  <a:srgbClr val="666666"/>
                </a:solidFill>
                <a:latin typeface="Microsoft Sans Serif"/>
                <a:cs typeface="Microsoft Sans Serif"/>
              </a:rPr>
              <a:t>lighting,</a:t>
            </a:r>
            <a:r>
              <a:rPr sz="1100" spc="-15" dirty="0">
                <a:solidFill>
                  <a:srgbClr val="666666"/>
                </a:solidFill>
                <a:latin typeface="Microsoft Sans Serif"/>
                <a:cs typeface="Microsoft Sans Serif"/>
              </a:rPr>
              <a:t> </a:t>
            </a:r>
            <a:r>
              <a:rPr sz="1100" spc="-10" dirty="0">
                <a:solidFill>
                  <a:srgbClr val="666666"/>
                </a:solidFill>
                <a:latin typeface="Microsoft Sans Serif"/>
                <a:cs typeface="Microsoft Sans Serif"/>
              </a:rPr>
              <a:t>motion </a:t>
            </a:r>
            <a:r>
              <a:rPr sz="1100" spc="-20" dirty="0">
                <a:solidFill>
                  <a:srgbClr val="666666"/>
                </a:solidFill>
                <a:latin typeface="Microsoft Sans Serif"/>
                <a:cs typeface="Microsoft Sans Serif"/>
              </a:rPr>
              <a:t>blur,</a:t>
            </a:r>
            <a:r>
              <a:rPr sz="1100" spc="-10" dirty="0">
                <a:solidFill>
                  <a:srgbClr val="666666"/>
                </a:solidFill>
                <a:latin typeface="Microsoft Sans Serif"/>
                <a:cs typeface="Microsoft Sans Serif"/>
              </a:rPr>
              <a:t> </a:t>
            </a:r>
            <a:r>
              <a:rPr sz="1100" spc="-20" dirty="0">
                <a:solidFill>
                  <a:srgbClr val="666666"/>
                </a:solidFill>
                <a:latin typeface="Microsoft Sans Serif"/>
                <a:cs typeface="Microsoft Sans Serif"/>
              </a:rPr>
              <a:t>and</a:t>
            </a:r>
            <a:r>
              <a:rPr sz="1100" spc="-10" dirty="0">
                <a:solidFill>
                  <a:srgbClr val="666666"/>
                </a:solidFill>
                <a:latin typeface="Microsoft Sans Serif"/>
                <a:cs typeface="Microsoft Sans Serif"/>
              </a:rPr>
              <a:t> partial occlusion</a:t>
            </a:r>
            <a:r>
              <a:rPr sz="1100" spc="-5" dirty="0">
                <a:solidFill>
                  <a:srgbClr val="666666"/>
                </a:solidFill>
                <a:latin typeface="Microsoft Sans Serif"/>
                <a:cs typeface="Microsoft Sans Serif"/>
              </a:rPr>
              <a:t> </a:t>
            </a:r>
            <a:r>
              <a:rPr sz="1100" spc="-10" dirty="0">
                <a:solidFill>
                  <a:srgbClr val="666666"/>
                </a:solidFill>
                <a:latin typeface="Microsoft Sans Serif"/>
                <a:cs typeface="Microsoft Sans Serif"/>
              </a:rPr>
              <a:t>conditions.</a:t>
            </a:r>
            <a:endParaRPr sz="1100" dirty="0">
              <a:latin typeface="Microsoft Sans Serif"/>
              <a:cs typeface="Microsoft Sans Serif"/>
            </a:endParaRPr>
          </a:p>
        </p:txBody>
      </p:sp>
      <p:grpSp>
        <p:nvGrpSpPr>
          <p:cNvPr id="23" name="object 23"/>
          <p:cNvGrpSpPr/>
          <p:nvPr/>
        </p:nvGrpSpPr>
        <p:grpSpPr>
          <a:xfrm>
            <a:off x="1044375" y="4006850"/>
            <a:ext cx="2793365" cy="1787035"/>
            <a:chOff x="1076324" y="3000380"/>
            <a:chExt cx="2752725" cy="1247775"/>
          </a:xfrm>
        </p:grpSpPr>
        <p:sp>
          <p:nvSpPr>
            <p:cNvPr id="24" name="object 24"/>
            <p:cNvSpPr/>
            <p:nvPr/>
          </p:nvSpPr>
          <p:spPr>
            <a:xfrm>
              <a:off x="1090612" y="3000380"/>
              <a:ext cx="2738755" cy="1247775"/>
            </a:xfrm>
            <a:custGeom>
              <a:avLst/>
              <a:gdLst/>
              <a:ahLst/>
              <a:cxnLst/>
              <a:rect l="l" t="t" r="r" b="b"/>
              <a:pathLst>
                <a:path w="2738754" h="1247775">
                  <a:moveTo>
                    <a:pt x="2667240" y="1247755"/>
                  </a:moveTo>
                  <a:lnTo>
                    <a:pt x="57847" y="1247755"/>
                  </a:lnTo>
                  <a:lnTo>
                    <a:pt x="53821" y="1247271"/>
                  </a:lnTo>
                  <a:lnTo>
                    <a:pt x="15259" y="1221897"/>
                  </a:lnTo>
                  <a:lnTo>
                    <a:pt x="396" y="1181518"/>
                  </a:lnTo>
                  <a:lnTo>
                    <a:pt x="0" y="1176560"/>
                  </a:lnTo>
                  <a:lnTo>
                    <a:pt x="0" y="1171565"/>
                  </a:lnTo>
                  <a:lnTo>
                    <a:pt x="0" y="71176"/>
                  </a:lnTo>
                  <a:lnTo>
                    <a:pt x="12692" y="29681"/>
                  </a:lnTo>
                  <a:lnTo>
                    <a:pt x="41975" y="3869"/>
                  </a:lnTo>
                  <a:lnTo>
                    <a:pt x="57847" y="0"/>
                  </a:lnTo>
                  <a:lnTo>
                    <a:pt x="2667240" y="0"/>
                  </a:lnTo>
                  <a:lnTo>
                    <a:pt x="2708731" y="15607"/>
                  </a:lnTo>
                  <a:lnTo>
                    <a:pt x="2734551" y="51634"/>
                  </a:lnTo>
                  <a:lnTo>
                    <a:pt x="2738437" y="71176"/>
                  </a:lnTo>
                  <a:lnTo>
                    <a:pt x="2738437" y="1176560"/>
                  </a:lnTo>
                  <a:lnTo>
                    <a:pt x="2722815" y="1218046"/>
                  </a:lnTo>
                  <a:lnTo>
                    <a:pt x="2686774" y="1243867"/>
                  </a:lnTo>
                  <a:lnTo>
                    <a:pt x="2672195" y="1247271"/>
                  </a:lnTo>
                  <a:lnTo>
                    <a:pt x="2667240" y="1247755"/>
                  </a:lnTo>
                  <a:close/>
                </a:path>
              </a:pathLst>
            </a:custGeom>
            <a:solidFill>
              <a:srgbClr val="F7F9FA"/>
            </a:solidFill>
          </p:spPr>
          <p:txBody>
            <a:bodyPr wrap="square" lIns="0" tIns="0" rIns="0" bIns="0" rtlCol="0"/>
            <a:lstStyle/>
            <a:p>
              <a:endParaRPr sz="2800"/>
            </a:p>
          </p:txBody>
        </p:sp>
        <p:sp>
          <p:nvSpPr>
            <p:cNvPr id="25" name="object 25"/>
            <p:cNvSpPr/>
            <p:nvPr/>
          </p:nvSpPr>
          <p:spPr>
            <a:xfrm>
              <a:off x="1076324" y="3000748"/>
              <a:ext cx="69215" cy="1247140"/>
            </a:xfrm>
            <a:custGeom>
              <a:avLst/>
              <a:gdLst/>
              <a:ahLst/>
              <a:cxnLst/>
              <a:rect l="l" t="t" r="r" b="b"/>
              <a:pathLst>
                <a:path w="69215" h="1247139">
                  <a:moveTo>
                    <a:pt x="68698" y="1247019"/>
                  </a:moveTo>
                  <a:lnTo>
                    <a:pt x="27882" y="1230130"/>
                  </a:lnTo>
                  <a:lnTo>
                    <a:pt x="3262" y="1193283"/>
                  </a:lnTo>
                  <a:lnTo>
                    <a:pt x="0" y="1171197"/>
                  </a:lnTo>
                  <a:lnTo>
                    <a:pt x="0" y="75822"/>
                  </a:lnTo>
                  <a:lnTo>
                    <a:pt x="12830" y="33479"/>
                  </a:lnTo>
                  <a:lnTo>
                    <a:pt x="47039" y="5422"/>
                  </a:lnTo>
                  <a:lnTo>
                    <a:pt x="68698" y="0"/>
                  </a:lnTo>
                  <a:lnTo>
                    <a:pt x="63809" y="1555"/>
                  </a:lnTo>
                  <a:lnTo>
                    <a:pt x="52139" y="9289"/>
                  </a:lnTo>
                  <a:lnTo>
                    <a:pt x="32200" y="46661"/>
                  </a:lnTo>
                  <a:lnTo>
                    <a:pt x="28575" y="75822"/>
                  </a:lnTo>
                  <a:lnTo>
                    <a:pt x="28575" y="1171197"/>
                  </a:lnTo>
                  <a:lnTo>
                    <a:pt x="36593" y="1213539"/>
                  </a:lnTo>
                  <a:lnTo>
                    <a:pt x="63809" y="1245463"/>
                  </a:lnTo>
                  <a:lnTo>
                    <a:pt x="68698" y="1247019"/>
                  </a:lnTo>
                  <a:close/>
                </a:path>
              </a:pathLst>
            </a:custGeom>
            <a:solidFill>
              <a:srgbClr val="BF382A"/>
            </a:solidFill>
          </p:spPr>
          <p:txBody>
            <a:bodyPr wrap="square" lIns="0" tIns="0" rIns="0" bIns="0" rtlCol="0"/>
            <a:lstStyle/>
            <a:p>
              <a:endParaRPr sz="2800"/>
            </a:p>
          </p:txBody>
        </p:sp>
        <p:pic>
          <p:nvPicPr>
            <p:cNvPr id="26" name="object 26"/>
            <p:cNvPicPr/>
            <p:nvPr/>
          </p:nvPicPr>
          <p:blipFill>
            <a:blip r:embed="rId4" cstate="print"/>
            <a:stretch>
              <a:fillRect/>
            </a:stretch>
          </p:blipFill>
          <p:spPr>
            <a:xfrm>
              <a:off x="1247774" y="3143245"/>
              <a:ext cx="333374" cy="333374"/>
            </a:xfrm>
            <a:prstGeom prst="rect">
              <a:avLst/>
            </a:prstGeom>
          </p:spPr>
        </p:pic>
        <p:pic>
          <p:nvPicPr>
            <p:cNvPr id="27" name="object 27"/>
            <p:cNvPicPr/>
            <p:nvPr/>
          </p:nvPicPr>
          <p:blipFill>
            <a:blip r:embed="rId8" cstate="print"/>
            <a:stretch>
              <a:fillRect/>
            </a:stretch>
          </p:blipFill>
          <p:spPr>
            <a:xfrm>
              <a:off x="1334690" y="3244849"/>
              <a:ext cx="168275" cy="136525"/>
            </a:xfrm>
            <a:prstGeom prst="rect">
              <a:avLst/>
            </a:prstGeom>
          </p:spPr>
        </p:pic>
      </p:grpSp>
      <p:sp>
        <p:nvSpPr>
          <p:cNvPr id="28" name="object 28"/>
          <p:cNvSpPr txBox="1"/>
          <p:nvPr/>
        </p:nvSpPr>
        <p:spPr>
          <a:xfrm>
            <a:off x="1373728" y="4628389"/>
            <a:ext cx="2264410" cy="928972"/>
          </a:xfrm>
          <a:prstGeom prst="rect">
            <a:avLst/>
          </a:prstGeom>
        </p:spPr>
        <p:txBody>
          <a:bodyPr vert="horz" wrap="square" lIns="0" tIns="100330" rIns="0" bIns="0" rtlCol="0">
            <a:spAutoFit/>
          </a:bodyPr>
          <a:lstStyle/>
          <a:p>
            <a:pPr marL="12700">
              <a:lnSpc>
                <a:spcPct val="100000"/>
              </a:lnSpc>
              <a:spcBef>
                <a:spcPts val="790"/>
              </a:spcBef>
            </a:pPr>
            <a:r>
              <a:rPr sz="1400" b="1" spc="-90" dirty="0">
                <a:solidFill>
                  <a:srgbClr val="1A1A2E"/>
                </a:solidFill>
                <a:latin typeface="Arial"/>
                <a:cs typeface="Arial"/>
              </a:rPr>
              <a:t>Autonomous</a:t>
            </a:r>
            <a:r>
              <a:rPr sz="1400" b="1" spc="-30" dirty="0">
                <a:solidFill>
                  <a:srgbClr val="1A1A2E"/>
                </a:solidFill>
                <a:latin typeface="Arial"/>
                <a:cs typeface="Arial"/>
              </a:rPr>
              <a:t> </a:t>
            </a:r>
            <a:r>
              <a:rPr sz="1400" b="1" spc="-10" dirty="0">
                <a:solidFill>
                  <a:srgbClr val="1A1A2E"/>
                </a:solidFill>
                <a:latin typeface="Arial"/>
                <a:cs typeface="Arial"/>
              </a:rPr>
              <a:t>Processing</a:t>
            </a:r>
            <a:endParaRPr sz="1400" dirty="0">
              <a:latin typeface="Arial"/>
              <a:cs typeface="Arial"/>
            </a:endParaRPr>
          </a:p>
          <a:p>
            <a:pPr marL="12700" marR="5080">
              <a:lnSpc>
                <a:spcPct val="111100"/>
              </a:lnSpc>
              <a:spcBef>
                <a:spcPts val="495"/>
              </a:spcBef>
            </a:pPr>
            <a:r>
              <a:rPr sz="1100" spc="-25" dirty="0">
                <a:solidFill>
                  <a:srgbClr val="666666"/>
                </a:solidFill>
                <a:latin typeface="Microsoft Sans Serif"/>
                <a:cs typeface="Microsoft Sans Serif"/>
              </a:rPr>
              <a:t>Operates</a:t>
            </a:r>
            <a:r>
              <a:rPr sz="1100" spc="-10" dirty="0">
                <a:solidFill>
                  <a:srgbClr val="666666"/>
                </a:solidFill>
                <a:latin typeface="Microsoft Sans Serif"/>
                <a:cs typeface="Microsoft Sans Serif"/>
              </a:rPr>
              <a:t> </a:t>
            </a:r>
            <a:r>
              <a:rPr sz="1100" dirty="0">
                <a:solidFill>
                  <a:srgbClr val="666666"/>
                </a:solidFill>
                <a:latin typeface="Microsoft Sans Serif"/>
                <a:cs typeface="Microsoft Sans Serif"/>
              </a:rPr>
              <a:t>with</a:t>
            </a:r>
            <a:r>
              <a:rPr sz="1100" spc="-10" dirty="0">
                <a:solidFill>
                  <a:srgbClr val="666666"/>
                </a:solidFill>
                <a:latin typeface="Microsoft Sans Serif"/>
                <a:cs typeface="Microsoft Sans Serif"/>
              </a:rPr>
              <a:t> </a:t>
            </a:r>
            <a:r>
              <a:rPr sz="1100" spc="-25" dirty="0">
                <a:solidFill>
                  <a:srgbClr val="666666"/>
                </a:solidFill>
                <a:latin typeface="Microsoft Sans Serif"/>
                <a:cs typeface="Microsoft Sans Serif"/>
              </a:rPr>
              <a:t>minimal</a:t>
            </a:r>
            <a:r>
              <a:rPr sz="1100" spc="-5" dirty="0">
                <a:solidFill>
                  <a:srgbClr val="666666"/>
                </a:solidFill>
                <a:latin typeface="Microsoft Sans Serif"/>
                <a:cs typeface="Microsoft Sans Serif"/>
              </a:rPr>
              <a:t> </a:t>
            </a:r>
            <a:r>
              <a:rPr sz="1100" dirty="0">
                <a:solidFill>
                  <a:srgbClr val="666666"/>
                </a:solidFill>
                <a:latin typeface="Microsoft Sans Serif"/>
                <a:cs typeface="Microsoft Sans Serif"/>
              </a:rPr>
              <a:t>user</a:t>
            </a:r>
            <a:r>
              <a:rPr sz="1100" spc="-10" dirty="0">
                <a:solidFill>
                  <a:srgbClr val="666666"/>
                </a:solidFill>
                <a:latin typeface="Microsoft Sans Serif"/>
                <a:cs typeface="Microsoft Sans Serif"/>
              </a:rPr>
              <a:t> intervention </a:t>
            </a:r>
            <a:r>
              <a:rPr sz="1100" spc="-20" dirty="0">
                <a:solidFill>
                  <a:srgbClr val="666666"/>
                </a:solidFill>
                <a:latin typeface="Microsoft Sans Serif"/>
                <a:cs typeface="Microsoft Sans Serif"/>
              </a:rPr>
              <a:t>once deployed.</a:t>
            </a:r>
            <a:r>
              <a:rPr sz="1100" spc="-10" dirty="0">
                <a:solidFill>
                  <a:srgbClr val="666666"/>
                </a:solidFill>
                <a:latin typeface="Microsoft Sans Serif"/>
                <a:cs typeface="Microsoft Sans Serif"/>
              </a:rPr>
              <a:t> </a:t>
            </a:r>
            <a:r>
              <a:rPr sz="1100" dirty="0">
                <a:solidFill>
                  <a:srgbClr val="666666"/>
                </a:solidFill>
                <a:latin typeface="Microsoft Sans Serif"/>
                <a:cs typeface="Microsoft Sans Serif"/>
              </a:rPr>
              <a:t>No</a:t>
            </a:r>
            <a:r>
              <a:rPr sz="1100" spc="-10" dirty="0">
                <a:solidFill>
                  <a:srgbClr val="666666"/>
                </a:solidFill>
                <a:latin typeface="Microsoft Sans Serif"/>
                <a:cs typeface="Microsoft Sans Serif"/>
              </a:rPr>
              <a:t> </a:t>
            </a:r>
            <a:r>
              <a:rPr sz="1100" spc="-30" dirty="0">
                <a:solidFill>
                  <a:srgbClr val="666666"/>
                </a:solidFill>
                <a:latin typeface="Microsoft Sans Serif"/>
                <a:cs typeface="Microsoft Sans Serif"/>
              </a:rPr>
              <a:t>manual</a:t>
            </a:r>
            <a:r>
              <a:rPr sz="1100" spc="-5" dirty="0">
                <a:solidFill>
                  <a:srgbClr val="666666"/>
                </a:solidFill>
                <a:latin typeface="Microsoft Sans Serif"/>
                <a:cs typeface="Microsoft Sans Serif"/>
              </a:rPr>
              <a:t> </a:t>
            </a:r>
            <a:r>
              <a:rPr sz="1100" spc="-10" dirty="0">
                <a:solidFill>
                  <a:srgbClr val="666666"/>
                </a:solidFill>
                <a:latin typeface="Microsoft Sans Serif"/>
                <a:cs typeface="Microsoft Sans Serif"/>
              </a:rPr>
              <a:t>selection required.</a:t>
            </a:r>
            <a:endParaRPr sz="1100" dirty="0">
              <a:latin typeface="Microsoft Sans Serif"/>
              <a:cs typeface="Microsoft Sans Serif"/>
            </a:endParaRPr>
          </a:p>
        </p:txBody>
      </p:sp>
      <p:grpSp>
        <p:nvGrpSpPr>
          <p:cNvPr id="29" name="object 29"/>
          <p:cNvGrpSpPr/>
          <p:nvPr/>
        </p:nvGrpSpPr>
        <p:grpSpPr>
          <a:xfrm>
            <a:off x="3939975" y="4006850"/>
            <a:ext cx="2801145" cy="1786653"/>
            <a:chOff x="3971924" y="3000380"/>
            <a:chExt cx="2752725" cy="1247775"/>
          </a:xfrm>
        </p:grpSpPr>
        <p:sp>
          <p:nvSpPr>
            <p:cNvPr id="30" name="object 30"/>
            <p:cNvSpPr/>
            <p:nvPr/>
          </p:nvSpPr>
          <p:spPr>
            <a:xfrm>
              <a:off x="3986212" y="3000380"/>
              <a:ext cx="2738755" cy="1247775"/>
            </a:xfrm>
            <a:custGeom>
              <a:avLst/>
              <a:gdLst/>
              <a:ahLst/>
              <a:cxnLst/>
              <a:rect l="l" t="t" r="r" b="b"/>
              <a:pathLst>
                <a:path w="2738754" h="1247775">
                  <a:moveTo>
                    <a:pt x="2667240" y="1247755"/>
                  </a:moveTo>
                  <a:lnTo>
                    <a:pt x="57847" y="1247755"/>
                  </a:lnTo>
                  <a:lnTo>
                    <a:pt x="53821" y="1247271"/>
                  </a:lnTo>
                  <a:lnTo>
                    <a:pt x="15258" y="1221897"/>
                  </a:lnTo>
                  <a:lnTo>
                    <a:pt x="396" y="1181518"/>
                  </a:lnTo>
                  <a:lnTo>
                    <a:pt x="0" y="1176560"/>
                  </a:lnTo>
                  <a:lnTo>
                    <a:pt x="0" y="1171565"/>
                  </a:lnTo>
                  <a:lnTo>
                    <a:pt x="0" y="71176"/>
                  </a:lnTo>
                  <a:lnTo>
                    <a:pt x="12692" y="29681"/>
                  </a:lnTo>
                  <a:lnTo>
                    <a:pt x="41975" y="3869"/>
                  </a:lnTo>
                  <a:lnTo>
                    <a:pt x="57847" y="0"/>
                  </a:lnTo>
                  <a:lnTo>
                    <a:pt x="2667240" y="0"/>
                  </a:lnTo>
                  <a:lnTo>
                    <a:pt x="2708731" y="15607"/>
                  </a:lnTo>
                  <a:lnTo>
                    <a:pt x="2734551" y="51634"/>
                  </a:lnTo>
                  <a:lnTo>
                    <a:pt x="2738436" y="71176"/>
                  </a:lnTo>
                  <a:lnTo>
                    <a:pt x="2738436" y="1176560"/>
                  </a:lnTo>
                  <a:lnTo>
                    <a:pt x="2722815" y="1218046"/>
                  </a:lnTo>
                  <a:lnTo>
                    <a:pt x="2686775" y="1243867"/>
                  </a:lnTo>
                  <a:lnTo>
                    <a:pt x="2672195" y="1247271"/>
                  </a:lnTo>
                  <a:lnTo>
                    <a:pt x="2667240" y="1247755"/>
                  </a:lnTo>
                  <a:close/>
                </a:path>
              </a:pathLst>
            </a:custGeom>
            <a:solidFill>
              <a:srgbClr val="F7F9FA"/>
            </a:solidFill>
          </p:spPr>
          <p:txBody>
            <a:bodyPr wrap="square" lIns="0" tIns="0" rIns="0" bIns="0" rtlCol="0"/>
            <a:lstStyle/>
            <a:p>
              <a:endParaRPr sz="2800"/>
            </a:p>
          </p:txBody>
        </p:sp>
        <p:sp>
          <p:nvSpPr>
            <p:cNvPr id="31" name="object 31"/>
            <p:cNvSpPr/>
            <p:nvPr/>
          </p:nvSpPr>
          <p:spPr>
            <a:xfrm>
              <a:off x="3971924" y="3000748"/>
              <a:ext cx="69215" cy="1247140"/>
            </a:xfrm>
            <a:custGeom>
              <a:avLst/>
              <a:gdLst/>
              <a:ahLst/>
              <a:cxnLst/>
              <a:rect l="l" t="t" r="r" b="b"/>
              <a:pathLst>
                <a:path w="69214" h="1247139">
                  <a:moveTo>
                    <a:pt x="68698" y="1247019"/>
                  </a:moveTo>
                  <a:lnTo>
                    <a:pt x="27882" y="1230130"/>
                  </a:lnTo>
                  <a:lnTo>
                    <a:pt x="3262" y="1193283"/>
                  </a:lnTo>
                  <a:lnTo>
                    <a:pt x="0" y="1171197"/>
                  </a:lnTo>
                  <a:lnTo>
                    <a:pt x="0" y="75822"/>
                  </a:lnTo>
                  <a:lnTo>
                    <a:pt x="12829" y="33479"/>
                  </a:lnTo>
                  <a:lnTo>
                    <a:pt x="47039" y="5422"/>
                  </a:lnTo>
                  <a:lnTo>
                    <a:pt x="68698" y="0"/>
                  </a:lnTo>
                  <a:lnTo>
                    <a:pt x="63809" y="1556"/>
                  </a:lnTo>
                  <a:lnTo>
                    <a:pt x="52139" y="9289"/>
                  </a:lnTo>
                  <a:lnTo>
                    <a:pt x="32199" y="46661"/>
                  </a:lnTo>
                  <a:lnTo>
                    <a:pt x="28575" y="75822"/>
                  </a:lnTo>
                  <a:lnTo>
                    <a:pt x="28575" y="1171197"/>
                  </a:lnTo>
                  <a:lnTo>
                    <a:pt x="36593" y="1213539"/>
                  </a:lnTo>
                  <a:lnTo>
                    <a:pt x="63809" y="1245463"/>
                  </a:lnTo>
                  <a:lnTo>
                    <a:pt x="68698" y="1247019"/>
                  </a:lnTo>
                  <a:close/>
                </a:path>
              </a:pathLst>
            </a:custGeom>
            <a:solidFill>
              <a:srgbClr val="BF382A"/>
            </a:solidFill>
          </p:spPr>
          <p:txBody>
            <a:bodyPr wrap="square" lIns="0" tIns="0" rIns="0" bIns="0" rtlCol="0"/>
            <a:lstStyle/>
            <a:p>
              <a:endParaRPr sz="2800"/>
            </a:p>
          </p:txBody>
        </p:sp>
        <p:pic>
          <p:nvPicPr>
            <p:cNvPr id="32" name="object 32"/>
            <p:cNvPicPr/>
            <p:nvPr/>
          </p:nvPicPr>
          <p:blipFill>
            <a:blip r:embed="rId4" cstate="print"/>
            <a:stretch>
              <a:fillRect/>
            </a:stretch>
          </p:blipFill>
          <p:spPr>
            <a:xfrm>
              <a:off x="4143374" y="3143245"/>
              <a:ext cx="333374" cy="333374"/>
            </a:xfrm>
            <a:prstGeom prst="rect">
              <a:avLst/>
            </a:prstGeom>
          </p:spPr>
        </p:pic>
        <p:pic>
          <p:nvPicPr>
            <p:cNvPr id="33" name="object 33"/>
            <p:cNvPicPr/>
            <p:nvPr/>
          </p:nvPicPr>
          <p:blipFill>
            <a:blip r:embed="rId9" cstate="print"/>
            <a:stretch>
              <a:fillRect/>
            </a:stretch>
          </p:blipFill>
          <p:spPr>
            <a:xfrm>
              <a:off x="4227909" y="3244849"/>
              <a:ext cx="168275" cy="136525"/>
            </a:xfrm>
            <a:prstGeom prst="rect">
              <a:avLst/>
            </a:prstGeom>
          </p:spPr>
        </p:pic>
      </p:grpSp>
      <p:sp>
        <p:nvSpPr>
          <p:cNvPr id="34" name="object 34"/>
          <p:cNvSpPr txBox="1"/>
          <p:nvPr/>
        </p:nvSpPr>
        <p:spPr>
          <a:xfrm>
            <a:off x="4296295" y="4629799"/>
            <a:ext cx="2355215" cy="928972"/>
          </a:xfrm>
          <a:prstGeom prst="rect">
            <a:avLst/>
          </a:prstGeom>
        </p:spPr>
        <p:txBody>
          <a:bodyPr vert="horz" wrap="square" lIns="0" tIns="100330" rIns="0" bIns="0" rtlCol="0">
            <a:spAutoFit/>
          </a:bodyPr>
          <a:lstStyle/>
          <a:p>
            <a:pPr marL="12700">
              <a:lnSpc>
                <a:spcPct val="100000"/>
              </a:lnSpc>
              <a:spcBef>
                <a:spcPts val="790"/>
              </a:spcBef>
            </a:pPr>
            <a:r>
              <a:rPr sz="1400" b="1" spc="-65" dirty="0">
                <a:solidFill>
                  <a:srgbClr val="1A1A2E"/>
                </a:solidFill>
                <a:latin typeface="Arial"/>
                <a:cs typeface="Arial"/>
              </a:rPr>
              <a:t>Visual</a:t>
            </a:r>
            <a:r>
              <a:rPr sz="1400" b="1" spc="-75" dirty="0">
                <a:solidFill>
                  <a:srgbClr val="1A1A2E"/>
                </a:solidFill>
                <a:latin typeface="Arial"/>
                <a:cs typeface="Arial"/>
              </a:rPr>
              <a:t> </a:t>
            </a:r>
            <a:r>
              <a:rPr sz="1400" b="1" spc="-10" dirty="0">
                <a:solidFill>
                  <a:srgbClr val="1A1A2E"/>
                </a:solidFill>
                <a:latin typeface="Arial"/>
                <a:cs typeface="Arial"/>
              </a:rPr>
              <a:t>Feedback</a:t>
            </a:r>
            <a:endParaRPr sz="1400" dirty="0">
              <a:latin typeface="Arial"/>
              <a:cs typeface="Arial"/>
            </a:endParaRPr>
          </a:p>
          <a:p>
            <a:pPr marL="12700" marR="5080">
              <a:lnSpc>
                <a:spcPct val="111100"/>
              </a:lnSpc>
              <a:spcBef>
                <a:spcPts val="495"/>
              </a:spcBef>
            </a:pPr>
            <a:r>
              <a:rPr sz="1100" spc="-20" dirty="0">
                <a:solidFill>
                  <a:srgbClr val="666666"/>
                </a:solidFill>
                <a:latin typeface="Microsoft Sans Serif"/>
                <a:cs typeface="Microsoft Sans Serif"/>
              </a:rPr>
              <a:t>Displays</a:t>
            </a:r>
            <a:r>
              <a:rPr sz="1100" spc="-10" dirty="0">
                <a:solidFill>
                  <a:srgbClr val="666666"/>
                </a:solidFill>
                <a:latin typeface="Microsoft Sans Serif"/>
                <a:cs typeface="Microsoft Sans Serif"/>
              </a:rPr>
              <a:t> detection results </a:t>
            </a:r>
            <a:r>
              <a:rPr sz="1100" dirty="0">
                <a:solidFill>
                  <a:srgbClr val="666666"/>
                </a:solidFill>
                <a:latin typeface="Microsoft Sans Serif"/>
                <a:cs typeface="Microsoft Sans Serif"/>
              </a:rPr>
              <a:t>with</a:t>
            </a:r>
            <a:r>
              <a:rPr sz="1100" spc="-10" dirty="0">
                <a:solidFill>
                  <a:srgbClr val="666666"/>
                </a:solidFill>
                <a:latin typeface="Microsoft Sans Serif"/>
                <a:cs typeface="Microsoft Sans Serif"/>
              </a:rPr>
              <a:t> bounding </a:t>
            </a:r>
            <a:r>
              <a:rPr sz="1100" spc="-20" dirty="0">
                <a:solidFill>
                  <a:srgbClr val="666666"/>
                </a:solidFill>
                <a:latin typeface="Microsoft Sans Serif"/>
                <a:cs typeface="Microsoft Sans Serif"/>
              </a:rPr>
              <a:t>boxes </a:t>
            </a:r>
            <a:r>
              <a:rPr sz="1100" spc="-10" dirty="0">
                <a:solidFill>
                  <a:srgbClr val="666666"/>
                </a:solidFill>
                <a:latin typeface="Microsoft Sans Serif"/>
                <a:cs typeface="Microsoft Sans Serif"/>
              </a:rPr>
              <a:t>overlay</a:t>
            </a:r>
            <a:r>
              <a:rPr sz="1100" spc="-20" dirty="0">
                <a:solidFill>
                  <a:srgbClr val="666666"/>
                </a:solidFill>
                <a:latin typeface="Microsoft Sans Serif"/>
                <a:cs typeface="Microsoft Sans Serif"/>
              </a:rPr>
              <a:t> </a:t>
            </a:r>
            <a:r>
              <a:rPr sz="1100" dirty="0">
                <a:solidFill>
                  <a:srgbClr val="666666"/>
                </a:solidFill>
                <a:latin typeface="Microsoft Sans Serif"/>
                <a:cs typeface="Microsoft Sans Serif"/>
              </a:rPr>
              <a:t>for</a:t>
            </a:r>
            <a:r>
              <a:rPr sz="1100" spc="-15" dirty="0">
                <a:solidFill>
                  <a:srgbClr val="666666"/>
                </a:solidFill>
                <a:latin typeface="Microsoft Sans Serif"/>
                <a:cs typeface="Microsoft Sans Serif"/>
              </a:rPr>
              <a:t> </a:t>
            </a:r>
            <a:r>
              <a:rPr sz="1100" spc="-10" dirty="0">
                <a:solidFill>
                  <a:srgbClr val="666666"/>
                </a:solidFill>
                <a:latin typeface="Microsoft Sans Serif"/>
                <a:cs typeface="Microsoft Sans Serif"/>
              </a:rPr>
              <a:t>operator</a:t>
            </a:r>
            <a:r>
              <a:rPr sz="1100" spc="-15" dirty="0">
                <a:solidFill>
                  <a:srgbClr val="666666"/>
                </a:solidFill>
                <a:latin typeface="Microsoft Sans Serif"/>
                <a:cs typeface="Microsoft Sans Serif"/>
              </a:rPr>
              <a:t> </a:t>
            </a:r>
            <a:r>
              <a:rPr sz="1100" spc="-10" dirty="0">
                <a:solidFill>
                  <a:srgbClr val="666666"/>
                </a:solidFill>
                <a:latin typeface="Microsoft Sans Serif"/>
                <a:cs typeface="Microsoft Sans Serif"/>
              </a:rPr>
              <a:t>review</a:t>
            </a:r>
            <a:r>
              <a:rPr sz="1100" spc="-15" dirty="0">
                <a:solidFill>
                  <a:srgbClr val="666666"/>
                </a:solidFill>
                <a:latin typeface="Microsoft Sans Serif"/>
                <a:cs typeface="Microsoft Sans Serif"/>
              </a:rPr>
              <a:t> </a:t>
            </a:r>
            <a:r>
              <a:rPr sz="1100" dirty="0">
                <a:solidFill>
                  <a:srgbClr val="666666"/>
                </a:solidFill>
                <a:latin typeface="Microsoft Sans Serif"/>
                <a:cs typeface="Microsoft Sans Serif"/>
              </a:rPr>
              <a:t>on</a:t>
            </a:r>
            <a:r>
              <a:rPr sz="1100" spc="-15" dirty="0">
                <a:solidFill>
                  <a:srgbClr val="666666"/>
                </a:solidFill>
                <a:latin typeface="Microsoft Sans Serif"/>
                <a:cs typeface="Microsoft Sans Serif"/>
              </a:rPr>
              <a:t> </a:t>
            </a:r>
            <a:r>
              <a:rPr sz="1100" spc="-10" dirty="0">
                <a:solidFill>
                  <a:srgbClr val="666666"/>
                </a:solidFill>
                <a:latin typeface="Microsoft Sans Serif"/>
                <a:cs typeface="Microsoft Sans Serif"/>
              </a:rPr>
              <a:t>ground</a:t>
            </a:r>
            <a:r>
              <a:rPr sz="1100" spc="-15" dirty="0">
                <a:solidFill>
                  <a:srgbClr val="666666"/>
                </a:solidFill>
                <a:latin typeface="Microsoft Sans Serif"/>
                <a:cs typeface="Microsoft Sans Serif"/>
              </a:rPr>
              <a:t> </a:t>
            </a:r>
            <a:r>
              <a:rPr sz="1100" spc="-10" dirty="0">
                <a:solidFill>
                  <a:srgbClr val="666666"/>
                </a:solidFill>
                <a:latin typeface="Microsoft Sans Serif"/>
                <a:cs typeface="Microsoft Sans Serif"/>
              </a:rPr>
              <a:t>station.</a:t>
            </a:r>
            <a:endParaRPr sz="1100" dirty="0">
              <a:latin typeface="Microsoft Sans Serif"/>
              <a:cs typeface="Microsoft Sans Serif"/>
            </a:endParaRPr>
          </a:p>
        </p:txBody>
      </p:sp>
      <p:grpSp>
        <p:nvGrpSpPr>
          <p:cNvPr id="35" name="object 35"/>
          <p:cNvGrpSpPr/>
          <p:nvPr/>
        </p:nvGrpSpPr>
        <p:grpSpPr>
          <a:xfrm>
            <a:off x="6835575" y="4006850"/>
            <a:ext cx="2740025" cy="1786271"/>
            <a:chOff x="6867524" y="3000380"/>
            <a:chExt cx="2752725" cy="1247775"/>
          </a:xfrm>
        </p:grpSpPr>
        <p:sp>
          <p:nvSpPr>
            <p:cNvPr id="36" name="object 36"/>
            <p:cNvSpPr/>
            <p:nvPr/>
          </p:nvSpPr>
          <p:spPr>
            <a:xfrm>
              <a:off x="6881811" y="3000380"/>
              <a:ext cx="2738755" cy="1247775"/>
            </a:xfrm>
            <a:custGeom>
              <a:avLst/>
              <a:gdLst/>
              <a:ahLst/>
              <a:cxnLst/>
              <a:rect l="l" t="t" r="r" b="b"/>
              <a:pathLst>
                <a:path w="2738754" h="1247775">
                  <a:moveTo>
                    <a:pt x="2667241" y="1247755"/>
                  </a:moveTo>
                  <a:lnTo>
                    <a:pt x="57847" y="1247755"/>
                  </a:lnTo>
                  <a:lnTo>
                    <a:pt x="53821" y="1247271"/>
                  </a:lnTo>
                  <a:lnTo>
                    <a:pt x="15259" y="1221897"/>
                  </a:lnTo>
                  <a:lnTo>
                    <a:pt x="396" y="1181518"/>
                  </a:lnTo>
                  <a:lnTo>
                    <a:pt x="0" y="1176560"/>
                  </a:lnTo>
                  <a:lnTo>
                    <a:pt x="0" y="1171565"/>
                  </a:lnTo>
                  <a:lnTo>
                    <a:pt x="0" y="71176"/>
                  </a:lnTo>
                  <a:lnTo>
                    <a:pt x="12692" y="29681"/>
                  </a:lnTo>
                  <a:lnTo>
                    <a:pt x="41975" y="3869"/>
                  </a:lnTo>
                  <a:lnTo>
                    <a:pt x="57847" y="0"/>
                  </a:lnTo>
                  <a:lnTo>
                    <a:pt x="2667241" y="0"/>
                  </a:lnTo>
                  <a:lnTo>
                    <a:pt x="2708731" y="15607"/>
                  </a:lnTo>
                  <a:lnTo>
                    <a:pt x="2734550" y="51634"/>
                  </a:lnTo>
                  <a:lnTo>
                    <a:pt x="2738437" y="71176"/>
                  </a:lnTo>
                  <a:lnTo>
                    <a:pt x="2738437" y="1176560"/>
                  </a:lnTo>
                  <a:lnTo>
                    <a:pt x="2722815" y="1218046"/>
                  </a:lnTo>
                  <a:lnTo>
                    <a:pt x="2686775" y="1243867"/>
                  </a:lnTo>
                  <a:lnTo>
                    <a:pt x="2672196" y="1247271"/>
                  </a:lnTo>
                  <a:lnTo>
                    <a:pt x="2667241" y="1247755"/>
                  </a:lnTo>
                  <a:close/>
                </a:path>
              </a:pathLst>
            </a:custGeom>
            <a:solidFill>
              <a:srgbClr val="F7F9FA"/>
            </a:solidFill>
          </p:spPr>
          <p:txBody>
            <a:bodyPr wrap="square" lIns="0" tIns="0" rIns="0" bIns="0" rtlCol="0"/>
            <a:lstStyle/>
            <a:p>
              <a:endParaRPr sz="2800"/>
            </a:p>
          </p:txBody>
        </p:sp>
        <p:sp>
          <p:nvSpPr>
            <p:cNvPr id="37" name="object 37"/>
            <p:cNvSpPr/>
            <p:nvPr/>
          </p:nvSpPr>
          <p:spPr>
            <a:xfrm>
              <a:off x="6867524" y="3000748"/>
              <a:ext cx="69215" cy="1247140"/>
            </a:xfrm>
            <a:custGeom>
              <a:avLst/>
              <a:gdLst/>
              <a:ahLst/>
              <a:cxnLst/>
              <a:rect l="l" t="t" r="r" b="b"/>
              <a:pathLst>
                <a:path w="69215" h="1247139">
                  <a:moveTo>
                    <a:pt x="68698" y="1247019"/>
                  </a:moveTo>
                  <a:lnTo>
                    <a:pt x="27882" y="1230130"/>
                  </a:lnTo>
                  <a:lnTo>
                    <a:pt x="3262" y="1193283"/>
                  </a:lnTo>
                  <a:lnTo>
                    <a:pt x="0" y="1171197"/>
                  </a:lnTo>
                  <a:lnTo>
                    <a:pt x="0" y="75822"/>
                  </a:lnTo>
                  <a:lnTo>
                    <a:pt x="12830" y="33479"/>
                  </a:lnTo>
                  <a:lnTo>
                    <a:pt x="47038" y="5422"/>
                  </a:lnTo>
                  <a:lnTo>
                    <a:pt x="68698" y="0"/>
                  </a:lnTo>
                  <a:lnTo>
                    <a:pt x="63809" y="1556"/>
                  </a:lnTo>
                  <a:lnTo>
                    <a:pt x="52140" y="9289"/>
                  </a:lnTo>
                  <a:lnTo>
                    <a:pt x="32199" y="46661"/>
                  </a:lnTo>
                  <a:lnTo>
                    <a:pt x="28575" y="75822"/>
                  </a:lnTo>
                  <a:lnTo>
                    <a:pt x="28575" y="1171197"/>
                  </a:lnTo>
                  <a:lnTo>
                    <a:pt x="36593" y="1213539"/>
                  </a:lnTo>
                  <a:lnTo>
                    <a:pt x="63809" y="1245463"/>
                  </a:lnTo>
                  <a:lnTo>
                    <a:pt x="68698" y="1247019"/>
                  </a:lnTo>
                  <a:close/>
                </a:path>
              </a:pathLst>
            </a:custGeom>
            <a:solidFill>
              <a:srgbClr val="BF382A"/>
            </a:solidFill>
          </p:spPr>
          <p:txBody>
            <a:bodyPr wrap="square" lIns="0" tIns="0" rIns="0" bIns="0" rtlCol="0"/>
            <a:lstStyle/>
            <a:p>
              <a:endParaRPr sz="2800"/>
            </a:p>
          </p:txBody>
        </p:sp>
        <p:pic>
          <p:nvPicPr>
            <p:cNvPr id="38" name="object 38"/>
            <p:cNvPicPr/>
            <p:nvPr/>
          </p:nvPicPr>
          <p:blipFill>
            <a:blip r:embed="rId4" cstate="print"/>
            <a:stretch>
              <a:fillRect/>
            </a:stretch>
          </p:blipFill>
          <p:spPr>
            <a:xfrm>
              <a:off x="7038973" y="3143245"/>
              <a:ext cx="333375" cy="333374"/>
            </a:xfrm>
            <a:prstGeom prst="rect">
              <a:avLst/>
            </a:prstGeom>
          </p:spPr>
        </p:pic>
        <p:pic>
          <p:nvPicPr>
            <p:cNvPr id="39" name="object 39"/>
            <p:cNvPicPr/>
            <p:nvPr/>
          </p:nvPicPr>
          <p:blipFill>
            <a:blip r:embed="rId10" cstate="print"/>
            <a:stretch>
              <a:fillRect/>
            </a:stretch>
          </p:blipFill>
          <p:spPr>
            <a:xfrm>
              <a:off x="7146131" y="3244849"/>
              <a:ext cx="117475" cy="136525"/>
            </a:xfrm>
            <a:prstGeom prst="rect">
              <a:avLst/>
            </a:prstGeom>
          </p:spPr>
        </p:pic>
      </p:grpSp>
      <p:sp>
        <p:nvSpPr>
          <p:cNvPr id="40" name="object 40"/>
          <p:cNvSpPr txBox="1"/>
          <p:nvPr/>
        </p:nvSpPr>
        <p:spPr>
          <a:xfrm>
            <a:off x="7183039" y="4629799"/>
            <a:ext cx="2301875" cy="928972"/>
          </a:xfrm>
          <a:prstGeom prst="rect">
            <a:avLst/>
          </a:prstGeom>
        </p:spPr>
        <p:txBody>
          <a:bodyPr vert="horz" wrap="square" lIns="0" tIns="100330" rIns="0" bIns="0" rtlCol="0">
            <a:spAutoFit/>
          </a:bodyPr>
          <a:lstStyle/>
          <a:p>
            <a:pPr marL="12700">
              <a:lnSpc>
                <a:spcPct val="100000"/>
              </a:lnSpc>
              <a:spcBef>
                <a:spcPts val="790"/>
              </a:spcBef>
            </a:pPr>
            <a:r>
              <a:rPr sz="1400" b="1" spc="-105" dirty="0">
                <a:solidFill>
                  <a:srgbClr val="1A1A2E"/>
                </a:solidFill>
                <a:latin typeface="Arial"/>
                <a:cs typeface="Arial"/>
              </a:rPr>
              <a:t>GPS</a:t>
            </a:r>
            <a:r>
              <a:rPr sz="1400" b="1" spc="-90" dirty="0">
                <a:solidFill>
                  <a:srgbClr val="1A1A2E"/>
                </a:solidFill>
                <a:latin typeface="Arial"/>
                <a:cs typeface="Arial"/>
              </a:rPr>
              <a:t> </a:t>
            </a:r>
            <a:r>
              <a:rPr sz="1400" b="1" spc="-10" dirty="0">
                <a:solidFill>
                  <a:srgbClr val="1A1A2E"/>
                </a:solidFill>
                <a:latin typeface="Arial"/>
                <a:cs typeface="Arial"/>
              </a:rPr>
              <a:t>Logging</a:t>
            </a:r>
            <a:endParaRPr sz="1400" dirty="0">
              <a:latin typeface="Arial"/>
              <a:cs typeface="Arial"/>
            </a:endParaRPr>
          </a:p>
          <a:p>
            <a:pPr marL="12700" marR="5080">
              <a:lnSpc>
                <a:spcPct val="111100"/>
              </a:lnSpc>
              <a:spcBef>
                <a:spcPts val="495"/>
              </a:spcBef>
            </a:pPr>
            <a:r>
              <a:rPr sz="1100" spc="-10" dirty="0">
                <a:solidFill>
                  <a:srgbClr val="666666"/>
                </a:solidFill>
                <a:latin typeface="Microsoft Sans Serif"/>
                <a:cs typeface="Microsoft Sans Serif"/>
              </a:rPr>
              <a:t>Upon</a:t>
            </a:r>
            <a:r>
              <a:rPr sz="1100" spc="-15" dirty="0">
                <a:solidFill>
                  <a:srgbClr val="666666"/>
                </a:solidFill>
                <a:latin typeface="Microsoft Sans Serif"/>
                <a:cs typeface="Microsoft Sans Serif"/>
              </a:rPr>
              <a:t> </a:t>
            </a:r>
            <a:r>
              <a:rPr sz="1100" spc="-10" dirty="0">
                <a:solidFill>
                  <a:srgbClr val="666666"/>
                </a:solidFill>
                <a:latin typeface="Microsoft Sans Serif"/>
                <a:cs typeface="Microsoft Sans Serif"/>
              </a:rPr>
              <a:t>detection, logs precise </a:t>
            </a:r>
            <a:r>
              <a:rPr sz="1100" spc="-90" dirty="0">
                <a:solidFill>
                  <a:srgbClr val="666666"/>
                </a:solidFill>
                <a:latin typeface="Microsoft Sans Serif"/>
                <a:cs typeface="Microsoft Sans Serif"/>
              </a:rPr>
              <a:t>GPS</a:t>
            </a:r>
            <a:r>
              <a:rPr sz="1100" spc="-10" dirty="0">
                <a:solidFill>
                  <a:srgbClr val="666666"/>
                </a:solidFill>
                <a:latin typeface="Microsoft Sans Serif"/>
                <a:cs typeface="Microsoft Sans Serif"/>
              </a:rPr>
              <a:t> coordinates </a:t>
            </a:r>
            <a:r>
              <a:rPr sz="1100" spc="-20" dirty="0">
                <a:solidFill>
                  <a:srgbClr val="666666"/>
                </a:solidFill>
                <a:latin typeface="Microsoft Sans Serif"/>
                <a:cs typeface="Microsoft Sans Serif"/>
              </a:rPr>
              <a:t>and</a:t>
            </a:r>
            <a:r>
              <a:rPr sz="1100" spc="-5" dirty="0">
                <a:solidFill>
                  <a:srgbClr val="666666"/>
                </a:solidFill>
                <a:latin typeface="Microsoft Sans Serif"/>
                <a:cs typeface="Microsoft Sans Serif"/>
              </a:rPr>
              <a:t> </a:t>
            </a:r>
            <a:r>
              <a:rPr sz="1100" spc="-10" dirty="0">
                <a:solidFill>
                  <a:srgbClr val="666666"/>
                </a:solidFill>
                <a:latin typeface="Microsoft Sans Serif"/>
                <a:cs typeface="Microsoft Sans Serif"/>
              </a:rPr>
              <a:t>captures</a:t>
            </a:r>
            <a:r>
              <a:rPr sz="1100" dirty="0">
                <a:solidFill>
                  <a:srgbClr val="666666"/>
                </a:solidFill>
                <a:latin typeface="Microsoft Sans Serif"/>
                <a:cs typeface="Microsoft Sans Serif"/>
              </a:rPr>
              <a:t> </a:t>
            </a:r>
            <a:r>
              <a:rPr sz="1100" spc="-20" dirty="0">
                <a:solidFill>
                  <a:srgbClr val="666666"/>
                </a:solidFill>
                <a:latin typeface="Microsoft Sans Serif"/>
                <a:cs typeface="Microsoft Sans Serif"/>
              </a:rPr>
              <a:t>timestamped</a:t>
            </a:r>
            <a:r>
              <a:rPr sz="1100" dirty="0">
                <a:solidFill>
                  <a:srgbClr val="666666"/>
                </a:solidFill>
                <a:latin typeface="Microsoft Sans Serif"/>
                <a:cs typeface="Microsoft Sans Serif"/>
              </a:rPr>
              <a:t> </a:t>
            </a:r>
            <a:r>
              <a:rPr sz="1100" spc="-20" dirty="0">
                <a:solidFill>
                  <a:srgbClr val="666666"/>
                </a:solidFill>
                <a:latin typeface="Microsoft Sans Serif"/>
                <a:cs typeface="Microsoft Sans Serif"/>
              </a:rPr>
              <a:t>images</a:t>
            </a:r>
            <a:r>
              <a:rPr sz="1100" dirty="0">
                <a:solidFill>
                  <a:srgbClr val="666666"/>
                </a:solidFill>
                <a:latin typeface="Microsoft Sans Serif"/>
                <a:cs typeface="Microsoft Sans Serif"/>
              </a:rPr>
              <a:t> </a:t>
            </a:r>
            <a:r>
              <a:rPr sz="1100" spc="-10" dirty="0">
                <a:solidFill>
                  <a:srgbClr val="666666"/>
                </a:solidFill>
                <a:latin typeface="Microsoft Sans Serif"/>
                <a:cs typeface="Microsoft Sans Serif"/>
              </a:rPr>
              <a:t>locally.</a:t>
            </a:r>
            <a:endParaRPr sz="1100" dirty="0">
              <a:latin typeface="Microsoft Sans Serif"/>
              <a:cs typeface="Microsoft Sans Serif"/>
            </a:endParaRPr>
          </a:p>
        </p:txBody>
      </p:sp>
      <p:sp>
        <p:nvSpPr>
          <p:cNvPr id="41" name="object 41"/>
          <p:cNvSpPr/>
          <p:nvPr/>
        </p:nvSpPr>
        <p:spPr>
          <a:xfrm>
            <a:off x="1076324" y="6515095"/>
            <a:ext cx="8543925" cy="9525"/>
          </a:xfrm>
          <a:custGeom>
            <a:avLst/>
            <a:gdLst/>
            <a:ahLst/>
            <a:cxnLst/>
            <a:rect l="l" t="t" r="r" b="b"/>
            <a:pathLst>
              <a:path w="8543925" h="9525">
                <a:moveTo>
                  <a:pt x="8543924" y="9524"/>
                </a:moveTo>
                <a:lnTo>
                  <a:pt x="0" y="9524"/>
                </a:lnTo>
                <a:lnTo>
                  <a:pt x="0" y="0"/>
                </a:lnTo>
                <a:lnTo>
                  <a:pt x="8543924" y="0"/>
                </a:lnTo>
                <a:lnTo>
                  <a:pt x="8543924" y="9524"/>
                </a:lnTo>
                <a:close/>
              </a:path>
            </a:pathLst>
          </a:custGeom>
          <a:solidFill>
            <a:srgbClr val="EDEDED"/>
          </a:solidFill>
        </p:spPr>
        <p:txBody>
          <a:bodyPr wrap="square" lIns="0" tIns="0" rIns="0" bIns="0" rtlCol="0"/>
          <a:lstStyle/>
          <a:p>
            <a:endParaRPr/>
          </a:p>
        </p:txBody>
      </p:sp>
      <p:sp>
        <p:nvSpPr>
          <p:cNvPr id="42" name="object 42"/>
          <p:cNvSpPr txBox="1"/>
          <p:nvPr/>
        </p:nvSpPr>
        <p:spPr>
          <a:xfrm>
            <a:off x="1067196" y="6601817"/>
            <a:ext cx="1574800" cy="158115"/>
          </a:xfrm>
          <a:prstGeom prst="rect">
            <a:avLst/>
          </a:prstGeom>
        </p:spPr>
        <p:txBody>
          <a:bodyPr vert="horz" wrap="square" lIns="0" tIns="14604" rIns="0" bIns="0" rtlCol="0">
            <a:spAutoFit/>
          </a:bodyPr>
          <a:lstStyle/>
          <a:p>
            <a:pPr marL="12700">
              <a:lnSpc>
                <a:spcPct val="100000"/>
              </a:lnSpc>
              <a:spcBef>
                <a:spcPts val="114"/>
              </a:spcBef>
            </a:pPr>
            <a:r>
              <a:rPr sz="800" spc="-20" dirty="0">
                <a:solidFill>
                  <a:srgbClr val="878787"/>
                </a:solidFill>
                <a:latin typeface="Microsoft Sans Serif"/>
                <a:cs typeface="Microsoft Sans Serif"/>
              </a:rPr>
              <a:t>GoldenEye </a:t>
            </a:r>
            <a:r>
              <a:rPr sz="850" spc="-45" dirty="0">
                <a:solidFill>
                  <a:srgbClr val="878787"/>
                </a:solidFill>
                <a:latin typeface="Verdana"/>
                <a:cs typeface="Verdana"/>
              </a:rPr>
              <a:t>-</a:t>
            </a:r>
            <a:r>
              <a:rPr sz="850" spc="-90" dirty="0">
                <a:solidFill>
                  <a:srgbClr val="878787"/>
                </a:solidFill>
                <a:latin typeface="Verdana"/>
                <a:cs typeface="Verdana"/>
              </a:rPr>
              <a:t> </a:t>
            </a:r>
            <a:r>
              <a:rPr sz="800" dirty="0">
                <a:solidFill>
                  <a:srgbClr val="878787"/>
                </a:solidFill>
                <a:latin typeface="Microsoft Sans Serif"/>
                <a:cs typeface="Microsoft Sans Serif"/>
              </a:rPr>
              <a:t>AI</a:t>
            </a:r>
            <a:r>
              <a:rPr sz="800" spc="-10" dirty="0">
                <a:solidFill>
                  <a:srgbClr val="878787"/>
                </a:solidFill>
                <a:latin typeface="Microsoft Sans Serif"/>
                <a:cs typeface="Microsoft Sans Serif"/>
              </a:rPr>
              <a:t> </a:t>
            </a:r>
            <a:r>
              <a:rPr sz="800" spc="-55" dirty="0">
                <a:solidFill>
                  <a:srgbClr val="878787"/>
                </a:solidFill>
                <a:latin typeface="Microsoft Sans Serif"/>
                <a:cs typeface="Microsoft Sans Serif"/>
              </a:rPr>
              <a:t>SAR</a:t>
            </a:r>
            <a:r>
              <a:rPr sz="800" spc="-5" dirty="0">
                <a:solidFill>
                  <a:srgbClr val="878787"/>
                </a:solidFill>
                <a:latin typeface="Microsoft Sans Serif"/>
                <a:cs typeface="Microsoft Sans Serif"/>
              </a:rPr>
              <a:t> </a:t>
            </a:r>
            <a:r>
              <a:rPr sz="800" dirty="0">
                <a:solidFill>
                  <a:srgbClr val="878787"/>
                </a:solidFill>
                <a:latin typeface="Microsoft Sans Serif"/>
                <a:cs typeface="Microsoft Sans Serif"/>
              </a:rPr>
              <a:t>Drone</a:t>
            </a:r>
            <a:r>
              <a:rPr sz="800" spc="-10" dirty="0">
                <a:solidFill>
                  <a:srgbClr val="878787"/>
                </a:solidFill>
                <a:latin typeface="Microsoft Sans Serif"/>
                <a:cs typeface="Microsoft Sans Serif"/>
              </a:rPr>
              <a:t> System</a:t>
            </a:r>
            <a:endParaRPr sz="800">
              <a:latin typeface="Microsoft Sans Serif"/>
              <a:cs typeface="Microsoft Sans Serif"/>
            </a:endParaRPr>
          </a:p>
        </p:txBody>
      </p:sp>
      <p:pic>
        <p:nvPicPr>
          <p:cNvPr id="43" name="object 43"/>
          <p:cNvPicPr/>
          <p:nvPr/>
        </p:nvPicPr>
        <p:blipFill>
          <a:blip r:embed="rId11" cstate="print"/>
          <a:stretch>
            <a:fillRect/>
          </a:stretch>
        </p:blipFill>
        <p:spPr>
          <a:xfrm>
            <a:off x="9410699" y="6619870"/>
            <a:ext cx="209549" cy="209540"/>
          </a:xfrm>
          <a:prstGeom prst="rect">
            <a:avLst/>
          </a:prstGeom>
        </p:spPr>
      </p:pic>
      <p:sp>
        <p:nvSpPr>
          <p:cNvPr id="44" name="object 44"/>
          <p:cNvSpPr txBox="1"/>
          <p:nvPr/>
        </p:nvSpPr>
        <p:spPr>
          <a:xfrm>
            <a:off x="9448600" y="6645350"/>
            <a:ext cx="127000" cy="151130"/>
          </a:xfrm>
          <a:prstGeom prst="rect">
            <a:avLst/>
          </a:prstGeom>
        </p:spPr>
        <p:txBody>
          <a:bodyPr vert="horz" wrap="square" lIns="0" tIns="15875" rIns="0" bIns="0" rtlCol="0">
            <a:spAutoFit/>
          </a:bodyPr>
          <a:lstStyle/>
          <a:p>
            <a:pPr marL="12700">
              <a:lnSpc>
                <a:spcPct val="100000"/>
              </a:lnSpc>
              <a:spcBef>
                <a:spcPts val="125"/>
              </a:spcBef>
            </a:pPr>
            <a:r>
              <a:rPr sz="800" b="1" spc="-25" dirty="0">
                <a:solidFill>
                  <a:srgbClr val="FFFFFF"/>
                </a:solidFill>
                <a:latin typeface="Arial"/>
                <a:cs typeface="Arial"/>
              </a:rPr>
              <a:t>16</a:t>
            </a:r>
            <a:endParaRPr sz="800">
              <a:latin typeface="Arial"/>
              <a:cs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7336155">
              <a:lnSpc>
                <a:spcPct val="100000"/>
              </a:lnSpc>
              <a:spcBef>
                <a:spcPts val="100"/>
              </a:spcBef>
            </a:pPr>
            <a:r>
              <a:rPr spc="80" dirty="0"/>
              <a:t>07</a:t>
            </a:r>
          </a:p>
        </p:txBody>
      </p:sp>
      <p:sp>
        <p:nvSpPr>
          <p:cNvPr id="3" name="object 3"/>
          <p:cNvSpPr txBox="1"/>
          <p:nvPr/>
        </p:nvSpPr>
        <p:spPr>
          <a:xfrm>
            <a:off x="2279848" y="3348588"/>
            <a:ext cx="6137275" cy="1017269"/>
          </a:xfrm>
          <a:prstGeom prst="rect">
            <a:avLst/>
          </a:prstGeom>
        </p:spPr>
        <p:txBody>
          <a:bodyPr vert="horz" wrap="square" lIns="0" tIns="13335" rIns="0" bIns="0" rtlCol="0">
            <a:spAutoFit/>
          </a:bodyPr>
          <a:lstStyle/>
          <a:p>
            <a:pPr algn="ctr">
              <a:lnSpc>
                <a:spcPct val="100000"/>
              </a:lnSpc>
              <a:spcBef>
                <a:spcPts val="105"/>
              </a:spcBef>
            </a:pPr>
            <a:r>
              <a:rPr sz="3900" b="1" spc="-290" dirty="0">
                <a:solidFill>
                  <a:srgbClr val="FFFFFF"/>
                </a:solidFill>
                <a:latin typeface="Arial"/>
                <a:cs typeface="Arial"/>
              </a:rPr>
              <a:t>UML</a:t>
            </a:r>
            <a:r>
              <a:rPr sz="3900" b="1" spc="-405" dirty="0">
                <a:solidFill>
                  <a:srgbClr val="FFFFFF"/>
                </a:solidFill>
                <a:latin typeface="Arial"/>
                <a:cs typeface="Arial"/>
              </a:rPr>
              <a:t> </a:t>
            </a:r>
            <a:r>
              <a:rPr sz="3900" b="1" spc="290" dirty="0">
                <a:solidFill>
                  <a:srgbClr val="FFFFFF"/>
                </a:solidFill>
                <a:latin typeface="Arial"/>
                <a:cs typeface="Arial"/>
              </a:rPr>
              <a:t>/</a:t>
            </a:r>
            <a:r>
              <a:rPr sz="3900" b="1" spc="-480" dirty="0">
                <a:solidFill>
                  <a:srgbClr val="FFFFFF"/>
                </a:solidFill>
                <a:latin typeface="Arial"/>
                <a:cs typeface="Arial"/>
              </a:rPr>
              <a:t> </a:t>
            </a:r>
            <a:r>
              <a:rPr sz="3900" b="1" spc="-190" dirty="0">
                <a:solidFill>
                  <a:srgbClr val="FFFFFF"/>
                </a:solidFill>
                <a:latin typeface="Arial"/>
                <a:cs typeface="Arial"/>
              </a:rPr>
              <a:t>Architecture</a:t>
            </a:r>
            <a:r>
              <a:rPr sz="3900" b="1" spc="-370" dirty="0">
                <a:solidFill>
                  <a:srgbClr val="FFFFFF"/>
                </a:solidFill>
                <a:latin typeface="Arial"/>
                <a:cs typeface="Arial"/>
              </a:rPr>
              <a:t> </a:t>
            </a:r>
            <a:r>
              <a:rPr sz="3900" b="1" spc="-160" dirty="0">
                <a:solidFill>
                  <a:srgbClr val="FFFFFF"/>
                </a:solidFill>
                <a:latin typeface="Arial"/>
                <a:cs typeface="Arial"/>
              </a:rPr>
              <a:t>Diagrams</a:t>
            </a:r>
            <a:endParaRPr sz="3900" dirty="0">
              <a:latin typeface="Arial"/>
              <a:cs typeface="Arial"/>
            </a:endParaRPr>
          </a:p>
          <a:p>
            <a:pPr algn="ctr">
              <a:lnSpc>
                <a:spcPct val="100000"/>
              </a:lnSpc>
              <a:spcBef>
                <a:spcPts val="1320"/>
              </a:spcBef>
            </a:pPr>
            <a:r>
              <a:rPr sz="1500" spc="-50" dirty="0">
                <a:solidFill>
                  <a:srgbClr val="FFFFFF"/>
                </a:solidFill>
                <a:latin typeface="Microsoft Sans Serif"/>
                <a:cs typeface="Microsoft Sans Serif"/>
              </a:rPr>
              <a:t>System</a:t>
            </a:r>
            <a:r>
              <a:rPr sz="1500" spc="-40" dirty="0">
                <a:solidFill>
                  <a:srgbClr val="FFFFFF"/>
                </a:solidFill>
                <a:latin typeface="Microsoft Sans Serif"/>
                <a:cs typeface="Microsoft Sans Serif"/>
              </a:rPr>
              <a:t> </a:t>
            </a:r>
            <a:r>
              <a:rPr sz="1500" spc="-20" dirty="0">
                <a:solidFill>
                  <a:srgbClr val="FFFFFF"/>
                </a:solidFill>
                <a:latin typeface="Microsoft Sans Serif"/>
                <a:cs typeface="Microsoft Sans Serif"/>
              </a:rPr>
              <a:t>design</a:t>
            </a:r>
            <a:r>
              <a:rPr sz="1500" spc="-40" dirty="0">
                <a:solidFill>
                  <a:srgbClr val="FFFFFF"/>
                </a:solidFill>
                <a:latin typeface="Microsoft Sans Serif"/>
                <a:cs typeface="Microsoft Sans Serif"/>
              </a:rPr>
              <a:t> </a:t>
            </a:r>
            <a:r>
              <a:rPr sz="1500" spc="-10" dirty="0">
                <a:solidFill>
                  <a:srgbClr val="FFFFFF"/>
                </a:solidFill>
                <a:latin typeface="Microsoft Sans Serif"/>
                <a:cs typeface="Microsoft Sans Serif"/>
              </a:rPr>
              <a:t>visualization</a:t>
            </a:r>
            <a:endParaRPr sz="1500" dirty="0">
              <a:latin typeface="Microsoft Sans Serif"/>
              <a:cs typeface="Microsoft Sans Serif"/>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 name="object 27"/>
          <p:cNvSpPr/>
          <p:nvPr/>
        </p:nvSpPr>
        <p:spPr>
          <a:xfrm>
            <a:off x="1076324" y="6515094"/>
            <a:ext cx="8543925" cy="9525"/>
          </a:xfrm>
          <a:custGeom>
            <a:avLst/>
            <a:gdLst/>
            <a:ahLst/>
            <a:cxnLst/>
            <a:rect l="l" t="t" r="r" b="b"/>
            <a:pathLst>
              <a:path w="8543925" h="9525">
                <a:moveTo>
                  <a:pt x="8543924" y="9524"/>
                </a:moveTo>
                <a:lnTo>
                  <a:pt x="0" y="9524"/>
                </a:lnTo>
                <a:lnTo>
                  <a:pt x="0" y="0"/>
                </a:lnTo>
                <a:lnTo>
                  <a:pt x="8543924" y="0"/>
                </a:lnTo>
                <a:lnTo>
                  <a:pt x="8543924" y="9524"/>
                </a:lnTo>
                <a:close/>
              </a:path>
            </a:pathLst>
          </a:custGeom>
          <a:solidFill>
            <a:srgbClr val="EDEDED"/>
          </a:solidFill>
        </p:spPr>
        <p:txBody>
          <a:bodyPr wrap="square" lIns="0" tIns="0" rIns="0" bIns="0" rtlCol="0"/>
          <a:lstStyle/>
          <a:p>
            <a:endParaRPr/>
          </a:p>
        </p:txBody>
      </p:sp>
      <p:sp>
        <p:nvSpPr>
          <p:cNvPr id="28" name="object 28"/>
          <p:cNvSpPr txBox="1"/>
          <p:nvPr/>
        </p:nvSpPr>
        <p:spPr>
          <a:xfrm>
            <a:off x="1067196" y="6601817"/>
            <a:ext cx="1574800" cy="158115"/>
          </a:xfrm>
          <a:prstGeom prst="rect">
            <a:avLst/>
          </a:prstGeom>
        </p:spPr>
        <p:txBody>
          <a:bodyPr vert="horz" wrap="square" lIns="0" tIns="14604" rIns="0" bIns="0" rtlCol="0">
            <a:spAutoFit/>
          </a:bodyPr>
          <a:lstStyle/>
          <a:p>
            <a:pPr marL="12700">
              <a:lnSpc>
                <a:spcPct val="100000"/>
              </a:lnSpc>
              <a:spcBef>
                <a:spcPts val="114"/>
              </a:spcBef>
            </a:pPr>
            <a:r>
              <a:rPr sz="800" spc="-20" dirty="0">
                <a:solidFill>
                  <a:srgbClr val="878787"/>
                </a:solidFill>
                <a:latin typeface="Microsoft Sans Serif"/>
                <a:cs typeface="Microsoft Sans Serif"/>
              </a:rPr>
              <a:t>GoldenEye </a:t>
            </a:r>
            <a:r>
              <a:rPr sz="850" spc="-45" dirty="0">
                <a:solidFill>
                  <a:srgbClr val="878787"/>
                </a:solidFill>
                <a:latin typeface="Verdana"/>
                <a:cs typeface="Verdana"/>
              </a:rPr>
              <a:t>-</a:t>
            </a:r>
            <a:r>
              <a:rPr sz="850" spc="-90" dirty="0">
                <a:solidFill>
                  <a:srgbClr val="878787"/>
                </a:solidFill>
                <a:latin typeface="Verdana"/>
                <a:cs typeface="Verdana"/>
              </a:rPr>
              <a:t> </a:t>
            </a:r>
            <a:r>
              <a:rPr sz="800" dirty="0">
                <a:solidFill>
                  <a:srgbClr val="878787"/>
                </a:solidFill>
                <a:latin typeface="Microsoft Sans Serif"/>
                <a:cs typeface="Microsoft Sans Serif"/>
              </a:rPr>
              <a:t>AI</a:t>
            </a:r>
            <a:r>
              <a:rPr sz="800" spc="-10" dirty="0">
                <a:solidFill>
                  <a:srgbClr val="878787"/>
                </a:solidFill>
                <a:latin typeface="Microsoft Sans Serif"/>
                <a:cs typeface="Microsoft Sans Serif"/>
              </a:rPr>
              <a:t> </a:t>
            </a:r>
            <a:r>
              <a:rPr sz="800" spc="-55" dirty="0">
                <a:solidFill>
                  <a:srgbClr val="878787"/>
                </a:solidFill>
                <a:latin typeface="Microsoft Sans Serif"/>
                <a:cs typeface="Microsoft Sans Serif"/>
              </a:rPr>
              <a:t>SAR</a:t>
            </a:r>
            <a:r>
              <a:rPr sz="800" spc="-5" dirty="0">
                <a:solidFill>
                  <a:srgbClr val="878787"/>
                </a:solidFill>
                <a:latin typeface="Microsoft Sans Serif"/>
                <a:cs typeface="Microsoft Sans Serif"/>
              </a:rPr>
              <a:t> </a:t>
            </a:r>
            <a:r>
              <a:rPr sz="800" dirty="0">
                <a:solidFill>
                  <a:srgbClr val="878787"/>
                </a:solidFill>
                <a:latin typeface="Microsoft Sans Serif"/>
                <a:cs typeface="Microsoft Sans Serif"/>
              </a:rPr>
              <a:t>Drone</a:t>
            </a:r>
            <a:r>
              <a:rPr sz="800" spc="-10" dirty="0">
                <a:solidFill>
                  <a:srgbClr val="878787"/>
                </a:solidFill>
                <a:latin typeface="Microsoft Sans Serif"/>
                <a:cs typeface="Microsoft Sans Serif"/>
              </a:rPr>
              <a:t> System</a:t>
            </a:r>
            <a:endParaRPr sz="800">
              <a:latin typeface="Microsoft Sans Serif"/>
              <a:cs typeface="Microsoft Sans Serif"/>
            </a:endParaRPr>
          </a:p>
        </p:txBody>
      </p:sp>
      <p:pic>
        <p:nvPicPr>
          <p:cNvPr id="29" name="object 29"/>
          <p:cNvPicPr/>
          <p:nvPr/>
        </p:nvPicPr>
        <p:blipFill>
          <a:blip r:embed="rId3" cstate="print"/>
          <a:stretch>
            <a:fillRect/>
          </a:stretch>
        </p:blipFill>
        <p:spPr>
          <a:xfrm>
            <a:off x="9410699" y="6619869"/>
            <a:ext cx="209549" cy="209549"/>
          </a:xfrm>
          <a:prstGeom prst="rect">
            <a:avLst/>
          </a:prstGeom>
        </p:spPr>
      </p:pic>
      <p:sp>
        <p:nvSpPr>
          <p:cNvPr id="30" name="object 30"/>
          <p:cNvSpPr txBox="1"/>
          <p:nvPr/>
        </p:nvSpPr>
        <p:spPr>
          <a:xfrm>
            <a:off x="9448452" y="6645350"/>
            <a:ext cx="127000" cy="151130"/>
          </a:xfrm>
          <a:prstGeom prst="rect">
            <a:avLst/>
          </a:prstGeom>
        </p:spPr>
        <p:txBody>
          <a:bodyPr vert="horz" wrap="square" lIns="0" tIns="15875" rIns="0" bIns="0" rtlCol="0">
            <a:spAutoFit/>
          </a:bodyPr>
          <a:lstStyle/>
          <a:p>
            <a:pPr marL="12700">
              <a:lnSpc>
                <a:spcPct val="100000"/>
              </a:lnSpc>
              <a:spcBef>
                <a:spcPts val="125"/>
              </a:spcBef>
            </a:pPr>
            <a:r>
              <a:rPr sz="800" b="1" spc="-25" dirty="0">
                <a:solidFill>
                  <a:srgbClr val="FFFFFF"/>
                </a:solidFill>
                <a:latin typeface="Arial"/>
                <a:cs typeface="Arial"/>
              </a:rPr>
              <a:t>18</a:t>
            </a:r>
            <a:endParaRPr sz="800">
              <a:latin typeface="Arial"/>
              <a:cs typeface="Arial"/>
            </a:endParaRPr>
          </a:p>
        </p:txBody>
      </p:sp>
      <p:sp>
        <p:nvSpPr>
          <p:cNvPr id="33" name="object 2">
            <a:extLst>
              <a:ext uri="{FF2B5EF4-FFF2-40B4-BE49-F238E27FC236}">
                <a16:creationId xmlns:a16="http://schemas.microsoft.com/office/drawing/2014/main" id="{AD70D025-ACF8-B18F-6D36-20F31D6EC5C0}"/>
              </a:ext>
            </a:extLst>
          </p:cNvPr>
          <p:cNvSpPr/>
          <p:nvPr/>
        </p:nvSpPr>
        <p:spPr>
          <a:xfrm>
            <a:off x="1076324" y="1285870"/>
            <a:ext cx="8543925" cy="28575"/>
          </a:xfrm>
          <a:custGeom>
            <a:avLst/>
            <a:gdLst/>
            <a:ahLst/>
            <a:cxnLst/>
            <a:rect l="l" t="t" r="r" b="b"/>
            <a:pathLst>
              <a:path w="8543925" h="28575">
                <a:moveTo>
                  <a:pt x="8543924" y="28574"/>
                </a:moveTo>
                <a:lnTo>
                  <a:pt x="0" y="28574"/>
                </a:lnTo>
                <a:lnTo>
                  <a:pt x="0" y="0"/>
                </a:lnTo>
                <a:lnTo>
                  <a:pt x="8543924" y="0"/>
                </a:lnTo>
                <a:lnTo>
                  <a:pt x="8543924" y="28574"/>
                </a:lnTo>
                <a:close/>
              </a:path>
            </a:pathLst>
          </a:custGeom>
          <a:solidFill>
            <a:srgbClr val="BF382A"/>
          </a:solidFill>
        </p:spPr>
        <p:txBody>
          <a:bodyPr wrap="square" lIns="0" tIns="0" rIns="0" bIns="0" rtlCol="0"/>
          <a:lstStyle/>
          <a:p>
            <a:endParaRPr/>
          </a:p>
        </p:txBody>
      </p:sp>
      <p:pic>
        <p:nvPicPr>
          <p:cNvPr id="34" name="object 3">
            <a:extLst>
              <a:ext uri="{FF2B5EF4-FFF2-40B4-BE49-F238E27FC236}">
                <a16:creationId xmlns:a16="http://schemas.microsoft.com/office/drawing/2014/main" id="{07FDF06A-8486-7934-5223-145E4AE0D138}"/>
              </a:ext>
            </a:extLst>
          </p:cNvPr>
          <p:cNvPicPr/>
          <p:nvPr/>
        </p:nvPicPr>
        <p:blipFill>
          <a:blip r:embed="rId4" cstate="print"/>
          <a:stretch>
            <a:fillRect/>
          </a:stretch>
        </p:blipFill>
        <p:spPr>
          <a:xfrm>
            <a:off x="1079896" y="962025"/>
            <a:ext cx="238125" cy="187325"/>
          </a:xfrm>
          <a:prstGeom prst="rect">
            <a:avLst/>
          </a:prstGeom>
        </p:spPr>
      </p:pic>
      <p:sp>
        <p:nvSpPr>
          <p:cNvPr id="35" name="object 4">
            <a:extLst>
              <a:ext uri="{FF2B5EF4-FFF2-40B4-BE49-F238E27FC236}">
                <a16:creationId xmlns:a16="http://schemas.microsoft.com/office/drawing/2014/main" id="{9C63FAF4-C89F-831F-B6D6-286A9BCDD9F3}"/>
              </a:ext>
            </a:extLst>
          </p:cNvPr>
          <p:cNvSpPr txBox="1">
            <a:spLocks/>
          </p:cNvSpPr>
          <p:nvPr/>
        </p:nvSpPr>
        <p:spPr>
          <a:xfrm>
            <a:off x="1398190" y="883762"/>
            <a:ext cx="2967355" cy="298450"/>
          </a:xfrm>
          <a:prstGeom prst="rect">
            <a:avLst/>
          </a:prstGeom>
        </p:spPr>
        <p:txBody>
          <a:bodyPr vert="horz" wrap="square" lIns="0" tIns="11430" rIns="0" bIns="0" rtlCol="0">
            <a:spAutoFit/>
          </a:bodyPr>
          <a:lstStyle>
            <a:lvl1pPr>
              <a:defRPr sz="6600" b="1" i="0">
                <a:solidFill>
                  <a:schemeClr val="bg1"/>
                </a:solidFill>
                <a:latin typeface="Arial"/>
                <a:ea typeface="+mj-ea"/>
                <a:cs typeface="Arial"/>
              </a:defRPr>
            </a:lvl1pPr>
          </a:lstStyle>
          <a:p>
            <a:pPr marL="12700">
              <a:spcBef>
                <a:spcPts val="90"/>
              </a:spcBef>
            </a:pPr>
            <a:r>
              <a:rPr lang="en-US" sz="1800" spc="-155" dirty="0">
                <a:solidFill>
                  <a:srgbClr val="BF382A"/>
                </a:solidFill>
              </a:rPr>
              <a:t>System</a:t>
            </a:r>
            <a:r>
              <a:rPr lang="en-US" sz="1800" spc="-170" dirty="0">
                <a:solidFill>
                  <a:srgbClr val="BF382A"/>
                </a:solidFill>
              </a:rPr>
              <a:t> </a:t>
            </a:r>
            <a:r>
              <a:rPr lang="en-US" sz="1800" spc="-100" dirty="0">
                <a:solidFill>
                  <a:srgbClr val="BF382A"/>
                </a:solidFill>
              </a:rPr>
              <a:t>Architecture</a:t>
            </a:r>
            <a:r>
              <a:rPr lang="en-US" sz="1800" spc="-110" dirty="0">
                <a:solidFill>
                  <a:srgbClr val="BF382A"/>
                </a:solidFill>
              </a:rPr>
              <a:t> </a:t>
            </a:r>
            <a:r>
              <a:rPr lang="en-US" sz="1800" spc="-80" dirty="0">
                <a:solidFill>
                  <a:srgbClr val="BF382A"/>
                </a:solidFill>
              </a:rPr>
              <a:t>Diagrams</a:t>
            </a:r>
            <a:endParaRPr lang="en-US" sz="1800" dirty="0"/>
          </a:p>
        </p:txBody>
      </p:sp>
      <p:grpSp>
        <p:nvGrpSpPr>
          <p:cNvPr id="36" name="object 5">
            <a:extLst>
              <a:ext uri="{FF2B5EF4-FFF2-40B4-BE49-F238E27FC236}">
                <a16:creationId xmlns:a16="http://schemas.microsoft.com/office/drawing/2014/main" id="{943596AB-B389-F3C0-8472-4E6993E070E3}"/>
              </a:ext>
            </a:extLst>
          </p:cNvPr>
          <p:cNvGrpSpPr/>
          <p:nvPr/>
        </p:nvGrpSpPr>
        <p:grpSpPr>
          <a:xfrm>
            <a:off x="1031527" y="5567357"/>
            <a:ext cx="8543925" cy="600075"/>
            <a:chOff x="1076324" y="3409944"/>
            <a:chExt cx="8543925" cy="600075"/>
          </a:xfrm>
        </p:grpSpPr>
        <p:pic>
          <p:nvPicPr>
            <p:cNvPr id="37" name="object 6">
              <a:extLst>
                <a:ext uri="{FF2B5EF4-FFF2-40B4-BE49-F238E27FC236}">
                  <a16:creationId xmlns:a16="http://schemas.microsoft.com/office/drawing/2014/main" id="{9ED11D2B-391B-2862-6B12-DFEAEC046343}"/>
                </a:ext>
              </a:extLst>
            </p:cNvPr>
            <p:cNvPicPr/>
            <p:nvPr/>
          </p:nvPicPr>
          <p:blipFill>
            <a:blip r:embed="rId5" cstate="print"/>
            <a:stretch>
              <a:fillRect/>
            </a:stretch>
          </p:blipFill>
          <p:spPr>
            <a:xfrm>
              <a:off x="1114424" y="3409946"/>
              <a:ext cx="8505824" cy="600074"/>
            </a:xfrm>
            <a:prstGeom prst="rect">
              <a:avLst/>
            </a:prstGeom>
          </p:spPr>
        </p:pic>
        <p:sp>
          <p:nvSpPr>
            <p:cNvPr id="38" name="object 7">
              <a:extLst>
                <a:ext uri="{FF2B5EF4-FFF2-40B4-BE49-F238E27FC236}">
                  <a16:creationId xmlns:a16="http://schemas.microsoft.com/office/drawing/2014/main" id="{49B509F8-3512-E267-955A-F55B4667BA96}"/>
                </a:ext>
              </a:extLst>
            </p:cNvPr>
            <p:cNvSpPr/>
            <p:nvPr/>
          </p:nvSpPr>
          <p:spPr>
            <a:xfrm>
              <a:off x="1076324" y="3409944"/>
              <a:ext cx="38100" cy="600075"/>
            </a:xfrm>
            <a:custGeom>
              <a:avLst/>
              <a:gdLst/>
              <a:ahLst/>
              <a:cxnLst/>
              <a:rect l="l" t="t" r="r" b="b"/>
              <a:pathLst>
                <a:path w="38100" h="600075">
                  <a:moveTo>
                    <a:pt x="38099" y="600074"/>
                  </a:moveTo>
                  <a:lnTo>
                    <a:pt x="0" y="600074"/>
                  </a:lnTo>
                  <a:lnTo>
                    <a:pt x="0" y="0"/>
                  </a:lnTo>
                  <a:lnTo>
                    <a:pt x="38099" y="0"/>
                  </a:lnTo>
                  <a:lnTo>
                    <a:pt x="38099" y="600074"/>
                  </a:lnTo>
                  <a:close/>
                </a:path>
              </a:pathLst>
            </a:custGeom>
            <a:solidFill>
              <a:srgbClr val="3398DA"/>
            </a:solidFill>
          </p:spPr>
          <p:txBody>
            <a:bodyPr wrap="square" lIns="0" tIns="0" rIns="0" bIns="0" rtlCol="0"/>
            <a:lstStyle/>
            <a:p>
              <a:endParaRPr/>
            </a:p>
          </p:txBody>
        </p:sp>
      </p:grpSp>
      <p:sp>
        <p:nvSpPr>
          <p:cNvPr id="57" name="object 26">
            <a:extLst>
              <a:ext uri="{FF2B5EF4-FFF2-40B4-BE49-F238E27FC236}">
                <a16:creationId xmlns:a16="http://schemas.microsoft.com/office/drawing/2014/main" id="{E132D006-52B4-6801-8C26-85F6EA13AA8C}"/>
              </a:ext>
            </a:extLst>
          </p:cNvPr>
          <p:cNvSpPr txBox="1"/>
          <p:nvPr/>
        </p:nvSpPr>
        <p:spPr>
          <a:xfrm>
            <a:off x="1203374" y="5606658"/>
            <a:ext cx="8032750" cy="434975"/>
          </a:xfrm>
          <a:prstGeom prst="rect">
            <a:avLst/>
          </a:prstGeom>
        </p:spPr>
        <p:txBody>
          <a:bodyPr vert="horz" wrap="square" lIns="0" tIns="78105" rIns="0" bIns="0" rtlCol="0">
            <a:spAutoFit/>
          </a:bodyPr>
          <a:lstStyle/>
          <a:p>
            <a:pPr marL="12700">
              <a:lnSpc>
                <a:spcPct val="100000"/>
              </a:lnSpc>
              <a:spcBef>
                <a:spcPts val="615"/>
              </a:spcBef>
            </a:pPr>
            <a:r>
              <a:rPr sz="950" b="1" spc="-25" dirty="0">
                <a:solidFill>
                  <a:srgbClr val="333333"/>
                </a:solidFill>
                <a:latin typeface="Arial"/>
                <a:cs typeface="Arial"/>
              </a:rPr>
              <a:t>Interface </a:t>
            </a:r>
            <a:r>
              <a:rPr sz="950" b="1" spc="-20" dirty="0">
                <a:solidFill>
                  <a:srgbClr val="333333"/>
                </a:solidFill>
                <a:latin typeface="Arial"/>
                <a:cs typeface="Arial"/>
              </a:rPr>
              <a:t>Note</a:t>
            </a:r>
            <a:endParaRPr sz="950" dirty="0">
              <a:latin typeface="Arial"/>
              <a:cs typeface="Arial"/>
            </a:endParaRPr>
          </a:p>
          <a:p>
            <a:pPr marL="12700">
              <a:lnSpc>
                <a:spcPct val="100000"/>
              </a:lnSpc>
              <a:spcBef>
                <a:spcPts val="484"/>
              </a:spcBef>
            </a:pPr>
            <a:r>
              <a:rPr sz="900" spc="-20" dirty="0">
                <a:solidFill>
                  <a:srgbClr val="545454"/>
                </a:solidFill>
                <a:latin typeface="Microsoft Sans Serif"/>
                <a:cs typeface="Microsoft Sans Serif"/>
              </a:rPr>
              <a:t>Custom</a:t>
            </a:r>
            <a:r>
              <a:rPr sz="900" spc="-10" dirty="0">
                <a:solidFill>
                  <a:srgbClr val="545454"/>
                </a:solidFill>
                <a:latin typeface="Microsoft Sans Serif"/>
                <a:cs typeface="Microsoft Sans Serif"/>
              </a:rPr>
              <a:t> </a:t>
            </a:r>
            <a:r>
              <a:rPr sz="900" dirty="0">
                <a:solidFill>
                  <a:srgbClr val="545454"/>
                </a:solidFill>
                <a:latin typeface="Microsoft Sans Serif"/>
                <a:cs typeface="Microsoft Sans Serif"/>
              </a:rPr>
              <a:t>3D-printed</a:t>
            </a:r>
            <a:r>
              <a:rPr sz="900" spc="-5" dirty="0">
                <a:solidFill>
                  <a:srgbClr val="545454"/>
                </a:solidFill>
                <a:latin typeface="Microsoft Sans Serif"/>
                <a:cs typeface="Microsoft Sans Serif"/>
              </a:rPr>
              <a:t> </a:t>
            </a:r>
            <a:r>
              <a:rPr sz="900" spc="-10" dirty="0">
                <a:solidFill>
                  <a:srgbClr val="545454"/>
                </a:solidFill>
                <a:latin typeface="Microsoft Sans Serif"/>
                <a:cs typeface="Microsoft Sans Serif"/>
              </a:rPr>
              <a:t>mount</a:t>
            </a:r>
            <a:r>
              <a:rPr sz="900" spc="-5" dirty="0">
                <a:solidFill>
                  <a:srgbClr val="545454"/>
                </a:solidFill>
                <a:latin typeface="Microsoft Sans Serif"/>
                <a:cs typeface="Microsoft Sans Serif"/>
              </a:rPr>
              <a:t> </a:t>
            </a:r>
            <a:r>
              <a:rPr sz="900" spc="-25" dirty="0">
                <a:solidFill>
                  <a:srgbClr val="545454"/>
                </a:solidFill>
                <a:latin typeface="Microsoft Sans Serif"/>
                <a:cs typeface="Microsoft Sans Serif"/>
              </a:rPr>
              <a:t>(PLA)</a:t>
            </a:r>
            <a:r>
              <a:rPr sz="900" spc="-10" dirty="0">
                <a:solidFill>
                  <a:srgbClr val="545454"/>
                </a:solidFill>
                <a:latin typeface="Microsoft Sans Serif"/>
                <a:cs typeface="Microsoft Sans Serif"/>
              </a:rPr>
              <a:t> </a:t>
            </a:r>
            <a:r>
              <a:rPr sz="900" spc="-20" dirty="0">
                <a:solidFill>
                  <a:srgbClr val="545454"/>
                </a:solidFill>
                <a:latin typeface="Microsoft Sans Serif"/>
                <a:cs typeface="Microsoft Sans Serif"/>
              </a:rPr>
              <a:t>houses</a:t>
            </a:r>
            <a:r>
              <a:rPr sz="900" spc="-5" dirty="0">
                <a:solidFill>
                  <a:srgbClr val="545454"/>
                </a:solidFill>
                <a:latin typeface="Microsoft Sans Serif"/>
                <a:cs typeface="Microsoft Sans Serif"/>
              </a:rPr>
              <a:t> </a:t>
            </a:r>
            <a:r>
              <a:rPr sz="900" spc="-50" dirty="0">
                <a:solidFill>
                  <a:srgbClr val="545454"/>
                </a:solidFill>
                <a:latin typeface="Microsoft Sans Serif"/>
                <a:cs typeface="Microsoft Sans Serif"/>
              </a:rPr>
              <a:t>Pi</a:t>
            </a:r>
            <a:r>
              <a:rPr sz="900" spc="-5" dirty="0">
                <a:solidFill>
                  <a:srgbClr val="545454"/>
                </a:solidFill>
                <a:latin typeface="Microsoft Sans Serif"/>
                <a:cs typeface="Microsoft Sans Serif"/>
              </a:rPr>
              <a:t> </a:t>
            </a:r>
            <a:r>
              <a:rPr sz="900" spc="-20" dirty="0">
                <a:solidFill>
                  <a:srgbClr val="545454"/>
                </a:solidFill>
                <a:latin typeface="Microsoft Sans Serif"/>
                <a:cs typeface="Microsoft Sans Serif"/>
              </a:rPr>
              <a:t>5,</a:t>
            </a:r>
            <a:r>
              <a:rPr sz="900" spc="-5" dirty="0">
                <a:solidFill>
                  <a:srgbClr val="545454"/>
                </a:solidFill>
                <a:latin typeface="Microsoft Sans Serif"/>
                <a:cs typeface="Microsoft Sans Serif"/>
              </a:rPr>
              <a:t> </a:t>
            </a:r>
            <a:r>
              <a:rPr sz="900" spc="-20" dirty="0">
                <a:solidFill>
                  <a:srgbClr val="545454"/>
                </a:solidFill>
                <a:latin typeface="Microsoft Sans Serif"/>
                <a:cs typeface="Microsoft Sans Serif"/>
              </a:rPr>
              <a:t>AI</a:t>
            </a:r>
            <a:r>
              <a:rPr sz="900" spc="-10" dirty="0">
                <a:solidFill>
                  <a:srgbClr val="545454"/>
                </a:solidFill>
                <a:latin typeface="Microsoft Sans Serif"/>
                <a:cs typeface="Microsoft Sans Serif"/>
              </a:rPr>
              <a:t> </a:t>
            </a:r>
            <a:r>
              <a:rPr sz="900" spc="-60" dirty="0">
                <a:solidFill>
                  <a:srgbClr val="545454"/>
                </a:solidFill>
                <a:latin typeface="Microsoft Sans Serif"/>
                <a:cs typeface="Microsoft Sans Serif"/>
              </a:rPr>
              <a:t>HAT,</a:t>
            </a:r>
            <a:r>
              <a:rPr sz="900" spc="-5" dirty="0">
                <a:solidFill>
                  <a:srgbClr val="545454"/>
                </a:solidFill>
                <a:latin typeface="Microsoft Sans Serif"/>
                <a:cs typeface="Microsoft Sans Serif"/>
              </a:rPr>
              <a:t> </a:t>
            </a:r>
            <a:r>
              <a:rPr sz="900" spc="-20" dirty="0">
                <a:solidFill>
                  <a:srgbClr val="545454"/>
                </a:solidFill>
                <a:latin typeface="Microsoft Sans Serif"/>
                <a:cs typeface="Microsoft Sans Serif"/>
              </a:rPr>
              <a:t>and</a:t>
            </a:r>
            <a:r>
              <a:rPr sz="900" spc="-5" dirty="0">
                <a:solidFill>
                  <a:srgbClr val="545454"/>
                </a:solidFill>
                <a:latin typeface="Microsoft Sans Serif"/>
                <a:cs typeface="Microsoft Sans Serif"/>
              </a:rPr>
              <a:t> </a:t>
            </a:r>
            <a:r>
              <a:rPr sz="900" spc="-30" dirty="0">
                <a:solidFill>
                  <a:srgbClr val="545454"/>
                </a:solidFill>
                <a:latin typeface="Microsoft Sans Serif"/>
                <a:cs typeface="Microsoft Sans Serif"/>
              </a:rPr>
              <a:t>Camera</a:t>
            </a:r>
            <a:r>
              <a:rPr sz="900" spc="-5" dirty="0">
                <a:solidFill>
                  <a:srgbClr val="545454"/>
                </a:solidFill>
                <a:latin typeface="Microsoft Sans Serif"/>
                <a:cs typeface="Microsoft Sans Serif"/>
              </a:rPr>
              <a:t> </a:t>
            </a:r>
            <a:r>
              <a:rPr sz="900" spc="80" dirty="0">
                <a:solidFill>
                  <a:srgbClr val="545454"/>
                </a:solidFill>
                <a:latin typeface="Microsoft Sans Serif"/>
                <a:cs typeface="Microsoft Sans Serif"/>
              </a:rPr>
              <a:t>-</a:t>
            </a:r>
            <a:r>
              <a:rPr sz="900" spc="-10" dirty="0">
                <a:solidFill>
                  <a:srgbClr val="545454"/>
                </a:solidFill>
                <a:latin typeface="Microsoft Sans Serif"/>
                <a:cs typeface="Microsoft Sans Serif"/>
              </a:rPr>
              <a:t> </a:t>
            </a:r>
            <a:r>
              <a:rPr sz="900" dirty="0">
                <a:solidFill>
                  <a:srgbClr val="545454"/>
                </a:solidFill>
                <a:latin typeface="Microsoft Sans Serif"/>
                <a:cs typeface="Microsoft Sans Serif"/>
              </a:rPr>
              <a:t>protects</a:t>
            </a:r>
            <a:r>
              <a:rPr sz="900" spc="-5" dirty="0">
                <a:solidFill>
                  <a:srgbClr val="545454"/>
                </a:solidFill>
                <a:latin typeface="Microsoft Sans Serif"/>
                <a:cs typeface="Microsoft Sans Serif"/>
              </a:rPr>
              <a:t> </a:t>
            </a:r>
            <a:r>
              <a:rPr sz="900" dirty="0">
                <a:solidFill>
                  <a:srgbClr val="545454"/>
                </a:solidFill>
                <a:latin typeface="Microsoft Sans Serif"/>
                <a:cs typeface="Microsoft Sans Serif"/>
              </a:rPr>
              <a:t>from</a:t>
            </a:r>
            <a:r>
              <a:rPr sz="900" spc="-5" dirty="0">
                <a:solidFill>
                  <a:srgbClr val="545454"/>
                </a:solidFill>
                <a:latin typeface="Microsoft Sans Serif"/>
                <a:cs typeface="Microsoft Sans Serif"/>
              </a:rPr>
              <a:t> </a:t>
            </a:r>
            <a:r>
              <a:rPr sz="900" spc="-10" dirty="0">
                <a:solidFill>
                  <a:srgbClr val="545454"/>
                </a:solidFill>
                <a:latin typeface="Microsoft Sans Serif"/>
                <a:cs typeface="Microsoft Sans Serif"/>
              </a:rPr>
              <a:t>dust/vibration</a:t>
            </a:r>
            <a:r>
              <a:rPr sz="900" spc="-5" dirty="0">
                <a:solidFill>
                  <a:srgbClr val="545454"/>
                </a:solidFill>
                <a:latin typeface="Microsoft Sans Serif"/>
                <a:cs typeface="Microsoft Sans Serif"/>
              </a:rPr>
              <a:t> </a:t>
            </a:r>
            <a:r>
              <a:rPr sz="900" dirty="0">
                <a:solidFill>
                  <a:srgbClr val="545454"/>
                </a:solidFill>
                <a:latin typeface="Microsoft Sans Serif"/>
                <a:cs typeface="Microsoft Sans Serif"/>
              </a:rPr>
              <a:t>with</a:t>
            </a:r>
            <a:r>
              <a:rPr sz="900" spc="-10" dirty="0">
                <a:solidFill>
                  <a:srgbClr val="545454"/>
                </a:solidFill>
                <a:latin typeface="Microsoft Sans Serif"/>
                <a:cs typeface="Microsoft Sans Serif"/>
              </a:rPr>
              <a:t> </a:t>
            </a:r>
            <a:r>
              <a:rPr sz="900" dirty="0">
                <a:solidFill>
                  <a:srgbClr val="545454"/>
                </a:solidFill>
                <a:latin typeface="Microsoft Sans Serif"/>
                <a:cs typeface="Microsoft Sans Serif"/>
              </a:rPr>
              <a:t>proper</a:t>
            </a:r>
            <a:r>
              <a:rPr sz="900" spc="-5" dirty="0">
                <a:solidFill>
                  <a:srgbClr val="545454"/>
                </a:solidFill>
                <a:latin typeface="Microsoft Sans Serif"/>
                <a:cs typeface="Microsoft Sans Serif"/>
              </a:rPr>
              <a:t> </a:t>
            </a:r>
            <a:r>
              <a:rPr sz="900" dirty="0">
                <a:solidFill>
                  <a:srgbClr val="545454"/>
                </a:solidFill>
                <a:latin typeface="Microsoft Sans Serif"/>
                <a:cs typeface="Microsoft Sans Serif"/>
              </a:rPr>
              <a:t>airflow</a:t>
            </a:r>
            <a:r>
              <a:rPr sz="900" spc="-5" dirty="0">
                <a:solidFill>
                  <a:srgbClr val="545454"/>
                </a:solidFill>
                <a:latin typeface="Microsoft Sans Serif"/>
                <a:cs typeface="Microsoft Sans Serif"/>
              </a:rPr>
              <a:t> </a:t>
            </a:r>
            <a:r>
              <a:rPr sz="900" spc="-10" dirty="0">
                <a:solidFill>
                  <a:srgbClr val="545454"/>
                </a:solidFill>
                <a:latin typeface="Microsoft Sans Serif"/>
                <a:cs typeface="Microsoft Sans Serif"/>
              </a:rPr>
              <a:t>cooling.</a:t>
            </a:r>
            <a:endParaRPr sz="900" dirty="0">
              <a:latin typeface="Microsoft Sans Serif"/>
              <a:cs typeface="Microsoft Sans Serif"/>
            </a:endParaRPr>
          </a:p>
        </p:txBody>
      </p:sp>
      <p:pic>
        <p:nvPicPr>
          <p:cNvPr id="4" name="Picture 3">
            <a:extLst>
              <a:ext uri="{FF2B5EF4-FFF2-40B4-BE49-F238E27FC236}">
                <a16:creationId xmlns:a16="http://schemas.microsoft.com/office/drawing/2014/main" id="{D53DDE86-EA59-3D73-1492-BD9B44412AFD}"/>
              </a:ext>
            </a:extLst>
          </p:cNvPr>
          <p:cNvPicPr>
            <a:picLocks noChangeAspect="1"/>
          </p:cNvPicPr>
          <p:nvPr/>
        </p:nvPicPr>
        <p:blipFill>
          <a:blip r:embed="rId6"/>
          <a:stretch>
            <a:fillRect/>
          </a:stretch>
        </p:blipFill>
        <p:spPr>
          <a:xfrm>
            <a:off x="1318021" y="1583734"/>
            <a:ext cx="5314884" cy="1866985"/>
          </a:xfrm>
          <a:prstGeom prst="rect">
            <a:avLst/>
          </a:prstGeom>
        </p:spPr>
      </p:pic>
      <p:pic>
        <p:nvPicPr>
          <p:cNvPr id="6" name="Picture 5">
            <a:extLst>
              <a:ext uri="{FF2B5EF4-FFF2-40B4-BE49-F238E27FC236}">
                <a16:creationId xmlns:a16="http://schemas.microsoft.com/office/drawing/2014/main" id="{304829A8-8892-3452-34D9-D9B4232126FE}"/>
              </a:ext>
            </a:extLst>
          </p:cNvPr>
          <p:cNvPicPr>
            <a:picLocks noChangeAspect="1"/>
          </p:cNvPicPr>
          <p:nvPr/>
        </p:nvPicPr>
        <p:blipFill>
          <a:blip r:embed="rId7"/>
          <a:stretch>
            <a:fillRect/>
          </a:stretch>
        </p:blipFill>
        <p:spPr>
          <a:xfrm>
            <a:off x="1318021" y="3418593"/>
            <a:ext cx="4353533" cy="199100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C86C615-370E-DD76-6615-099600F8B06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E5EC2A9-AE58-CCBF-E486-6A92B1E67E5A}"/>
              </a:ext>
            </a:extLst>
          </p:cNvPr>
          <p:cNvSpPr/>
          <p:nvPr/>
        </p:nvSpPr>
        <p:spPr>
          <a:xfrm>
            <a:off x="1076324" y="1285870"/>
            <a:ext cx="8543925" cy="28575"/>
          </a:xfrm>
          <a:custGeom>
            <a:avLst/>
            <a:gdLst/>
            <a:ahLst/>
            <a:cxnLst/>
            <a:rect l="l" t="t" r="r" b="b"/>
            <a:pathLst>
              <a:path w="8543925" h="28575">
                <a:moveTo>
                  <a:pt x="8543924" y="28574"/>
                </a:moveTo>
                <a:lnTo>
                  <a:pt x="0" y="28574"/>
                </a:lnTo>
                <a:lnTo>
                  <a:pt x="0" y="0"/>
                </a:lnTo>
                <a:lnTo>
                  <a:pt x="8543924" y="0"/>
                </a:lnTo>
                <a:lnTo>
                  <a:pt x="8543924" y="28574"/>
                </a:lnTo>
                <a:close/>
              </a:path>
            </a:pathLst>
          </a:custGeom>
          <a:solidFill>
            <a:srgbClr val="BF382A"/>
          </a:solidFill>
        </p:spPr>
        <p:txBody>
          <a:bodyPr wrap="square" lIns="0" tIns="0" rIns="0" bIns="0" rtlCol="0"/>
          <a:lstStyle/>
          <a:p>
            <a:endParaRPr/>
          </a:p>
        </p:txBody>
      </p:sp>
      <p:pic>
        <p:nvPicPr>
          <p:cNvPr id="3" name="object 3">
            <a:extLst>
              <a:ext uri="{FF2B5EF4-FFF2-40B4-BE49-F238E27FC236}">
                <a16:creationId xmlns:a16="http://schemas.microsoft.com/office/drawing/2014/main" id="{88E46A53-404C-10A8-7AAE-3008F67BEDB3}"/>
              </a:ext>
            </a:extLst>
          </p:cNvPr>
          <p:cNvPicPr/>
          <p:nvPr/>
        </p:nvPicPr>
        <p:blipFill>
          <a:blip r:embed="rId2" cstate="print"/>
          <a:stretch>
            <a:fillRect/>
          </a:stretch>
        </p:blipFill>
        <p:spPr>
          <a:xfrm>
            <a:off x="1079896" y="962025"/>
            <a:ext cx="238125" cy="187325"/>
          </a:xfrm>
          <a:prstGeom prst="rect">
            <a:avLst/>
          </a:prstGeom>
        </p:spPr>
      </p:pic>
      <p:sp>
        <p:nvSpPr>
          <p:cNvPr id="4" name="object 4">
            <a:extLst>
              <a:ext uri="{FF2B5EF4-FFF2-40B4-BE49-F238E27FC236}">
                <a16:creationId xmlns:a16="http://schemas.microsoft.com/office/drawing/2014/main" id="{8B86B7B2-7E5F-C0A0-88AD-9B66F8159301}"/>
              </a:ext>
            </a:extLst>
          </p:cNvPr>
          <p:cNvSpPr txBox="1">
            <a:spLocks noGrp="1"/>
          </p:cNvSpPr>
          <p:nvPr>
            <p:ph type="title"/>
          </p:nvPr>
        </p:nvSpPr>
        <p:spPr>
          <a:xfrm>
            <a:off x="1398190" y="883762"/>
            <a:ext cx="2967355" cy="298450"/>
          </a:xfrm>
          <a:prstGeom prst="rect">
            <a:avLst/>
          </a:prstGeom>
        </p:spPr>
        <p:txBody>
          <a:bodyPr vert="horz" wrap="square" lIns="0" tIns="11430" rIns="0" bIns="0" rtlCol="0">
            <a:spAutoFit/>
          </a:bodyPr>
          <a:lstStyle/>
          <a:p>
            <a:pPr marL="12700">
              <a:lnSpc>
                <a:spcPct val="100000"/>
              </a:lnSpc>
              <a:spcBef>
                <a:spcPts val="90"/>
              </a:spcBef>
            </a:pPr>
            <a:r>
              <a:rPr sz="1800" spc="-155" dirty="0">
                <a:solidFill>
                  <a:srgbClr val="BF382A"/>
                </a:solidFill>
              </a:rPr>
              <a:t>System</a:t>
            </a:r>
            <a:r>
              <a:rPr sz="1800" spc="-170" dirty="0">
                <a:solidFill>
                  <a:srgbClr val="BF382A"/>
                </a:solidFill>
              </a:rPr>
              <a:t> </a:t>
            </a:r>
            <a:r>
              <a:rPr sz="1800" spc="-100" dirty="0">
                <a:solidFill>
                  <a:srgbClr val="BF382A"/>
                </a:solidFill>
              </a:rPr>
              <a:t>Architecture</a:t>
            </a:r>
            <a:r>
              <a:rPr sz="1800" spc="-110" dirty="0">
                <a:solidFill>
                  <a:srgbClr val="BF382A"/>
                </a:solidFill>
              </a:rPr>
              <a:t> </a:t>
            </a:r>
            <a:r>
              <a:rPr sz="1800" spc="-80" dirty="0">
                <a:solidFill>
                  <a:srgbClr val="BF382A"/>
                </a:solidFill>
              </a:rPr>
              <a:t>Diagrams</a:t>
            </a:r>
            <a:endParaRPr sz="1800" dirty="0"/>
          </a:p>
        </p:txBody>
      </p:sp>
      <p:sp>
        <p:nvSpPr>
          <p:cNvPr id="27" name="object 27">
            <a:extLst>
              <a:ext uri="{FF2B5EF4-FFF2-40B4-BE49-F238E27FC236}">
                <a16:creationId xmlns:a16="http://schemas.microsoft.com/office/drawing/2014/main" id="{EC03A439-ADCA-E0A1-D36C-6AE625BE5A1C}"/>
              </a:ext>
            </a:extLst>
          </p:cNvPr>
          <p:cNvSpPr/>
          <p:nvPr/>
        </p:nvSpPr>
        <p:spPr>
          <a:xfrm>
            <a:off x="1076324" y="6515094"/>
            <a:ext cx="8543925" cy="9525"/>
          </a:xfrm>
          <a:custGeom>
            <a:avLst/>
            <a:gdLst/>
            <a:ahLst/>
            <a:cxnLst/>
            <a:rect l="l" t="t" r="r" b="b"/>
            <a:pathLst>
              <a:path w="8543925" h="9525">
                <a:moveTo>
                  <a:pt x="8543924" y="9524"/>
                </a:moveTo>
                <a:lnTo>
                  <a:pt x="0" y="9524"/>
                </a:lnTo>
                <a:lnTo>
                  <a:pt x="0" y="0"/>
                </a:lnTo>
                <a:lnTo>
                  <a:pt x="8543924" y="0"/>
                </a:lnTo>
                <a:lnTo>
                  <a:pt x="8543924" y="9524"/>
                </a:lnTo>
                <a:close/>
              </a:path>
            </a:pathLst>
          </a:custGeom>
          <a:solidFill>
            <a:srgbClr val="EDEDED"/>
          </a:solidFill>
        </p:spPr>
        <p:txBody>
          <a:bodyPr wrap="square" lIns="0" tIns="0" rIns="0" bIns="0" rtlCol="0"/>
          <a:lstStyle/>
          <a:p>
            <a:endParaRPr/>
          </a:p>
        </p:txBody>
      </p:sp>
      <p:sp>
        <p:nvSpPr>
          <p:cNvPr id="28" name="object 28">
            <a:extLst>
              <a:ext uri="{FF2B5EF4-FFF2-40B4-BE49-F238E27FC236}">
                <a16:creationId xmlns:a16="http://schemas.microsoft.com/office/drawing/2014/main" id="{F35C5200-81DA-C999-613B-6037EDF1A9BE}"/>
              </a:ext>
            </a:extLst>
          </p:cNvPr>
          <p:cNvSpPr txBox="1"/>
          <p:nvPr/>
        </p:nvSpPr>
        <p:spPr>
          <a:xfrm>
            <a:off x="1067196" y="6601817"/>
            <a:ext cx="1574800" cy="158115"/>
          </a:xfrm>
          <a:prstGeom prst="rect">
            <a:avLst/>
          </a:prstGeom>
        </p:spPr>
        <p:txBody>
          <a:bodyPr vert="horz" wrap="square" lIns="0" tIns="14604" rIns="0" bIns="0" rtlCol="0">
            <a:spAutoFit/>
          </a:bodyPr>
          <a:lstStyle/>
          <a:p>
            <a:pPr marL="12700">
              <a:lnSpc>
                <a:spcPct val="100000"/>
              </a:lnSpc>
              <a:spcBef>
                <a:spcPts val="114"/>
              </a:spcBef>
            </a:pPr>
            <a:r>
              <a:rPr sz="800" spc="-20" dirty="0">
                <a:solidFill>
                  <a:srgbClr val="878787"/>
                </a:solidFill>
                <a:latin typeface="Microsoft Sans Serif"/>
                <a:cs typeface="Microsoft Sans Serif"/>
              </a:rPr>
              <a:t>GoldenEye </a:t>
            </a:r>
            <a:r>
              <a:rPr sz="850" spc="-45" dirty="0">
                <a:solidFill>
                  <a:srgbClr val="878787"/>
                </a:solidFill>
                <a:latin typeface="Verdana"/>
                <a:cs typeface="Verdana"/>
              </a:rPr>
              <a:t>-</a:t>
            </a:r>
            <a:r>
              <a:rPr sz="850" spc="-90" dirty="0">
                <a:solidFill>
                  <a:srgbClr val="878787"/>
                </a:solidFill>
                <a:latin typeface="Verdana"/>
                <a:cs typeface="Verdana"/>
              </a:rPr>
              <a:t> </a:t>
            </a:r>
            <a:r>
              <a:rPr sz="800" dirty="0">
                <a:solidFill>
                  <a:srgbClr val="878787"/>
                </a:solidFill>
                <a:latin typeface="Microsoft Sans Serif"/>
                <a:cs typeface="Microsoft Sans Serif"/>
              </a:rPr>
              <a:t>AI</a:t>
            </a:r>
            <a:r>
              <a:rPr sz="800" spc="-10" dirty="0">
                <a:solidFill>
                  <a:srgbClr val="878787"/>
                </a:solidFill>
                <a:latin typeface="Microsoft Sans Serif"/>
                <a:cs typeface="Microsoft Sans Serif"/>
              </a:rPr>
              <a:t> </a:t>
            </a:r>
            <a:r>
              <a:rPr sz="800" spc="-55" dirty="0">
                <a:solidFill>
                  <a:srgbClr val="878787"/>
                </a:solidFill>
                <a:latin typeface="Microsoft Sans Serif"/>
                <a:cs typeface="Microsoft Sans Serif"/>
              </a:rPr>
              <a:t>SAR</a:t>
            </a:r>
            <a:r>
              <a:rPr sz="800" spc="-5" dirty="0">
                <a:solidFill>
                  <a:srgbClr val="878787"/>
                </a:solidFill>
                <a:latin typeface="Microsoft Sans Serif"/>
                <a:cs typeface="Microsoft Sans Serif"/>
              </a:rPr>
              <a:t> </a:t>
            </a:r>
            <a:r>
              <a:rPr sz="800" dirty="0">
                <a:solidFill>
                  <a:srgbClr val="878787"/>
                </a:solidFill>
                <a:latin typeface="Microsoft Sans Serif"/>
                <a:cs typeface="Microsoft Sans Serif"/>
              </a:rPr>
              <a:t>Drone</a:t>
            </a:r>
            <a:r>
              <a:rPr sz="800" spc="-10" dirty="0">
                <a:solidFill>
                  <a:srgbClr val="878787"/>
                </a:solidFill>
                <a:latin typeface="Microsoft Sans Serif"/>
                <a:cs typeface="Microsoft Sans Serif"/>
              </a:rPr>
              <a:t> System</a:t>
            </a:r>
            <a:endParaRPr sz="800">
              <a:latin typeface="Microsoft Sans Serif"/>
              <a:cs typeface="Microsoft Sans Serif"/>
            </a:endParaRPr>
          </a:p>
        </p:txBody>
      </p:sp>
      <p:pic>
        <p:nvPicPr>
          <p:cNvPr id="29" name="object 29">
            <a:extLst>
              <a:ext uri="{FF2B5EF4-FFF2-40B4-BE49-F238E27FC236}">
                <a16:creationId xmlns:a16="http://schemas.microsoft.com/office/drawing/2014/main" id="{AEDDA4B7-865E-73F4-FFC5-037787CF7F0E}"/>
              </a:ext>
            </a:extLst>
          </p:cNvPr>
          <p:cNvPicPr/>
          <p:nvPr/>
        </p:nvPicPr>
        <p:blipFill>
          <a:blip r:embed="rId3" cstate="print"/>
          <a:stretch>
            <a:fillRect/>
          </a:stretch>
        </p:blipFill>
        <p:spPr>
          <a:xfrm>
            <a:off x="9410699" y="6619869"/>
            <a:ext cx="209549" cy="209549"/>
          </a:xfrm>
          <a:prstGeom prst="rect">
            <a:avLst/>
          </a:prstGeom>
        </p:spPr>
      </p:pic>
      <p:sp>
        <p:nvSpPr>
          <p:cNvPr id="30" name="object 30">
            <a:extLst>
              <a:ext uri="{FF2B5EF4-FFF2-40B4-BE49-F238E27FC236}">
                <a16:creationId xmlns:a16="http://schemas.microsoft.com/office/drawing/2014/main" id="{2EB55826-4BA2-B789-1064-564288C9E54D}"/>
              </a:ext>
            </a:extLst>
          </p:cNvPr>
          <p:cNvSpPr txBox="1"/>
          <p:nvPr/>
        </p:nvSpPr>
        <p:spPr>
          <a:xfrm>
            <a:off x="9448452" y="6645350"/>
            <a:ext cx="127000" cy="151130"/>
          </a:xfrm>
          <a:prstGeom prst="rect">
            <a:avLst/>
          </a:prstGeom>
        </p:spPr>
        <p:txBody>
          <a:bodyPr vert="horz" wrap="square" lIns="0" tIns="15875" rIns="0" bIns="0" rtlCol="0">
            <a:spAutoFit/>
          </a:bodyPr>
          <a:lstStyle/>
          <a:p>
            <a:pPr marL="12700">
              <a:lnSpc>
                <a:spcPct val="100000"/>
              </a:lnSpc>
              <a:spcBef>
                <a:spcPts val="125"/>
              </a:spcBef>
            </a:pPr>
            <a:r>
              <a:rPr sz="800" b="1" spc="-25" dirty="0">
                <a:solidFill>
                  <a:srgbClr val="FFFFFF"/>
                </a:solidFill>
                <a:latin typeface="Arial"/>
                <a:cs typeface="Arial"/>
              </a:rPr>
              <a:t>18</a:t>
            </a:r>
            <a:endParaRPr sz="800">
              <a:latin typeface="Arial"/>
              <a:cs typeface="Arial"/>
            </a:endParaRPr>
          </a:p>
        </p:txBody>
      </p:sp>
      <p:pic>
        <p:nvPicPr>
          <p:cNvPr id="8" name="Picture 7">
            <a:extLst>
              <a:ext uri="{FF2B5EF4-FFF2-40B4-BE49-F238E27FC236}">
                <a16:creationId xmlns:a16="http://schemas.microsoft.com/office/drawing/2014/main" id="{F6C3BBE1-ED6F-5765-2BAC-702E26EAA4B0}"/>
              </a:ext>
            </a:extLst>
          </p:cNvPr>
          <p:cNvPicPr>
            <a:picLocks noChangeAspect="1"/>
          </p:cNvPicPr>
          <p:nvPr/>
        </p:nvPicPr>
        <p:blipFill>
          <a:blip r:embed="rId4"/>
          <a:stretch>
            <a:fillRect/>
          </a:stretch>
        </p:blipFill>
        <p:spPr>
          <a:xfrm>
            <a:off x="3136900" y="1450535"/>
            <a:ext cx="3759201" cy="4996144"/>
          </a:xfrm>
          <a:prstGeom prst="rect">
            <a:avLst/>
          </a:prstGeom>
        </p:spPr>
      </p:pic>
    </p:spTree>
    <p:extLst>
      <p:ext uri="{BB962C8B-B14F-4D97-AF65-F5344CB8AC3E}">
        <p14:creationId xmlns:p14="http://schemas.microsoft.com/office/powerpoint/2010/main" val="351901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8B43FED-DE69-B8CA-B3D4-1457223D782F}"/>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29938ED-1A4A-1F6B-221D-316BAF83C518}"/>
              </a:ext>
            </a:extLst>
          </p:cNvPr>
          <p:cNvSpPr/>
          <p:nvPr/>
        </p:nvSpPr>
        <p:spPr>
          <a:xfrm>
            <a:off x="1076324" y="1285870"/>
            <a:ext cx="8543925" cy="28575"/>
          </a:xfrm>
          <a:custGeom>
            <a:avLst/>
            <a:gdLst/>
            <a:ahLst/>
            <a:cxnLst/>
            <a:rect l="l" t="t" r="r" b="b"/>
            <a:pathLst>
              <a:path w="8543925" h="28575">
                <a:moveTo>
                  <a:pt x="8543924" y="28574"/>
                </a:moveTo>
                <a:lnTo>
                  <a:pt x="0" y="28574"/>
                </a:lnTo>
                <a:lnTo>
                  <a:pt x="0" y="0"/>
                </a:lnTo>
                <a:lnTo>
                  <a:pt x="8543924" y="0"/>
                </a:lnTo>
                <a:lnTo>
                  <a:pt x="8543924" y="28574"/>
                </a:lnTo>
                <a:close/>
              </a:path>
            </a:pathLst>
          </a:custGeom>
          <a:solidFill>
            <a:srgbClr val="BF382A"/>
          </a:solidFill>
        </p:spPr>
        <p:txBody>
          <a:bodyPr wrap="square" lIns="0" tIns="0" rIns="0" bIns="0" rtlCol="0"/>
          <a:lstStyle/>
          <a:p>
            <a:endParaRPr/>
          </a:p>
        </p:txBody>
      </p:sp>
      <p:pic>
        <p:nvPicPr>
          <p:cNvPr id="3" name="object 3">
            <a:extLst>
              <a:ext uri="{FF2B5EF4-FFF2-40B4-BE49-F238E27FC236}">
                <a16:creationId xmlns:a16="http://schemas.microsoft.com/office/drawing/2014/main" id="{2FFA7CDE-1CED-333C-5F73-74279832D420}"/>
              </a:ext>
            </a:extLst>
          </p:cNvPr>
          <p:cNvPicPr/>
          <p:nvPr/>
        </p:nvPicPr>
        <p:blipFill>
          <a:blip r:embed="rId2" cstate="print"/>
          <a:stretch>
            <a:fillRect/>
          </a:stretch>
        </p:blipFill>
        <p:spPr>
          <a:xfrm>
            <a:off x="1079896" y="962025"/>
            <a:ext cx="238125" cy="187325"/>
          </a:xfrm>
          <a:prstGeom prst="rect">
            <a:avLst/>
          </a:prstGeom>
        </p:spPr>
      </p:pic>
      <p:sp>
        <p:nvSpPr>
          <p:cNvPr id="4" name="object 4">
            <a:extLst>
              <a:ext uri="{FF2B5EF4-FFF2-40B4-BE49-F238E27FC236}">
                <a16:creationId xmlns:a16="http://schemas.microsoft.com/office/drawing/2014/main" id="{157A06FC-7963-4157-B40D-75F0F4A576F8}"/>
              </a:ext>
            </a:extLst>
          </p:cNvPr>
          <p:cNvSpPr txBox="1">
            <a:spLocks noGrp="1"/>
          </p:cNvSpPr>
          <p:nvPr>
            <p:ph type="title"/>
          </p:nvPr>
        </p:nvSpPr>
        <p:spPr>
          <a:xfrm>
            <a:off x="1398190" y="883762"/>
            <a:ext cx="2967355" cy="298450"/>
          </a:xfrm>
          <a:prstGeom prst="rect">
            <a:avLst/>
          </a:prstGeom>
        </p:spPr>
        <p:txBody>
          <a:bodyPr vert="horz" wrap="square" lIns="0" tIns="11430" rIns="0" bIns="0" rtlCol="0">
            <a:spAutoFit/>
          </a:bodyPr>
          <a:lstStyle/>
          <a:p>
            <a:pPr marL="12700">
              <a:lnSpc>
                <a:spcPct val="100000"/>
              </a:lnSpc>
              <a:spcBef>
                <a:spcPts val="90"/>
              </a:spcBef>
            </a:pPr>
            <a:r>
              <a:rPr sz="1800" spc="-155" dirty="0">
                <a:solidFill>
                  <a:srgbClr val="BF382A"/>
                </a:solidFill>
              </a:rPr>
              <a:t>System</a:t>
            </a:r>
            <a:r>
              <a:rPr sz="1800" spc="-170" dirty="0">
                <a:solidFill>
                  <a:srgbClr val="BF382A"/>
                </a:solidFill>
              </a:rPr>
              <a:t> </a:t>
            </a:r>
            <a:r>
              <a:rPr sz="1800" spc="-100" dirty="0">
                <a:solidFill>
                  <a:srgbClr val="BF382A"/>
                </a:solidFill>
              </a:rPr>
              <a:t>Architecture</a:t>
            </a:r>
            <a:r>
              <a:rPr sz="1800" spc="-110" dirty="0">
                <a:solidFill>
                  <a:srgbClr val="BF382A"/>
                </a:solidFill>
              </a:rPr>
              <a:t> </a:t>
            </a:r>
            <a:r>
              <a:rPr sz="1800" spc="-80" dirty="0">
                <a:solidFill>
                  <a:srgbClr val="BF382A"/>
                </a:solidFill>
              </a:rPr>
              <a:t>Diagrams</a:t>
            </a:r>
            <a:endParaRPr sz="1800" dirty="0"/>
          </a:p>
        </p:txBody>
      </p:sp>
      <p:sp>
        <p:nvSpPr>
          <p:cNvPr id="27" name="object 27">
            <a:extLst>
              <a:ext uri="{FF2B5EF4-FFF2-40B4-BE49-F238E27FC236}">
                <a16:creationId xmlns:a16="http://schemas.microsoft.com/office/drawing/2014/main" id="{B1375C2F-9AD1-A2FB-03D4-23DA3DD1242B}"/>
              </a:ext>
            </a:extLst>
          </p:cNvPr>
          <p:cNvSpPr/>
          <p:nvPr/>
        </p:nvSpPr>
        <p:spPr>
          <a:xfrm>
            <a:off x="1076324" y="6515094"/>
            <a:ext cx="8543925" cy="9525"/>
          </a:xfrm>
          <a:custGeom>
            <a:avLst/>
            <a:gdLst/>
            <a:ahLst/>
            <a:cxnLst/>
            <a:rect l="l" t="t" r="r" b="b"/>
            <a:pathLst>
              <a:path w="8543925" h="9525">
                <a:moveTo>
                  <a:pt x="8543924" y="9524"/>
                </a:moveTo>
                <a:lnTo>
                  <a:pt x="0" y="9524"/>
                </a:lnTo>
                <a:lnTo>
                  <a:pt x="0" y="0"/>
                </a:lnTo>
                <a:lnTo>
                  <a:pt x="8543924" y="0"/>
                </a:lnTo>
                <a:lnTo>
                  <a:pt x="8543924" y="9524"/>
                </a:lnTo>
                <a:close/>
              </a:path>
            </a:pathLst>
          </a:custGeom>
          <a:solidFill>
            <a:srgbClr val="EDEDED"/>
          </a:solidFill>
        </p:spPr>
        <p:txBody>
          <a:bodyPr wrap="square" lIns="0" tIns="0" rIns="0" bIns="0" rtlCol="0"/>
          <a:lstStyle/>
          <a:p>
            <a:endParaRPr/>
          </a:p>
        </p:txBody>
      </p:sp>
      <p:sp>
        <p:nvSpPr>
          <p:cNvPr id="28" name="object 28">
            <a:extLst>
              <a:ext uri="{FF2B5EF4-FFF2-40B4-BE49-F238E27FC236}">
                <a16:creationId xmlns:a16="http://schemas.microsoft.com/office/drawing/2014/main" id="{30456519-69C6-A9B6-4519-3517609279DD}"/>
              </a:ext>
            </a:extLst>
          </p:cNvPr>
          <p:cNvSpPr txBox="1"/>
          <p:nvPr/>
        </p:nvSpPr>
        <p:spPr>
          <a:xfrm>
            <a:off x="1067196" y="6601817"/>
            <a:ext cx="1574800" cy="158115"/>
          </a:xfrm>
          <a:prstGeom prst="rect">
            <a:avLst/>
          </a:prstGeom>
        </p:spPr>
        <p:txBody>
          <a:bodyPr vert="horz" wrap="square" lIns="0" tIns="14604" rIns="0" bIns="0" rtlCol="0">
            <a:spAutoFit/>
          </a:bodyPr>
          <a:lstStyle/>
          <a:p>
            <a:pPr marL="12700">
              <a:lnSpc>
                <a:spcPct val="100000"/>
              </a:lnSpc>
              <a:spcBef>
                <a:spcPts val="114"/>
              </a:spcBef>
            </a:pPr>
            <a:r>
              <a:rPr sz="800" spc="-20" dirty="0">
                <a:solidFill>
                  <a:srgbClr val="878787"/>
                </a:solidFill>
                <a:latin typeface="Microsoft Sans Serif"/>
                <a:cs typeface="Microsoft Sans Serif"/>
              </a:rPr>
              <a:t>GoldenEye </a:t>
            </a:r>
            <a:r>
              <a:rPr sz="850" spc="-45" dirty="0">
                <a:solidFill>
                  <a:srgbClr val="878787"/>
                </a:solidFill>
                <a:latin typeface="Verdana"/>
                <a:cs typeface="Verdana"/>
              </a:rPr>
              <a:t>-</a:t>
            </a:r>
            <a:r>
              <a:rPr sz="850" spc="-90" dirty="0">
                <a:solidFill>
                  <a:srgbClr val="878787"/>
                </a:solidFill>
                <a:latin typeface="Verdana"/>
                <a:cs typeface="Verdana"/>
              </a:rPr>
              <a:t> </a:t>
            </a:r>
            <a:r>
              <a:rPr sz="800" dirty="0">
                <a:solidFill>
                  <a:srgbClr val="878787"/>
                </a:solidFill>
                <a:latin typeface="Microsoft Sans Serif"/>
                <a:cs typeface="Microsoft Sans Serif"/>
              </a:rPr>
              <a:t>AI</a:t>
            </a:r>
            <a:r>
              <a:rPr sz="800" spc="-10" dirty="0">
                <a:solidFill>
                  <a:srgbClr val="878787"/>
                </a:solidFill>
                <a:latin typeface="Microsoft Sans Serif"/>
                <a:cs typeface="Microsoft Sans Serif"/>
              </a:rPr>
              <a:t> </a:t>
            </a:r>
            <a:r>
              <a:rPr sz="800" spc="-55" dirty="0">
                <a:solidFill>
                  <a:srgbClr val="878787"/>
                </a:solidFill>
                <a:latin typeface="Microsoft Sans Serif"/>
                <a:cs typeface="Microsoft Sans Serif"/>
              </a:rPr>
              <a:t>SAR</a:t>
            </a:r>
            <a:r>
              <a:rPr sz="800" spc="-5" dirty="0">
                <a:solidFill>
                  <a:srgbClr val="878787"/>
                </a:solidFill>
                <a:latin typeface="Microsoft Sans Serif"/>
                <a:cs typeface="Microsoft Sans Serif"/>
              </a:rPr>
              <a:t> </a:t>
            </a:r>
            <a:r>
              <a:rPr sz="800" dirty="0">
                <a:solidFill>
                  <a:srgbClr val="878787"/>
                </a:solidFill>
                <a:latin typeface="Microsoft Sans Serif"/>
                <a:cs typeface="Microsoft Sans Serif"/>
              </a:rPr>
              <a:t>Drone</a:t>
            </a:r>
            <a:r>
              <a:rPr sz="800" spc="-10" dirty="0">
                <a:solidFill>
                  <a:srgbClr val="878787"/>
                </a:solidFill>
                <a:latin typeface="Microsoft Sans Serif"/>
                <a:cs typeface="Microsoft Sans Serif"/>
              </a:rPr>
              <a:t> System</a:t>
            </a:r>
            <a:endParaRPr sz="800">
              <a:latin typeface="Microsoft Sans Serif"/>
              <a:cs typeface="Microsoft Sans Serif"/>
            </a:endParaRPr>
          </a:p>
        </p:txBody>
      </p:sp>
      <p:pic>
        <p:nvPicPr>
          <p:cNvPr id="29" name="object 29">
            <a:extLst>
              <a:ext uri="{FF2B5EF4-FFF2-40B4-BE49-F238E27FC236}">
                <a16:creationId xmlns:a16="http://schemas.microsoft.com/office/drawing/2014/main" id="{08DFD8E2-DEDF-1CC2-5162-BA3EAB1BAB00}"/>
              </a:ext>
            </a:extLst>
          </p:cNvPr>
          <p:cNvPicPr/>
          <p:nvPr/>
        </p:nvPicPr>
        <p:blipFill>
          <a:blip r:embed="rId3" cstate="print"/>
          <a:stretch>
            <a:fillRect/>
          </a:stretch>
        </p:blipFill>
        <p:spPr>
          <a:xfrm>
            <a:off x="9410699" y="6619869"/>
            <a:ext cx="209549" cy="209549"/>
          </a:xfrm>
          <a:prstGeom prst="rect">
            <a:avLst/>
          </a:prstGeom>
        </p:spPr>
      </p:pic>
      <p:sp>
        <p:nvSpPr>
          <p:cNvPr id="30" name="object 30">
            <a:extLst>
              <a:ext uri="{FF2B5EF4-FFF2-40B4-BE49-F238E27FC236}">
                <a16:creationId xmlns:a16="http://schemas.microsoft.com/office/drawing/2014/main" id="{4501088D-16CF-FB7D-08CB-037D09F506B9}"/>
              </a:ext>
            </a:extLst>
          </p:cNvPr>
          <p:cNvSpPr txBox="1"/>
          <p:nvPr/>
        </p:nvSpPr>
        <p:spPr>
          <a:xfrm>
            <a:off x="9448452" y="6645350"/>
            <a:ext cx="127000" cy="151130"/>
          </a:xfrm>
          <a:prstGeom prst="rect">
            <a:avLst/>
          </a:prstGeom>
        </p:spPr>
        <p:txBody>
          <a:bodyPr vert="horz" wrap="square" lIns="0" tIns="15875" rIns="0" bIns="0" rtlCol="0">
            <a:spAutoFit/>
          </a:bodyPr>
          <a:lstStyle/>
          <a:p>
            <a:pPr marL="12700">
              <a:lnSpc>
                <a:spcPct val="100000"/>
              </a:lnSpc>
              <a:spcBef>
                <a:spcPts val="125"/>
              </a:spcBef>
            </a:pPr>
            <a:r>
              <a:rPr sz="800" b="1" spc="-25" dirty="0">
                <a:solidFill>
                  <a:srgbClr val="FFFFFF"/>
                </a:solidFill>
                <a:latin typeface="Arial"/>
                <a:cs typeface="Arial"/>
              </a:rPr>
              <a:t>18</a:t>
            </a:r>
            <a:endParaRPr sz="800">
              <a:latin typeface="Arial"/>
              <a:cs typeface="Arial"/>
            </a:endParaRPr>
          </a:p>
        </p:txBody>
      </p:sp>
      <p:pic>
        <p:nvPicPr>
          <p:cNvPr id="6" name="Picture 5">
            <a:extLst>
              <a:ext uri="{FF2B5EF4-FFF2-40B4-BE49-F238E27FC236}">
                <a16:creationId xmlns:a16="http://schemas.microsoft.com/office/drawing/2014/main" id="{FEFCDA50-B26E-79AE-1639-1F213BA05ABD}"/>
              </a:ext>
            </a:extLst>
          </p:cNvPr>
          <p:cNvPicPr>
            <a:picLocks noChangeAspect="1"/>
          </p:cNvPicPr>
          <p:nvPr/>
        </p:nvPicPr>
        <p:blipFill>
          <a:blip r:embed="rId4"/>
          <a:stretch>
            <a:fillRect/>
          </a:stretch>
        </p:blipFill>
        <p:spPr>
          <a:xfrm>
            <a:off x="2352807" y="1523007"/>
            <a:ext cx="5693866" cy="4973040"/>
          </a:xfrm>
          <a:prstGeom prst="rect">
            <a:avLst/>
          </a:prstGeom>
        </p:spPr>
      </p:pic>
    </p:spTree>
    <p:extLst>
      <p:ext uri="{BB962C8B-B14F-4D97-AF65-F5344CB8AC3E}">
        <p14:creationId xmlns:p14="http://schemas.microsoft.com/office/powerpoint/2010/main" val="4800582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B88373BF-3C71-4D9D-2975-1F38607C63D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79E38A76-938E-FBB8-33AA-698A85D0CE9A}"/>
              </a:ext>
            </a:extLst>
          </p:cNvPr>
          <p:cNvSpPr/>
          <p:nvPr/>
        </p:nvSpPr>
        <p:spPr>
          <a:xfrm>
            <a:off x="1076324" y="1285870"/>
            <a:ext cx="8543925" cy="28575"/>
          </a:xfrm>
          <a:custGeom>
            <a:avLst/>
            <a:gdLst/>
            <a:ahLst/>
            <a:cxnLst/>
            <a:rect l="l" t="t" r="r" b="b"/>
            <a:pathLst>
              <a:path w="8543925" h="28575">
                <a:moveTo>
                  <a:pt x="8543924" y="28574"/>
                </a:moveTo>
                <a:lnTo>
                  <a:pt x="0" y="28574"/>
                </a:lnTo>
                <a:lnTo>
                  <a:pt x="0" y="0"/>
                </a:lnTo>
                <a:lnTo>
                  <a:pt x="8543924" y="0"/>
                </a:lnTo>
                <a:lnTo>
                  <a:pt x="8543924" y="28574"/>
                </a:lnTo>
                <a:close/>
              </a:path>
            </a:pathLst>
          </a:custGeom>
          <a:solidFill>
            <a:srgbClr val="BF382A"/>
          </a:solidFill>
        </p:spPr>
        <p:txBody>
          <a:bodyPr wrap="square" lIns="0" tIns="0" rIns="0" bIns="0" rtlCol="0"/>
          <a:lstStyle/>
          <a:p>
            <a:endParaRPr/>
          </a:p>
        </p:txBody>
      </p:sp>
      <p:pic>
        <p:nvPicPr>
          <p:cNvPr id="3" name="object 3">
            <a:extLst>
              <a:ext uri="{FF2B5EF4-FFF2-40B4-BE49-F238E27FC236}">
                <a16:creationId xmlns:a16="http://schemas.microsoft.com/office/drawing/2014/main" id="{21D00FFC-76CF-B799-A436-CE2551ADBDCC}"/>
              </a:ext>
            </a:extLst>
          </p:cNvPr>
          <p:cNvPicPr/>
          <p:nvPr/>
        </p:nvPicPr>
        <p:blipFill>
          <a:blip r:embed="rId2" cstate="print"/>
          <a:stretch>
            <a:fillRect/>
          </a:stretch>
        </p:blipFill>
        <p:spPr>
          <a:xfrm>
            <a:off x="1079896" y="962025"/>
            <a:ext cx="238125" cy="187325"/>
          </a:xfrm>
          <a:prstGeom prst="rect">
            <a:avLst/>
          </a:prstGeom>
        </p:spPr>
      </p:pic>
      <p:sp>
        <p:nvSpPr>
          <p:cNvPr id="4" name="object 4">
            <a:extLst>
              <a:ext uri="{FF2B5EF4-FFF2-40B4-BE49-F238E27FC236}">
                <a16:creationId xmlns:a16="http://schemas.microsoft.com/office/drawing/2014/main" id="{DC32F635-4A1B-69B9-8A2A-DC2D41890A53}"/>
              </a:ext>
            </a:extLst>
          </p:cNvPr>
          <p:cNvSpPr txBox="1">
            <a:spLocks noGrp="1"/>
          </p:cNvSpPr>
          <p:nvPr>
            <p:ph type="title"/>
          </p:nvPr>
        </p:nvSpPr>
        <p:spPr>
          <a:xfrm>
            <a:off x="1398190" y="883762"/>
            <a:ext cx="2967355" cy="298450"/>
          </a:xfrm>
          <a:prstGeom prst="rect">
            <a:avLst/>
          </a:prstGeom>
        </p:spPr>
        <p:txBody>
          <a:bodyPr vert="horz" wrap="square" lIns="0" tIns="11430" rIns="0" bIns="0" rtlCol="0">
            <a:spAutoFit/>
          </a:bodyPr>
          <a:lstStyle/>
          <a:p>
            <a:pPr marL="12700">
              <a:lnSpc>
                <a:spcPct val="100000"/>
              </a:lnSpc>
              <a:spcBef>
                <a:spcPts val="90"/>
              </a:spcBef>
            </a:pPr>
            <a:r>
              <a:rPr sz="1800" spc="-155" dirty="0">
                <a:solidFill>
                  <a:srgbClr val="BF382A"/>
                </a:solidFill>
              </a:rPr>
              <a:t>System</a:t>
            </a:r>
            <a:r>
              <a:rPr sz="1800" spc="-170" dirty="0">
                <a:solidFill>
                  <a:srgbClr val="BF382A"/>
                </a:solidFill>
              </a:rPr>
              <a:t> </a:t>
            </a:r>
            <a:r>
              <a:rPr sz="1800" spc="-100" dirty="0">
                <a:solidFill>
                  <a:srgbClr val="BF382A"/>
                </a:solidFill>
              </a:rPr>
              <a:t>Architecture</a:t>
            </a:r>
            <a:r>
              <a:rPr sz="1800" spc="-110" dirty="0">
                <a:solidFill>
                  <a:srgbClr val="BF382A"/>
                </a:solidFill>
              </a:rPr>
              <a:t> </a:t>
            </a:r>
            <a:r>
              <a:rPr sz="1800" spc="-80" dirty="0">
                <a:solidFill>
                  <a:srgbClr val="BF382A"/>
                </a:solidFill>
              </a:rPr>
              <a:t>Diagrams</a:t>
            </a:r>
            <a:endParaRPr sz="1800"/>
          </a:p>
        </p:txBody>
      </p:sp>
      <p:sp>
        <p:nvSpPr>
          <p:cNvPr id="14" name="object 14">
            <a:extLst>
              <a:ext uri="{FF2B5EF4-FFF2-40B4-BE49-F238E27FC236}">
                <a16:creationId xmlns:a16="http://schemas.microsoft.com/office/drawing/2014/main" id="{453D8B90-E412-1BC5-80C5-6DDF16B9A745}"/>
              </a:ext>
            </a:extLst>
          </p:cNvPr>
          <p:cNvSpPr txBox="1"/>
          <p:nvPr/>
        </p:nvSpPr>
        <p:spPr>
          <a:xfrm>
            <a:off x="3371056" y="1937486"/>
            <a:ext cx="770890" cy="165735"/>
          </a:xfrm>
          <a:prstGeom prst="rect">
            <a:avLst/>
          </a:prstGeom>
        </p:spPr>
        <p:txBody>
          <a:bodyPr vert="horz" wrap="square" lIns="0" tIns="15240" rIns="0" bIns="0" rtlCol="0">
            <a:spAutoFit/>
          </a:bodyPr>
          <a:lstStyle/>
          <a:p>
            <a:pPr marL="12700">
              <a:lnSpc>
                <a:spcPct val="100000"/>
              </a:lnSpc>
              <a:spcBef>
                <a:spcPts val="120"/>
              </a:spcBef>
            </a:pPr>
            <a:r>
              <a:rPr sz="900" spc="-55" dirty="0">
                <a:solidFill>
                  <a:srgbClr val="FFFFFF"/>
                </a:solidFill>
                <a:latin typeface="Microsoft Sans Serif"/>
                <a:cs typeface="Microsoft Sans Serif"/>
              </a:rPr>
              <a:t>YOLOv8</a:t>
            </a:r>
            <a:r>
              <a:rPr sz="900" spc="35" dirty="0">
                <a:solidFill>
                  <a:srgbClr val="FFFFFF"/>
                </a:solidFill>
                <a:latin typeface="Microsoft Sans Serif"/>
                <a:cs typeface="Microsoft Sans Serif"/>
              </a:rPr>
              <a:t> </a:t>
            </a:r>
            <a:r>
              <a:rPr sz="900" spc="-10" dirty="0">
                <a:solidFill>
                  <a:srgbClr val="FFFFFF"/>
                </a:solidFill>
                <a:latin typeface="Microsoft Sans Serif"/>
                <a:cs typeface="Microsoft Sans Serif"/>
              </a:rPr>
              <a:t>Model</a:t>
            </a:r>
            <a:endParaRPr sz="900">
              <a:latin typeface="Microsoft Sans Serif"/>
              <a:cs typeface="Microsoft Sans Serif"/>
            </a:endParaRPr>
          </a:p>
        </p:txBody>
      </p:sp>
      <p:pic>
        <p:nvPicPr>
          <p:cNvPr id="29" name="object 29">
            <a:extLst>
              <a:ext uri="{FF2B5EF4-FFF2-40B4-BE49-F238E27FC236}">
                <a16:creationId xmlns:a16="http://schemas.microsoft.com/office/drawing/2014/main" id="{1DDFE804-9841-319E-F942-36563F202581}"/>
              </a:ext>
            </a:extLst>
          </p:cNvPr>
          <p:cNvPicPr/>
          <p:nvPr/>
        </p:nvPicPr>
        <p:blipFill>
          <a:blip r:embed="rId3" cstate="print"/>
          <a:stretch>
            <a:fillRect/>
          </a:stretch>
        </p:blipFill>
        <p:spPr>
          <a:xfrm>
            <a:off x="9410699" y="6619869"/>
            <a:ext cx="209549" cy="209549"/>
          </a:xfrm>
          <a:prstGeom prst="rect">
            <a:avLst/>
          </a:prstGeom>
        </p:spPr>
      </p:pic>
      <p:pic>
        <p:nvPicPr>
          <p:cNvPr id="8" name="Picture 7">
            <a:extLst>
              <a:ext uri="{FF2B5EF4-FFF2-40B4-BE49-F238E27FC236}">
                <a16:creationId xmlns:a16="http://schemas.microsoft.com/office/drawing/2014/main" id="{894DFCF0-3183-6322-37F1-B659E5F4E97B}"/>
              </a:ext>
            </a:extLst>
          </p:cNvPr>
          <p:cNvPicPr>
            <a:picLocks noChangeAspect="1"/>
          </p:cNvPicPr>
          <p:nvPr/>
        </p:nvPicPr>
        <p:blipFill>
          <a:blip r:embed="rId4"/>
          <a:stretch>
            <a:fillRect/>
          </a:stretch>
        </p:blipFill>
        <p:spPr>
          <a:xfrm>
            <a:off x="0" y="1678283"/>
            <a:ext cx="10693400" cy="4577747"/>
          </a:xfrm>
          <a:prstGeom prst="rect">
            <a:avLst/>
          </a:prstGeom>
        </p:spPr>
      </p:pic>
      <p:pic>
        <p:nvPicPr>
          <p:cNvPr id="6" name="Picture 5">
            <a:extLst>
              <a:ext uri="{FF2B5EF4-FFF2-40B4-BE49-F238E27FC236}">
                <a16:creationId xmlns:a16="http://schemas.microsoft.com/office/drawing/2014/main" id="{562927FE-0ACD-D8AA-AF87-3B632F6D075E}"/>
              </a:ext>
            </a:extLst>
          </p:cNvPr>
          <p:cNvPicPr>
            <a:picLocks noChangeAspect="1"/>
          </p:cNvPicPr>
          <p:nvPr/>
        </p:nvPicPr>
        <p:blipFill>
          <a:blip r:embed="rId5"/>
          <a:stretch>
            <a:fillRect/>
          </a:stretch>
        </p:blipFill>
        <p:spPr>
          <a:xfrm>
            <a:off x="8331228" y="4692650"/>
            <a:ext cx="254000" cy="304800"/>
          </a:xfrm>
          <a:prstGeom prst="rect">
            <a:avLst/>
          </a:prstGeom>
        </p:spPr>
      </p:pic>
      <p:sp>
        <p:nvSpPr>
          <p:cNvPr id="7" name="TextBox 6">
            <a:extLst>
              <a:ext uri="{FF2B5EF4-FFF2-40B4-BE49-F238E27FC236}">
                <a16:creationId xmlns:a16="http://schemas.microsoft.com/office/drawing/2014/main" id="{F59B4A49-31BA-A0E4-AD74-81BE75D94E41}"/>
              </a:ext>
            </a:extLst>
          </p:cNvPr>
          <p:cNvSpPr txBox="1"/>
          <p:nvPr/>
        </p:nvSpPr>
        <p:spPr>
          <a:xfrm>
            <a:off x="8300385" y="4721939"/>
            <a:ext cx="444472" cy="246221"/>
          </a:xfrm>
          <a:prstGeom prst="rect">
            <a:avLst/>
          </a:prstGeom>
          <a:noFill/>
        </p:spPr>
        <p:txBody>
          <a:bodyPr wrap="square" rtlCol="0">
            <a:spAutoFit/>
          </a:bodyPr>
          <a:lstStyle/>
          <a:p>
            <a:r>
              <a:rPr lang="en-US" sz="1000" dirty="0"/>
              <a:t>v8</a:t>
            </a:r>
          </a:p>
        </p:txBody>
      </p:sp>
    </p:spTree>
    <p:extLst>
      <p:ext uri="{BB962C8B-B14F-4D97-AF65-F5344CB8AC3E}">
        <p14:creationId xmlns:p14="http://schemas.microsoft.com/office/powerpoint/2010/main" val="4008695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C86F2CB-BEE3-9E3F-ED84-FCD2F3914B3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C7A64E27-CE97-4C4F-BFC7-B7C80DA1B13D}"/>
              </a:ext>
            </a:extLst>
          </p:cNvPr>
          <p:cNvSpPr/>
          <p:nvPr/>
        </p:nvSpPr>
        <p:spPr>
          <a:xfrm>
            <a:off x="1076324" y="1285870"/>
            <a:ext cx="8543925" cy="28575"/>
          </a:xfrm>
          <a:custGeom>
            <a:avLst/>
            <a:gdLst/>
            <a:ahLst/>
            <a:cxnLst/>
            <a:rect l="l" t="t" r="r" b="b"/>
            <a:pathLst>
              <a:path w="8543925" h="28575">
                <a:moveTo>
                  <a:pt x="8543924" y="28574"/>
                </a:moveTo>
                <a:lnTo>
                  <a:pt x="0" y="28574"/>
                </a:lnTo>
                <a:lnTo>
                  <a:pt x="0" y="0"/>
                </a:lnTo>
                <a:lnTo>
                  <a:pt x="8543924" y="0"/>
                </a:lnTo>
                <a:lnTo>
                  <a:pt x="8543924" y="28574"/>
                </a:lnTo>
                <a:close/>
              </a:path>
            </a:pathLst>
          </a:custGeom>
          <a:solidFill>
            <a:srgbClr val="BF382A"/>
          </a:solidFill>
        </p:spPr>
        <p:txBody>
          <a:bodyPr wrap="square" lIns="0" tIns="0" rIns="0" bIns="0" rtlCol="0"/>
          <a:lstStyle/>
          <a:p>
            <a:endParaRPr/>
          </a:p>
        </p:txBody>
      </p:sp>
      <p:pic>
        <p:nvPicPr>
          <p:cNvPr id="3" name="object 3">
            <a:extLst>
              <a:ext uri="{FF2B5EF4-FFF2-40B4-BE49-F238E27FC236}">
                <a16:creationId xmlns:a16="http://schemas.microsoft.com/office/drawing/2014/main" id="{3E46D895-A59F-1D47-EDC3-DEB680508C78}"/>
              </a:ext>
            </a:extLst>
          </p:cNvPr>
          <p:cNvPicPr/>
          <p:nvPr/>
        </p:nvPicPr>
        <p:blipFill>
          <a:blip r:embed="rId2" cstate="print"/>
          <a:stretch>
            <a:fillRect/>
          </a:stretch>
        </p:blipFill>
        <p:spPr>
          <a:xfrm>
            <a:off x="1079896" y="962025"/>
            <a:ext cx="238125" cy="187325"/>
          </a:xfrm>
          <a:prstGeom prst="rect">
            <a:avLst/>
          </a:prstGeom>
        </p:spPr>
      </p:pic>
      <p:sp>
        <p:nvSpPr>
          <p:cNvPr id="4" name="object 4">
            <a:extLst>
              <a:ext uri="{FF2B5EF4-FFF2-40B4-BE49-F238E27FC236}">
                <a16:creationId xmlns:a16="http://schemas.microsoft.com/office/drawing/2014/main" id="{8FFDCF69-95BF-E3A6-5275-3C121354B4A5}"/>
              </a:ext>
            </a:extLst>
          </p:cNvPr>
          <p:cNvSpPr txBox="1">
            <a:spLocks noGrp="1"/>
          </p:cNvSpPr>
          <p:nvPr>
            <p:ph type="title"/>
          </p:nvPr>
        </p:nvSpPr>
        <p:spPr>
          <a:xfrm>
            <a:off x="1398190" y="883762"/>
            <a:ext cx="2967355" cy="298450"/>
          </a:xfrm>
          <a:prstGeom prst="rect">
            <a:avLst/>
          </a:prstGeom>
        </p:spPr>
        <p:txBody>
          <a:bodyPr vert="horz" wrap="square" lIns="0" tIns="11430" rIns="0" bIns="0" rtlCol="0">
            <a:spAutoFit/>
          </a:bodyPr>
          <a:lstStyle/>
          <a:p>
            <a:pPr marL="12700">
              <a:lnSpc>
                <a:spcPct val="100000"/>
              </a:lnSpc>
              <a:spcBef>
                <a:spcPts val="90"/>
              </a:spcBef>
            </a:pPr>
            <a:r>
              <a:rPr sz="1800" spc="-155" dirty="0">
                <a:solidFill>
                  <a:srgbClr val="BF382A"/>
                </a:solidFill>
              </a:rPr>
              <a:t>System</a:t>
            </a:r>
            <a:r>
              <a:rPr sz="1800" spc="-170" dirty="0">
                <a:solidFill>
                  <a:srgbClr val="BF382A"/>
                </a:solidFill>
              </a:rPr>
              <a:t> </a:t>
            </a:r>
            <a:r>
              <a:rPr sz="1800" spc="-100" dirty="0">
                <a:solidFill>
                  <a:srgbClr val="BF382A"/>
                </a:solidFill>
              </a:rPr>
              <a:t>Architecture</a:t>
            </a:r>
            <a:r>
              <a:rPr sz="1800" spc="-110" dirty="0">
                <a:solidFill>
                  <a:srgbClr val="BF382A"/>
                </a:solidFill>
              </a:rPr>
              <a:t> </a:t>
            </a:r>
            <a:r>
              <a:rPr sz="1800" spc="-80" dirty="0">
                <a:solidFill>
                  <a:srgbClr val="BF382A"/>
                </a:solidFill>
              </a:rPr>
              <a:t>Diagrams</a:t>
            </a:r>
            <a:endParaRPr sz="1800"/>
          </a:p>
        </p:txBody>
      </p:sp>
      <p:sp>
        <p:nvSpPr>
          <p:cNvPr id="14" name="object 14">
            <a:extLst>
              <a:ext uri="{FF2B5EF4-FFF2-40B4-BE49-F238E27FC236}">
                <a16:creationId xmlns:a16="http://schemas.microsoft.com/office/drawing/2014/main" id="{A24F2887-AD39-A0BD-D088-50FE92CD6ED9}"/>
              </a:ext>
            </a:extLst>
          </p:cNvPr>
          <p:cNvSpPr txBox="1"/>
          <p:nvPr/>
        </p:nvSpPr>
        <p:spPr>
          <a:xfrm>
            <a:off x="3371056" y="1937486"/>
            <a:ext cx="770890" cy="165735"/>
          </a:xfrm>
          <a:prstGeom prst="rect">
            <a:avLst/>
          </a:prstGeom>
        </p:spPr>
        <p:txBody>
          <a:bodyPr vert="horz" wrap="square" lIns="0" tIns="15240" rIns="0" bIns="0" rtlCol="0">
            <a:spAutoFit/>
          </a:bodyPr>
          <a:lstStyle/>
          <a:p>
            <a:pPr marL="12700">
              <a:lnSpc>
                <a:spcPct val="100000"/>
              </a:lnSpc>
              <a:spcBef>
                <a:spcPts val="120"/>
              </a:spcBef>
            </a:pPr>
            <a:r>
              <a:rPr sz="900" spc="-55" dirty="0">
                <a:solidFill>
                  <a:srgbClr val="FFFFFF"/>
                </a:solidFill>
                <a:latin typeface="Microsoft Sans Serif"/>
                <a:cs typeface="Microsoft Sans Serif"/>
              </a:rPr>
              <a:t>YOLOv8</a:t>
            </a:r>
            <a:r>
              <a:rPr sz="900" spc="35" dirty="0">
                <a:solidFill>
                  <a:srgbClr val="FFFFFF"/>
                </a:solidFill>
                <a:latin typeface="Microsoft Sans Serif"/>
                <a:cs typeface="Microsoft Sans Serif"/>
              </a:rPr>
              <a:t> </a:t>
            </a:r>
            <a:r>
              <a:rPr sz="900" spc="-10" dirty="0">
                <a:solidFill>
                  <a:srgbClr val="FFFFFF"/>
                </a:solidFill>
                <a:latin typeface="Microsoft Sans Serif"/>
                <a:cs typeface="Microsoft Sans Serif"/>
              </a:rPr>
              <a:t>Model</a:t>
            </a:r>
            <a:endParaRPr sz="900">
              <a:latin typeface="Microsoft Sans Serif"/>
              <a:cs typeface="Microsoft Sans Serif"/>
            </a:endParaRPr>
          </a:p>
        </p:txBody>
      </p:sp>
      <p:pic>
        <p:nvPicPr>
          <p:cNvPr id="29" name="object 29">
            <a:extLst>
              <a:ext uri="{FF2B5EF4-FFF2-40B4-BE49-F238E27FC236}">
                <a16:creationId xmlns:a16="http://schemas.microsoft.com/office/drawing/2014/main" id="{DBA5B1F8-835B-E6C5-6582-3226178D80CE}"/>
              </a:ext>
            </a:extLst>
          </p:cNvPr>
          <p:cNvPicPr/>
          <p:nvPr/>
        </p:nvPicPr>
        <p:blipFill>
          <a:blip r:embed="rId3" cstate="print"/>
          <a:stretch>
            <a:fillRect/>
          </a:stretch>
        </p:blipFill>
        <p:spPr>
          <a:xfrm>
            <a:off x="9410699" y="6619869"/>
            <a:ext cx="209549" cy="209549"/>
          </a:xfrm>
          <a:prstGeom prst="rect">
            <a:avLst/>
          </a:prstGeom>
        </p:spPr>
      </p:pic>
      <p:pic>
        <p:nvPicPr>
          <p:cNvPr id="6" name="Picture 5">
            <a:extLst>
              <a:ext uri="{FF2B5EF4-FFF2-40B4-BE49-F238E27FC236}">
                <a16:creationId xmlns:a16="http://schemas.microsoft.com/office/drawing/2014/main" id="{F1DEC327-7D3D-6120-CD63-EE059212E2A5}"/>
              </a:ext>
            </a:extLst>
          </p:cNvPr>
          <p:cNvPicPr>
            <a:picLocks noChangeAspect="1"/>
          </p:cNvPicPr>
          <p:nvPr/>
        </p:nvPicPr>
        <p:blipFill>
          <a:blip r:embed="rId4"/>
          <a:stretch>
            <a:fillRect/>
          </a:stretch>
        </p:blipFill>
        <p:spPr>
          <a:xfrm>
            <a:off x="650219" y="1988603"/>
            <a:ext cx="9392961" cy="3715268"/>
          </a:xfrm>
          <a:prstGeom prst="rect">
            <a:avLst/>
          </a:prstGeom>
        </p:spPr>
      </p:pic>
    </p:spTree>
    <p:extLst>
      <p:ext uri="{BB962C8B-B14F-4D97-AF65-F5344CB8AC3E}">
        <p14:creationId xmlns:p14="http://schemas.microsoft.com/office/powerpoint/2010/main" val="4705195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7263130">
              <a:lnSpc>
                <a:spcPct val="100000"/>
              </a:lnSpc>
              <a:spcBef>
                <a:spcPts val="100"/>
              </a:spcBef>
            </a:pPr>
            <a:r>
              <a:rPr spc="360" dirty="0"/>
              <a:t>08</a:t>
            </a:r>
          </a:p>
        </p:txBody>
      </p:sp>
      <p:sp>
        <p:nvSpPr>
          <p:cNvPr id="3" name="object 3"/>
          <p:cNvSpPr txBox="1"/>
          <p:nvPr/>
        </p:nvSpPr>
        <p:spPr>
          <a:xfrm>
            <a:off x="1846460" y="3348588"/>
            <a:ext cx="7004050" cy="1017269"/>
          </a:xfrm>
          <a:prstGeom prst="rect">
            <a:avLst/>
          </a:prstGeom>
        </p:spPr>
        <p:txBody>
          <a:bodyPr vert="horz" wrap="square" lIns="0" tIns="13335" rIns="0" bIns="0" rtlCol="0">
            <a:spAutoFit/>
          </a:bodyPr>
          <a:lstStyle/>
          <a:p>
            <a:pPr algn="ctr">
              <a:lnSpc>
                <a:spcPct val="100000"/>
              </a:lnSpc>
              <a:spcBef>
                <a:spcPts val="105"/>
              </a:spcBef>
            </a:pPr>
            <a:r>
              <a:rPr sz="3900" b="1" spc="-235" dirty="0">
                <a:solidFill>
                  <a:srgbClr val="FFFFFF"/>
                </a:solidFill>
                <a:latin typeface="Arial"/>
                <a:cs typeface="Arial"/>
              </a:rPr>
              <a:t>Methodology</a:t>
            </a:r>
            <a:r>
              <a:rPr sz="3900" b="1" spc="-345" dirty="0">
                <a:solidFill>
                  <a:srgbClr val="FFFFFF"/>
                </a:solidFill>
                <a:latin typeface="Arial"/>
                <a:cs typeface="Arial"/>
              </a:rPr>
              <a:t> </a:t>
            </a:r>
            <a:r>
              <a:rPr sz="3900" b="1" spc="290" dirty="0">
                <a:solidFill>
                  <a:srgbClr val="FFFFFF"/>
                </a:solidFill>
                <a:latin typeface="Arial"/>
                <a:cs typeface="Arial"/>
              </a:rPr>
              <a:t>/</a:t>
            </a:r>
            <a:r>
              <a:rPr sz="3900" b="1" spc="-345" dirty="0">
                <a:solidFill>
                  <a:srgbClr val="FFFFFF"/>
                </a:solidFill>
                <a:latin typeface="Arial"/>
                <a:cs typeface="Arial"/>
              </a:rPr>
              <a:t> </a:t>
            </a:r>
            <a:r>
              <a:rPr sz="3900" b="1" spc="-220" dirty="0">
                <a:solidFill>
                  <a:srgbClr val="FFFFFF"/>
                </a:solidFill>
                <a:latin typeface="Arial"/>
                <a:cs typeface="Arial"/>
              </a:rPr>
              <a:t>Development</a:t>
            </a:r>
            <a:r>
              <a:rPr sz="3900" b="1" spc="-345" dirty="0">
                <a:solidFill>
                  <a:srgbClr val="FFFFFF"/>
                </a:solidFill>
                <a:latin typeface="Arial"/>
                <a:cs typeface="Arial"/>
              </a:rPr>
              <a:t> </a:t>
            </a:r>
            <a:r>
              <a:rPr sz="3900" b="1" spc="-155" dirty="0">
                <a:solidFill>
                  <a:srgbClr val="FFFFFF"/>
                </a:solidFill>
                <a:latin typeface="Arial"/>
                <a:cs typeface="Arial"/>
              </a:rPr>
              <a:t>Plan</a:t>
            </a:r>
            <a:endParaRPr sz="3900">
              <a:latin typeface="Arial"/>
              <a:cs typeface="Arial"/>
            </a:endParaRPr>
          </a:p>
          <a:p>
            <a:pPr algn="ctr">
              <a:lnSpc>
                <a:spcPct val="100000"/>
              </a:lnSpc>
              <a:spcBef>
                <a:spcPts val="1320"/>
              </a:spcBef>
            </a:pPr>
            <a:r>
              <a:rPr sz="1500" spc="-30" dirty="0">
                <a:solidFill>
                  <a:srgbClr val="FFFFFF"/>
                </a:solidFill>
                <a:latin typeface="Microsoft Sans Serif"/>
                <a:cs typeface="Microsoft Sans Serif"/>
              </a:rPr>
              <a:t>Project</a:t>
            </a:r>
            <a:r>
              <a:rPr sz="1500" spc="-40" dirty="0">
                <a:solidFill>
                  <a:srgbClr val="FFFFFF"/>
                </a:solidFill>
                <a:latin typeface="Microsoft Sans Serif"/>
                <a:cs typeface="Microsoft Sans Serif"/>
              </a:rPr>
              <a:t> </a:t>
            </a:r>
            <a:r>
              <a:rPr sz="1500" spc="-30" dirty="0">
                <a:solidFill>
                  <a:srgbClr val="FFFFFF"/>
                </a:solidFill>
                <a:latin typeface="Microsoft Sans Serif"/>
                <a:cs typeface="Microsoft Sans Serif"/>
              </a:rPr>
              <a:t>approach</a:t>
            </a:r>
            <a:r>
              <a:rPr sz="1500" spc="-35" dirty="0">
                <a:solidFill>
                  <a:srgbClr val="FFFFFF"/>
                </a:solidFill>
                <a:latin typeface="Microsoft Sans Serif"/>
                <a:cs typeface="Microsoft Sans Serif"/>
              </a:rPr>
              <a:t> and </a:t>
            </a:r>
            <a:r>
              <a:rPr sz="1500" spc="-10" dirty="0">
                <a:solidFill>
                  <a:srgbClr val="FFFFFF"/>
                </a:solidFill>
                <a:latin typeface="Microsoft Sans Serif"/>
                <a:cs typeface="Microsoft Sans Serif"/>
              </a:rPr>
              <a:t>timeline</a:t>
            </a:r>
            <a:endParaRPr sz="1500">
              <a:latin typeface="Microsoft Sans Serif"/>
              <a:cs typeface="Microsoft Sans Serif"/>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76324" y="1285869"/>
            <a:ext cx="8543925" cy="28575"/>
          </a:xfrm>
          <a:custGeom>
            <a:avLst/>
            <a:gdLst/>
            <a:ahLst/>
            <a:cxnLst/>
            <a:rect l="l" t="t" r="r" b="b"/>
            <a:pathLst>
              <a:path w="8543925" h="28575">
                <a:moveTo>
                  <a:pt x="8543924" y="28574"/>
                </a:moveTo>
                <a:lnTo>
                  <a:pt x="0" y="28574"/>
                </a:lnTo>
                <a:lnTo>
                  <a:pt x="0" y="0"/>
                </a:lnTo>
                <a:lnTo>
                  <a:pt x="8543924" y="0"/>
                </a:lnTo>
                <a:lnTo>
                  <a:pt x="8543924" y="28574"/>
                </a:lnTo>
                <a:close/>
              </a:path>
            </a:pathLst>
          </a:custGeom>
          <a:solidFill>
            <a:srgbClr val="BF382A"/>
          </a:solidFill>
        </p:spPr>
        <p:txBody>
          <a:bodyPr wrap="square" lIns="0" tIns="0" rIns="0" bIns="0" rtlCol="0"/>
          <a:lstStyle/>
          <a:p>
            <a:endParaRPr/>
          </a:p>
        </p:txBody>
      </p:sp>
      <p:pic>
        <p:nvPicPr>
          <p:cNvPr id="3" name="object 3"/>
          <p:cNvPicPr/>
          <p:nvPr/>
        </p:nvPicPr>
        <p:blipFill>
          <a:blip r:embed="rId2" cstate="print"/>
          <a:stretch>
            <a:fillRect/>
          </a:stretch>
        </p:blipFill>
        <p:spPr>
          <a:xfrm>
            <a:off x="1079896" y="949325"/>
            <a:ext cx="209550" cy="212725"/>
          </a:xfrm>
          <a:prstGeom prst="rect">
            <a:avLst/>
          </a:prstGeom>
        </p:spPr>
      </p:pic>
      <p:sp>
        <p:nvSpPr>
          <p:cNvPr id="4" name="object 4"/>
          <p:cNvSpPr txBox="1">
            <a:spLocks noGrp="1"/>
          </p:cNvSpPr>
          <p:nvPr>
            <p:ph type="title"/>
          </p:nvPr>
        </p:nvSpPr>
        <p:spPr>
          <a:xfrm>
            <a:off x="1371996" y="883762"/>
            <a:ext cx="3512820" cy="298450"/>
          </a:xfrm>
          <a:prstGeom prst="rect">
            <a:avLst/>
          </a:prstGeom>
        </p:spPr>
        <p:txBody>
          <a:bodyPr vert="horz" wrap="square" lIns="0" tIns="11430" rIns="0" bIns="0" rtlCol="0">
            <a:spAutoFit/>
          </a:bodyPr>
          <a:lstStyle/>
          <a:p>
            <a:pPr marL="12700">
              <a:lnSpc>
                <a:spcPct val="100000"/>
              </a:lnSpc>
              <a:spcBef>
                <a:spcPts val="90"/>
              </a:spcBef>
            </a:pPr>
            <a:r>
              <a:rPr sz="1800" spc="-125" dirty="0">
                <a:solidFill>
                  <a:srgbClr val="BF382A"/>
                </a:solidFill>
              </a:rPr>
              <a:t>Methodology</a:t>
            </a:r>
            <a:r>
              <a:rPr sz="1800" spc="-130" dirty="0">
                <a:solidFill>
                  <a:srgbClr val="BF382A"/>
                </a:solidFill>
              </a:rPr>
              <a:t> </a:t>
            </a:r>
            <a:r>
              <a:rPr sz="1800" spc="-110" dirty="0">
                <a:solidFill>
                  <a:srgbClr val="BF382A"/>
                </a:solidFill>
              </a:rPr>
              <a:t>and</a:t>
            </a:r>
            <a:r>
              <a:rPr sz="1800" spc="-125" dirty="0">
                <a:solidFill>
                  <a:srgbClr val="BF382A"/>
                </a:solidFill>
              </a:rPr>
              <a:t> </a:t>
            </a:r>
            <a:r>
              <a:rPr sz="1800" spc="-110" dirty="0">
                <a:solidFill>
                  <a:srgbClr val="BF382A"/>
                </a:solidFill>
              </a:rPr>
              <a:t>Development</a:t>
            </a:r>
            <a:r>
              <a:rPr sz="1800" spc="-125" dirty="0">
                <a:solidFill>
                  <a:srgbClr val="BF382A"/>
                </a:solidFill>
              </a:rPr>
              <a:t> </a:t>
            </a:r>
            <a:r>
              <a:rPr sz="1800" spc="-55" dirty="0">
                <a:solidFill>
                  <a:srgbClr val="BF382A"/>
                </a:solidFill>
              </a:rPr>
              <a:t>Plan</a:t>
            </a:r>
            <a:endParaRPr sz="1800"/>
          </a:p>
        </p:txBody>
      </p:sp>
      <p:sp>
        <p:nvSpPr>
          <p:cNvPr id="5" name="object 5"/>
          <p:cNvSpPr/>
          <p:nvPr/>
        </p:nvSpPr>
        <p:spPr>
          <a:xfrm>
            <a:off x="1076324" y="6515093"/>
            <a:ext cx="8543925" cy="9525"/>
          </a:xfrm>
          <a:custGeom>
            <a:avLst/>
            <a:gdLst/>
            <a:ahLst/>
            <a:cxnLst/>
            <a:rect l="l" t="t" r="r" b="b"/>
            <a:pathLst>
              <a:path w="8543925" h="9525">
                <a:moveTo>
                  <a:pt x="8543924" y="9524"/>
                </a:moveTo>
                <a:lnTo>
                  <a:pt x="0" y="9524"/>
                </a:lnTo>
                <a:lnTo>
                  <a:pt x="0" y="0"/>
                </a:lnTo>
                <a:lnTo>
                  <a:pt x="8543924" y="0"/>
                </a:lnTo>
                <a:lnTo>
                  <a:pt x="8543924" y="9524"/>
                </a:lnTo>
                <a:close/>
              </a:path>
            </a:pathLst>
          </a:custGeom>
          <a:solidFill>
            <a:srgbClr val="EDEDED"/>
          </a:solidFill>
        </p:spPr>
        <p:txBody>
          <a:bodyPr wrap="square" lIns="0" tIns="0" rIns="0" bIns="0" rtlCol="0"/>
          <a:lstStyle/>
          <a:p>
            <a:endParaRPr/>
          </a:p>
        </p:txBody>
      </p:sp>
      <p:sp>
        <p:nvSpPr>
          <p:cNvPr id="6" name="object 6"/>
          <p:cNvSpPr txBox="1"/>
          <p:nvPr/>
        </p:nvSpPr>
        <p:spPr>
          <a:xfrm>
            <a:off x="1067196" y="6601817"/>
            <a:ext cx="1574800" cy="158115"/>
          </a:xfrm>
          <a:prstGeom prst="rect">
            <a:avLst/>
          </a:prstGeom>
        </p:spPr>
        <p:txBody>
          <a:bodyPr vert="horz" wrap="square" lIns="0" tIns="14604" rIns="0" bIns="0" rtlCol="0">
            <a:spAutoFit/>
          </a:bodyPr>
          <a:lstStyle/>
          <a:p>
            <a:pPr marL="12700">
              <a:lnSpc>
                <a:spcPct val="100000"/>
              </a:lnSpc>
              <a:spcBef>
                <a:spcPts val="114"/>
              </a:spcBef>
            </a:pPr>
            <a:r>
              <a:rPr sz="800" spc="-20" dirty="0">
                <a:solidFill>
                  <a:srgbClr val="878787"/>
                </a:solidFill>
                <a:latin typeface="Microsoft Sans Serif"/>
                <a:cs typeface="Microsoft Sans Serif"/>
              </a:rPr>
              <a:t>GoldenEye </a:t>
            </a:r>
            <a:r>
              <a:rPr sz="850" spc="-45" dirty="0">
                <a:solidFill>
                  <a:srgbClr val="878787"/>
                </a:solidFill>
                <a:latin typeface="Verdana"/>
                <a:cs typeface="Verdana"/>
              </a:rPr>
              <a:t>-</a:t>
            </a:r>
            <a:r>
              <a:rPr sz="850" spc="-90" dirty="0">
                <a:solidFill>
                  <a:srgbClr val="878787"/>
                </a:solidFill>
                <a:latin typeface="Verdana"/>
                <a:cs typeface="Verdana"/>
              </a:rPr>
              <a:t> </a:t>
            </a:r>
            <a:r>
              <a:rPr sz="800" dirty="0">
                <a:solidFill>
                  <a:srgbClr val="878787"/>
                </a:solidFill>
                <a:latin typeface="Microsoft Sans Serif"/>
                <a:cs typeface="Microsoft Sans Serif"/>
              </a:rPr>
              <a:t>AI</a:t>
            </a:r>
            <a:r>
              <a:rPr sz="800" spc="-10" dirty="0">
                <a:solidFill>
                  <a:srgbClr val="878787"/>
                </a:solidFill>
                <a:latin typeface="Microsoft Sans Serif"/>
                <a:cs typeface="Microsoft Sans Serif"/>
              </a:rPr>
              <a:t> </a:t>
            </a:r>
            <a:r>
              <a:rPr sz="800" spc="-55" dirty="0">
                <a:solidFill>
                  <a:srgbClr val="878787"/>
                </a:solidFill>
                <a:latin typeface="Microsoft Sans Serif"/>
                <a:cs typeface="Microsoft Sans Serif"/>
              </a:rPr>
              <a:t>SAR</a:t>
            </a:r>
            <a:r>
              <a:rPr sz="800" spc="-5" dirty="0">
                <a:solidFill>
                  <a:srgbClr val="878787"/>
                </a:solidFill>
                <a:latin typeface="Microsoft Sans Serif"/>
                <a:cs typeface="Microsoft Sans Serif"/>
              </a:rPr>
              <a:t> </a:t>
            </a:r>
            <a:r>
              <a:rPr sz="800" dirty="0">
                <a:solidFill>
                  <a:srgbClr val="878787"/>
                </a:solidFill>
                <a:latin typeface="Microsoft Sans Serif"/>
                <a:cs typeface="Microsoft Sans Serif"/>
              </a:rPr>
              <a:t>Drone</a:t>
            </a:r>
            <a:r>
              <a:rPr sz="800" spc="-10" dirty="0">
                <a:solidFill>
                  <a:srgbClr val="878787"/>
                </a:solidFill>
                <a:latin typeface="Microsoft Sans Serif"/>
                <a:cs typeface="Microsoft Sans Serif"/>
              </a:rPr>
              <a:t> System</a:t>
            </a:r>
            <a:endParaRPr sz="800">
              <a:latin typeface="Microsoft Sans Serif"/>
              <a:cs typeface="Microsoft Sans Serif"/>
            </a:endParaRPr>
          </a:p>
        </p:txBody>
      </p:sp>
      <p:pic>
        <p:nvPicPr>
          <p:cNvPr id="7" name="object 7"/>
          <p:cNvPicPr/>
          <p:nvPr/>
        </p:nvPicPr>
        <p:blipFill>
          <a:blip r:embed="rId3" cstate="print"/>
          <a:stretch>
            <a:fillRect/>
          </a:stretch>
        </p:blipFill>
        <p:spPr>
          <a:xfrm>
            <a:off x="9410699" y="6619868"/>
            <a:ext cx="209549" cy="209540"/>
          </a:xfrm>
          <a:prstGeom prst="rect">
            <a:avLst/>
          </a:prstGeom>
        </p:spPr>
      </p:pic>
      <p:sp>
        <p:nvSpPr>
          <p:cNvPr id="8" name="object 8"/>
          <p:cNvSpPr txBox="1"/>
          <p:nvPr/>
        </p:nvSpPr>
        <p:spPr>
          <a:xfrm>
            <a:off x="9438034" y="6645350"/>
            <a:ext cx="147955" cy="151130"/>
          </a:xfrm>
          <a:prstGeom prst="rect">
            <a:avLst/>
          </a:prstGeom>
        </p:spPr>
        <p:txBody>
          <a:bodyPr vert="horz" wrap="square" lIns="0" tIns="15875" rIns="0" bIns="0" rtlCol="0">
            <a:spAutoFit/>
          </a:bodyPr>
          <a:lstStyle/>
          <a:p>
            <a:pPr marL="12700">
              <a:lnSpc>
                <a:spcPct val="100000"/>
              </a:lnSpc>
              <a:spcBef>
                <a:spcPts val="125"/>
              </a:spcBef>
            </a:pPr>
            <a:r>
              <a:rPr sz="800" b="1" spc="-25" dirty="0">
                <a:solidFill>
                  <a:srgbClr val="FFFFFF"/>
                </a:solidFill>
                <a:latin typeface="Arial"/>
                <a:cs typeface="Arial"/>
              </a:rPr>
              <a:t>20</a:t>
            </a:r>
            <a:endParaRPr sz="800">
              <a:latin typeface="Arial"/>
              <a:cs typeface="Arial"/>
            </a:endParaRPr>
          </a:p>
        </p:txBody>
      </p:sp>
      <p:grpSp>
        <p:nvGrpSpPr>
          <p:cNvPr id="9" name="object 9"/>
          <p:cNvGrpSpPr/>
          <p:nvPr/>
        </p:nvGrpSpPr>
        <p:grpSpPr>
          <a:xfrm>
            <a:off x="622300" y="1485905"/>
            <a:ext cx="654049" cy="4416419"/>
            <a:chOff x="1104899" y="1485906"/>
            <a:chExt cx="171450" cy="2238375"/>
          </a:xfrm>
        </p:grpSpPr>
        <p:pic>
          <p:nvPicPr>
            <p:cNvPr id="10" name="object 10"/>
            <p:cNvPicPr/>
            <p:nvPr/>
          </p:nvPicPr>
          <p:blipFill>
            <a:blip r:embed="rId4" cstate="print"/>
            <a:stretch>
              <a:fillRect/>
            </a:stretch>
          </p:blipFill>
          <p:spPr>
            <a:xfrm>
              <a:off x="1123949" y="1504944"/>
              <a:ext cx="19049" cy="2219324"/>
            </a:xfrm>
            <a:prstGeom prst="rect">
              <a:avLst/>
            </a:prstGeom>
          </p:spPr>
        </p:pic>
        <p:pic>
          <p:nvPicPr>
            <p:cNvPr id="11" name="object 11"/>
            <p:cNvPicPr/>
            <p:nvPr/>
          </p:nvPicPr>
          <p:blipFill>
            <a:blip r:embed="rId5" cstate="print"/>
            <a:stretch>
              <a:fillRect/>
            </a:stretch>
          </p:blipFill>
          <p:spPr>
            <a:xfrm>
              <a:off x="1104899" y="1485906"/>
              <a:ext cx="171450" cy="171449"/>
            </a:xfrm>
            <a:prstGeom prst="rect">
              <a:avLst/>
            </a:prstGeom>
          </p:spPr>
        </p:pic>
        <p:pic>
          <p:nvPicPr>
            <p:cNvPr id="12" name="object 12"/>
            <p:cNvPicPr/>
            <p:nvPr/>
          </p:nvPicPr>
          <p:blipFill>
            <a:blip r:embed="rId6" cstate="print"/>
            <a:stretch>
              <a:fillRect/>
            </a:stretch>
          </p:blipFill>
          <p:spPr>
            <a:xfrm>
              <a:off x="1104899" y="1971681"/>
              <a:ext cx="171450" cy="171440"/>
            </a:xfrm>
            <a:prstGeom prst="rect">
              <a:avLst/>
            </a:prstGeom>
          </p:spPr>
        </p:pic>
        <p:pic>
          <p:nvPicPr>
            <p:cNvPr id="13" name="object 13"/>
            <p:cNvPicPr/>
            <p:nvPr/>
          </p:nvPicPr>
          <p:blipFill>
            <a:blip r:embed="rId7" cstate="print"/>
            <a:stretch>
              <a:fillRect/>
            </a:stretch>
          </p:blipFill>
          <p:spPr>
            <a:xfrm>
              <a:off x="1104899" y="2457456"/>
              <a:ext cx="171450" cy="171440"/>
            </a:xfrm>
            <a:prstGeom prst="rect">
              <a:avLst/>
            </a:prstGeom>
          </p:spPr>
        </p:pic>
        <p:pic>
          <p:nvPicPr>
            <p:cNvPr id="14" name="object 14"/>
            <p:cNvPicPr/>
            <p:nvPr/>
          </p:nvPicPr>
          <p:blipFill>
            <a:blip r:embed="rId8" cstate="print"/>
            <a:stretch>
              <a:fillRect/>
            </a:stretch>
          </p:blipFill>
          <p:spPr>
            <a:xfrm>
              <a:off x="1104899" y="2943231"/>
              <a:ext cx="171450" cy="171440"/>
            </a:xfrm>
            <a:prstGeom prst="rect">
              <a:avLst/>
            </a:prstGeom>
          </p:spPr>
        </p:pic>
        <p:pic>
          <p:nvPicPr>
            <p:cNvPr id="15" name="object 15"/>
            <p:cNvPicPr/>
            <p:nvPr/>
          </p:nvPicPr>
          <p:blipFill>
            <a:blip r:embed="rId9" cstate="print"/>
            <a:stretch>
              <a:fillRect/>
            </a:stretch>
          </p:blipFill>
          <p:spPr>
            <a:xfrm>
              <a:off x="1104899" y="3429006"/>
              <a:ext cx="171450" cy="171449"/>
            </a:xfrm>
            <a:prstGeom prst="rect">
              <a:avLst/>
            </a:prstGeom>
          </p:spPr>
        </p:pic>
      </p:grpSp>
      <p:sp>
        <p:nvSpPr>
          <p:cNvPr id="16" name="object 16"/>
          <p:cNvSpPr txBox="1"/>
          <p:nvPr/>
        </p:nvSpPr>
        <p:spPr>
          <a:xfrm>
            <a:off x="1429145" y="1378603"/>
            <a:ext cx="8375255" cy="4852610"/>
          </a:xfrm>
          <a:prstGeom prst="rect">
            <a:avLst/>
          </a:prstGeom>
        </p:spPr>
        <p:txBody>
          <a:bodyPr vert="horz" wrap="square" lIns="0" tIns="78740" rIns="0" bIns="0" rtlCol="0">
            <a:spAutoFit/>
          </a:bodyPr>
          <a:lstStyle/>
          <a:p>
            <a:pPr marL="12700">
              <a:lnSpc>
                <a:spcPct val="100000"/>
              </a:lnSpc>
              <a:spcBef>
                <a:spcPts val="620"/>
              </a:spcBef>
            </a:pPr>
            <a:r>
              <a:rPr b="1" spc="-80" dirty="0">
                <a:solidFill>
                  <a:srgbClr val="BF382A"/>
                </a:solidFill>
                <a:latin typeface="Arial"/>
                <a:cs typeface="Arial"/>
              </a:rPr>
              <a:t>Phase </a:t>
            </a:r>
            <a:r>
              <a:rPr b="1" spc="-150" dirty="0">
                <a:solidFill>
                  <a:srgbClr val="BF382A"/>
                </a:solidFill>
                <a:latin typeface="Arial"/>
                <a:cs typeface="Arial"/>
              </a:rPr>
              <a:t>1:</a:t>
            </a:r>
            <a:r>
              <a:rPr b="1" spc="-75" dirty="0">
                <a:solidFill>
                  <a:srgbClr val="BF382A"/>
                </a:solidFill>
                <a:latin typeface="Arial"/>
                <a:cs typeface="Arial"/>
              </a:rPr>
              <a:t> </a:t>
            </a:r>
            <a:r>
              <a:rPr b="1" spc="-85" dirty="0">
                <a:solidFill>
                  <a:srgbClr val="BF382A"/>
                </a:solidFill>
                <a:latin typeface="Arial"/>
                <a:cs typeface="Arial"/>
              </a:rPr>
              <a:t>Research</a:t>
            </a:r>
            <a:r>
              <a:rPr b="1" spc="-75" dirty="0">
                <a:solidFill>
                  <a:srgbClr val="BF382A"/>
                </a:solidFill>
                <a:latin typeface="Arial"/>
                <a:cs typeface="Arial"/>
              </a:rPr>
              <a:t> </a:t>
            </a:r>
            <a:r>
              <a:rPr b="1" spc="-55" dirty="0">
                <a:solidFill>
                  <a:srgbClr val="BF382A"/>
                </a:solidFill>
                <a:latin typeface="Arial"/>
                <a:cs typeface="Arial"/>
              </a:rPr>
              <a:t>and</a:t>
            </a:r>
            <a:r>
              <a:rPr b="1" spc="-80" dirty="0">
                <a:solidFill>
                  <a:srgbClr val="BF382A"/>
                </a:solidFill>
                <a:latin typeface="Arial"/>
                <a:cs typeface="Arial"/>
              </a:rPr>
              <a:t> </a:t>
            </a:r>
            <a:r>
              <a:rPr b="1" spc="-10" dirty="0">
                <a:solidFill>
                  <a:srgbClr val="BF382A"/>
                </a:solidFill>
                <a:latin typeface="Arial"/>
                <a:cs typeface="Arial"/>
              </a:rPr>
              <a:t>Data</a:t>
            </a:r>
            <a:r>
              <a:rPr b="1" spc="-75" dirty="0">
                <a:solidFill>
                  <a:srgbClr val="BF382A"/>
                </a:solidFill>
                <a:latin typeface="Arial"/>
                <a:cs typeface="Arial"/>
              </a:rPr>
              <a:t> </a:t>
            </a:r>
            <a:r>
              <a:rPr b="1" spc="-10" dirty="0">
                <a:solidFill>
                  <a:srgbClr val="BF382A"/>
                </a:solidFill>
                <a:latin typeface="Arial"/>
                <a:cs typeface="Arial"/>
              </a:rPr>
              <a:t>Collection</a:t>
            </a:r>
            <a:endParaRPr dirty="0">
              <a:latin typeface="Arial"/>
              <a:cs typeface="Arial"/>
            </a:endParaRPr>
          </a:p>
          <a:p>
            <a:pPr marL="12700">
              <a:lnSpc>
                <a:spcPct val="100000"/>
              </a:lnSpc>
              <a:spcBef>
                <a:spcPts val="464"/>
              </a:spcBef>
            </a:pPr>
            <a:r>
              <a:rPr sz="1400" spc="-10" dirty="0">
                <a:solidFill>
                  <a:srgbClr val="666666"/>
                </a:solidFill>
                <a:latin typeface="Microsoft Sans Serif"/>
                <a:cs typeface="Microsoft Sans Serif"/>
              </a:rPr>
              <a:t>Literature </a:t>
            </a:r>
            <a:r>
              <a:rPr sz="1400" spc="-20" dirty="0">
                <a:solidFill>
                  <a:srgbClr val="666666"/>
                </a:solidFill>
                <a:latin typeface="Microsoft Sans Serif"/>
                <a:cs typeface="Microsoft Sans Serif"/>
              </a:rPr>
              <a:t>review,</a:t>
            </a:r>
            <a:r>
              <a:rPr sz="1400" spc="-10" dirty="0">
                <a:solidFill>
                  <a:srgbClr val="666666"/>
                </a:solidFill>
                <a:latin typeface="Microsoft Sans Serif"/>
                <a:cs typeface="Microsoft Sans Serif"/>
              </a:rPr>
              <a:t> dataset collection </a:t>
            </a:r>
            <a:r>
              <a:rPr sz="1400" spc="-65" dirty="0">
                <a:solidFill>
                  <a:srgbClr val="666666"/>
                </a:solidFill>
                <a:latin typeface="Microsoft Sans Serif"/>
                <a:cs typeface="Microsoft Sans Serif"/>
              </a:rPr>
              <a:t>(SARD,</a:t>
            </a:r>
            <a:r>
              <a:rPr sz="1400" spc="-10" dirty="0">
                <a:solidFill>
                  <a:srgbClr val="666666"/>
                </a:solidFill>
                <a:latin typeface="Microsoft Sans Serif"/>
                <a:cs typeface="Microsoft Sans Serif"/>
              </a:rPr>
              <a:t> </a:t>
            </a:r>
            <a:r>
              <a:rPr sz="1400" spc="-20" dirty="0">
                <a:solidFill>
                  <a:srgbClr val="666666"/>
                </a:solidFill>
                <a:latin typeface="Microsoft Sans Serif"/>
                <a:cs typeface="Microsoft Sans Serif"/>
              </a:rPr>
              <a:t>Caltech</a:t>
            </a:r>
            <a:r>
              <a:rPr sz="1400" spc="-5" dirty="0">
                <a:solidFill>
                  <a:srgbClr val="666666"/>
                </a:solidFill>
                <a:latin typeface="Microsoft Sans Serif"/>
                <a:cs typeface="Microsoft Sans Serif"/>
              </a:rPr>
              <a:t> </a:t>
            </a:r>
            <a:r>
              <a:rPr sz="1400" spc="-70" dirty="0">
                <a:solidFill>
                  <a:srgbClr val="666666"/>
                </a:solidFill>
                <a:latin typeface="Microsoft Sans Serif"/>
                <a:cs typeface="Microsoft Sans Serif"/>
              </a:rPr>
              <a:t>RGB-</a:t>
            </a:r>
            <a:r>
              <a:rPr sz="1400" spc="-20" dirty="0">
                <a:solidFill>
                  <a:srgbClr val="666666"/>
                </a:solidFill>
                <a:latin typeface="Microsoft Sans Serif"/>
                <a:cs typeface="Microsoft Sans Serif"/>
              </a:rPr>
              <a:t>Thermal),</a:t>
            </a:r>
            <a:r>
              <a:rPr sz="1400" spc="-10" dirty="0">
                <a:solidFill>
                  <a:srgbClr val="666666"/>
                </a:solidFill>
                <a:latin typeface="Microsoft Sans Serif"/>
                <a:cs typeface="Microsoft Sans Serif"/>
              </a:rPr>
              <a:t> </a:t>
            </a:r>
            <a:r>
              <a:rPr sz="1400" spc="-20" dirty="0">
                <a:solidFill>
                  <a:srgbClr val="666666"/>
                </a:solidFill>
                <a:latin typeface="Microsoft Sans Serif"/>
                <a:cs typeface="Microsoft Sans Serif"/>
              </a:rPr>
              <a:t>and</a:t>
            </a:r>
            <a:r>
              <a:rPr sz="1400" spc="-10" dirty="0">
                <a:solidFill>
                  <a:srgbClr val="666666"/>
                </a:solidFill>
                <a:latin typeface="Microsoft Sans Serif"/>
                <a:cs typeface="Microsoft Sans Serif"/>
              </a:rPr>
              <a:t> </a:t>
            </a:r>
            <a:r>
              <a:rPr sz="1400" spc="-20" dirty="0">
                <a:solidFill>
                  <a:srgbClr val="666666"/>
                </a:solidFill>
                <a:latin typeface="Microsoft Sans Serif"/>
                <a:cs typeface="Microsoft Sans Serif"/>
              </a:rPr>
              <a:t>analysis</a:t>
            </a:r>
            <a:r>
              <a:rPr sz="1400" spc="-10" dirty="0">
                <a:solidFill>
                  <a:srgbClr val="666666"/>
                </a:solidFill>
                <a:latin typeface="Microsoft Sans Serif"/>
                <a:cs typeface="Microsoft Sans Serif"/>
              </a:rPr>
              <a:t> </a:t>
            </a:r>
            <a:r>
              <a:rPr sz="1400" dirty="0">
                <a:solidFill>
                  <a:srgbClr val="666666"/>
                </a:solidFill>
                <a:latin typeface="Microsoft Sans Serif"/>
                <a:cs typeface="Microsoft Sans Serif"/>
              </a:rPr>
              <a:t>of</a:t>
            </a:r>
            <a:r>
              <a:rPr sz="1400" spc="-10" dirty="0">
                <a:solidFill>
                  <a:srgbClr val="666666"/>
                </a:solidFill>
                <a:latin typeface="Microsoft Sans Serif"/>
                <a:cs typeface="Microsoft Sans Serif"/>
              </a:rPr>
              <a:t> existing </a:t>
            </a:r>
            <a:r>
              <a:rPr sz="1400" spc="-85" dirty="0">
                <a:solidFill>
                  <a:srgbClr val="666666"/>
                </a:solidFill>
                <a:latin typeface="Microsoft Sans Serif"/>
                <a:cs typeface="Microsoft Sans Serif"/>
              </a:rPr>
              <a:t>SAR</a:t>
            </a:r>
            <a:r>
              <a:rPr sz="1400" spc="-5" dirty="0">
                <a:solidFill>
                  <a:srgbClr val="666666"/>
                </a:solidFill>
                <a:latin typeface="Microsoft Sans Serif"/>
                <a:cs typeface="Microsoft Sans Serif"/>
              </a:rPr>
              <a:t> </a:t>
            </a:r>
            <a:r>
              <a:rPr sz="1400" spc="-10" dirty="0">
                <a:solidFill>
                  <a:srgbClr val="666666"/>
                </a:solidFill>
                <a:latin typeface="Microsoft Sans Serif"/>
                <a:cs typeface="Microsoft Sans Serif"/>
              </a:rPr>
              <a:t>solutions. Define </a:t>
            </a:r>
            <a:r>
              <a:rPr sz="1400" dirty="0">
                <a:solidFill>
                  <a:srgbClr val="666666"/>
                </a:solidFill>
                <a:latin typeface="Microsoft Sans Serif"/>
                <a:cs typeface="Microsoft Sans Serif"/>
              </a:rPr>
              <a:t>project</a:t>
            </a:r>
            <a:r>
              <a:rPr sz="1400" spc="-10" dirty="0">
                <a:solidFill>
                  <a:srgbClr val="666666"/>
                </a:solidFill>
                <a:latin typeface="Microsoft Sans Serif"/>
                <a:cs typeface="Microsoft Sans Serif"/>
              </a:rPr>
              <a:t> </a:t>
            </a:r>
            <a:r>
              <a:rPr sz="1400" dirty="0">
                <a:solidFill>
                  <a:srgbClr val="666666"/>
                </a:solidFill>
                <a:latin typeface="Microsoft Sans Serif"/>
                <a:cs typeface="Microsoft Sans Serif"/>
              </a:rPr>
              <a:t>scope</a:t>
            </a:r>
            <a:r>
              <a:rPr sz="1400" spc="-10" dirty="0">
                <a:solidFill>
                  <a:srgbClr val="666666"/>
                </a:solidFill>
                <a:latin typeface="Microsoft Sans Serif"/>
                <a:cs typeface="Microsoft Sans Serif"/>
              </a:rPr>
              <a:t> </a:t>
            </a:r>
            <a:r>
              <a:rPr sz="1400" spc="-20" dirty="0">
                <a:solidFill>
                  <a:srgbClr val="666666"/>
                </a:solidFill>
                <a:latin typeface="Microsoft Sans Serif"/>
                <a:cs typeface="Microsoft Sans Serif"/>
              </a:rPr>
              <a:t>and</a:t>
            </a:r>
            <a:r>
              <a:rPr sz="1400" spc="-5" dirty="0">
                <a:solidFill>
                  <a:srgbClr val="666666"/>
                </a:solidFill>
                <a:latin typeface="Microsoft Sans Serif"/>
                <a:cs typeface="Microsoft Sans Serif"/>
              </a:rPr>
              <a:t> </a:t>
            </a:r>
            <a:r>
              <a:rPr sz="1400" spc="-10" dirty="0">
                <a:solidFill>
                  <a:srgbClr val="666666"/>
                </a:solidFill>
                <a:latin typeface="Microsoft Sans Serif"/>
                <a:cs typeface="Microsoft Sans Serif"/>
              </a:rPr>
              <a:t>requirements.</a:t>
            </a:r>
            <a:endParaRPr sz="1400" dirty="0">
              <a:latin typeface="Microsoft Sans Serif"/>
              <a:cs typeface="Microsoft Sans Serif"/>
            </a:endParaRPr>
          </a:p>
          <a:p>
            <a:pPr>
              <a:lnSpc>
                <a:spcPct val="100000"/>
              </a:lnSpc>
              <a:spcBef>
                <a:spcPts val="110"/>
              </a:spcBef>
            </a:pPr>
            <a:endParaRPr sz="1200" dirty="0">
              <a:latin typeface="Microsoft Sans Serif"/>
              <a:cs typeface="Microsoft Sans Serif"/>
            </a:endParaRPr>
          </a:p>
          <a:p>
            <a:pPr marL="12700">
              <a:lnSpc>
                <a:spcPct val="100000"/>
              </a:lnSpc>
              <a:spcBef>
                <a:spcPts val="5"/>
              </a:spcBef>
            </a:pPr>
            <a:r>
              <a:rPr b="1" spc="-80" dirty="0">
                <a:solidFill>
                  <a:srgbClr val="BF382A"/>
                </a:solidFill>
                <a:latin typeface="Arial"/>
                <a:cs typeface="Arial"/>
              </a:rPr>
              <a:t>Phase </a:t>
            </a:r>
            <a:r>
              <a:rPr b="1" spc="-60" dirty="0">
                <a:solidFill>
                  <a:srgbClr val="BF382A"/>
                </a:solidFill>
                <a:latin typeface="Arial"/>
                <a:cs typeface="Arial"/>
              </a:rPr>
              <a:t>2:</a:t>
            </a:r>
            <a:r>
              <a:rPr b="1" spc="-80" dirty="0">
                <a:solidFill>
                  <a:srgbClr val="BF382A"/>
                </a:solidFill>
                <a:latin typeface="Arial"/>
                <a:cs typeface="Arial"/>
              </a:rPr>
              <a:t> </a:t>
            </a:r>
            <a:r>
              <a:rPr b="1" spc="-60" dirty="0">
                <a:solidFill>
                  <a:srgbClr val="BF382A"/>
                </a:solidFill>
                <a:latin typeface="Arial"/>
                <a:cs typeface="Arial"/>
              </a:rPr>
              <a:t>Model</a:t>
            </a:r>
            <a:r>
              <a:rPr b="1" spc="-80" dirty="0">
                <a:solidFill>
                  <a:srgbClr val="BF382A"/>
                </a:solidFill>
                <a:latin typeface="Arial"/>
                <a:cs typeface="Arial"/>
              </a:rPr>
              <a:t> </a:t>
            </a:r>
            <a:r>
              <a:rPr b="1" spc="-10" dirty="0">
                <a:solidFill>
                  <a:srgbClr val="BF382A"/>
                </a:solidFill>
                <a:latin typeface="Arial"/>
                <a:cs typeface="Arial"/>
              </a:rPr>
              <a:t>Development</a:t>
            </a:r>
            <a:endParaRPr dirty="0">
              <a:latin typeface="Arial"/>
              <a:cs typeface="Arial"/>
            </a:endParaRPr>
          </a:p>
          <a:p>
            <a:pPr marL="12700">
              <a:lnSpc>
                <a:spcPct val="100000"/>
              </a:lnSpc>
              <a:spcBef>
                <a:spcPts val="464"/>
              </a:spcBef>
            </a:pPr>
            <a:r>
              <a:rPr sz="1400" spc="-25" dirty="0">
                <a:solidFill>
                  <a:srgbClr val="666666"/>
                </a:solidFill>
                <a:latin typeface="Microsoft Sans Serif"/>
                <a:cs typeface="Microsoft Sans Serif"/>
              </a:rPr>
              <a:t>Train</a:t>
            </a:r>
            <a:r>
              <a:rPr sz="1400" dirty="0">
                <a:solidFill>
                  <a:srgbClr val="666666"/>
                </a:solidFill>
                <a:latin typeface="Microsoft Sans Serif"/>
                <a:cs typeface="Microsoft Sans Serif"/>
              </a:rPr>
              <a:t> </a:t>
            </a:r>
            <a:r>
              <a:rPr sz="1400" spc="-55" dirty="0">
                <a:solidFill>
                  <a:srgbClr val="666666"/>
                </a:solidFill>
                <a:latin typeface="Microsoft Sans Serif"/>
                <a:cs typeface="Microsoft Sans Serif"/>
              </a:rPr>
              <a:t>YOLOv8</a:t>
            </a:r>
            <a:r>
              <a:rPr sz="1400" dirty="0">
                <a:solidFill>
                  <a:srgbClr val="666666"/>
                </a:solidFill>
                <a:latin typeface="Microsoft Sans Serif"/>
                <a:cs typeface="Microsoft Sans Serif"/>
              </a:rPr>
              <a:t> </a:t>
            </a:r>
            <a:r>
              <a:rPr sz="1400" spc="-10" dirty="0">
                <a:solidFill>
                  <a:srgbClr val="666666"/>
                </a:solidFill>
                <a:latin typeface="Microsoft Sans Serif"/>
                <a:cs typeface="Microsoft Sans Serif"/>
              </a:rPr>
              <a:t>model</a:t>
            </a:r>
            <a:r>
              <a:rPr sz="1400" dirty="0">
                <a:solidFill>
                  <a:srgbClr val="666666"/>
                </a:solidFill>
                <a:latin typeface="Microsoft Sans Serif"/>
                <a:cs typeface="Microsoft Sans Serif"/>
              </a:rPr>
              <a:t> with </a:t>
            </a:r>
            <a:r>
              <a:rPr sz="1400" spc="-20" dirty="0">
                <a:solidFill>
                  <a:srgbClr val="666666"/>
                </a:solidFill>
                <a:latin typeface="Microsoft Sans Serif"/>
                <a:cs typeface="Microsoft Sans Serif"/>
              </a:rPr>
              <a:t>domain</a:t>
            </a:r>
            <a:r>
              <a:rPr sz="1400" dirty="0">
                <a:solidFill>
                  <a:srgbClr val="666666"/>
                </a:solidFill>
                <a:latin typeface="Microsoft Sans Serif"/>
                <a:cs typeface="Microsoft Sans Serif"/>
              </a:rPr>
              <a:t> </a:t>
            </a:r>
            <a:r>
              <a:rPr sz="1400" spc="-20" dirty="0">
                <a:solidFill>
                  <a:srgbClr val="666666"/>
                </a:solidFill>
                <a:latin typeface="Microsoft Sans Serif"/>
                <a:cs typeface="Microsoft Sans Serif"/>
              </a:rPr>
              <a:t>adaptation</a:t>
            </a:r>
            <a:r>
              <a:rPr sz="1400" spc="5" dirty="0">
                <a:solidFill>
                  <a:srgbClr val="666666"/>
                </a:solidFill>
                <a:latin typeface="Microsoft Sans Serif"/>
                <a:cs typeface="Microsoft Sans Serif"/>
              </a:rPr>
              <a:t> </a:t>
            </a:r>
            <a:r>
              <a:rPr sz="1400" dirty="0">
                <a:solidFill>
                  <a:srgbClr val="666666"/>
                </a:solidFill>
                <a:latin typeface="Microsoft Sans Serif"/>
                <a:cs typeface="Microsoft Sans Serif"/>
              </a:rPr>
              <a:t>for desert </a:t>
            </a:r>
            <a:r>
              <a:rPr sz="1400" spc="-20" dirty="0">
                <a:solidFill>
                  <a:srgbClr val="666666"/>
                </a:solidFill>
                <a:latin typeface="Microsoft Sans Serif"/>
                <a:cs typeface="Microsoft Sans Serif"/>
              </a:rPr>
              <a:t>environments.</a:t>
            </a:r>
            <a:r>
              <a:rPr sz="1400" dirty="0">
                <a:solidFill>
                  <a:srgbClr val="666666"/>
                </a:solidFill>
                <a:latin typeface="Microsoft Sans Serif"/>
                <a:cs typeface="Microsoft Sans Serif"/>
              </a:rPr>
              <a:t> </a:t>
            </a:r>
            <a:r>
              <a:rPr sz="1400" spc="-20" dirty="0">
                <a:solidFill>
                  <a:srgbClr val="666666"/>
                </a:solidFill>
                <a:latin typeface="Microsoft Sans Serif"/>
                <a:cs typeface="Microsoft Sans Serif"/>
              </a:rPr>
              <a:t>Optimize</a:t>
            </a:r>
            <a:r>
              <a:rPr sz="1400" dirty="0">
                <a:solidFill>
                  <a:srgbClr val="666666"/>
                </a:solidFill>
                <a:latin typeface="Microsoft Sans Serif"/>
                <a:cs typeface="Microsoft Sans Serif"/>
              </a:rPr>
              <a:t> for</a:t>
            </a:r>
            <a:r>
              <a:rPr sz="1400" spc="5" dirty="0">
                <a:solidFill>
                  <a:srgbClr val="666666"/>
                </a:solidFill>
                <a:latin typeface="Microsoft Sans Serif"/>
                <a:cs typeface="Microsoft Sans Serif"/>
              </a:rPr>
              <a:t> </a:t>
            </a:r>
            <a:r>
              <a:rPr sz="1400" dirty="0">
                <a:solidFill>
                  <a:srgbClr val="666666"/>
                </a:solidFill>
                <a:latin typeface="Microsoft Sans Serif"/>
                <a:cs typeface="Microsoft Sans Serif"/>
              </a:rPr>
              <a:t>top-down </a:t>
            </a:r>
            <a:r>
              <a:rPr sz="1400" spc="-10" dirty="0">
                <a:solidFill>
                  <a:srgbClr val="666666"/>
                </a:solidFill>
                <a:latin typeface="Microsoft Sans Serif"/>
                <a:cs typeface="Microsoft Sans Serif"/>
              </a:rPr>
              <a:t>perspective</a:t>
            </a:r>
            <a:r>
              <a:rPr sz="1400" dirty="0">
                <a:solidFill>
                  <a:srgbClr val="666666"/>
                </a:solidFill>
                <a:latin typeface="Microsoft Sans Serif"/>
                <a:cs typeface="Microsoft Sans Serif"/>
              </a:rPr>
              <a:t> </a:t>
            </a:r>
            <a:r>
              <a:rPr sz="1400" spc="-10" dirty="0">
                <a:solidFill>
                  <a:srgbClr val="666666"/>
                </a:solidFill>
                <a:latin typeface="Microsoft Sans Serif"/>
                <a:cs typeface="Microsoft Sans Serif"/>
              </a:rPr>
              <a:t>detection.</a:t>
            </a:r>
            <a:r>
              <a:rPr sz="1400" dirty="0">
                <a:solidFill>
                  <a:srgbClr val="666666"/>
                </a:solidFill>
                <a:latin typeface="Microsoft Sans Serif"/>
                <a:cs typeface="Microsoft Sans Serif"/>
              </a:rPr>
              <a:t> </a:t>
            </a:r>
            <a:r>
              <a:rPr sz="1400" spc="-25" dirty="0">
                <a:solidFill>
                  <a:srgbClr val="666666"/>
                </a:solidFill>
                <a:latin typeface="Microsoft Sans Serif"/>
                <a:cs typeface="Microsoft Sans Serif"/>
              </a:rPr>
              <a:t>Target:</a:t>
            </a:r>
            <a:r>
              <a:rPr sz="1400" dirty="0">
                <a:solidFill>
                  <a:srgbClr val="666666"/>
                </a:solidFill>
                <a:latin typeface="Microsoft Sans Serif"/>
                <a:cs typeface="Microsoft Sans Serif"/>
              </a:rPr>
              <a:t> </a:t>
            </a:r>
            <a:r>
              <a:rPr sz="1400" spc="-10" dirty="0">
                <a:solidFill>
                  <a:srgbClr val="666666"/>
                </a:solidFill>
                <a:latin typeface="Microsoft Sans Serif"/>
                <a:cs typeface="Microsoft Sans Serif"/>
              </a:rPr>
              <a:t>greater</a:t>
            </a:r>
            <a:r>
              <a:rPr sz="1400" dirty="0">
                <a:solidFill>
                  <a:srgbClr val="666666"/>
                </a:solidFill>
                <a:latin typeface="Microsoft Sans Serif"/>
                <a:cs typeface="Microsoft Sans Serif"/>
              </a:rPr>
              <a:t> </a:t>
            </a:r>
            <a:r>
              <a:rPr sz="1400" spc="-10" dirty="0">
                <a:solidFill>
                  <a:srgbClr val="666666"/>
                </a:solidFill>
                <a:latin typeface="Microsoft Sans Serif"/>
                <a:cs typeface="Microsoft Sans Serif"/>
              </a:rPr>
              <a:t>than</a:t>
            </a:r>
            <a:r>
              <a:rPr sz="1400" spc="5" dirty="0">
                <a:solidFill>
                  <a:srgbClr val="666666"/>
                </a:solidFill>
                <a:latin typeface="Microsoft Sans Serif"/>
                <a:cs typeface="Microsoft Sans Serif"/>
              </a:rPr>
              <a:t> </a:t>
            </a:r>
            <a:r>
              <a:rPr sz="1400" dirty="0">
                <a:solidFill>
                  <a:srgbClr val="666666"/>
                </a:solidFill>
                <a:latin typeface="Microsoft Sans Serif"/>
                <a:cs typeface="Microsoft Sans Serif"/>
              </a:rPr>
              <a:t>95% </a:t>
            </a:r>
            <a:r>
              <a:rPr sz="1400" spc="-20" dirty="0">
                <a:solidFill>
                  <a:srgbClr val="666666"/>
                </a:solidFill>
                <a:latin typeface="Microsoft Sans Serif"/>
                <a:cs typeface="Microsoft Sans Serif"/>
              </a:rPr>
              <a:t>mAP.</a:t>
            </a:r>
            <a:endParaRPr sz="1400" dirty="0">
              <a:latin typeface="Microsoft Sans Serif"/>
              <a:cs typeface="Microsoft Sans Serif"/>
            </a:endParaRPr>
          </a:p>
          <a:p>
            <a:pPr>
              <a:lnSpc>
                <a:spcPct val="100000"/>
              </a:lnSpc>
              <a:spcBef>
                <a:spcPts val="110"/>
              </a:spcBef>
            </a:pPr>
            <a:endParaRPr sz="1200" dirty="0">
              <a:latin typeface="Microsoft Sans Serif"/>
              <a:cs typeface="Microsoft Sans Serif"/>
            </a:endParaRPr>
          </a:p>
          <a:p>
            <a:pPr marL="12700">
              <a:lnSpc>
                <a:spcPct val="100000"/>
              </a:lnSpc>
            </a:pPr>
            <a:r>
              <a:rPr b="1" spc="-80" dirty="0">
                <a:solidFill>
                  <a:srgbClr val="BF382A"/>
                </a:solidFill>
                <a:latin typeface="Arial"/>
                <a:cs typeface="Arial"/>
              </a:rPr>
              <a:t>Phase</a:t>
            </a:r>
            <a:r>
              <a:rPr b="1" spc="-85" dirty="0">
                <a:solidFill>
                  <a:srgbClr val="BF382A"/>
                </a:solidFill>
                <a:latin typeface="Arial"/>
                <a:cs typeface="Arial"/>
              </a:rPr>
              <a:t> </a:t>
            </a:r>
            <a:r>
              <a:rPr b="1" spc="-60" dirty="0">
                <a:solidFill>
                  <a:srgbClr val="BF382A"/>
                </a:solidFill>
                <a:latin typeface="Arial"/>
                <a:cs typeface="Arial"/>
              </a:rPr>
              <a:t>3:</a:t>
            </a:r>
            <a:r>
              <a:rPr b="1" spc="-80" dirty="0">
                <a:solidFill>
                  <a:srgbClr val="BF382A"/>
                </a:solidFill>
                <a:latin typeface="Arial"/>
                <a:cs typeface="Arial"/>
              </a:rPr>
              <a:t> </a:t>
            </a:r>
            <a:r>
              <a:rPr b="1" spc="-40" dirty="0">
                <a:solidFill>
                  <a:srgbClr val="BF382A"/>
                </a:solidFill>
                <a:latin typeface="Arial"/>
                <a:cs typeface="Arial"/>
              </a:rPr>
              <a:t>Hardware</a:t>
            </a:r>
            <a:r>
              <a:rPr b="1" spc="-85" dirty="0">
                <a:solidFill>
                  <a:srgbClr val="BF382A"/>
                </a:solidFill>
                <a:latin typeface="Arial"/>
                <a:cs typeface="Arial"/>
              </a:rPr>
              <a:t> </a:t>
            </a:r>
            <a:r>
              <a:rPr b="1" spc="-10" dirty="0">
                <a:solidFill>
                  <a:srgbClr val="BF382A"/>
                </a:solidFill>
                <a:latin typeface="Arial"/>
                <a:cs typeface="Arial"/>
              </a:rPr>
              <a:t>Integration</a:t>
            </a:r>
            <a:endParaRPr dirty="0">
              <a:latin typeface="Arial"/>
              <a:cs typeface="Arial"/>
            </a:endParaRPr>
          </a:p>
          <a:p>
            <a:pPr marL="12700">
              <a:lnSpc>
                <a:spcPct val="100000"/>
              </a:lnSpc>
              <a:spcBef>
                <a:spcPts val="465"/>
              </a:spcBef>
            </a:pPr>
            <a:r>
              <a:rPr sz="1400" spc="-20" dirty="0">
                <a:solidFill>
                  <a:srgbClr val="666666"/>
                </a:solidFill>
                <a:latin typeface="Microsoft Sans Serif"/>
                <a:cs typeface="Microsoft Sans Serif"/>
              </a:rPr>
              <a:t>Deploy</a:t>
            </a:r>
            <a:r>
              <a:rPr sz="1400" spc="-25" dirty="0">
                <a:solidFill>
                  <a:srgbClr val="666666"/>
                </a:solidFill>
                <a:latin typeface="Microsoft Sans Serif"/>
                <a:cs typeface="Microsoft Sans Serif"/>
              </a:rPr>
              <a:t> </a:t>
            </a:r>
            <a:r>
              <a:rPr sz="1400" spc="-20" dirty="0">
                <a:solidFill>
                  <a:srgbClr val="666666"/>
                </a:solidFill>
                <a:latin typeface="Microsoft Sans Serif"/>
                <a:cs typeface="Microsoft Sans Serif"/>
              </a:rPr>
              <a:t>and</a:t>
            </a:r>
            <a:r>
              <a:rPr sz="1400" spc="-15" dirty="0">
                <a:solidFill>
                  <a:srgbClr val="666666"/>
                </a:solidFill>
                <a:latin typeface="Microsoft Sans Serif"/>
                <a:cs typeface="Microsoft Sans Serif"/>
              </a:rPr>
              <a:t> </a:t>
            </a:r>
            <a:r>
              <a:rPr sz="1400" spc="-10" dirty="0">
                <a:solidFill>
                  <a:srgbClr val="666666"/>
                </a:solidFill>
                <a:latin typeface="Microsoft Sans Serif"/>
                <a:cs typeface="Microsoft Sans Serif"/>
              </a:rPr>
              <a:t>optimize</a:t>
            </a:r>
            <a:r>
              <a:rPr sz="1400" spc="-15" dirty="0">
                <a:solidFill>
                  <a:srgbClr val="666666"/>
                </a:solidFill>
                <a:latin typeface="Microsoft Sans Serif"/>
                <a:cs typeface="Microsoft Sans Serif"/>
              </a:rPr>
              <a:t> </a:t>
            </a:r>
            <a:r>
              <a:rPr sz="1400" spc="-20" dirty="0">
                <a:solidFill>
                  <a:srgbClr val="666666"/>
                </a:solidFill>
                <a:latin typeface="Microsoft Sans Serif"/>
                <a:cs typeface="Microsoft Sans Serif"/>
              </a:rPr>
              <a:t>models</a:t>
            </a:r>
            <a:r>
              <a:rPr sz="1400" spc="-15" dirty="0">
                <a:solidFill>
                  <a:srgbClr val="666666"/>
                </a:solidFill>
                <a:latin typeface="Microsoft Sans Serif"/>
                <a:cs typeface="Microsoft Sans Serif"/>
              </a:rPr>
              <a:t> </a:t>
            </a:r>
            <a:r>
              <a:rPr sz="1400" dirty="0">
                <a:solidFill>
                  <a:srgbClr val="666666"/>
                </a:solidFill>
                <a:latin typeface="Microsoft Sans Serif"/>
                <a:cs typeface="Microsoft Sans Serif"/>
              </a:rPr>
              <a:t>on</a:t>
            </a:r>
            <a:r>
              <a:rPr sz="1400" spc="-15" dirty="0">
                <a:solidFill>
                  <a:srgbClr val="666666"/>
                </a:solidFill>
                <a:latin typeface="Microsoft Sans Serif"/>
                <a:cs typeface="Microsoft Sans Serif"/>
              </a:rPr>
              <a:t> </a:t>
            </a:r>
            <a:r>
              <a:rPr sz="1400" spc="-20" dirty="0">
                <a:solidFill>
                  <a:srgbClr val="666666"/>
                </a:solidFill>
                <a:latin typeface="Microsoft Sans Serif"/>
                <a:cs typeface="Microsoft Sans Serif"/>
              </a:rPr>
              <a:t>Raspberry</a:t>
            </a:r>
            <a:r>
              <a:rPr sz="1400" spc="-15" dirty="0">
                <a:solidFill>
                  <a:srgbClr val="666666"/>
                </a:solidFill>
                <a:latin typeface="Microsoft Sans Serif"/>
                <a:cs typeface="Microsoft Sans Serif"/>
              </a:rPr>
              <a:t> </a:t>
            </a:r>
            <a:r>
              <a:rPr sz="1400" spc="-50" dirty="0">
                <a:solidFill>
                  <a:srgbClr val="666666"/>
                </a:solidFill>
                <a:latin typeface="Microsoft Sans Serif"/>
                <a:cs typeface="Microsoft Sans Serif"/>
              </a:rPr>
              <a:t>Pi</a:t>
            </a:r>
            <a:r>
              <a:rPr sz="1400" spc="-10" dirty="0">
                <a:solidFill>
                  <a:srgbClr val="666666"/>
                </a:solidFill>
                <a:latin typeface="Microsoft Sans Serif"/>
                <a:cs typeface="Microsoft Sans Serif"/>
              </a:rPr>
              <a:t> </a:t>
            </a:r>
            <a:r>
              <a:rPr sz="1400" dirty="0">
                <a:solidFill>
                  <a:srgbClr val="666666"/>
                </a:solidFill>
                <a:latin typeface="Microsoft Sans Serif"/>
                <a:cs typeface="Microsoft Sans Serif"/>
              </a:rPr>
              <a:t>5</a:t>
            </a:r>
            <a:r>
              <a:rPr sz="1400" spc="-15" dirty="0">
                <a:solidFill>
                  <a:srgbClr val="666666"/>
                </a:solidFill>
                <a:latin typeface="Microsoft Sans Serif"/>
                <a:cs typeface="Microsoft Sans Serif"/>
              </a:rPr>
              <a:t> </a:t>
            </a:r>
            <a:r>
              <a:rPr sz="1400" dirty="0">
                <a:solidFill>
                  <a:srgbClr val="666666"/>
                </a:solidFill>
                <a:latin typeface="Microsoft Sans Serif"/>
                <a:cs typeface="Microsoft Sans Serif"/>
              </a:rPr>
              <a:t>with</a:t>
            </a:r>
            <a:r>
              <a:rPr sz="1400" spc="-15" dirty="0">
                <a:solidFill>
                  <a:srgbClr val="666666"/>
                </a:solidFill>
                <a:latin typeface="Microsoft Sans Serif"/>
                <a:cs typeface="Microsoft Sans Serif"/>
              </a:rPr>
              <a:t> </a:t>
            </a:r>
            <a:r>
              <a:rPr sz="1400" spc="-10" dirty="0">
                <a:solidFill>
                  <a:srgbClr val="666666"/>
                </a:solidFill>
                <a:latin typeface="Microsoft Sans Serif"/>
                <a:cs typeface="Microsoft Sans Serif"/>
              </a:rPr>
              <a:t>Hailo-</a:t>
            </a:r>
            <a:r>
              <a:rPr sz="1400" dirty="0">
                <a:solidFill>
                  <a:srgbClr val="666666"/>
                </a:solidFill>
                <a:latin typeface="Microsoft Sans Serif"/>
                <a:cs typeface="Microsoft Sans Serif"/>
              </a:rPr>
              <a:t>8L</a:t>
            </a:r>
            <a:r>
              <a:rPr sz="1400" spc="-15" dirty="0">
                <a:solidFill>
                  <a:srgbClr val="666666"/>
                </a:solidFill>
                <a:latin typeface="Microsoft Sans Serif"/>
                <a:cs typeface="Microsoft Sans Serif"/>
              </a:rPr>
              <a:t> </a:t>
            </a:r>
            <a:r>
              <a:rPr sz="1400" spc="-20" dirty="0">
                <a:solidFill>
                  <a:srgbClr val="666666"/>
                </a:solidFill>
                <a:latin typeface="Microsoft Sans Serif"/>
                <a:cs typeface="Microsoft Sans Serif"/>
              </a:rPr>
              <a:t>AI</a:t>
            </a:r>
            <a:r>
              <a:rPr sz="1400" spc="-15" dirty="0">
                <a:solidFill>
                  <a:srgbClr val="666666"/>
                </a:solidFill>
                <a:latin typeface="Microsoft Sans Serif"/>
                <a:cs typeface="Microsoft Sans Serif"/>
              </a:rPr>
              <a:t> </a:t>
            </a:r>
            <a:r>
              <a:rPr sz="1400" spc="-60" dirty="0">
                <a:solidFill>
                  <a:srgbClr val="666666"/>
                </a:solidFill>
                <a:latin typeface="Microsoft Sans Serif"/>
                <a:cs typeface="Microsoft Sans Serif"/>
              </a:rPr>
              <a:t>HAT.</a:t>
            </a:r>
            <a:r>
              <a:rPr sz="1400" spc="-10" dirty="0">
                <a:solidFill>
                  <a:srgbClr val="666666"/>
                </a:solidFill>
                <a:latin typeface="Microsoft Sans Serif"/>
                <a:cs typeface="Microsoft Sans Serif"/>
              </a:rPr>
              <a:t> </a:t>
            </a:r>
            <a:r>
              <a:rPr sz="1400" spc="-20" dirty="0">
                <a:solidFill>
                  <a:srgbClr val="666666"/>
                </a:solidFill>
                <a:latin typeface="Microsoft Sans Serif"/>
                <a:cs typeface="Microsoft Sans Serif"/>
              </a:rPr>
              <a:t>Build</a:t>
            </a:r>
            <a:r>
              <a:rPr sz="1400" spc="-15" dirty="0">
                <a:solidFill>
                  <a:srgbClr val="666666"/>
                </a:solidFill>
                <a:latin typeface="Microsoft Sans Serif"/>
                <a:cs typeface="Microsoft Sans Serif"/>
              </a:rPr>
              <a:t> </a:t>
            </a:r>
            <a:r>
              <a:rPr sz="1400" spc="-10" dirty="0">
                <a:solidFill>
                  <a:srgbClr val="666666"/>
                </a:solidFill>
                <a:latin typeface="Microsoft Sans Serif"/>
                <a:cs typeface="Microsoft Sans Serif"/>
              </a:rPr>
              <a:t>custom</a:t>
            </a:r>
            <a:r>
              <a:rPr sz="1400" spc="-15" dirty="0">
                <a:solidFill>
                  <a:srgbClr val="666666"/>
                </a:solidFill>
                <a:latin typeface="Microsoft Sans Serif"/>
                <a:cs typeface="Microsoft Sans Serif"/>
              </a:rPr>
              <a:t> </a:t>
            </a:r>
            <a:r>
              <a:rPr sz="1400" spc="-10" dirty="0">
                <a:solidFill>
                  <a:srgbClr val="666666"/>
                </a:solidFill>
                <a:latin typeface="Microsoft Sans Serif"/>
                <a:cs typeface="Microsoft Sans Serif"/>
              </a:rPr>
              <a:t>enclosure.</a:t>
            </a:r>
            <a:r>
              <a:rPr sz="1400" spc="-15" dirty="0">
                <a:solidFill>
                  <a:srgbClr val="666666"/>
                </a:solidFill>
                <a:latin typeface="Microsoft Sans Serif"/>
                <a:cs typeface="Microsoft Sans Serif"/>
              </a:rPr>
              <a:t> </a:t>
            </a:r>
            <a:r>
              <a:rPr sz="1400" spc="-10" dirty="0">
                <a:solidFill>
                  <a:srgbClr val="666666"/>
                </a:solidFill>
                <a:latin typeface="Microsoft Sans Serif"/>
                <a:cs typeface="Microsoft Sans Serif"/>
              </a:rPr>
              <a:t>Integrate</a:t>
            </a:r>
            <a:r>
              <a:rPr sz="1400" spc="-15" dirty="0">
                <a:solidFill>
                  <a:srgbClr val="666666"/>
                </a:solidFill>
                <a:latin typeface="Microsoft Sans Serif"/>
                <a:cs typeface="Microsoft Sans Serif"/>
              </a:rPr>
              <a:t> </a:t>
            </a:r>
            <a:r>
              <a:rPr sz="1400" dirty="0">
                <a:solidFill>
                  <a:srgbClr val="666666"/>
                </a:solidFill>
                <a:latin typeface="Microsoft Sans Serif"/>
                <a:cs typeface="Microsoft Sans Serif"/>
              </a:rPr>
              <a:t>with</a:t>
            </a:r>
            <a:r>
              <a:rPr sz="1400" spc="-15" dirty="0">
                <a:solidFill>
                  <a:srgbClr val="666666"/>
                </a:solidFill>
                <a:latin typeface="Microsoft Sans Serif"/>
                <a:cs typeface="Microsoft Sans Serif"/>
              </a:rPr>
              <a:t> </a:t>
            </a:r>
            <a:r>
              <a:rPr sz="1400" spc="-20" dirty="0">
                <a:solidFill>
                  <a:srgbClr val="666666"/>
                </a:solidFill>
                <a:latin typeface="Microsoft Sans Serif"/>
                <a:cs typeface="Microsoft Sans Serif"/>
              </a:rPr>
              <a:t>camera</a:t>
            </a:r>
            <a:r>
              <a:rPr sz="1400" spc="-15" dirty="0">
                <a:solidFill>
                  <a:srgbClr val="666666"/>
                </a:solidFill>
                <a:latin typeface="Microsoft Sans Serif"/>
                <a:cs typeface="Microsoft Sans Serif"/>
              </a:rPr>
              <a:t> </a:t>
            </a:r>
            <a:r>
              <a:rPr sz="1400" spc="-20" dirty="0">
                <a:solidFill>
                  <a:srgbClr val="666666"/>
                </a:solidFill>
                <a:latin typeface="Microsoft Sans Serif"/>
                <a:cs typeface="Microsoft Sans Serif"/>
              </a:rPr>
              <a:t>and</a:t>
            </a:r>
            <a:r>
              <a:rPr sz="1400" spc="-15" dirty="0">
                <a:solidFill>
                  <a:srgbClr val="666666"/>
                </a:solidFill>
                <a:latin typeface="Microsoft Sans Serif"/>
                <a:cs typeface="Microsoft Sans Serif"/>
              </a:rPr>
              <a:t> </a:t>
            </a:r>
            <a:r>
              <a:rPr sz="1400" dirty="0">
                <a:solidFill>
                  <a:srgbClr val="666666"/>
                </a:solidFill>
                <a:latin typeface="Microsoft Sans Serif"/>
                <a:cs typeface="Microsoft Sans Serif"/>
              </a:rPr>
              <a:t>flight</a:t>
            </a:r>
            <a:r>
              <a:rPr sz="1400" spc="-15" dirty="0">
                <a:solidFill>
                  <a:srgbClr val="666666"/>
                </a:solidFill>
                <a:latin typeface="Microsoft Sans Serif"/>
                <a:cs typeface="Microsoft Sans Serif"/>
              </a:rPr>
              <a:t> </a:t>
            </a:r>
            <a:r>
              <a:rPr sz="1400" spc="-10" dirty="0">
                <a:solidFill>
                  <a:srgbClr val="666666"/>
                </a:solidFill>
                <a:latin typeface="Microsoft Sans Serif"/>
                <a:cs typeface="Microsoft Sans Serif"/>
              </a:rPr>
              <a:t>controller.</a:t>
            </a:r>
            <a:endParaRPr sz="1400" dirty="0">
              <a:latin typeface="Microsoft Sans Serif"/>
              <a:cs typeface="Microsoft Sans Serif"/>
            </a:endParaRPr>
          </a:p>
          <a:p>
            <a:pPr>
              <a:lnSpc>
                <a:spcPct val="100000"/>
              </a:lnSpc>
              <a:spcBef>
                <a:spcPts val="114"/>
              </a:spcBef>
            </a:pPr>
            <a:endParaRPr sz="1200" dirty="0">
              <a:latin typeface="Microsoft Sans Serif"/>
              <a:cs typeface="Microsoft Sans Serif"/>
            </a:endParaRPr>
          </a:p>
          <a:p>
            <a:pPr marL="12700">
              <a:lnSpc>
                <a:spcPct val="100000"/>
              </a:lnSpc>
            </a:pPr>
            <a:r>
              <a:rPr b="1" spc="-80" dirty="0">
                <a:solidFill>
                  <a:srgbClr val="BF382A"/>
                </a:solidFill>
                <a:latin typeface="Arial"/>
                <a:cs typeface="Arial"/>
              </a:rPr>
              <a:t>Phase </a:t>
            </a:r>
            <a:r>
              <a:rPr b="1" spc="-35" dirty="0">
                <a:solidFill>
                  <a:srgbClr val="BF382A"/>
                </a:solidFill>
                <a:latin typeface="Arial"/>
                <a:cs typeface="Arial"/>
              </a:rPr>
              <a:t>4:</a:t>
            </a:r>
            <a:r>
              <a:rPr b="1" spc="-80" dirty="0">
                <a:solidFill>
                  <a:srgbClr val="BF382A"/>
                </a:solidFill>
                <a:latin typeface="Arial"/>
                <a:cs typeface="Arial"/>
              </a:rPr>
              <a:t> </a:t>
            </a:r>
            <a:r>
              <a:rPr b="1" spc="-90" dirty="0">
                <a:solidFill>
                  <a:srgbClr val="BF382A"/>
                </a:solidFill>
                <a:latin typeface="Arial"/>
                <a:cs typeface="Arial"/>
              </a:rPr>
              <a:t>System</a:t>
            </a:r>
            <a:r>
              <a:rPr b="1" spc="-95" dirty="0">
                <a:solidFill>
                  <a:srgbClr val="BF382A"/>
                </a:solidFill>
                <a:latin typeface="Arial"/>
                <a:cs typeface="Arial"/>
              </a:rPr>
              <a:t> </a:t>
            </a:r>
            <a:r>
              <a:rPr b="1" spc="-10" dirty="0">
                <a:solidFill>
                  <a:srgbClr val="BF382A"/>
                </a:solidFill>
                <a:latin typeface="Arial"/>
                <a:cs typeface="Arial"/>
              </a:rPr>
              <a:t>Testing</a:t>
            </a:r>
            <a:endParaRPr dirty="0">
              <a:latin typeface="Arial"/>
              <a:cs typeface="Arial"/>
            </a:endParaRPr>
          </a:p>
          <a:p>
            <a:pPr marL="12700">
              <a:lnSpc>
                <a:spcPct val="100000"/>
              </a:lnSpc>
              <a:spcBef>
                <a:spcPts val="465"/>
              </a:spcBef>
            </a:pPr>
            <a:r>
              <a:rPr sz="1400" spc="-20" dirty="0">
                <a:solidFill>
                  <a:srgbClr val="666666"/>
                </a:solidFill>
                <a:latin typeface="Microsoft Sans Serif"/>
                <a:cs typeface="Microsoft Sans Serif"/>
              </a:rPr>
              <a:t>End-</a:t>
            </a:r>
            <a:r>
              <a:rPr sz="1400" dirty="0">
                <a:solidFill>
                  <a:srgbClr val="666666"/>
                </a:solidFill>
                <a:latin typeface="Microsoft Sans Serif"/>
                <a:cs typeface="Microsoft Sans Serif"/>
              </a:rPr>
              <a:t>to-</a:t>
            </a:r>
            <a:r>
              <a:rPr sz="1400" spc="-10" dirty="0">
                <a:solidFill>
                  <a:srgbClr val="666666"/>
                </a:solidFill>
                <a:latin typeface="Microsoft Sans Serif"/>
                <a:cs typeface="Microsoft Sans Serif"/>
              </a:rPr>
              <a:t>end</a:t>
            </a:r>
            <a:r>
              <a:rPr sz="1400" dirty="0">
                <a:solidFill>
                  <a:srgbClr val="666666"/>
                </a:solidFill>
                <a:latin typeface="Microsoft Sans Serif"/>
                <a:cs typeface="Microsoft Sans Serif"/>
              </a:rPr>
              <a:t> </a:t>
            </a:r>
            <a:r>
              <a:rPr sz="1400" spc="-10" dirty="0">
                <a:solidFill>
                  <a:srgbClr val="666666"/>
                </a:solidFill>
                <a:latin typeface="Microsoft Sans Serif"/>
                <a:cs typeface="Microsoft Sans Serif"/>
              </a:rPr>
              <a:t>testing</a:t>
            </a:r>
            <a:r>
              <a:rPr sz="1400" spc="5" dirty="0">
                <a:solidFill>
                  <a:srgbClr val="666666"/>
                </a:solidFill>
                <a:latin typeface="Microsoft Sans Serif"/>
                <a:cs typeface="Microsoft Sans Serif"/>
              </a:rPr>
              <a:t> </a:t>
            </a:r>
            <a:r>
              <a:rPr sz="1400" dirty="0">
                <a:solidFill>
                  <a:srgbClr val="666666"/>
                </a:solidFill>
                <a:latin typeface="Microsoft Sans Serif"/>
                <a:cs typeface="Microsoft Sans Serif"/>
              </a:rPr>
              <a:t>in</a:t>
            </a:r>
            <a:r>
              <a:rPr sz="1400" spc="5" dirty="0">
                <a:solidFill>
                  <a:srgbClr val="666666"/>
                </a:solidFill>
                <a:latin typeface="Microsoft Sans Serif"/>
                <a:cs typeface="Microsoft Sans Serif"/>
              </a:rPr>
              <a:t> </a:t>
            </a:r>
            <a:r>
              <a:rPr sz="1400" spc="-20" dirty="0">
                <a:solidFill>
                  <a:srgbClr val="666666"/>
                </a:solidFill>
                <a:latin typeface="Microsoft Sans Serif"/>
                <a:cs typeface="Microsoft Sans Serif"/>
              </a:rPr>
              <a:t>simulated</a:t>
            </a:r>
            <a:r>
              <a:rPr sz="1400" dirty="0">
                <a:solidFill>
                  <a:srgbClr val="666666"/>
                </a:solidFill>
                <a:latin typeface="Microsoft Sans Serif"/>
                <a:cs typeface="Microsoft Sans Serif"/>
              </a:rPr>
              <a:t> </a:t>
            </a:r>
            <a:r>
              <a:rPr sz="1400" spc="-20" dirty="0">
                <a:solidFill>
                  <a:srgbClr val="666666"/>
                </a:solidFill>
                <a:latin typeface="Microsoft Sans Serif"/>
                <a:cs typeface="Microsoft Sans Serif"/>
              </a:rPr>
              <a:t>and</a:t>
            </a:r>
            <a:r>
              <a:rPr sz="1400" spc="5" dirty="0">
                <a:solidFill>
                  <a:srgbClr val="666666"/>
                </a:solidFill>
                <a:latin typeface="Microsoft Sans Serif"/>
                <a:cs typeface="Microsoft Sans Serif"/>
              </a:rPr>
              <a:t> </a:t>
            </a:r>
            <a:r>
              <a:rPr sz="1400" spc="-10" dirty="0">
                <a:solidFill>
                  <a:srgbClr val="666666"/>
                </a:solidFill>
                <a:latin typeface="Microsoft Sans Serif"/>
                <a:cs typeface="Microsoft Sans Serif"/>
              </a:rPr>
              <a:t>controlled</a:t>
            </a:r>
            <a:r>
              <a:rPr sz="1400" spc="5" dirty="0">
                <a:solidFill>
                  <a:srgbClr val="666666"/>
                </a:solidFill>
                <a:latin typeface="Microsoft Sans Serif"/>
                <a:cs typeface="Microsoft Sans Serif"/>
              </a:rPr>
              <a:t> </a:t>
            </a:r>
            <a:r>
              <a:rPr sz="1400" spc="-20" dirty="0">
                <a:solidFill>
                  <a:srgbClr val="666666"/>
                </a:solidFill>
                <a:latin typeface="Microsoft Sans Serif"/>
                <a:cs typeface="Microsoft Sans Serif"/>
              </a:rPr>
              <a:t>environments.</a:t>
            </a:r>
            <a:r>
              <a:rPr sz="1400" dirty="0">
                <a:solidFill>
                  <a:srgbClr val="666666"/>
                </a:solidFill>
                <a:latin typeface="Microsoft Sans Serif"/>
                <a:cs typeface="Microsoft Sans Serif"/>
              </a:rPr>
              <a:t> </a:t>
            </a:r>
            <a:r>
              <a:rPr sz="1400" spc="-30" dirty="0">
                <a:solidFill>
                  <a:srgbClr val="666666"/>
                </a:solidFill>
                <a:latin typeface="Microsoft Sans Serif"/>
                <a:cs typeface="Microsoft Sans Serif"/>
              </a:rPr>
              <a:t>Evaluate</a:t>
            </a:r>
            <a:r>
              <a:rPr sz="1400" spc="5" dirty="0">
                <a:solidFill>
                  <a:srgbClr val="666666"/>
                </a:solidFill>
                <a:latin typeface="Microsoft Sans Serif"/>
                <a:cs typeface="Microsoft Sans Serif"/>
              </a:rPr>
              <a:t> </a:t>
            </a:r>
            <a:r>
              <a:rPr sz="1400" spc="-10" dirty="0">
                <a:solidFill>
                  <a:srgbClr val="666666"/>
                </a:solidFill>
                <a:latin typeface="Microsoft Sans Serif"/>
                <a:cs typeface="Microsoft Sans Serif"/>
              </a:rPr>
              <a:t>robustness</a:t>
            </a:r>
            <a:r>
              <a:rPr sz="1400" spc="5" dirty="0">
                <a:solidFill>
                  <a:srgbClr val="666666"/>
                </a:solidFill>
                <a:latin typeface="Microsoft Sans Serif"/>
                <a:cs typeface="Microsoft Sans Serif"/>
              </a:rPr>
              <a:t> </a:t>
            </a:r>
            <a:r>
              <a:rPr sz="1400" spc="-10" dirty="0">
                <a:solidFill>
                  <a:srgbClr val="666666"/>
                </a:solidFill>
                <a:latin typeface="Microsoft Sans Serif"/>
                <a:cs typeface="Microsoft Sans Serif"/>
              </a:rPr>
              <a:t>under</a:t>
            </a:r>
            <a:r>
              <a:rPr sz="1400" dirty="0">
                <a:solidFill>
                  <a:srgbClr val="666666"/>
                </a:solidFill>
                <a:latin typeface="Microsoft Sans Serif"/>
                <a:cs typeface="Microsoft Sans Serif"/>
              </a:rPr>
              <a:t> </a:t>
            </a:r>
            <a:r>
              <a:rPr sz="1400" spc="-10" dirty="0">
                <a:solidFill>
                  <a:srgbClr val="666666"/>
                </a:solidFill>
                <a:latin typeface="Microsoft Sans Serif"/>
                <a:cs typeface="Microsoft Sans Serif"/>
              </a:rPr>
              <a:t>degraded</a:t>
            </a:r>
            <a:r>
              <a:rPr sz="1400" spc="5" dirty="0">
                <a:solidFill>
                  <a:srgbClr val="666666"/>
                </a:solidFill>
                <a:latin typeface="Microsoft Sans Serif"/>
                <a:cs typeface="Microsoft Sans Serif"/>
              </a:rPr>
              <a:t> </a:t>
            </a:r>
            <a:r>
              <a:rPr sz="1400" spc="-10" dirty="0">
                <a:solidFill>
                  <a:srgbClr val="666666"/>
                </a:solidFill>
                <a:latin typeface="Microsoft Sans Serif"/>
                <a:cs typeface="Microsoft Sans Serif"/>
              </a:rPr>
              <a:t>conditions.</a:t>
            </a:r>
            <a:r>
              <a:rPr sz="1400" spc="5" dirty="0">
                <a:solidFill>
                  <a:srgbClr val="666666"/>
                </a:solidFill>
                <a:latin typeface="Microsoft Sans Serif"/>
                <a:cs typeface="Microsoft Sans Serif"/>
              </a:rPr>
              <a:t> </a:t>
            </a:r>
            <a:r>
              <a:rPr sz="1400" spc="-20" dirty="0">
                <a:solidFill>
                  <a:srgbClr val="666666"/>
                </a:solidFill>
                <a:latin typeface="Microsoft Sans Serif"/>
                <a:cs typeface="Microsoft Sans Serif"/>
              </a:rPr>
              <a:t>Document</a:t>
            </a:r>
            <a:r>
              <a:rPr sz="1400" dirty="0">
                <a:solidFill>
                  <a:srgbClr val="666666"/>
                </a:solidFill>
                <a:latin typeface="Microsoft Sans Serif"/>
                <a:cs typeface="Microsoft Sans Serif"/>
              </a:rPr>
              <a:t> </a:t>
            </a:r>
            <a:r>
              <a:rPr sz="1400" spc="-10" dirty="0">
                <a:solidFill>
                  <a:srgbClr val="666666"/>
                </a:solidFill>
                <a:latin typeface="Microsoft Sans Serif"/>
                <a:cs typeface="Microsoft Sans Serif"/>
              </a:rPr>
              <a:t>performance</a:t>
            </a:r>
            <a:r>
              <a:rPr sz="1400" spc="5" dirty="0">
                <a:solidFill>
                  <a:srgbClr val="666666"/>
                </a:solidFill>
                <a:latin typeface="Microsoft Sans Serif"/>
                <a:cs typeface="Microsoft Sans Serif"/>
              </a:rPr>
              <a:t> </a:t>
            </a:r>
            <a:r>
              <a:rPr sz="1400" spc="-10" dirty="0">
                <a:solidFill>
                  <a:srgbClr val="666666"/>
                </a:solidFill>
                <a:latin typeface="Microsoft Sans Serif"/>
                <a:cs typeface="Microsoft Sans Serif"/>
              </a:rPr>
              <a:t>metrics.</a:t>
            </a:r>
            <a:endParaRPr sz="1400" dirty="0">
              <a:latin typeface="Microsoft Sans Serif"/>
              <a:cs typeface="Microsoft Sans Serif"/>
            </a:endParaRPr>
          </a:p>
          <a:p>
            <a:pPr>
              <a:lnSpc>
                <a:spcPct val="100000"/>
              </a:lnSpc>
              <a:spcBef>
                <a:spcPts val="114"/>
              </a:spcBef>
            </a:pPr>
            <a:endParaRPr sz="1200" dirty="0">
              <a:latin typeface="Microsoft Sans Serif"/>
              <a:cs typeface="Microsoft Sans Serif"/>
            </a:endParaRPr>
          </a:p>
          <a:p>
            <a:pPr marL="12700">
              <a:lnSpc>
                <a:spcPct val="100000"/>
              </a:lnSpc>
            </a:pPr>
            <a:r>
              <a:rPr b="1" spc="-80" dirty="0">
                <a:solidFill>
                  <a:srgbClr val="BF382A"/>
                </a:solidFill>
                <a:latin typeface="Arial"/>
                <a:cs typeface="Arial"/>
              </a:rPr>
              <a:t>Phase</a:t>
            </a:r>
            <a:r>
              <a:rPr b="1" spc="-75" dirty="0">
                <a:solidFill>
                  <a:srgbClr val="BF382A"/>
                </a:solidFill>
                <a:latin typeface="Arial"/>
                <a:cs typeface="Arial"/>
              </a:rPr>
              <a:t> </a:t>
            </a:r>
            <a:r>
              <a:rPr b="1" spc="-60" dirty="0">
                <a:solidFill>
                  <a:srgbClr val="BF382A"/>
                </a:solidFill>
                <a:latin typeface="Arial"/>
                <a:cs typeface="Arial"/>
              </a:rPr>
              <a:t>5:</a:t>
            </a:r>
            <a:r>
              <a:rPr b="1" spc="-70" dirty="0">
                <a:solidFill>
                  <a:srgbClr val="BF382A"/>
                </a:solidFill>
                <a:latin typeface="Arial"/>
                <a:cs typeface="Arial"/>
              </a:rPr>
              <a:t> </a:t>
            </a:r>
            <a:r>
              <a:rPr b="1" spc="-50" dirty="0">
                <a:solidFill>
                  <a:srgbClr val="BF382A"/>
                </a:solidFill>
                <a:latin typeface="Arial"/>
                <a:cs typeface="Arial"/>
              </a:rPr>
              <a:t>Validation</a:t>
            </a:r>
            <a:r>
              <a:rPr b="1" spc="-70" dirty="0">
                <a:solidFill>
                  <a:srgbClr val="BF382A"/>
                </a:solidFill>
                <a:latin typeface="Arial"/>
                <a:cs typeface="Arial"/>
              </a:rPr>
              <a:t> </a:t>
            </a:r>
            <a:r>
              <a:rPr b="1" spc="-55" dirty="0">
                <a:solidFill>
                  <a:srgbClr val="BF382A"/>
                </a:solidFill>
                <a:latin typeface="Arial"/>
                <a:cs typeface="Arial"/>
              </a:rPr>
              <a:t>and</a:t>
            </a:r>
            <a:r>
              <a:rPr b="1" spc="-70" dirty="0">
                <a:solidFill>
                  <a:srgbClr val="BF382A"/>
                </a:solidFill>
                <a:latin typeface="Arial"/>
                <a:cs typeface="Arial"/>
              </a:rPr>
              <a:t> </a:t>
            </a:r>
            <a:r>
              <a:rPr b="1" spc="-10" dirty="0">
                <a:solidFill>
                  <a:srgbClr val="BF382A"/>
                </a:solidFill>
                <a:latin typeface="Arial"/>
                <a:cs typeface="Arial"/>
              </a:rPr>
              <a:t>Documentation</a:t>
            </a:r>
            <a:endParaRPr dirty="0">
              <a:latin typeface="Arial"/>
              <a:cs typeface="Arial"/>
            </a:endParaRPr>
          </a:p>
          <a:p>
            <a:pPr marL="12700">
              <a:lnSpc>
                <a:spcPct val="100000"/>
              </a:lnSpc>
              <a:spcBef>
                <a:spcPts val="465"/>
              </a:spcBef>
            </a:pPr>
            <a:r>
              <a:rPr sz="1400" spc="-20" dirty="0">
                <a:solidFill>
                  <a:srgbClr val="666666"/>
                </a:solidFill>
                <a:latin typeface="Microsoft Sans Serif"/>
                <a:cs typeface="Microsoft Sans Serif"/>
              </a:rPr>
              <a:t>System</a:t>
            </a:r>
            <a:r>
              <a:rPr sz="1400" spc="-10" dirty="0">
                <a:solidFill>
                  <a:srgbClr val="666666"/>
                </a:solidFill>
                <a:latin typeface="Microsoft Sans Serif"/>
                <a:cs typeface="Microsoft Sans Serif"/>
              </a:rPr>
              <a:t> </a:t>
            </a:r>
            <a:r>
              <a:rPr sz="1400" spc="-20" dirty="0">
                <a:solidFill>
                  <a:srgbClr val="666666"/>
                </a:solidFill>
                <a:latin typeface="Microsoft Sans Serif"/>
                <a:cs typeface="Microsoft Sans Serif"/>
              </a:rPr>
              <a:t>validation</a:t>
            </a:r>
            <a:r>
              <a:rPr sz="1400" spc="-5" dirty="0">
                <a:solidFill>
                  <a:srgbClr val="666666"/>
                </a:solidFill>
                <a:latin typeface="Microsoft Sans Serif"/>
                <a:cs typeface="Microsoft Sans Serif"/>
              </a:rPr>
              <a:t> </a:t>
            </a:r>
            <a:r>
              <a:rPr sz="1400" dirty="0">
                <a:solidFill>
                  <a:srgbClr val="666666"/>
                </a:solidFill>
                <a:latin typeface="Microsoft Sans Serif"/>
                <a:cs typeface="Microsoft Sans Serif"/>
              </a:rPr>
              <a:t>with</a:t>
            </a:r>
            <a:r>
              <a:rPr sz="1400" spc="-10" dirty="0">
                <a:solidFill>
                  <a:srgbClr val="666666"/>
                </a:solidFill>
                <a:latin typeface="Microsoft Sans Serif"/>
                <a:cs typeface="Microsoft Sans Serif"/>
              </a:rPr>
              <a:t> </a:t>
            </a:r>
            <a:r>
              <a:rPr sz="1400" dirty="0">
                <a:solidFill>
                  <a:srgbClr val="666666"/>
                </a:solidFill>
                <a:latin typeface="Microsoft Sans Serif"/>
                <a:cs typeface="Microsoft Sans Serif"/>
              </a:rPr>
              <a:t>proof</a:t>
            </a:r>
            <a:r>
              <a:rPr sz="1400" spc="-5" dirty="0">
                <a:solidFill>
                  <a:srgbClr val="666666"/>
                </a:solidFill>
                <a:latin typeface="Microsoft Sans Serif"/>
                <a:cs typeface="Microsoft Sans Serif"/>
              </a:rPr>
              <a:t> </a:t>
            </a:r>
            <a:r>
              <a:rPr sz="1400" dirty="0">
                <a:solidFill>
                  <a:srgbClr val="666666"/>
                </a:solidFill>
                <a:latin typeface="Microsoft Sans Serif"/>
                <a:cs typeface="Microsoft Sans Serif"/>
              </a:rPr>
              <a:t>of</a:t>
            </a:r>
            <a:r>
              <a:rPr sz="1400" spc="-10" dirty="0">
                <a:solidFill>
                  <a:srgbClr val="666666"/>
                </a:solidFill>
                <a:latin typeface="Microsoft Sans Serif"/>
                <a:cs typeface="Microsoft Sans Serif"/>
              </a:rPr>
              <a:t> </a:t>
            </a:r>
            <a:r>
              <a:rPr sz="1400" dirty="0">
                <a:solidFill>
                  <a:srgbClr val="666666"/>
                </a:solidFill>
                <a:latin typeface="Microsoft Sans Serif"/>
                <a:cs typeface="Microsoft Sans Serif"/>
              </a:rPr>
              <a:t>concept.</a:t>
            </a:r>
            <a:r>
              <a:rPr sz="1400" spc="-5" dirty="0">
                <a:solidFill>
                  <a:srgbClr val="666666"/>
                </a:solidFill>
                <a:latin typeface="Microsoft Sans Serif"/>
                <a:cs typeface="Microsoft Sans Serif"/>
              </a:rPr>
              <a:t> </a:t>
            </a:r>
            <a:r>
              <a:rPr sz="1400" spc="-25" dirty="0">
                <a:solidFill>
                  <a:srgbClr val="666666"/>
                </a:solidFill>
                <a:latin typeface="Microsoft Sans Serif"/>
                <a:cs typeface="Microsoft Sans Serif"/>
              </a:rPr>
              <a:t>Prepare</a:t>
            </a:r>
            <a:r>
              <a:rPr sz="1400" spc="-10" dirty="0">
                <a:solidFill>
                  <a:srgbClr val="666666"/>
                </a:solidFill>
                <a:latin typeface="Microsoft Sans Serif"/>
                <a:cs typeface="Microsoft Sans Serif"/>
              </a:rPr>
              <a:t> </a:t>
            </a:r>
            <a:r>
              <a:rPr sz="1400" dirty="0">
                <a:solidFill>
                  <a:srgbClr val="666666"/>
                </a:solidFill>
                <a:latin typeface="Microsoft Sans Serif"/>
                <a:cs typeface="Microsoft Sans Serif"/>
              </a:rPr>
              <a:t>final</a:t>
            </a:r>
            <a:r>
              <a:rPr sz="1400" spc="-5" dirty="0">
                <a:solidFill>
                  <a:srgbClr val="666666"/>
                </a:solidFill>
                <a:latin typeface="Microsoft Sans Serif"/>
                <a:cs typeface="Microsoft Sans Serif"/>
              </a:rPr>
              <a:t> </a:t>
            </a:r>
            <a:r>
              <a:rPr sz="1400" dirty="0">
                <a:solidFill>
                  <a:srgbClr val="666666"/>
                </a:solidFill>
                <a:latin typeface="Microsoft Sans Serif"/>
                <a:cs typeface="Microsoft Sans Serif"/>
              </a:rPr>
              <a:t>report,</a:t>
            </a:r>
            <a:r>
              <a:rPr sz="1400" spc="-10" dirty="0">
                <a:solidFill>
                  <a:srgbClr val="666666"/>
                </a:solidFill>
                <a:latin typeface="Microsoft Sans Serif"/>
                <a:cs typeface="Microsoft Sans Serif"/>
              </a:rPr>
              <a:t> </a:t>
            </a:r>
            <a:r>
              <a:rPr sz="1400" spc="-20" dirty="0">
                <a:solidFill>
                  <a:srgbClr val="666666"/>
                </a:solidFill>
                <a:latin typeface="Microsoft Sans Serif"/>
                <a:cs typeface="Microsoft Sans Serif"/>
              </a:rPr>
              <a:t>presentation,</a:t>
            </a:r>
            <a:r>
              <a:rPr sz="1400" spc="-5" dirty="0">
                <a:solidFill>
                  <a:srgbClr val="666666"/>
                </a:solidFill>
                <a:latin typeface="Microsoft Sans Serif"/>
                <a:cs typeface="Microsoft Sans Serif"/>
              </a:rPr>
              <a:t> </a:t>
            </a:r>
            <a:r>
              <a:rPr sz="1400" spc="-20" dirty="0">
                <a:solidFill>
                  <a:srgbClr val="666666"/>
                </a:solidFill>
                <a:latin typeface="Microsoft Sans Serif"/>
                <a:cs typeface="Microsoft Sans Serif"/>
              </a:rPr>
              <a:t>and</a:t>
            </a:r>
            <a:r>
              <a:rPr sz="1400" spc="-10" dirty="0">
                <a:solidFill>
                  <a:srgbClr val="666666"/>
                </a:solidFill>
                <a:latin typeface="Microsoft Sans Serif"/>
                <a:cs typeface="Microsoft Sans Serif"/>
              </a:rPr>
              <a:t> </a:t>
            </a:r>
            <a:r>
              <a:rPr sz="1400" dirty="0">
                <a:solidFill>
                  <a:srgbClr val="666666"/>
                </a:solidFill>
                <a:latin typeface="Microsoft Sans Serif"/>
                <a:cs typeface="Microsoft Sans Serif"/>
              </a:rPr>
              <a:t>software</a:t>
            </a:r>
            <a:r>
              <a:rPr sz="1400" spc="-5" dirty="0">
                <a:solidFill>
                  <a:srgbClr val="666666"/>
                </a:solidFill>
                <a:latin typeface="Microsoft Sans Serif"/>
                <a:cs typeface="Microsoft Sans Serif"/>
              </a:rPr>
              <a:t> </a:t>
            </a:r>
            <a:r>
              <a:rPr sz="1400" dirty="0">
                <a:solidFill>
                  <a:srgbClr val="666666"/>
                </a:solidFill>
                <a:latin typeface="Microsoft Sans Serif"/>
                <a:cs typeface="Microsoft Sans Serif"/>
              </a:rPr>
              <a:t>repository</a:t>
            </a:r>
            <a:r>
              <a:rPr sz="1400" spc="-10" dirty="0">
                <a:solidFill>
                  <a:srgbClr val="666666"/>
                </a:solidFill>
                <a:latin typeface="Microsoft Sans Serif"/>
                <a:cs typeface="Microsoft Sans Serif"/>
              </a:rPr>
              <a:t> </a:t>
            </a:r>
            <a:r>
              <a:rPr sz="1400" dirty="0">
                <a:solidFill>
                  <a:srgbClr val="666666"/>
                </a:solidFill>
                <a:latin typeface="Microsoft Sans Serif"/>
                <a:cs typeface="Microsoft Sans Serif"/>
              </a:rPr>
              <a:t>for</a:t>
            </a:r>
            <a:r>
              <a:rPr sz="1400" spc="-5" dirty="0">
                <a:solidFill>
                  <a:srgbClr val="666666"/>
                </a:solidFill>
                <a:latin typeface="Microsoft Sans Serif"/>
                <a:cs typeface="Microsoft Sans Serif"/>
              </a:rPr>
              <a:t> </a:t>
            </a:r>
            <a:r>
              <a:rPr sz="1400" spc="-10" dirty="0">
                <a:solidFill>
                  <a:srgbClr val="666666"/>
                </a:solidFill>
                <a:latin typeface="Microsoft Sans Serif"/>
                <a:cs typeface="Microsoft Sans Serif"/>
              </a:rPr>
              <a:t>delivery.</a:t>
            </a:r>
            <a:endParaRPr sz="1400" dirty="0">
              <a:latin typeface="Microsoft Sans Serif"/>
              <a:cs typeface="Microsoft Sans Serif"/>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7265670">
              <a:lnSpc>
                <a:spcPct val="100000"/>
              </a:lnSpc>
              <a:spcBef>
                <a:spcPts val="100"/>
              </a:spcBef>
            </a:pPr>
            <a:r>
              <a:rPr spc="360" dirty="0"/>
              <a:t>09</a:t>
            </a:r>
          </a:p>
        </p:txBody>
      </p:sp>
      <p:sp>
        <p:nvSpPr>
          <p:cNvPr id="3" name="object 3"/>
          <p:cNvSpPr txBox="1"/>
          <p:nvPr/>
        </p:nvSpPr>
        <p:spPr>
          <a:xfrm>
            <a:off x="1833810" y="3348588"/>
            <a:ext cx="7028815" cy="1017269"/>
          </a:xfrm>
          <a:prstGeom prst="rect">
            <a:avLst/>
          </a:prstGeom>
        </p:spPr>
        <p:txBody>
          <a:bodyPr vert="horz" wrap="square" lIns="0" tIns="13335" rIns="0" bIns="0" rtlCol="0">
            <a:spAutoFit/>
          </a:bodyPr>
          <a:lstStyle/>
          <a:p>
            <a:pPr algn="ctr">
              <a:lnSpc>
                <a:spcPct val="100000"/>
              </a:lnSpc>
              <a:spcBef>
                <a:spcPts val="105"/>
              </a:spcBef>
            </a:pPr>
            <a:r>
              <a:rPr sz="3900" b="1" spc="-315" dirty="0">
                <a:solidFill>
                  <a:srgbClr val="FFFFFF"/>
                </a:solidFill>
                <a:latin typeface="Arial"/>
                <a:cs typeface="Arial"/>
              </a:rPr>
              <a:t>Tools,</a:t>
            </a:r>
            <a:r>
              <a:rPr sz="3900" b="1" spc="-365" dirty="0">
                <a:solidFill>
                  <a:srgbClr val="FFFFFF"/>
                </a:solidFill>
                <a:latin typeface="Arial"/>
                <a:cs typeface="Arial"/>
              </a:rPr>
              <a:t> </a:t>
            </a:r>
            <a:r>
              <a:rPr sz="3900" b="1" spc="-240" dirty="0">
                <a:solidFill>
                  <a:srgbClr val="FFFFFF"/>
                </a:solidFill>
                <a:latin typeface="Arial"/>
                <a:cs typeface="Arial"/>
              </a:rPr>
              <a:t>Frameworks</a:t>
            </a:r>
            <a:r>
              <a:rPr sz="3900" b="1" spc="-360" dirty="0">
                <a:solidFill>
                  <a:srgbClr val="FFFFFF"/>
                </a:solidFill>
                <a:latin typeface="Arial"/>
                <a:cs typeface="Arial"/>
              </a:rPr>
              <a:t> </a:t>
            </a:r>
            <a:r>
              <a:rPr sz="3900" b="1" spc="-220" dirty="0">
                <a:solidFill>
                  <a:srgbClr val="FFFFFF"/>
                </a:solidFill>
                <a:latin typeface="Arial"/>
                <a:cs typeface="Arial"/>
              </a:rPr>
              <a:t>and</a:t>
            </a:r>
            <a:r>
              <a:rPr sz="3900" b="1" spc="-470" dirty="0">
                <a:solidFill>
                  <a:srgbClr val="FFFFFF"/>
                </a:solidFill>
                <a:latin typeface="Arial"/>
                <a:cs typeface="Arial"/>
              </a:rPr>
              <a:t> </a:t>
            </a:r>
            <a:r>
              <a:rPr sz="3900" b="1" spc="-195" dirty="0">
                <a:solidFill>
                  <a:srgbClr val="FFFFFF"/>
                </a:solidFill>
                <a:latin typeface="Arial"/>
                <a:cs typeface="Arial"/>
              </a:rPr>
              <a:t>Approach</a:t>
            </a:r>
            <a:endParaRPr sz="3900">
              <a:latin typeface="Arial"/>
              <a:cs typeface="Arial"/>
            </a:endParaRPr>
          </a:p>
          <a:p>
            <a:pPr algn="ctr">
              <a:lnSpc>
                <a:spcPct val="100000"/>
              </a:lnSpc>
              <a:spcBef>
                <a:spcPts val="1320"/>
              </a:spcBef>
            </a:pPr>
            <a:r>
              <a:rPr sz="1500" spc="-35" dirty="0">
                <a:solidFill>
                  <a:srgbClr val="FFFFFF"/>
                </a:solidFill>
                <a:latin typeface="Microsoft Sans Serif"/>
                <a:cs typeface="Microsoft Sans Serif"/>
              </a:rPr>
              <a:t>Technology</a:t>
            </a:r>
            <a:r>
              <a:rPr sz="1500" spc="-45" dirty="0">
                <a:solidFill>
                  <a:srgbClr val="FFFFFF"/>
                </a:solidFill>
                <a:latin typeface="Microsoft Sans Serif"/>
                <a:cs typeface="Microsoft Sans Serif"/>
              </a:rPr>
              <a:t> </a:t>
            </a:r>
            <a:r>
              <a:rPr sz="1500" spc="-10" dirty="0">
                <a:solidFill>
                  <a:srgbClr val="FFFFFF"/>
                </a:solidFill>
                <a:latin typeface="Microsoft Sans Serif"/>
                <a:cs typeface="Microsoft Sans Serif"/>
              </a:rPr>
              <a:t>stack</a:t>
            </a:r>
            <a:r>
              <a:rPr sz="1500" spc="-45" dirty="0">
                <a:solidFill>
                  <a:srgbClr val="FFFFFF"/>
                </a:solidFill>
                <a:latin typeface="Microsoft Sans Serif"/>
                <a:cs typeface="Microsoft Sans Serif"/>
              </a:rPr>
              <a:t> </a:t>
            </a:r>
            <a:r>
              <a:rPr sz="1500" spc="-35" dirty="0">
                <a:solidFill>
                  <a:srgbClr val="FFFFFF"/>
                </a:solidFill>
                <a:latin typeface="Microsoft Sans Serif"/>
                <a:cs typeface="Microsoft Sans Serif"/>
              </a:rPr>
              <a:t>and</a:t>
            </a:r>
            <a:r>
              <a:rPr sz="1500" spc="-45" dirty="0">
                <a:solidFill>
                  <a:srgbClr val="FFFFFF"/>
                </a:solidFill>
                <a:latin typeface="Microsoft Sans Serif"/>
                <a:cs typeface="Microsoft Sans Serif"/>
              </a:rPr>
              <a:t> </a:t>
            </a:r>
            <a:r>
              <a:rPr sz="1500" spc="-10" dirty="0">
                <a:solidFill>
                  <a:srgbClr val="FFFFFF"/>
                </a:solidFill>
                <a:latin typeface="Microsoft Sans Serif"/>
                <a:cs typeface="Microsoft Sans Serif"/>
              </a:rPr>
              <a:t>implementation</a:t>
            </a:r>
            <a:endParaRPr sz="1500">
              <a:latin typeface="Microsoft Sans Serif"/>
              <a:cs typeface="Microsoft Sans Serif"/>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79896" y="962025"/>
            <a:ext cx="209550" cy="187325"/>
          </a:xfrm>
          <a:prstGeom prst="rect">
            <a:avLst/>
          </a:prstGeom>
        </p:spPr>
      </p:pic>
      <p:sp>
        <p:nvSpPr>
          <p:cNvPr id="3" name="object 3"/>
          <p:cNvSpPr txBox="1">
            <a:spLocks noGrp="1"/>
          </p:cNvSpPr>
          <p:nvPr>
            <p:ph type="title"/>
          </p:nvPr>
        </p:nvSpPr>
        <p:spPr>
          <a:xfrm>
            <a:off x="1371996" y="883762"/>
            <a:ext cx="3235325" cy="298450"/>
          </a:xfrm>
          <a:prstGeom prst="rect">
            <a:avLst/>
          </a:prstGeom>
        </p:spPr>
        <p:txBody>
          <a:bodyPr vert="horz" wrap="square" lIns="0" tIns="11430" rIns="0" bIns="0" rtlCol="0">
            <a:spAutoFit/>
          </a:bodyPr>
          <a:lstStyle/>
          <a:p>
            <a:pPr marL="12700">
              <a:lnSpc>
                <a:spcPct val="100000"/>
              </a:lnSpc>
              <a:spcBef>
                <a:spcPts val="90"/>
              </a:spcBef>
            </a:pPr>
            <a:r>
              <a:rPr sz="1800" spc="-160" dirty="0">
                <a:solidFill>
                  <a:srgbClr val="BF382A"/>
                </a:solidFill>
              </a:rPr>
              <a:t>Tools,</a:t>
            </a:r>
            <a:r>
              <a:rPr sz="1800" spc="-145" dirty="0">
                <a:solidFill>
                  <a:srgbClr val="BF382A"/>
                </a:solidFill>
              </a:rPr>
              <a:t> </a:t>
            </a:r>
            <a:r>
              <a:rPr sz="1800" spc="-120" dirty="0">
                <a:solidFill>
                  <a:srgbClr val="BF382A"/>
                </a:solidFill>
              </a:rPr>
              <a:t>Frameworks</a:t>
            </a:r>
            <a:r>
              <a:rPr sz="1800" spc="-140" dirty="0">
                <a:solidFill>
                  <a:srgbClr val="BF382A"/>
                </a:solidFill>
              </a:rPr>
              <a:t> </a:t>
            </a:r>
            <a:r>
              <a:rPr sz="1800" spc="-110" dirty="0">
                <a:solidFill>
                  <a:srgbClr val="BF382A"/>
                </a:solidFill>
              </a:rPr>
              <a:t>and</a:t>
            </a:r>
            <a:r>
              <a:rPr sz="1800" spc="-195" dirty="0">
                <a:solidFill>
                  <a:srgbClr val="BF382A"/>
                </a:solidFill>
              </a:rPr>
              <a:t> </a:t>
            </a:r>
            <a:r>
              <a:rPr sz="1800" spc="-95" dirty="0">
                <a:solidFill>
                  <a:srgbClr val="BF382A"/>
                </a:solidFill>
              </a:rPr>
              <a:t>Approach</a:t>
            </a:r>
            <a:endParaRPr sz="1800"/>
          </a:p>
        </p:txBody>
      </p:sp>
      <p:sp>
        <p:nvSpPr>
          <p:cNvPr id="32" name="object 32"/>
          <p:cNvSpPr/>
          <p:nvPr/>
        </p:nvSpPr>
        <p:spPr>
          <a:xfrm>
            <a:off x="1076324" y="6515093"/>
            <a:ext cx="8543925" cy="9525"/>
          </a:xfrm>
          <a:custGeom>
            <a:avLst/>
            <a:gdLst/>
            <a:ahLst/>
            <a:cxnLst/>
            <a:rect l="l" t="t" r="r" b="b"/>
            <a:pathLst>
              <a:path w="8543925" h="9525">
                <a:moveTo>
                  <a:pt x="8543924" y="9524"/>
                </a:moveTo>
                <a:lnTo>
                  <a:pt x="0" y="9524"/>
                </a:lnTo>
                <a:lnTo>
                  <a:pt x="0" y="0"/>
                </a:lnTo>
                <a:lnTo>
                  <a:pt x="8543924" y="0"/>
                </a:lnTo>
                <a:lnTo>
                  <a:pt x="8543924" y="9524"/>
                </a:lnTo>
                <a:close/>
              </a:path>
            </a:pathLst>
          </a:custGeom>
          <a:solidFill>
            <a:srgbClr val="EDEDED"/>
          </a:solidFill>
        </p:spPr>
        <p:txBody>
          <a:bodyPr wrap="square" lIns="0" tIns="0" rIns="0" bIns="0" rtlCol="0"/>
          <a:lstStyle/>
          <a:p>
            <a:endParaRPr/>
          </a:p>
        </p:txBody>
      </p:sp>
      <p:sp>
        <p:nvSpPr>
          <p:cNvPr id="33" name="object 33"/>
          <p:cNvSpPr txBox="1"/>
          <p:nvPr/>
        </p:nvSpPr>
        <p:spPr>
          <a:xfrm>
            <a:off x="1067196" y="6601817"/>
            <a:ext cx="1574800" cy="158115"/>
          </a:xfrm>
          <a:prstGeom prst="rect">
            <a:avLst/>
          </a:prstGeom>
        </p:spPr>
        <p:txBody>
          <a:bodyPr vert="horz" wrap="square" lIns="0" tIns="14604" rIns="0" bIns="0" rtlCol="0">
            <a:spAutoFit/>
          </a:bodyPr>
          <a:lstStyle/>
          <a:p>
            <a:pPr marL="12700">
              <a:lnSpc>
                <a:spcPct val="100000"/>
              </a:lnSpc>
              <a:spcBef>
                <a:spcPts val="114"/>
              </a:spcBef>
            </a:pPr>
            <a:r>
              <a:rPr sz="800" spc="-20" dirty="0">
                <a:solidFill>
                  <a:srgbClr val="878787"/>
                </a:solidFill>
                <a:latin typeface="Microsoft Sans Serif"/>
                <a:cs typeface="Microsoft Sans Serif"/>
              </a:rPr>
              <a:t>GoldenEye </a:t>
            </a:r>
            <a:r>
              <a:rPr sz="850" spc="-45" dirty="0">
                <a:solidFill>
                  <a:srgbClr val="878787"/>
                </a:solidFill>
                <a:latin typeface="Verdana"/>
                <a:cs typeface="Verdana"/>
              </a:rPr>
              <a:t>-</a:t>
            </a:r>
            <a:r>
              <a:rPr sz="850" spc="-90" dirty="0">
                <a:solidFill>
                  <a:srgbClr val="878787"/>
                </a:solidFill>
                <a:latin typeface="Verdana"/>
                <a:cs typeface="Verdana"/>
              </a:rPr>
              <a:t> </a:t>
            </a:r>
            <a:r>
              <a:rPr sz="800" dirty="0">
                <a:solidFill>
                  <a:srgbClr val="878787"/>
                </a:solidFill>
                <a:latin typeface="Microsoft Sans Serif"/>
                <a:cs typeface="Microsoft Sans Serif"/>
              </a:rPr>
              <a:t>AI</a:t>
            </a:r>
            <a:r>
              <a:rPr sz="800" spc="-10" dirty="0">
                <a:solidFill>
                  <a:srgbClr val="878787"/>
                </a:solidFill>
                <a:latin typeface="Microsoft Sans Serif"/>
                <a:cs typeface="Microsoft Sans Serif"/>
              </a:rPr>
              <a:t> </a:t>
            </a:r>
            <a:r>
              <a:rPr sz="800" spc="-55" dirty="0">
                <a:solidFill>
                  <a:srgbClr val="878787"/>
                </a:solidFill>
                <a:latin typeface="Microsoft Sans Serif"/>
                <a:cs typeface="Microsoft Sans Serif"/>
              </a:rPr>
              <a:t>SAR</a:t>
            </a:r>
            <a:r>
              <a:rPr sz="800" spc="-5" dirty="0">
                <a:solidFill>
                  <a:srgbClr val="878787"/>
                </a:solidFill>
                <a:latin typeface="Microsoft Sans Serif"/>
                <a:cs typeface="Microsoft Sans Serif"/>
              </a:rPr>
              <a:t> </a:t>
            </a:r>
            <a:r>
              <a:rPr sz="800" dirty="0">
                <a:solidFill>
                  <a:srgbClr val="878787"/>
                </a:solidFill>
                <a:latin typeface="Microsoft Sans Serif"/>
                <a:cs typeface="Microsoft Sans Serif"/>
              </a:rPr>
              <a:t>Drone</a:t>
            </a:r>
            <a:r>
              <a:rPr sz="800" spc="-10" dirty="0">
                <a:solidFill>
                  <a:srgbClr val="878787"/>
                </a:solidFill>
                <a:latin typeface="Microsoft Sans Serif"/>
                <a:cs typeface="Microsoft Sans Serif"/>
              </a:rPr>
              <a:t> System</a:t>
            </a:r>
            <a:endParaRPr sz="800">
              <a:latin typeface="Microsoft Sans Serif"/>
              <a:cs typeface="Microsoft Sans Serif"/>
            </a:endParaRPr>
          </a:p>
        </p:txBody>
      </p:sp>
      <p:pic>
        <p:nvPicPr>
          <p:cNvPr id="34" name="object 34"/>
          <p:cNvPicPr/>
          <p:nvPr/>
        </p:nvPicPr>
        <p:blipFill>
          <a:blip r:embed="rId3" cstate="print"/>
          <a:stretch>
            <a:fillRect/>
          </a:stretch>
        </p:blipFill>
        <p:spPr>
          <a:xfrm>
            <a:off x="9410699" y="6619868"/>
            <a:ext cx="209549" cy="209549"/>
          </a:xfrm>
          <a:prstGeom prst="rect">
            <a:avLst/>
          </a:prstGeom>
        </p:spPr>
      </p:pic>
      <p:sp>
        <p:nvSpPr>
          <p:cNvPr id="35" name="object 35"/>
          <p:cNvSpPr txBox="1"/>
          <p:nvPr/>
        </p:nvSpPr>
        <p:spPr>
          <a:xfrm>
            <a:off x="9439820" y="6645350"/>
            <a:ext cx="144145" cy="151130"/>
          </a:xfrm>
          <a:prstGeom prst="rect">
            <a:avLst/>
          </a:prstGeom>
        </p:spPr>
        <p:txBody>
          <a:bodyPr vert="horz" wrap="square" lIns="0" tIns="15875" rIns="0" bIns="0" rtlCol="0">
            <a:spAutoFit/>
          </a:bodyPr>
          <a:lstStyle/>
          <a:p>
            <a:pPr marL="12700">
              <a:lnSpc>
                <a:spcPct val="100000"/>
              </a:lnSpc>
              <a:spcBef>
                <a:spcPts val="125"/>
              </a:spcBef>
            </a:pPr>
            <a:r>
              <a:rPr sz="800" b="1" spc="-25" dirty="0">
                <a:solidFill>
                  <a:srgbClr val="FFFFFF"/>
                </a:solidFill>
                <a:latin typeface="Arial"/>
                <a:cs typeface="Arial"/>
              </a:rPr>
              <a:t>22</a:t>
            </a:r>
            <a:endParaRPr sz="800">
              <a:latin typeface="Arial"/>
              <a:cs typeface="Arial"/>
            </a:endParaRPr>
          </a:p>
        </p:txBody>
      </p:sp>
      <p:pic>
        <p:nvPicPr>
          <p:cNvPr id="54" name="Picture 53">
            <a:extLst>
              <a:ext uri="{FF2B5EF4-FFF2-40B4-BE49-F238E27FC236}">
                <a16:creationId xmlns:a16="http://schemas.microsoft.com/office/drawing/2014/main" id="{0C472D28-47A9-6333-3032-887103209A22}"/>
              </a:ext>
            </a:extLst>
          </p:cNvPr>
          <p:cNvPicPr>
            <a:picLocks noChangeAspect="1"/>
          </p:cNvPicPr>
          <p:nvPr/>
        </p:nvPicPr>
        <p:blipFill>
          <a:blip r:embed="rId4"/>
          <a:stretch>
            <a:fillRect/>
          </a:stretch>
        </p:blipFill>
        <p:spPr>
          <a:xfrm>
            <a:off x="774700" y="1580415"/>
            <a:ext cx="5384586" cy="2043258"/>
          </a:xfrm>
          <a:prstGeom prst="rect">
            <a:avLst/>
          </a:prstGeom>
        </p:spPr>
      </p:pic>
      <p:pic>
        <p:nvPicPr>
          <p:cNvPr id="56" name="Picture 55">
            <a:extLst>
              <a:ext uri="{FF2B5EF4-FFF2-40B4-BE49-F238E27FC236}">
                <a16:creationId xmlns:a16="http://schemas.microsoft.com/office/drawing/2014/main" id="{AC016642-65FC-CDE5-913A-DC9327594B06}"/>
              </a:ext>
            </a:extLst>
          </p:cNvPr>
          <p:cNvPicPr>
            <a:picLocks noChangeAspect="1"/>
          </p:cNvPicPr>
          <p:nvPr/>
        </p:nvPicPr>
        <p:blipFill>
          <a:blip r:embed="rId5"/>
          <a:srcRect r="21117" b="1324"/>
          <a:stretch>
            <a:fillRect/>
          </a:stretch>
        </p:blipFill>
        <p:spPr>
          <a:xfrm>
            <a:off x="6074325" y="1580415"/>
            <a:ext cx="4301575" cy="2150233"/>
          </a:xfrm>
          <a:prstGeom prst="rect">
            <a:avLst/>
          </a:prstGeom>
        </p:spPr>
      </p:pic>
      <p:pic>
        <p:nvPicPr>
          <p:cNvPr id="58" name="Picture 57">
            <a:extLst>
              <a:ext uri="{FF2B5EF4-FFF2-40B4-BE49-F238E27FC236}">
                <a16:creationId xmlns:a16="http://schemas.microsoft.com/office/drawing/2014/main" id="{A1FDDB54-EEA7-585A-5596-6778E8A250C7}"/>
              </a:ext>
            </a:extLst>
          </p:cNvPr>
          <p:cNvPicPr>
            <a:picLocks noChangeAspect="1"/>
          </p:cNvPicPr>
          <p:nvPr/>
        </p:nvPicPr>
        <p:blipFill>
          <a:blip r:embed="rId6"/>
          <a:stretch>
            <a:fillRect/>
          </a:stretch>
        </p:blipFill>
        <p:spPr>
          <a:xfrm>
            <a:off x="774699" y="3669277"/>
            <a:ext cx="4142337" cy="2442594"/>
          </a:xfrm>
          <a:prstGeom prst="rect">
            <a:avLst/>
          </a:prstGeom>
        </p:spPr>
      </p:pic>
      <p:pic>
        <p:nvPicPr>
          <p:cNvPr id="60" name="Picture 59">
            <a:extLst>
              <a:ext uri="{FF2B5EF4-FFF2-40B4-BE49-F238E27FC236}">
                <a16:creationId xmlns:a16="http://schemas.microsoft.com/office/drawing/2014/main" id="{B742057C-E55B-4EA4-858A-DC1D2B1A5E77}"/>
              </a:ext>
            </a:extLst>
          </p:cNvPr>
          <p:cNvPicPr>
            <a:picLocks noChangeAspect="1"/>
          </p:cNvPicPr>
          <p:nvPr/>
        </p:nvPicPr>
        <p:blipFill>
          <a:blip r:embed="rId7"/>
          <a:stretch>
            <a:fillRect/>
          </a:stretch>
        </p:blipFill>
        <p:spPr>
          <a:xfrm>
            <a:off x="5786953" y="3718923"/>
            <a:ext cx="4339502" cy="244259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7433309">
              <a:lnSpc>
                <a:spcPct val="100000"/>
              </a:lnSpc>
              <a:spcBef>
                <a:spcPts val="100"/>
              </a:spcBef>
            </a:pPr>
            <a:r>
              <a:rPr spc="-305" dirty="0"/>
              <a:t>10</a:t>
            </a:r>
          </a:p>
        </p:txBody>
      </p:sp>
      <p:sp>
        <p:nvSpPr>
          <p:cNvPr id="3" name="object 3"/>
          <p:cNvSpPr txBox="1"/>
          <p:nvPr/>
        </p:nvSpPr>
        <p:spPr>
          <a:xfrm>
            <a:off x="3237706" y="3348588"/>
            <a:ext cx="4221480" cy="1017269"/>
          </a:xfrm>
          <a:prstGeom prst="rect">
            <a:avLst/>
          </a:prstGeom>
        </p:spPr>
        <p:txBody>
          <a:bodyPr vert="horz" wrap="square" lIns="0" tIns="13335" rIns="0" bIns="0" rtlCol="0">
            <a:spAutoFit/>
          </a:bodyPr>
          <a:lstStyle/>
          <a:p>
            <a:pPr algn="ctr">
              <a:lnSpc>
                <a:spcPct val="100000"/>
              </a:lnSpc>
              <a:spcBef>
                <a:spcPts val="105"/>
              </a:spcBef>
            </a:pPr>
            <a:r>
              <a:rPr sz="3900" b="1" spc="-245" dirty="0">
                <a:solidFill>
                  <a:srgbClr val="FFFFFF"/>
                </a:solidFill>
                <a:latin typeface="Arial"/>
                <a:cs typeface="Arial"/>
              </a:rPr>
              <a:t>Expected</a:t>
            </a:r>
            <a:r>
              <a:rPr sz="3900" b="1" spc="-340" dirty="0">
                <a:solidFill>
                  <a:srgbClr val="FFFFFF"/>
                </a:solidFill>
                <a:latin typeface="Arial"/>
                <a:cs typeface="Arial"/>
              </a:rPr>
              <a:t> </a:t>
            </a:r>
            <a:r>
              <a:rPr sz="3900" b="1" spc="-305" dirty="0">
                <a:solidFill>
                  <a:srgbClr val="FFFFFF"/>
                </a:solidFill>
                <a:latin typeface="Arial"/>
                <a:cs typeface="Arial"/>
              </a:rPr>
              <a:t>Outcomes</a:t>
            </a:r>
            <a:endParaRPr sz="3900">
              <a:latin typeface="Arial"/>
              <a:cs typeface="Arial"/>
            </a:endParaRPr>
          </a:p>
          <a:p>
            <a:pPr algn="ctr">
              <a:lnSpc>
                <a:spcPct val="100000"/>
              </a:lnSpc>
              <a:spcBef>
                <a:spcPts val="1320"/>
              </a:spcBef>
            </a:pPr>
            <a:r>
              <a:rPr sz="1500" spc="-30" dirty="0">
                <a:solidFill>
                  <a:srgbClr val="FFFFFF"/>
                </a:solidFill>
                <a:latin typeface="Microsoft Sans Serif"/>
                <a:cs typeface="Microsoft Sans Serif"/>
              </a:rPr>
              <a:t>Project</a:t>
            </a:r>
            <a:r>
              <a:rPr sz="1500" spc="-40" dirty="0">
                <a:solidFill>
                  <a:srgbClr val="FFFFFF"/>
                </a:solidFill>
                <a:latin typeface="Microsoft Sans Serif"/>
                <a:cs typeface="Microsoft Sans Serif"/>
              </a:rPr>
              <a:t> </a:t>
            </a:r>
            <a:r>
              <a:rPr sz="1500" spc="-30" dirty="0">
                <a:solidFill>
                  <a:srgbClr val="FFFFFF"/>
                </a:solidFill>
                <a:latin typeface="Microsoft Sans Serif"/>
                <a:cs typeface="Microsoft Sans Serif"/>
              </a:rPr>
              <a:t>deliverables</a:t>
            </a:r>
            <a:r>
              <a:rPr sz="1500" spc="-35" dirty="0">
                <a:solidFill>
                  <a:srgbClr val="FFFFFF"/>
                </a:solidFill>
                <a:latin typeface="Microsoft Sans Serif"/>
                <a:cs typeface="Microsoft Sans Serif"/>
              </a:rPr>
              <a:t> and </a:t>
            </a:r>
            <a:r>
              <a:rPr sz="1500" spc="-10" dirty="0">
                <a:solidFill>
                  <a:srgbClr val="FFFFFF"/>
                </a:solidFill>
                <a:latin typeface="Microsoft Sans Serif"/>
                <a:cs typeface="Microsoft Sans Serif"/>
              </a:rPr>
              <a:t>results</a:t>
            </a:r>
            <a:endParaRPr sz="1500">
              <a:latin typeface="Microsoft Sans Serif"/>
              <a:cs typeface="Microsoft Sans Serif"/>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76324" y="1285868"/>
            <a:ext cx="8543925" cy="28575"/>
          </a:xfrm>
          <a:custGeom>
            <a:avLst/>
            <a:gdLst/>
            <a:ahLst/>
            <a:cxnLst/>
            <a:rect l="l" t="t" r="r" b="b"/>
            <a:pathLst>
              <a:path w="8543925" h="28575">
                <a:moveTo>
                  <a:pt x="8543924" y="28574"/>
                </a:moveTo>
                <a:lnTo>
                  <a:pt x="0" y="28574"/>
                </a:lnTo>
                <a:lnTo>
                  <a:pt x="0" y="0"/>
                </a:lnTo>
                <a:lnTo>
                  <a:pt x="8543924" y="0"/>
                </a:lnTo>
                <a:lnTo>
                  <a:pt x="8543924" y="28574"/>
                </a:lnTo>
                <a:close/>
              </a:path>
            </a:pathLst>
          </a:custGeom>
          <a:solidFill>
            <a:srgbClr val="BF382A"/>
          </a:solidFill>
        </p:spPr>
        <p:txBody>
          <a:bodyPr wrap="square" lIns="0" tIns="0" rIns="0" bIns="0" rtlCol="0"/>
          <a:lstStyle/>
          <a:p>
            <a:endParaRPr/>
          </a:p>
        </p:txBody>
      </p:sp>
      <p:pic>
        <p:nvPicPr>
          <p:cNvPr id="3" name="object 3"/>
          <p:cNvPicPr/>
          <p:nvPr/>
        </p:nvPicPr>
        <p:blipFill>
          <a:blip r:embed="rId2" cstate="print"/>
          <a:stretch>
            <a:fillRect/>
          </a:stretch>
        </p:blipFill>
        <p:spPr>
          <a:xfrm>
            <a:off x="1083071" y="962025"/>
            <a:ext cx="257175" cy="187325"/>
          </a:xfrm>
          <a:prstGeom prst="rect">
            <a:avLst/>
          </a:prstGeom>
        </p:spPr>
      </p:pic>
      <p:sp>
        <p:nvSpPr>
          <p:cNvPr id="4" name="object 4"/>
          <p:cNvSpPr txBox="1">
            <a:spLocks noGrp="1"/>
          </p:cNvSpPr>
          <p:nvPr>
            <p:ph type="title"/>
          </p:nvPr>
        </p:nvSpPr>
        <p:spPr>
          <a:prstGeom prst="rect">
            <a:avLst/>
          </a:prstGeom>
        </p:spPr>
        <p:txBody>
          <a:bodyPr vert="horz" wrap="square" lIns="0" tIns="174436" rIns="0" bIns="0" rtlCol="0">
            <a:spAutoFit/>
          </a:bodyPr>
          <a:lstStyle/>
          <a:p>
            <a:pPr marL="117475">
              <a:lnSpc>
                <a:spcPct val="100000"/>
              </a:lnSpc>
              <a:spcBef>
                <a:spcPts val="90"/>
              </a:spcBef>
            </a:pPr>
            <a:r>
              <a:rPr sz="1800" spc="-125" dirty="0">
                <a:solidFill>
                  <a:srgbClr val="BF382A"/>
                </a:solidFill>
              </a:rPr>
              <a:t>Expected</a:t>
            </a:r>
            <a:r>
              <a:rPr sz="1800" spc="-140" dirty="0">
                <a:solidFill>
                  <a:srgbClr val="BF382A"/>
                </a:solidFill>
              </a:rPr>
              <a:t> </a:t>
            </a:r>
            <a:r>
              <a:rPr sz="1800" spc="-150" dirty="0">
                <a:solidFill>
                  <a:srgbClr val="BF382A"/>
                </a:solidFill>
              </a:rPr>
              <a:t>Outcomes</a:t>
            </a:r>
            <a:r>
              <a:rPr sz="1800" spc="-135" dirty="0">
                <a:solidFill>
                  <a:srgbClr val="BF382A"/>
                </a:solidFill>
              </a:rPr>
              <a:t> </a:t>
            </a:r>
            <a:r>
              <a:rPr sz="1800" spc="-110" dirty="0">
                <a:solidFill>
                  <a:srgbClr val="BF382A"/>
                </a:solidFill>
              </a:rPr>
              <a:t>and</a:t>
            </a:r>
            <a:r>
              <a:rPr sz="1800" spc="-135" dirty="0">
                <a:solidFill>
                  <a:srgbClr val="BF382A"/>
                </a:solidFill>
              </a:rPr>
              <a:t> </a:t>
            </a:r>
            <a:r>
              <a:rPr sz="1800" spc="-85" dirty="0">
                <a:solidFill>
                  <a:srgbClr val="BF382A"/>
                </a:solidFill>
              </a:rPr>
              <a:t>Deliverables</a:t>
            </a:r>
            <a:endParaRPr sz="1800"/>
          </a:p>
        </p:txBody>
      </p:sp>
      <p:grpSp>
        <p:nvGrpSpPr>
          <p:cNvPr id="5" name="object 5"/>
          <p:cNvGrpSpPr/>
          <p:nvPr/>
        </p:nvGrpSpPr>
        <p:grpSpPr>
          <a:xfrm>
            <a:off x="1089890" y="1617019"/>
            <a:ext cx="2752725" cy="1780231"/>
            <a:chOff x="1076324" y="1457337"/>
            <a:chExt cx="2752725" cy="1400175"/>
          </a:xfrm>
        </p:grpSpPr>
        <p:sp>
          <p:nvSpPr>
            <p:cNvPr id="6" name="object 6"/>
            <p:cNvSpPr/>
            <p:nvPr/>
          </p:nvSpPr>
          <p:spPr>
            <a:xfrm>
              <a:off x="1090612" y="1457337"/>
              <a:ext cx="2738755" cy="1400175"/>
            </a:xfrm>
            <a:custGeom>
              <a:avLst/>
              <a:gdLst/>
              <a:ahLst/>
              <a:cxnLst/>
              <a:rect l="l" t="t" r="r" b="b"/>
              <a:pathLst>
                <a:path w="2738754" h="1400175">
                  <a:moveTo>
                    <a:pt x="2667240" y="1400155"/>
                  </a:moveTo>
                  <a:lnTo>
                    <a:pt x="57847" y="1400155"/>
                  </a:lnTo>
                  <a:lnTo>
                    <a:pt x="53821" y="1399670"/>
                  </a:lnTo>
                  <a:lnTo>
                    <a:pt x="15259" y="1374276"/>
                  </a:lnTo>
                  <a:lnTo>
                    <a:pt x="396" y="1333909"/>
                  </a:lnTo>
                  <a:lnTo>
                    <a:pt x="0" y="1328956"/>
                  </a:lnTo>
                  <a:lnTo>
                    <a:pt x="0" y="1323955"/>
                  </a:lnTo>
                  <a:lnTo>
                    <a:pt x="0" y="71180"/>
                  </a:lnTo>
                  <a:lnTo>
                    <a:pt x="12692" y="29689"/>
                  </a:lnTo>
                  <a:lnTo>
                    <a:pt x="41975" y="3848"/>
                  </a:lnTo>
                  <a:lnTo>
                    <a:pt x="57847" y="0"/>
                  </a:lnTo>
                  <a:lnTo>
                    <a:pt x="2667240" y="0"/>
                  </a:lnTo>
                  <a:lnTo>
                    <a:pt x="2708731" y="15592"/>
                  </a:lnTo>
                  <a:lnTo>
                    <a:pt x="2734551" y="51625"/>
                  </a:lnTo>
                  <a:lnTo>
                    <a:pt x="2738437" y="71180"/>
                  </a:lnTo>
                  <a:lnTo>
                    <a:pt x="2738437" y="1328956"/>
                  </a:lnTo>
                  <a:lnTo>
                    <a:pt x="2722815" y="1370428"/>
                  </a:lnTo>
                  <a:lnTo>
                    <a:pt x="2686774" y="1396269"/>
                  </a:lnTo>
                  <a:lnTo>
                    <a:pt x="2672195" y="1399670"/>
                  </a:lnTo>
                  <a:lnTo>
                    <a:pt x="2667240" y="1400155"/>
                  </a:lnTo>
                  <a:close/>
                </a:path>
              </a:pathLst>
            </a:custGeom>
            <a:solidFill>
              <a:srgbClr val="F7F9FA"/>
            </a:solidFill>
          </p:spPr>
          <p:txBody>
            <a:bodyPr wrap="square" lIns="0" tIns="0" rIns="0" bIns="0" rtlCol="0"/>
            <a:lstStyle/>
            <a:p>
              <a:endParaRPr sz="2800"/>
            </a:p>
          </p:txBody>
        </p:sp>
        <p:sp>
          <p:nvSpPr>
            <p:cNvPr id="7" name="object 7"/>
            <p:cNvSpPr/>
            <p:nvPr/>
          </p:nvSpPr>
          <p:spPr>
            <a:xfrm>
              <a:off x="1076324" y="1457694"/>
              <a:ext cx="69215" cy="1399540"/>
            </a:xfrm>
            <a:custGeom>
              <a:avLst/>
              <a:gdLst/>
              <a:ahLst/>
              <a:cxnLst/>
              <a:rect l="l" t="t" r="r" b="b"/>
              <a:pathLst>
                <a:path w="69215" h="1399539">
                  <a:moveTo>
                    <a:pt x="68698" y="1399419"/>
                  </a:moveTo>
                  <a:lnTo>
                    <a:pt x="27882" y="1382530"/>
                  </a:lnTo>
                  <a:lnTo>
                    <a:pt x="3262" y="1345683"/>
                  </a:lnTo>
                  <a:lnTo>
                    <a:pt x="0" y="1323597"/>
                  </a:lnTo>
                  <a:lnTo>
                    <a:pt x="0" y="75822"/>
                  </a:lnTo>
                  <a:lnTo>
                    <a:pt x="12830" y="33480"/>
                  </a:lnTo>
                  <a:lnTo>
                    <a:pt x="47039" y="5422"/>
                  </a:lnTo>
                  <a:lnTo>
                    <a:pt x="68698" y="0"/>
                  </a:lnTo>
                  <a:lnTo>
                    <a:pt x="63809" y="1555"/>
                  </a:lnTo>
                  <a:lnTo>
                    <a:pt x="52139" y="9289"/>
                  </a:lnTo>
                  <a:lnTo>
                    <a:pt x="32200" y="46661"/>
                  </a:lnTo>
                  <a:lnTo>
                    <a:pt x="28575" y="75822"/>
                  </a:lnTo>
                  <a:lnTo>
                    <a:pt x="28575" y="1323597"/>
                  </a:lnTo>
                  <a:lnTo>
                    <a:pt x="36593" y="1365939"/>
                  </a:lnTo>
                  <a:lnTo>
                    <a:pt x="63809" y="1397863"/>
                  </a:lnTo>
                  <a:lnTo>
                    <a:pt x="68698" y="1399419"/>
                  </a:lnTo>
                  <a:close/>
                </a:path>
              </a:pathLst>
            </a:custGeom>
            <a:solidFill>
              <a:srgbClr val="BF382A"/>
            </a:solidFill>
          </p:spPr>
          <p:txBody>
            <a:bodyPr wrap="square" lIns="0" tIns="0" rIns="0" bIns="0" rtlCol="0"/>
            <a:lstStyle/>
            <a:p>
              <a:endParaRPr sz="2800"/>
            </a:p>
          </p:txBody>
        </p:sp>
        <p:pic>
          <p:nvPicPr>
            <p:cNvPr id="8" name="object 8"/>
            <p:cNvPicPr/>
            <p:nvPr/>
          </p:nvPicPr>
          <p:blipFill>
            <a:blip r:embed="rId3" cstate="print"/>
            <a:stretch>
              <a:fillRect/>
            </a:stretch>
          </p:blipFill>
          <p:spPr>
            <a:xfrm>
              <a:off x="2305049" y="1600191"/>
              <a:ext cx="333374" cy="333374"/>
            </a:xfrm>
            <a:prstGeom prst="rect">
              <a:avLst/>
            </a:prstGeom>
          </p:spPr>
        </p:pic>
        <p:pic>
          <p:nvPicPr>
            <p:cNvPr id="9" name="object 9"/>
            <p:cNvPicPr/>
            <p:nvPr/>
          </p:nvPicPr>
          <p:blipFill>
            <a:blip r:embed="rId4" cstate="print"/>
            <a:stretch>
              <a:fillRect/>
            </a:stretch>
          </p:blipFill>
          <p:spPr>
            <a:xfrm>
              <a:off x="2419349" y="1701799"/>
              <a:ext cx="101600" cy="136525"/>
            </a:xfrm>
            <a:prstGeom prst="rect">
              <a:avLst/>
            </a:prstGeom>
          </p:spPr>
        </p:pic>
      </p:grpSp>
      <p:sp>
        <p:nvSpPr>
          <p:cNvPr id="10" name="object 10"/>
          <p:cNvSpPr txBox="1"/>
          <p:nvPr/>
        </p:nvSpPr>
        <p:spPr>
          <a:xfrm>
            <a:off x="1378988" y="2220352"/>
            <a:ext cx="2212975" cy="947632"/>
          </a:xfrm>
          <a:prstGeom prst="rect">
            <a:avLst/>
          </a:prstGeom>
        </p:spPr>
        <p:txBody>
          <a:bodyPr vert="horz" wrap="square" lIns="0" tIns="100330" rIns="0" bIns="0" rtlCol="0">
            <a:spAutoFit/>
          </a:bodyPr>
          <a:lstStyle/>
          <a:p>
            <a:pPr algn="ctr">
              <a:lnSpc>
                <a:spcPct val="100000"/>
              </a:lnSpc>
              <a:spcBef>
                <a:spcPts val="790"/>
              </a:spcBef>
            </a:pPr>
            <a:r>
              <a:rPr sz="1400" b="1" spc="-80" dirty="0">
                <a:solidFill>
                  <a:srgbClr val="1A1A2E"/>
                </a:solidFill>
                <a:latin typeface="Arial"/>
                <a:cs typeface="Arial"/>
              </a:rPr>
              <a:t>Technical</a:t>
            </a:r>
            <a:r>
              <a:rPr sz="1400" b="1" spc="-30" dirty="0">
                <a:solidFill>
                  <a:srgbClr val="1A1A2E"/>
                </a:solidFill>
                <a:latin typeface="Arial"/>
                <a:cs typeface="Arial"/>
              </a:rPr>
              <a:t> </a:t>
            </a:r>
            <a:r>
              <a:rPr sz="1400" b="1" spc="-10" dirty="0">
                <a:solidFill>
                  <a:srgbClr val="1A1A2E"/>
                </a:solidFill>
                <a:latin typeface="Arial"/>
                <a:cs typeface="Arial"/>
              </a:rPr>
              <a:t>Report</a:t>
            </a:r>
            <a:endParaRPr sz="1400" dirty="0">
              <a:latin typeface="Arial"/>
              <a:cs typeface="Arial"/>
            </a:endParaRPr>
          </a:p>
          <a:p>
            <a:pPr marL="12700" marR="5080" algn="ctr">
              <a:lnSpc>
                <a:spcPct val="114599"/>
              </a:lnSpc>
              <a:spcBef>
                <a:spcPts val="459"/>
              </a:spcBef>
            </a:pPr>
            <a:r>
              <a:rPr sz="1100" spc="-20" dirty="0">
                <a:solidFill>
                  <a:srgbClr val="666666"/>
                </a:solidFill>
                <a:latin typeface="Microsoft Sans Serif"/>
                <a:cs typeface="Microsoft Sans Serif"/>
              </a:rPr>
              <a:t>Complete</a:t>
            </a:r>
            <a:r>
              <a:rPr sz="1100" dirty="0">
                <a:solidFill>
                  <a:srgbClr val="666666"/>
                </a:solidFill>
                <a:latin typeface="Microsoft Sans Serif"/>
                <a:cs typeface="Microsoft Sans Serif"/>
              </a:rPr>
              <a:t> </a:t>
            </a:r>
            <a:r>
              <a:rPr sz="1100" spc="-20" dirty="0">
                <a:solidFill>
                  <a:srgbClr val="666666"/>
                </a:solidFill>
                <a:latin typeface="Microsoft Sans Serif"/>
                <a:cs typeface="Microsoft Sans Serif"/>
              </a:rPr>
              <a:t>academic</a:t>
            </a:r>
            <a:r>
              <a:rPr sz="1100" spc="5" dirty="0">
                <a:solidFill>
                  <a:srgbClr val="666666"/>
                </a:solidFill>
                <a:latin typeface="Microsoft Sans Serif"/>
                <a:cs typeface="Microsoft Sans Serif"/>
              </a:rPr>
              <a:t> </a:t>
            </a:r>
            <a:r>
              <a:rPr sz="1100" spc="-10" dirty="0">
                <a:solidFill>
                  <a:srgbClr val="666666"/>
                </a:solidFill>
                <a:latin typeface="Microsoft Sans Serif"/>
                <a:cs typeface="Microsoft Sans Serif"/>
              </a:rPr>
              <a:t>document</a:t>
            </a:r>
            <a:r>
              <a:rPr sz="1100" spc="5" dirty="0">
                <a:solidFill>
                  <a:srgbClr val="666666"/>
                </a:solidFill>
                <a:latin typeface="Microsoft Sans Serif"/>
                <a:cs typeface="Microsoft Sans Serif"/>
              </a:rPr>
              <a:t> </a:t>
            </a:r>
            <a:r>
              <a:rPr sz="1100" dirty="0">
                <a:solidFill>
                  <a:srgbClr val="666666"/>
                </a:solidFill>
                <a:latin typeface="Microsoft Sans Serif"/>
                <a:cs typeface="Microsoft Sans Serif"/>
              </a:rPr>
              <a:t>with </a:t>
            </a:r>
            <a:r>
              <a:rPr sz="1100" spc="-10" dirty="0">
                <a:solidFill>
                  <a:srgbClr val="666666"/>
                </a:solidFill>
                <a:latin typeface="Microsoft Sans Serif"/>
                <a:cs typeface="Microsoft Sans Serif"/>
              </a:rPr>
              <a:t>problem definition,</a:t>
            </a:r>
            <a:r>
              <a:rPr sz="1100" spc="30" dirty="0">
                <a:solidFill>
                  <a:srgbClr val="666666"/>
                </a:solidFill>
                <a:latin typeface="Microsoft Sans Serif"/>
                <a:cs typeface="Microsoft Sans Serif"/>
              </a:rPr>
              <a:t> </a:t>
            </a:r>
            <a:r>
              <a:rPr sz="1100" spc="-10" dirty="0">
                <a:solidFill>
                  <a:srgbClr val="666666"/>
                </a:solidFill>
                <a:latin typeface="Microsoft Sans Serif"/>
                <a:cs typeface="Microsoft Sans Serif"/>
              </a:rPr>
              <a:t>architecture,</a:t>
            </a:r>
            <a:r>
              <a:rPr sz="1100" spc="30" dirty="0">
                <a:solidFill>
                  <a:srgbClr val="666666"/>
                </a:solidFill>
                <a:latin typeface="Microsoft Sans Serif"/>
                <a:cs typeface="Microsoft Sans Serif"/>
              </a:rPr>
              <a:t> </a:t>
            </a:r>
            <a:r>
              <a:rPr sz="1100" spc="-20" dirty="0">
                <a:solidFill>
                  <a:srgbClr val="666666"/>
                </a:solidFill>
                <a:latin typeface="Microsoft Sans Serif"/>
                <a:cs typeface="Microsoft Sans Serif"/>
              </a:rPr>
              <a:t>methodology,</a:t>
            </a:r>
            <a:r>
              <a:rPr sz="1100" spc="35" dirty="0">
                <a:solidFill>
                  <a:srgbClr val="666666"/>
                </a:solidFill>
                <a:latin typeface="Microsoft Sans Serif"/>
                <a:cs typeface="Microsoft Sans Serif"/>
              </a:rPr>
              <a:t> </a:t>
            </a:r>
            <a:r>
              <a:rPr sz="1100" spc="-25" dirty="0">
                <a:solidFill>
                  <a:srgbClr val="666666"/>
                </a:solidFill>
                <a:latin typeface="Microsoft Sans Serif"/>
                <a:cs typeface="Microsoft Sans Serif"/>
              </a:rPr>
              <a:t>and </a:t>
            </a:r>
            <a:r>
              <a:rPr sz="1100" spc="-10" dirty="0">
                <a:solidFill>
                  <a:srgbClr val="666666"/>
                </a:solidFill>
                <a:latin typeface="Microsoft Sans Serif"/>
                <a:cs typeface="Microsoft Sans Serif"/>
              </a:rPr>
              <a:t>evaluation.</a:t>
            </a:r>
            <a:endParaRPr sz="1100" dirty="0">
              <a:latin typeface="Microsoft Sans Serif"/>
              <a:cs typeface="Microsoft Sans Serif"/>
            </a:endParaRPr>
          </a:p>
        </p:txBody>
      </p:sp>
      <p:grpSp>
        <p:nvGrpSpPr>
          <p:cNvPr id="11" name="object 11"/>
          <p:cNvGrpSpPr/>
          <p:nvPr/>
        </p:nvGrpSpPr>
        <p:grpSpPr>
          <a:xfrm>
            <a:off x="3985490" y="1617019"/>
            <a:ext cx="2752725" cy="1779878"/>
            <a:chOff x="3971924" y="1457337"/>
            <a:chExt cx="2752725" cy="1400175"/>
          </a:xfrm>
        </p:grpSpPr>
        <p:sp>
          <p:nvSpPr>
            <p:cNvPr id="12" name="object 12"/>
            <p:cNvSpPr/>
            <p:nvPr/>
          </p:nvSpPr>
          <p:spPr>
            <a:xfrm>
              <a:off x="3986212" y="1457337"/>
              <a:ext cx="2738755" cy="1400175"/>
            </a:xfrm>
            <a:custGeom>
              <a:avLst/>
              <a:gdLst/>
              <a:ahLst/>
              <a:cxnLst/>
              <a:rect l="l" t="t" r="r" b="b"/>
              <a:pathLst>
                <a:path w="2738754" h="1400175">
                  <a:moveTo>
                    <a:pt x="2667240" y="1400155"/>
                  </a:moveTo>
                  <a:lnTo>
                    <a:pt x="57847" y="1400155"/>
                  </a:lnTo>
                  <a:lnTo>
                    <a:pt x="53821" y="1399670"/>
                  </a:lnTo>
                  <a:lnTo>
                    <a:pt x="15258" y="1374276"/>
                  </a:lnTo>
                  <a:lnTo>
                    <a:pt x="396" y="1333909"/>
                  </a:lnTo>
                  <a:lnTo>
                    <a:pt x="0" y="1328956"/>
                  </a:lnTo>
                  <a:lnTo>
                    <a:pt x="0" y="1323955"/>
                  </a:lnTo>
                  <a:lnTo>
                    <a:pt x="0" y="71180"/>
                  </a:lnTo>
                  <a:lnTo>
                    <a:pt x="12692" y="29689"/>
                  </a:lnTo>
                  <a:lnTo>
                    <a:pt x="41975" y="3848"/>
                  </a:lnTo>
                  <a:lnTo>
                    <a:pt x="57847" y="0"/>
                  </a:lnTo>
                  <a:lnTo>
                    <a:pt x="2667240" y="0"/>
                  </a:lnTo>
                  <a:lnTo>
                    <a:pt x="2708731" y="15592"/>
                  </a:lnTo>
                  <a:lnTo>
                    <a:pt x="2734551" y="51625"/>
                  </a:lnTo>
                  <a:lnTo>
                    <a:pt x="2738436" y="71180"/>
                  </a:lnTo>
                  <a:lnTo>
                    <a:pt x="2738436" y="1328956"/>
                  </a:lnTo>
                  <a:lnTo>
                    <a:pt x="2722815" y="1370428"/>
                  </a:lnTo>
                  <a:lnTo>
                    <a:pt x="2686775" y="1396269"/>
                  </a:lnTo>
                  <a:lnTo>
                    <a:pt x="2672195" y="1399670"/>
                  </a:lnTo>
                  <a:lnTo>
                    <a:pt x="2667240" y="1400155"/>
                  </a:lnTo>
                  <a:close/>
                </a:path>
              </a:pathLst>
            </a:custGeom>
            <a:solidFill>
              <a:srgbClr val="F7F9FA"/>
            </a:solidFill>
          </p:spPr>
          <p:txBody>
            <a:bodyPr wrap="square" lIns="0" tIns="0" rIns="0" bIns="0" rtlCol="0"/>
            <a:lstStyle/>
            <a:p>
              <a:endParaRPr sz="2800"/>
            </a:p>
          </p:txBody>
        </p:sp>
        <p:sp>
          <p:nvSpPr>
            <p:cNvPr id="13" name="object 13"/>
            <p:cNvSpPr/>
            <p:nvPr/>
          </p:nvSpPr>
          <p:spPr>
            <a:xfrm>
              <a:off x="3971924" y="1457694"/>
              <a:ext cx="69215" cy="1399540"/>
            </a:xfrm>
            <a:custGeom>
              <a:avLst/>
              <a:gdLst/>
              <a:ahLst/>
              <a:cxnLst/>
              <a:rect l="l" t="t" r="r" b="b"/>
              <a:pathLst>
                <a:path w="69214" h="1399539">
                  <a:moveTo>
                    <a:pt x="68698" y="1399419"/>
                  </a:moveTo>
                  <a:lnTo>
                    <a:pt x="27882" y="1382530"/>
                  </a:lnTo>
                  <a:lnTo>
                    <a:pt x="3262" y="1345683"/>
                  </a:lnTo>
                  <a:lnTo>
                    <a:pt x="0" y="1323597"/>
                  </a:lnTo>
                  <a:lnTo>
                    <a:pt x="0" y="75822"/>
                  </a:lnTo>
                  <a:lnTo>
                    <a:pt x="12829" y="33480"/>
                  </a:lnTo>
                  <a:lnTo>
                    <a:pt x="47039" y="5422"/>
                  </a:lnTo>
                  <a:lnTo>
                    <a:pt x="68698" y="0"/>
                  </a:lnTo>
                  <a:lnTo>
                    <a:pt x="63809" y="1556"/>
                  </a:lnTo>
                  <a:lnTo>
                    <a:pt x="52139" y="9289"/>
                  </a:lnTo>
                  <a:lnTo>
                    <a:pt x="32199" y="46661"/>
                  </a:lnTo>
                  <a:lnTo>
                    <a:pt x="28575" y="75822"/>
                  </a:lnTo>
                  <a:lnTo>
                    <a:pt x="28575" y="1323597"/>
                  </a:lnTo>
                  <a:lnTo>
                    <a:pt x="36593" y="1365939"/>
                  </a:lnTo>
                  <a:lnTo>
                    <a:pt x="63809" y="1397863"/>
                  </a:lnTo>
                  <a:lnTo>
                    <a:pt x="68698" y="1399419"/>
                  </a:lnTo>
                  <a:close/>
                </a:path>
              </a:pathLst>
            </a:custGeom>
            <a:solidFill>
              <a:srgbClr val="BF382A"/>
            </a:solidFill>
          </p:spPr>
          <p:txBody>
            <a:bodyPr wrap="square" lIns="0" tIns="0" rIns="0" bIns="0" rtlCol="0"/>
            <a:lstStyle/>
            <a:p>
              <a:endParaRPr sz="2800"/>
            </a:p>
          </p:txBody>
        </p:sp>
        <p:pic>
          <p:nvPicPr>
            <p:cNvPr id="14" name="object 14"/>
            <p:cNvPicPr/>
            <p:nvPr/>
          </p:nvPicPr>
          <p:blipFill>
            <a:blip r:embed="rId3" cstate="print"/>
            <a:stretch>
              <a:fillRect/>
            </a:stretch>
          </p:blipFill>
          <p:spPr>
            <a:xfrm>
              <a:off x="5200649" y="1600191"/>
              <a:ext cx="333374" cy="333374"/>
            </a:xfrm>
            <a:prstGeom prst="rect">
              <a:avLst/>
            </a:prstGeom>
          </p:spPr>
        </p:pic>
        <p:pic>
          <p:nvPicPr>
            <p:cNvPr id="15" name="object 15"/>
            <p:cNvPicPr/>
            <p:nvPr/>
          </p:nvPicPr>
          <p:blipFill>
            <a:blip r:embed="rId5" cstate="print"/>
            <a:stretch>
              <a:fillRect/>
            </a:stretch>
          </p:blipFill>
          <p:spPr>
            <a:xfrm>
              <a:off x="5287565" y="1701799"/>
              <a:ext cx="152400" cy="136525"/>
            </a:xfrm>
            <a:prstGeom prst="rect">
              <a:avLst/>
            </a:prstGeom>
          </p:spPr>
        </p:pic>
      </p:grpSp>
      <p:sp>
        <p:nvSpPr>
          <p:cNvPr id="16" name="object 16"/>
          <p:cNvSpPr txBox="1"/>
          <p:nvPr/>
        </p:nvSpPr>
        <p:spPr>
          <a:xfrm>
            <a:off x="4182685" y="2222271"/>
            <a:ext cx="2420620" cy="928972"/>
          </a:xfrm>
          <a:prstGeom prst="rect">
            <a:avLst/>
          </a:prstGeom>
        </p:spPr>
        <p:txBody>
          <a:bodyPr vert="horz" wrap="square" lIns="0" tIns="100330" rIns="0" bIns="0" rtlCol="0">
            <a:spAutoFit/>
          </a:bodyPr>
          <a:lstStyle/>
          <a:p>
            <a:pPr algn="ctr">
              <a:lnSpc>
                <a:spcPct val="100000"/>
              </a:lnSpc>
              <a:spcBef>
                <a:spcPts val="790"/>
              </a:spcBef>
            </a:pPr>
            <a:r>
              <a:rPr sz="1400" b="1" spc="-10" dirty="0">
                <a:solidFill>
                  <a:srgbClr val="1A1A2E"/>
                </a:solidFill>
                <a:latin typeface="Arial"/>
                <a:cs typeface="Arial"/>
              </a:rPr>
              <a:t>Presentation</a:t>
            </a:r>
            <a:endParaRPr sz="1400" dirty="0">
              <a:latin typeface="Arial"/>
              <a:cs typeface="Arial"/>
            </a:endParaRPr>
          </a:p>
          <a:p>
            <a:pPr marL="12700" marR="5080" algn="ctr">
              <a:lnSpc>
                <a:spcPct val="111100"/>
              </a:lnSpc>
              <a:spcBef>
                <a:spcPts val="495"/>
              </a:spcBef>
            </a:pPr>
            <a:r>
              <a:rPr sz="1100" spc="-30" dirty="0">
                <a:solidFill>
                  <a:srgbClr val="666666"/>
                </a:solidFill>
                <a:latin typeface="Microsoft Sans Serif"/>
                <a:cs typeface="Microsoft Sans Serif"/>
              </a:rPr>
              <a:t>Formal</a:t>
            </a:r>
            <a:r>
              <a:rPr sz="1100" spc="-25" dirty="0">
                <a:solidFill>
                  <a:srgbClr val="666666"/>
                </a:solidFill>
                <a:latin typeface="Microsoft Sans Serif"/>
                <a:cs typeface="Microsoft Sans Serif"/>
              </a:rPr>
              <a:t> </a:t>
            </a:r>
            <a:r>
              <a:rPr sz="1100" spc="-10" dirty="0">
                <a:solidFill>
                  <a:srgbClr val="666666"/>
                </a:solidFill>
                <a:latin typeface="Microsoft Sans Serif"/>
                <a:cs typeface="Microsoft Sans Serif"/>
              </a:rPr>
              <a:t>slide</a:t>
            </a:r>
            <a:r>
              <a:rPr sz="1100" spc="-25" dirty="0">
                <a:solidFill>
                  <a:srgbClr val="666666"/>
                </a:solidFill>
                <a:latin typeface="Microsoft Sans Serif"/>
                <a:cs typeface="Microsoft Sans Serif"/>
              </a:rPr>
              <a:t> </a:t>
            </a:r>
            <a:r>
              <a:rPr sz="1100" dirty="0">
                <a:solidFill>
                  <a:srgbClr val="666666"/>
                </a:solidFill>
                <a:latin typeface="Microsoft Sans Serif"/>
                <a:cs typeface="Microsoft Sans Serif"/>
              </a:rPr>
              <a:t>deck</a:t>
            </a:r>
            <a:r>
              <a:rPr sz="1100" spc="-25" dirty="0">
                <a:solidFill>
                  <a:srgbClr val="666666"/>
                </a:solidFill>
                <a:latin typeface="Microsoft Sans Serif"/>
                <a:cs typeface="Microsoft Sans Serif"/>
              </a:rPr>
              <a:t> </a:t>
            </a:r>
            <a:r>
              <a:rPr sz="1100" spc="-20" dirty="0">
                <a:solidFill>
                  <a:srgbClr val="666666"/>
                </a:solidFill>
                <a:latin typeface="Microsoft Sans Serif"/>
                <a:cs typeface="Microsoft Sans Serif"/>
              </a:rPr>
              <a:t>and </a:t>
            </a:r>
            <a:r>
              <a:rPr sz="1100" spc="-10" dirty="0">
                <a:solidFill>
                  <a:srgbClr val="666666"/>
                </a:solidFill>
                <a:latin typeface="Microsoft Sans Serif"/>
                <a:cs typeface="Microsoft Sans Serif"/>
              </a:rPr>
              <a:t>oral</a:t>
            </a:r>
            <a:r>
              <a:rPr sz="1100" spc="-25" dirty="0">
                <a:solidFill>
                  <a:srgbClr val="666666"/>
                </a:solidFill>
                <a:latin typeface="Microsoft Sans Serif"/>
                <a:cs typeface="Microsoft Sans Serif"/>
              </a:rPr>
              <a:t> </a:t>
            </a:r>
            <a:r>
              <a:rPr sz="1100" spc="-10" dirty="0">
                <a:solidFill>
                  <a:srgbClr val="666666"/>
                </a:solidFill>
                <a:latin typeface="Microsoft Sans Serif"/>
                <a:cs typeface="Microsoft Sans Serif"/>
              </a:rPr>
              <a:t>defense</a:t>
            </a:r>
            <a:r>
              <a:rPr sz="1100" spc="-25" dirty="0">
                <a:solidFill>
                  <a:srgbClr val="666666"/>
                </a:solidFill>
                <a:latin typeface="Microsoft Sans Serif"/>
                <a:cs typeface="Microsoft Sans Serif"/>
              </a:rPr>
              <a:t> </a:t>
            </a:r>
            <a:r>
              <a:rPr sz="1100" spc="-10" dirty="0">
                <a:solidFill>
                  <a:srgbClr val="666666"/>
                </a:solidFill>
                <a:latin typeface="Microsoft Sans Serif"/>
                <a:cs typeface="Microsoft Sans Serif"/>
              </a:rPr>
              <a:t>summarizing research,</a:t>
            </a:r>
            <a:r>
              <a:rPr sz="1100" spc="-40" dirty="0">
                <a:solidFill>
                  <a:srgbClr val="666666"/>
                </a:solidFill>
                <a:latin typeface="Microsoft Sans Serif"/>
                <a:cs typeface="Microsoft Sans Serif"/>
              </a:rPr>
              <a:t> </a:t>
            </a:r>
            <a:r>
              <a:rPr sz="1100" spc="-10" dirty="0">
                <a:solidFill>
                  <a:srgbClr val="666666"/>
                </a:solidFill>
                <a:latin typeface="Microsoft Sans Serif"/>
                <a:cs typeface="Microsoft Sans Serif"/>
              </a:rPr>
              <a:t>design,</a:t>
            </a:r>
            <a:r>
              <a:rPr sz="1100" spc="-35" dirty="0">
                <a:solidFill>
                  <a:srgbClr val="666666"/>
                </a:solidFill>
                <a:latin typeface="Microsoft Sans Serif"/>
                <a:cs typeface="Microsoft Sans Serif"/>
              </a:rPr>
              <a:t> </a:t>
            </a:r>
            <a:r>
              <a:rPr sz="1100" spc="-20" dirty="0">
                <a:solidFill>
                  <a:srgbClr val="666666"/>
                </a:solidFill>
                <a:latin typeface="Microsoft Sans Serif"/>
                <a:cs typeface="Microsoft Sans Serif"/>
              </a:rPr>
              <a:t>and</a:t>
            </a:r>
            <a:r>
              <a:rPr sz="1100" spc="-35" dirty="0">
                <a:solidFill>
                  <a:srgbClr val="666666"/>
                </a:solidFill>
                <a:latin typeface="Microsoft Sans Serif"/>
                <a:cs typeface="Microsoft Sans Serif"/>
              </a:rPr>
              <a:t> </a:t>
            </a:r>
            <a:r>
              <a:rPr sz="1100" spc="-10" dirty="0">
                <a:solidFill>
                  <a:srgbClr val="666666"/>
                </a:solidFill>
                <a:latin typeface="Microsoft Sans Serif"/>
                <a:cs typeface="Microsoft Sans Serif"/>
              </a:rPr>
              <a:t>implementation.</a:t>
            </a:r>
            <a:endParaRPr sz="1100" dirty="0">
              <a:latin typeface="Microsoft Sans Serif"/>
              <a:cs typeface="Microsoft Sans Serif"/>
            </a:endParaRPr>
          </a:p>
        </p:txBody>
      </p:sp>
      <p:grpSp>
        <p:nvGrpSpPr>
          <p:cNvPr id="17" name="object 17"/>
          <p:cNvGrpSpPr/>
          <p:nvPr/>
        </p:nvGrpSpPr>
        <p:grpSpPr>
          <a:xfrm>
            <a:off x="6881090" y="1617019"/>
            <a:ext cx="2752725" cy="1779525"/>
            <a:chOff x="6867524" y="1457337"/>
            <a:chExt cx="2752725" cy="1400175"/>
          </a:xfrm>
        </p:grpSpPr>
        <p:sp>
          <p:nvSpPr>
            <p:cNvPr id="18" name="object 18"/>
            <p:cNvSpPr/>
            <p:nvPr/>
          </p:nvSpPr>
          <p:spPr>
            <a:xfrm>
              <a:off x="6881811" y="1457337"/>
              <a:ext cx="2738755" cy="1400175"/>
            </a:xfrm>
            <a:custGeom>
              <a:avLst/>
              <a:gdLst/>
              <a:ahLst/>
              <a:cxnLst/>
              <a:rect l="l" t="t" r="r" b="b"/>
              <a:pathLst>
                <a:path w="2738754" h="1400175">
                  <a:moveTo>
                    <a:pt x="2667241" y="1400155"/>
                  </a:moveTo>
                  <a:lnTo>
                    <a:pt x="57847" y="1400155"/>
                  </a:lnTo>
                  <a:lnTo>
                    <a:pt x="53821" y="1399670"/>
                  </a:lnTo>
                  <a:lnTo>
                    <a:pt x="15259" y="1374276"/>
                  </a:lnTo>
                  <a:lnTo>
                    <a:pt x="396" y="1333909"/>
                  </a:lnTo>
                  <a:lnTo>
                    <a:pt x="0" y="1328956"/>
                  </a:lnTo>
                  <a:lnTo>
                    <a:pt x="0" y="1323955"/>
                  </a:lnTo>
                  <a:lnTo>
                    <a:pt x="0" y="71180"/>
                  </a:lnTo>
                  <a:lnTo>
                    <a:pt x="12692" y="29689"/>
                  </a:lnTo>
                  <a:lnTo>
                    <a:pt x="41975" y="3848"/>
                  </a:lnTo>
                  <a:lnTo>
                    <a:pt x="57847" y="0"/>
                  </a:lnTo>
                  <a:lnTo>
                    <a:pt x="2667241" y="0"/>
                  </a:lnTo>
                  <a:lnTo>
                    <a:pt x="2708731" y="15592"/>
                  </a:lnTo>
                  <a:lnTo>
                    <a:pt x="2734550" y="51625"/>
                  </a:lnTo>
                  <a:lnTo>
                    <a:pt x="2738437" y="71180"/>
                  </a:lnTo>
                  <a:lnTo>
                    <a:pt x="2738437" y="1328956"/>
                  </a:lnTo>
                  <a:lnTo>
                    <a:pt x="2722815" y="1370428"/>
                  </a:lnTo>
                  <a:lnTo>
                    <a:pt x="2686775" y="1396269"/>
                  </a:lnTo>
                  <a:lnTo>
                    <a:pt x="2672196" y="1399670"/>
                  </a:lnTo>
                  <a:lnTo>
                    <a:pt x="2667241" y="1400155"/>
                  </a:lnTo>
                  <a:close/>
                </a:path>
              </a:pathLst>
            </a:custGeom>
            <a:solidFill>
              <a:srgbClr val="F7F9FA"/>
            </a:solidFill>
          </p:spPr>
          <p:txBody>
            <a:bodyPr wrap="square" lIns="0" tIns="0" rIns="0" bIns="0" rtlCol="0"/>
            <a:lstStyle/>
            <a:p>
              <a:endParaRPr sz="2800"/>
            </a:p>
          </p:txBody>
        </p:sp>
        <p:sp>
          <p:nvSpPr>
            <p:cNvPr id="19" name="object 19"/>
            <p:cNvSpPr/>
            <p:nvPr/>
          </p:nvSpPr>
          <p:spPr>
            <a:xfrm>
              <a:off x="6867524" y="1457694"/>
              <a:ext cx="69215" cy="1399540"/>
            </a:xfrm>
            <a:custGeom>
              <a:avLst/>
              <a:gdLst/>
              <a:ahLst/>
              <a:cxnLst/>
              <a:rect l="l" t="t" r="r" b="b"/>
              <a:pathLst>
                <a:path w="69215" h="1399539">
                  <a:moveTo>
                    <a:pt x="68698" y="1399420"/>
                  </a:moveTo>
                  <a:lnTo>
                    <a:pt x="27882" y="1382530"/>
                  </a:lnTo>
                  <a:lnTo>
                    <a:pt x="3262" y="1345684"/>
                  </a:lnTo>
                  <a:lnTo>
                    <a:pt x="0" y="1323597"/>
                  </a:lnTo>
                  <a:lnTo>
                    <a:pt x="0" y="75822"/>
                  </a:lnTo>
                  <a:lnTo>
                    <a:pt x="12830" y="33480"/>
                  </a:lnTo>
                  <a:lnTo>
                    <a:pt x="47038" y="5422"/>
                  </a:lnTo>
                  <a:lnTo>
                    <a:pt x="68698" y="0"/>
                  </a:lnTo>
                  <a:lnTo>
                    <a:pt x="63809" y="1556"/>
                  </a:lnTo>
                  <a:lnTo>
                    <a:pt x="52140" y="9289"/>
                  </a:lnTo>
                  <a:lnTo>
                    <a:pt x="32199" y="46662"/>
                  </a:lnTo>
                  <a:lnTo>
                    <a:pt x="28575" y="75822"/>
                  </a:lnTo>
                  <a:lnTo>
                    <a:pt x="28575" y="1323597"/>
                  </a:lnTo>
                  <a:lnTo>
                    <a:pt x="36593" y="1365939"/>
                  </a:lnTo>
                  <a:lnTo>
                    <a:pt x="63809" y="1397863"/>
                  </a:lnTo>
                  <a:lnTo>
                    <a:pt x="68698" y="1399420"/>
                  </a:lnTo>
                  <a:close/>
                </a:path>
              </a:pathLst>
            </a:custGeom>
            <a:solidFill>
              <a:srgbClr val="BF382A"/>
            </a:solidFill>
          </p:spPr>
          <p:txBody>
            <a:bodyPr wrap="square" lIns="0" tIns="0" rIns="0" bIns="0" rtlCol="0"/>
            <a:lstStyle/>
            <a:p>
              <a:endParaRPr sz="2800"/>
            </a:p>
          </p:txBody>
        </p:sp>
        <p:pic>
          <p:nvPicPr>
            <p:cNvPr id="20" name="object 20"/>
            <p:cNvPicPr/>
            <p:nvPr/>
          </p:nvPicPr>
          <p:blipFill>
            <a:blip r:embed="rId6" cstate="print"/>
            <a:stretch>
              <a:fillRect/>
            </a:stretch>
          </p:blipFill>
          <p:spPr>
            <a:xfrm>
              <a:off x="8086723" y="1600191"/>
              <a:ext cx="333374" cy="333374"/>
            </a:xfrm>
            <a:prstGeom prst="rect">
              <a:avLst/>
            </a:prstGeom>
          </p:spPr>
        </p:pic>
        <p:pic>
          <p:nvPicPr>
            <p:cNvPr id="21" name="object 21"/>
            <p:cNvPicPr/>
            <p:nvPr/>
          </p:nvPicPr>
          <p:blipFill>
            <a:blip r:embed="rId7" cstate="print"/>
            <a:stretch>
              <a:fillRect/>
            </a:stretch>
          </p:blipFill>
          <p:spPr>
            <a:xfrm>
              <a:off x="8189118" y="1701799"/>
              <a:ext cx="133350" cy="136525"/>
            </a:xfrm>
            <a:prstGeom prst="rect">
              <a:avLst/>
            </a:prstGeom>
          </p:spPr>
        </p:pic>
      </p:grpSp>
      <p:sp>
        <p:nvSpPr>
          <p:cNvPr id="22" name="object 22"/>
          <p:cNvSpPr txBox="1"/>
          <p:nvPr/>
        </p:nvSpPr>
        <p:spPr>
          <a:xfrm>
            <a:off x="7092862" y="2249290"/>
            <a:ext cx="2432685" cy="928972"/>
          </a:xfrm>
          <a:prstGeom prst="rect">
            <a:avLst/>
          </a:prstGeom>
        </p:spPr>
        <p:txBody>
          <a:bodyPr vert="horz" wrap="square" lIns="0" tIns="100330" rIns="0" bIns="0" rtlCol="0">
            <a:spAutoFit/>
          </a:bodyPr>
          <a:lstStyle/>
          <a:p>
            <a:pPr algn="ctr">
              <a:lnSpc>
                <a:spcPct val="100000"/>
              </a:lnSpc>
              <a:spcBef>
                <a:spcPts val="790"/>
              </a:spcBef>
            </a:pPr>
            <a:r>
              <a:rPr sz="1400" b="1" spc="-40" dirty="0">
                <a:solidFill>
                  <a:srgbClr val="1A1A2E"/>
                </a:solidFill>
                <a:latin typeface="Arial"/>
                <a:cs typeface="Arial"/>
              </a:rPr>
              <a:t>Hardware</a:t>
            </a:r>
            <a:r>
              <a:rPr sz="1400" b="1" spc="-65" dirty="0">
                <a:solidFill>
                  <a:srgbClr val="1A1A2E"/>
                </a:solidFill>
                <a:latin typeface="Arial"/>
                <a:cs typeface="Arial"/>
              </a:rPr>
              <a:t> </a:t>
            </a:r>
            <a:r>
              <a:rPr sz="1400" b="1" spc="-10" dirty="0">
                <a:solidFill>
                  <a:srgbClr val="1A1A2E"/>
                </a:solidFill>
                <a:latin typeface="Arial"/>
                <a:cs typeface="Arial"/>
              </a:rPr>
              <a:t>Prototype</a:t>
            </a:r>
            <a:endParaRPr sz="1400" dirty="0">
              <a:latin typeface="Arial"/>
              <a:cs typeface="Arial"/>
            </a:endParaRPr>
          </a:p>
          <a:p>
            <a:pPr marL="12065" marR="5080" algn="ctr">
              <a:lnSpc>
                <a:spcPct val="111100"/>
              </a:lnSpc>
              <a:spcBef>
                <a:spcPts val="495"/>
              </a:spcBef>
            </a:pPr>
            <a:r>
              <a:rPr sz="1100" spc="-25" dirty="0">
                <a:solidFill>
                  <a:srgbClr val="666666"/>
                </a:solidFill>
                <a:latin typeface="Microsoft Sans Serif"/>
                <a:cs typeface="Microsoft Sans Serif"/>
              </a:rPr>
              <a:t>Functional</a:t>
            </a:r>
            <a:r>
              <a:rPr sz="1100" spc="-5" dirty="0">
                <a:solidFill>
                  <a:srgbClr val="666666"/>
                </a:solidFill>
                <a:latin typeface="Microsoft Sans Serif"/>
                <a:cs typeface="Microsoft Sans Serif"/>
              </a:rPr>
              <a:t> </a:t>
            </a:r>
            <a:r>
              <a:rPr sz="1100" spc="-10" dirty="0">
                <a:solidFill>
                  <a:srgbClr val="666666"/>
                </a:solidFill>
                <a:latin typeface="Microsoft Sans Serif"/>
                <a:cs typeface="Microsoft Sans Serif"/>
              </a:rPr>
              <a:t>Intelligent</a:t>
            </a:r>
            <a:r>
              <a:rPr sz="1100" spc="-5" dirty="0">
                <a:solidFill>
                  <a:srgbClr val="666666"/>
                </a:solidFill>
                <a:latin typeface="Microsoft Sans Serif"/>
                <a:cs typeface="Microsoft Sans Serif"/>
              </a:rPr>
              <a:t> </a:t>
            </a:r>
            <a:r>
              <a:rPr sz="1100" spc="-30" dirty="0">
                <a:solidFill>
                  <a:srgbClr val="666666"/>
                </a:solidFill>
                <a:latin typeface="Microsoft Sans Serif"/>
                <a:cs typeface="Microsoft Sans Serif"/>
              </a:rPr>
              <a:t>Payload</a:t>
            </a:r>
            <a:r>
              <a:rPr sz="1100" dirty="0">
                <a:solidFill>
                  <a:srgbClr val="666666"/>
                </a:solidFill>
                <a:latin typeface="Microsoft Sans Serif"/>
                <a:cs typeface="Microsoft Sans Serif"/>
              </a:rPr>
              <a:t> with</a:t>
            </a:r>
            <a:r>
              <a:rPr sz="1100" spc="-5" dirty="0">
                <a:solidFill>
                  <a:srgbClr val="666666"/>
                </a:solidFill>
                <a:latin typeface="Microsoft Sans Serif"/>
                <a:cs typeface="Microsoft Sans Serif"/>
              </a:rPr>
              <a:t> </a:t>
            </a:r>
            <a:r>
              <a:rPr sz="1100" spc="-50" dirty="0">
                <a:solidFill>
                  <a:srgbClr val="666666"/>
                </a:solidFill>
                <a:latin typeface="Microsoft Sans Serif"/>
                <a:cs typeface="Microsoft Sans Serif"/>
              </a:rPr>
              <a:t>Pi</a:t>
            </a:r>
            <a:r>
              <a:rPr sz="1100" spc="-5" dirty="0">
                <a:solidFill>
                  <a:srgbClr val="666666"/>
                </a:solidFill>
                <a:latin typeface="Microsoft Sans Serif"/>
                <a:cs typeface="Microsoft Sans Serif"/>
              </a:rPr>
              <a:t> </a:t>
            </a:r>
            <a:r>
              <a:rPr sz="1100" spc="-20" dirty="0">
                <a:solidFill>
                  <a:srgbClr val="666666"/>
                </a:solidFill>
                <a:latin typeface="Microsoft Sans Serif"/>
                <a:cs typeface="Microsoft Sans Serif"/>
              </a:rPr>
              <a:t>5,</a:t>
            </a:r>
            <a:r>
              <a:rPr sz="1100" dirty="0">
                <a:solidFill>
                  <a:srgbClr val="666666"/>
                </a:solidFill>
                <a:latin typeface="Microsoft Sans Serif"/>
                <a:cs typeface="Microsoft Sans Serif"/>
              </a:rPr>
              <a:t> </a:t>
            </a:r>
            <a:r>
              <a:rPr sz="1100" spc="-10" dirty="0">
                <a:solidFill>
                  <a:srgbClr val="666666"/>
                </a:solidFill>
                <a:latin typeface="Microsoft Sans Serif"/>
                <a:cs typeface="Microsoft Sans Serif"/>
              </a:rPr>
              <a:t>Hailo-</a:t>
            </a:r>
            <a:r>
              <a:rPr sz="1100" spc="-25" dirty="0">
                <a:solidFill>
                  <a:srgbClr val="666666"/>
                </a:solidFill>
                <a:latin typeface="Microsoft Sans Serif"/>
                <a:cs typeface="Microsoft Sans Serif"/>
              </a:rPr>
              <a:t>8L, </a:t>
            </a:r>
            <a:r>
              <a:rPr sz="1100" spc="-20" dirty="0">
                <a:solidFill>
                  <a:srgbClr val="666666"/>
                </a:solidFill>
                <a:latin typeface="Microsoft Sans Serif"/>
                <a:cs typeface="Microsoft Sans Serif"/>
              </a:rPr>
              <a:t>and camera</a:t>
            </a:r>
            <a:r>
              <a:rPr sz="1100" spc="-15" dirty="0">
                <a:solidFill>
                  <a:srgbClr val="666666"/>
                </a:solidFill>
                <a:latin typeface="Microsoft Sans Serif"/>
                <a:cs typeface="Microsoft Sans Serif"/>
              </a:rPr>
              <a:t> </a:t>
            </a:r>
            <a:r>
              <a:rPr sz="1100" dirty="0">
                <a:solidFill>
                  <a:srgbClr val="666666"/>
                </a:solidFill>
                <a:latin typeface="Microsoft Sans Serif"/>
                <a:cs typeface="Microsoft Sans Serif"/>
              </a:rPr>
              <a:t>in</a:t>
            </a:r>
            <a:r>
              <a:rPr sz="1100" spc="-20" dirty="0">
                <a:solidFill>
                  <a:srgbClr val="666666"/>
                </a:solidFill>
                <a:latin typeface="Microsoft Sans Serif"/>
                <a:cs typeface="Microsoft Sans Serif"/>
              </a:rPr>
              <a:t> </a:t>
            </a:r>
            <a:r>
              <a:rPr sz="1100" spc="-10" dirty="0">
                <a:solidFill>
                  <a:srgbClr val="666666"/>
                </a:solidFill>
                <a:latin typeface="Microsoft Sans Serif"/>
                <a:cs typeface="Microsoft Sans Serif"/>
              </a:rPr>
              <a:t>custom</a:t>
            </a:r>
            <a:r>
              <a:rPr sz="1100" spc="-15" dirty="0">
                <a:solidFill>
                  <a:srgbClr val="666666"/>
                </a:solidFill>
                <a:latin typeface="Microsoft Sans Serif"/>
                <a:cs typeface="Microsoft Sans Serif"/>
              </a:rPr>
              <a:t> </a:t>
            </a:r>
            <a:r>
              <a:rPr sz="1100" spc="-10" dirty="0">
                <a:solidFill>
                  <a:srgbClr val="666666"/>
                </a:solidFill>
                <a:latin typeface="Microsoft Sans Serif"/>
                <a:cs typeface="Microsoft Sans Serif"/>
              </a:rPr>
              <a:t>enclosure.</a:t>
            </a:r>
            <a:endParaRPr sz="1100" dirty="0">
              <a:latin typeface="Microsoft Sans Serif"/>
              <a:cs typeface="Microsoft Sans Serif"/>
            </a:endParaRPr>
          </a:p>
        </p:txBody>
      </p:sp>
      <p:grpSp>
        <p:nvGrpSpPr>
          <p:cNvPr id="23" name="object 23"/>
          <p:cNvGrpSpPr/>
          <p:nvPr/>
        </p:nvGrpSpPr>
        <p:grpSpPr>
          <a:xfrm>
            <a:off x="1095951" y="3820403"/>
            <a:ext cx="2752725" cy="1779424"/>
            <a:chOff x="1076324" y="3000368"/>
            <a:chExt cx="2752725" cy="1247775"/>
          </a:xfrm>
        </p:grpSpPr>
        <p:sp>
          <p:nvSpPr>
            <p:cNvPr id="24" name="object 24"/>
            <p:cNvSpPr/>
            <p:nvPr/>
          </p:nvSpPr>
          <p:spPr>
            <a:xfrm>
              <a:off x="1090612" y="3000368"/>
              <a:ext cx="2738755" cy="1247775"/>
            </a:xfrm>
            <a:custGeom>
              <a:avLst/>
              <a:gdLst/>
              <a:ahLst/>
              <a:cxnLst/>
              <a:rect l="l" t="t" r="r" b="b"/>
              <a:pathLst>
                <a:path w="2738754" h="1247775">
                  <a:moveTo>
                    <a:pt x="2667240" y="1247774"/>
                  </a:moveTo>
                  <a:lnTo>
                    <a:pt x="57847" y="1247774"/>
                  </a:lnTo>
                  <a:lnTo>
                    <a:pt x="53821" y="1247270"/>
                  </a:lnTo>
                  <a:lnTo>
                    <a:pt x="15259" y="1221895"/>
                  </a:lnTo>
                  <a:lnTo>
                    <a:pt x="396" y="1181509"/>
                  </a:lnTo>
                  <a:lnTo>
                    <a:pt x="0" y="1176556"/>
                  </a:lnTo>
                  <a:lnTo>
                    <a:pt x="0" y="1171574"/>
                  </a:lnTo>
                  <a:lnTo>
                    <a:pt x="0" y="71199"/>
                  </a:lnTo>
                  <a:lnTo>
                    <a:pt x="12692" y="29689"/>
                  </a:lnTo>
                  <a:lnTo>
                    <a:pt x="41975" y="3867"/>
                  </a:lnTo>
                  <a:lnTo>
                    <a:pt x="57847" y="0"/>
                  </a:lnTo>
                  <a:lnTo>
                    <a:pt x="2667240" y="0"/>
                  </a:lnTo>
                  <a:lnTo>
                    <a:pt x="2708731" y="15592"/>
                  </a:lnTo>
                  <a:lnTo>
                    <a:pt x="2734551" y="51644"/>
                  </a:lnTo>
                  <a:lnTo>
                    <a:pt x="2738437" y="71199"/>
                  </a:lnTo>
                  <a:lnTo>
                    <a:pt x="2738437" y="1176556"/>
                  </a:lnTo>
                  <a:lnTo>
                    <a:pt x="2722815" y="1218047"/>
                  </a:lnTo>
                  <a:lnTo>
                    <a:pt x="2686774" y="1243869"/>
                  </a:lnTo>
                  <a:lnTo>
                    <a:pt x="2672195" y="1247270"/>
                  </a:lnTo>
                  <a:lnTo>
                    <a:pt x="2667240" y="1247774"/>
                  </a:lnTo>
                  <a:close/>
                </a:path>
              </a:pathLst>
            </a:custGeom>
            <a:solidFill>
              <a:srgbClr val="F7F9FA"/>
            </a:solidFill>
          </p:spPr>
          <p:txBody>
            <a:bodyPr wrap="square" lIns="0" tIns="0" rIns="0" bIns="0" rtlCol="0"/>
            <a:lstStyle/>
            <a:p>
              <a:endParaRPr sz="2800"/>
            </a:p>
          </p:txBody>
        </p:sp>
        <p:sp>
          <p:nvSpPr>
            <p:cNvPr id="25" name="object 25"/>
            <p:cNvSpPr/>
            <p:nvPr/>
          </p:nvSpPr>
          <p:spPr>
            <a:xfrm>
              <a:off x="1076324" y="3000744"/>
              <a:ext cx="69215" cy="1247140"/>
            </a:xfrm>
            <a:custGeom>
              <a:avLst/>
              <a:gdLst/>
              <a:ahLst/>
              <a:cxnLst/>
              <a:rect l="l" t="t" r="r" b="b"/>
              <a:pathLst>
                <a:path w="69215" h="1247139">
                  <a:moveTo>
                    <a:pt x="68698" y="1247019"/>
                  </a:moveTo>
                  <a:lnTo>
                    <a:pt x="27882" y="1230130"/>
                  </a:lnTo>
                  <a:lnTo>
                    <a:pt x="3262" y="1193283"/>
                  </a:lnTo>
                  <a:lnTo>
                    <a:pt x="0" y="1171197"/>
                  </a:lnTo>
                  <a:lnTo>
                    <a:pt x="0" y="75822"/>
                  </a:lnTo>
                  <a:lnTo>
                    <a:pt x="12830" y="33479"/>
                  </a:lnTo>
                  <a:lnTo>
                    <a:pt x="47039" y="5422"/>
                  </a:lnTo>
                  <a:lnTo>
                    <a:pt x="68698" y="0"/>
                  </a:lnTo>
                  <a:lnTo>
                    <a:pt x="63809" y="1555"/>
                  </a:lnTo>
                  <a:lnTo>
                    <a:pt x="52139" y="9289"/>
                  </a:lnTo>
                  <a:lnTo>
                    <a:pt x="32200" y="46661"/>
                  </a:lnTo>
                  <a:lnTo>
                    <a:pt x="28575" y="75822"/>
                  </a:lnTo>
                  <a:lnTo>
                    <a:pt x="28575" y="1171197"/>
                  </a:lnTo>
                  <a:lnTo>
                    <a:pt x="36593" y="1213539"/>
                  </a:lnTo>
                  <a:lnTo>
                    <a:pt x="63809" y="1245463"/>
                  </a:lnTo>
                  <a:lnTo>
                    <a:pt x="68698" y="1247019"/>
                  </a:lnTo>
                  <a:close/>
                </a:path>
              </a:pathLst>
            </a:custGeom>
            <a:solidFill>
              <a:srgbClr val="BF382A"/>
            </a:solidFill>
          </p:spPr>
          <p:txBody>
            <a:bodyPr wrap="square" lIns="0" tIns="0" rIns="0" bIns="0" rtlCol="0"/>
            <a:lstStyle/>
            <a:p>
              <a:endParaRPr sz="2800"/>
            </a:p>
          </p:txBody>
        </p:sp>
        <p:pic>
          <p:nvPicPr>
            <p:cNvPr id="26" name="object 26"/>
            <p:cNvPicPr/>
            <p:nvPr/>
          </p:nvPicPr>
          <p:blipFill>
            <a:blip r:embed="rId3" cstate="print"/>
            <a:stretch>
              <a:fillRect/>
            </a:stretch>
          </p:blipFill>
          <p:spPr>
            <a:xfrm>
              <a:off x="2305049" y="3143241"/>
              <a:ext cx="333374" cy="333374"/>
            </a:xfrm>
            <a:prstGeom prst="rect">
              <a:avLst/>
            </a:prstGeom>
          </p:spPr>
        </p:pic>
        <p:pic>
          <p:nvPicPr>
            <p:cNvPr id="27" name="object 27"/>
            <p:cNvPicPr/>
            <p:nvPr/>
          </p:nvPicPr>
          <p:blipFill>
            <a:blip r:embed="rId8" cstate="print"/>
            <a:stretch>
              <a:fillRect/>
            </a:stretch>
          </p:blipFill>
          <p:spPr>
            <a:xfrm>
              <a:off x="2411015" y="3244849"/>
              <a:ext cx="117475" cy="136525"/>
            </a:xfrm>
            <a:prstGeom prst="rect">
              <a:avLst/>
            </a:prstGeom>
          </p:spPr>
        </p:pic>
      </p:grpSp>
      <p:sp>
        <p:nvSpPr>
          <p:cNvPr id="28" name="object 28"/>
          <p:cNvSpPr txBox="1"/>
          <p:nvPr/>
        </p:nvSpPr>
        <p:spPr>
          <a:xfrm>
            <a:off x="1492190" y="4485580"/>
            <a:ext cx="2017395" cy="928972"/>
          </a:xfrm>
          <a:prstGeom prst="rect">
            <a:avLst/>
          </a:prstGeom>
        </p:spPr>
        <p:txBody>
          <a:bodyPr vert="horz" wrap="square" lIns="0" tIns="100330" rIns="0" bIns="0" rtlCol="0">
            <a:spAutoFit/>
          </a:bodyPr>
          <a:lstStyle/>
          <a:p>
            <a:pPr algn="ctr">
              <a:lnSpc>
                <a:spcPct val="100000"/>
              </a:lnSpc>
              <a:spcBef>
                <a:spcPts val="790"/>
              </a:spcBef>
            </a:pPr>
            <a:r>
              <a:rPr sz="1400" b="1" spc="-40" dirty="0">
                <a:solidFill>
                  <a:srgbClr val="1A1A2E"/>
                </a:solidFill>
                <a:latin typeface="Arial"/>
                <a:cs typeface="Arial"/>
              </a:rPr>
              <a:t>Software</a:t>
            </a:r>
            <a:r>
              <a:rPr sz="1400" b="1" spc="-70" dirty="0">
                <a:solidFill>
                  <a:srgbClr val="1A1A2E"/>
                </a:solidFill>
                <a:latin typeface="Arial"/>
                <a:cs typeface="Arial"/>
              </a:rPr>
              <a:t> </a:t>
            </a:r>
            <a:r>
              <a:rPr sz="1400" b="1" spc="-10" dirty="0">
                <a:solidFill>
                  <a:srgbClr val="1A1A2E"/>
                </a:solidFill>
                <a:latin typeface="Arial"/>
                <a:cs typeface="Arial"/>
              </a:rPr>
              <a:t>Repository</a:t>
            </a:r>
            <a:endParaRPr sz="1400" dirty="0">
              <a:latin typeface="Arial"/>
              <a:cs typeface="Arial"/>
            </a:endParaRPr>
          </a:p>
          <a:p>
            <a:pPr marL="12065" marR="5080" algn="ctr">
              <a:lnSpc>
                <a:spcPct val="111100"/>
              </a:lnSpc>
              <a:spcBef>
                <a:spcPts val="495"/>
              </a:spcBef>
            </a:pPr>
            <a:r>
              <a:rPr sz="1100" spc="-20" dirty="0">
                <a:solidFill>
                  <a:srgbClr val="666666"/>
                </a:solidFill>
                <a:latin typeface="Microsoft Sans Serif"/>
                <a:cs typeface="Microsoft Sans Serif"/>
              </a:rPr>
              <a:t>Complete</a:t>
            </a:r>
            <a:r>
              <a:rPr sz="1100" spc="-10" dirty="0">
                <a:solidFill>
                  <a:srgbClr val="666666"/>
                </a:solidFill>
                <a:latin typeface="Microsoft Sans Serif"/>
                <a:cs typeface="Microsoft Sans Serif"/>
              </a:rPr>
              <a:t> source: trained</a:t>
            </a:r>
            <a:r>
              <a:rPr sz="1100" spc="-5" dirty="0">
                <a:solidFill>
                  <a:srgbClr val="666666"/>
                </a:solidFill>
                <a:latin typeface="Microsoft Sans Serif"/>
                <a:cs typeface="Microsoft Sans Serif"/>
              </a:rPr>
              <a:t> </a:t>
            </a:r>
            <a:r>
              <a:rPr sz="1100" spc="-20" dirty="0">
                <a:solidFill>
                  <a:srgbClr val="666666"/>
                </a:solidFill>
                <a:latin typeface="Microsoft Sans Serif"/>
                <a:cs typeface="Microsoft Sans Serif"/>
              </a:rPr>
              <a:t>model,</a:t>
            </a:r>
            <a:r>
              <a:rPr sz="1100" spc="-10" dirty="0">
                <a:solidFill>
                  <a:srgbClr val="666666"/>
                </a:solidFill>
                <a:latin typeface="Microsoft Sans Serif"/>
                <a:cs typeface="Microsoft Sans Serif"/>
              </a:rPr>
              <a:t> Python </a:t>
            </a:r>
            <a:r>
              <a:rPr sz="1100" spc="-20" dirty="0">
                <a:solidFill>
                  <a:srgbClr val="666666"/>
                </a:solidFill>
                <a:latin typeface="Microsoft Sans Serif"/>
                <a:cs typeface="Microsoft Sans Serif"/>
              </a:rPr>
              <a:t>pipeline,</a:t>
            </a:r>
            <a:r>
              <a:rPr sz="1100" dirty="0">
                <a:solidFill>
                  <a:srgbClr val="666666"/>
                </a:solidFill>
                <a:latin typeface="Microsoft Sans Serif"/>
                <a:cs typeface="Microsoft Sans Serif"/>
              </a:rPr>
              <a:t> </a:t>
            </a:r>
            <a:r>
              <a:rPr sz="1100" spc="-20" dirty="0">
                <a:solidFill>
                  <a:srgbClr val="666666"/>
                </a:solidFill>
                <a:latin typeface="Microsoft Sans Serif"/>
                <a:cs typeface="Microsoft Sans Serif"/>
              </a:rPr>
              <a:t>and</a:t>
            </a:r>
            <a:r>
              <a:rPr sz="1100" spc="5" dirty="0">
                <a:solidFill>
                  <a:srgbClr val="666666"/>
                </a:solidFill>
                <a:latin typeface="Microsoft Sans Serif"/>
                <a:cs typeface="Microsoft Sans Serif"/>
              </a:rPr>
              <a:t> </a:t>
            </a:r>
            <a:r>
              <a:rPr sz="1100" spc="-10" dirty="0">
                <a:solidFill>
                  <a:srgbClr val="666666"/>
                </a:solidFill>
                <a:latin typeface="Microsoft Sans Serif"/>
                <a:cs typeface="Microsoft Sans Serif"/>
              </a:rPr>
              <a:t>training/validation</a:t>
            </a:r>
            <a:r>
              <a:rPr sz="1100" spc="5" dirty="0">
                <a:solidFill>
                  <a:srgbClr val="666666"/>
                </a:solidFill>
                <a:latin typeface="Microsoft Sans Serif"/>
                <a:cs typeface="Microsoft Sans Serif"/>
              </a:rPr>
              <a:t> </a:t>
            </a:r>
            <a:r>
              <a:rPr sz="1100" spc="-20" dirty="0">
                <a:solidFill>
                  <a:srgbClr val="666666"/>
                </a:solidFill>
                <a:latin typeface="Microsoft Sans Serif"/>
                <a:cs typeface="Microsoft Sans Serif"/>
              </a:rPr>
              <a:t>data.</a:t>
            </a:r>
            <a:endParaRPr sz="1100" dirty="0">
              <a:latin typeface="Microsoft Sans Serif"/>
              <a:cs typeface="Microsoft Sans Serif"/>
            </a:endParaRPr>
          </a:p>
        </p:txBody>
      </p:sp>
      <p:grpSp>
        <p:nvGrpSpPr>
          <p:cNvPr id="29" name="object 29"/>
          <p:cNvGrpSpPr/>
          <p:nvPr/>
        </p:nvGrpSpPr>
        <p:grpSpPr>
          <a:xfrm>
            <a:off x="3991551" y="3820403"/>
            <a:ext cx="2752725" cy="1779054"/>
            <a:chOff x="3971924" y="3000368"/>
            <a:chExt cx="2752725" cy="1247775"/>
          </a:xfrm>
        </p:grpSpPr>
        <p:sp>
          <p:nvSpPr>
            <p:cNvPr id="30" name="object 30"/>
            <p:cNvSpPr/>
            <p:nvPr/>
          </p:nvSpPr>
          <p:spPr>
            <a:xfrm>
              <a:off x="3986212" y="3000368"/>
              <a:ext cx="2738755" cy="1247775"/>
            </a:xfrm>
            <a:custGeom>
              <a:avLst/>
              <a:gdLst/>
              <a:ahLst/>
              <a:cxnLst/>
              <a:rect l="l" t="t" r="r" b="b"/>
              <a:pathLst>
                <a:path w="2738754" h="1247775">
                  <a:moveTo>
                    <a:pt x="2667240" y="1247774"/>
                  </a:moveTo>
                  <a:lnTo>
                    <a:pt x="57847" y="1247774"/>
                  </a:lnTo>
                  <a:lnTo>
                    <a:pt x="53821" y="1247270"/>
                  </a:lnTo>
                  <a:lnTo>
                    <a:pt x="15258" y="1221895"/>
                  </a:lnTo>
                  <a:lnTo>
                    <a:pt x="396" y="1181509"/>
                  </a:lnTo>
                  <a:lnTo>
                    <a:pt x="0" y="1176556"/>
                  </a:lnTo>
                  <a:lnTo>
                    <a:pt x="0" y="1171574"/>
                  </a:lnTo>
                  <a:lnTo>
                    <a:pt x="0" y="71199"/>
                  </a:lnTo>
                  <a:lnTo>
                    <a:pt x="12692" y="29689"/>
                  </a:lnTo>
                  <a:lnTo>
                    <a:pt x="41975" y="3867"/>
                  </a:lnTo>
                  <a:lnTo>
                    <a:pt x="57847" y="0"/>
                  </a:lnTo>
                  <a:lnTo>
                    <a:pt x="2667240" y="0"/>
                  </a:lnTo>
                  <a:lnTo>
                    <a:pt x="2708731" y="15592"/>
                  </a:lnTo>
                  <a:lnTo>
                    <a:pt x="2734551" y="51644"/>
                  </a:lnTo>
                  <a:lnTo>
                    <a:pt x="2738436" y="71199"/>
                  </a:lnTo>
                  <a:lnTo>
                    <a:pt x="2738436" y="1176556"/>
                  </a:lnTo>
                  <a:lnTo>
                    <a:pt x="2722815" y="1218047"/>
                  </a:lnTo>
                  <a:lnTo>
                    <a:pt x="2686775" y="1243869"/>
                  </a:lnTo>
                  <a:lnTo>
                    <a:pt x="2672195" y="1247270"/>
                  </a:lnTo>
                  <a:lnTo>
                    <a:pt x="2667240" y="1247774"/>
                  </a:lnTo>
                  <a:close/>
                </a:path>
              </a:pathLst>
            </a:custGeom>
            <a:solidFill>
              <a:srgbClr val="F7F9FA"/>
            </a:solidFill>
          </p:spPr>
          <p:txBody>
            <a:bodyPr wrap="square" lIns="0" tIns="0" rIns="0" bIns="0" rtlCol="0"/>
            <a:lstStyle/>
            <a:p>
              <a:endParaRPr sz="2800"/>
            </a:p>
          </p:txBody>
        </p:sp>
        <p:sp>
          <p:nvSpPr>
            <p:cNvPr id="31" name="object 31"/>
            <p:cNvSpPr/>
            <p:nvPr/>
          </p:nvSpPr>
          <p:spPr>
            <a:xfrm>
              <a:off x="3971924" y="3000744"/>
              <a:ext cx="69215" cy="1247140"/>
            </a:xfrm>
            <a:custGeom>
              <a:avLst/>
              <a:gdLst/>
              <a:ahLst/>
              <a:cxnLst/>
              <a:rect l="l" t="t" r="r" b="b"/>
              <a:pathLst>
                <a:path w="69214" h="1247139">
                  <a:moveTo>
                    <a:pt x="68698" y="1247019"/>
                  </a:moveTo>
                  <a:lnTo>
                    <a:pt x="27882" y="1230130"/>
                  </a:lnTo>
                  <a:lnTo>
                    <a:pt x="3262" y="1193283"/>
                  </a:lnTo>
                  <a:lnTo>
                    <a:pt x="0" y="1171197"/>
                  </a:lnTo>
                  <a:lnTo>
                    <a:pt x="0" y="75822"/>
                  </a:lnTo>
                  <a:lnTo>
                    <a:pt x="12829" y="33479"/>
                  </a:lnTo>
                  <a:lnTo>
                    <a:pt x="47039" y="5422"/>
                  </a:lnTo>
                  <a:lnTo>
                    <a:pt x="68698" y="0"/>
                  </a:lnTo>
                  <a:lnTo>
                    <a:pt x="63809" y="1556"/>
                  </a:lnTo>
                  <a:lnTo>
                    <a:pt x="52139" y="9289"/>
                  </a:lnTo>
                  <a:lnTo>
                    <a:pt x="32199" y="46661"/>
                  </a:lnTo>
                  <a:lnTo>
                    <a:pt x="28575" y="75822"/>
                  </a:lnTo>
                  <a:lnTo>
                    <a:pt x="28575" y="1171197"/>
                  </a:lnTo>
                  <a:lnTo>
                    <a:pt x="36593" y="1213539"/>
                  </a:lnTo>
                  <a:lnTo>
                    <a:pt x="63809" y="1245463"/>
                  </a:lnTo>
                  <a:lnTo>
                    <a:pt x="68698" y="1247019"/>
                  </a:lnTo>
                  <a:close/>
                </a:path>
              </a:pathLst>
            </a:custGeom>
            <a:solidFill>
              <a:srgbClr val="BF382A"/>
            </a:solidFill>
          </p:spPr>
          <p:txBody>
            <a:bodyPr wrap="square" lIns="0" tIns="0" rIns="0" bIns="0" rtlCol="0"/>
            <a:lstStyle/>
            <a:p>
              <a:endParaRPr sz="2800"/>
            </a:p>
          </p:txBody>
        </p:sp>
        <p:pic>
          <p:nvPicPr>
            <p:cNvPr id="32" name="object 32"/>
            <p:cNvPicPr/>
            <p:nvPr/>
          </p:nvPicPr>
          <p:blipFill>
            <a:blip r:embed="rId3" cstate="print"/>
            <a:stretch>
              <a:fillRect/>
            </a:stretch>
          </p:blipFill>
          <p:spPr>
            <a:xfrm>
              <a:off x="5200649" y="3143241"/>
              <a:ext cx="333374" cy="333374"/>
            </a:xfrm>
            <a:prstGeom prst="rect">
              <a:avLst/>
            </a:prstGeom>
          </p:spPr>
        </p:pic>
        <p:pic>
          <p:nvPicPr>
            <p:cNvPr id="33" name="object 33"/>
            <p:cNvPicPr/>
            <p:nvPr/>
          </p:nvPicPr>
          <p:blipFill>
            <a:blip r:embed="rId9" cstate="print"/>
            <a:stretch>
              <a:fillRect/>
            </a:stretch>
          </p:blipFill>
          <p:spPr>
            <a:xfrm>
              <a:off x="5279231" y="3244849"/>
              <a:ext cx="168275" cy="136525"/>
            </a:xfrm>
            <a:prstGeom prst="rect">
              <a:avLst/>
            </a:prstGeom>
          </p:spPr>
        </p:pic>
      </p:grpSp>
      <p:sp>
        <p:nvSpPr>
          <p:cNvPr id="34" name="object 34"/>
          <p:cNvSpPr txBox="1"/>
          <p:nvPr/>
        </p:nvSpPr>
        <p:spPr>
          <a:xfrm>
            <a:off x="4371122" y="4486515"/>
            <a:ext cx="2063114" cy="928972"/>
          </a:xfrm>
          <a:prstGeom prst="rect">
            <a:avLst/>
          </a:prstGeom>
        </p:spPr>
        <p:txBody>
          <a:bodyPr vert="horz" wrap="square" lIns="0" tIns="100330" rIns="0" bIns="0" rtlCol="0">
            <a:spAutoFit/>
          </a:bodyPr>
          <a:lstStyle/>
          <a:p>
            <a:pPr algn="ctr">
              <a:lnSpc>
                <a:spcPct val="100000"/>
              </a:lnSpc>
              <a:spcBef>
                <a:spcPts val="790"/>
              </a:spcBef>
            </a:pPr>
            <a:r>
              <a:rPr sz="1400" b="1" spc="-90" dirty="0">
                <a:solidFill>
                  <a:srgbClr val="1A1A2E"/>
                </a:solidFill>
                <a:latin typeface="Arial"/>
                <a:cs typeface="Arial"/>
              </a:rPr>
              <a:t>System</a:t>
            </a:r>
            <a:r>
              <a:rPr sz="1400" b="1" spc="-60" dirty="0">
                <a:solidFill>
                  <a:srgbClr val="1A1A2E"/>
                </a:solidFill>
                <a:latin typeface="Arial"/>
                <a:cs typeface="Arial"/>
              </a:rPr>
              <a:t> </a:t>
            </a:r>
            <a:r>
              <a:rPr sz="1400" b="1" spc="-10" dirty="0">
                <a:solidFill>
                  <a:srgbClr val="1A1A2E"/>
                </a:solidFill>
                <a:latin typeface="Arial"/>
                <a:cs typeface="Arial"/>
              </a:rPr>
              <a:t>Validation</a:t>
            </a:r>
            <a:endParaRPr sz="1400" dirty="0">
              <a:latin typeface="Arial"/>
              <a:cs typeface="Arial"/>
            </a:endParaRPr>
          </a:p>
          <a:p>
            <a:pPr marL="12700" marR="5080" algn="ctr">
              <a:lnSpc>
                <a:spcPct val="111100"/>
              </a:lnSpc>
              <a:spcBef>
                <a:spcPts val="495"/>
              </a:spcBef>
            </a:pPr>
            <a:r>
              <a:rPr sz="1100" spc="-10" dirty="0">
                <a:solidFill>
                  <a:srgbClr val="666666"/>
                </a:solidFill>
                <a:latin typeface="Microsoft Sans Serif"/>
                <a:cs typeface="Microsoft Sans Serif"/>
              </a:rPr>
              <a:t>Proof</a:t>
            </a:r>
            <a:r>
              <a:rPr sz="1100" spc="-15" dirty="0">
                <a:solidFill>
                  <a:srgbClr val="666666"/>
                </a:solidFill>
                <a:latin typeface="Microsoft Sans Serif"/>
                <a:cs typeface="Microsoft Sans Serif"/>
              </a:rPr>
              <a:t> </a:t>
            </a:r>
            <a:r>
              <a:rPr sz="1100" dirty="0">
                <a:solidFill>
                  <a:srgbClr val="666666"/>
                </a:solidFill>
                <a:latin typeface="Microsoft Sans Serif"/>
                <a:cs typeface="Microsoft Sans Serif"/>
              </a:rPr>
              <a:t>of</a:t>
            </a:r>
            <a:r>
              <a:rPr sz="1100" spc="-15" dirty="0">
                <a:solidFill>
                  <a:srgbClr val="666666"/>
                </a:solidFill>
                <a:latin typeface="Microsoft Sans Serif"/>
                <a:cs typeface="Microsoft Sans Serif"/>
              </a:rPr>
              <a:t> </a:t>
            </a:r>
            <a:r>
              <a:rPr sz="1100" dirty="0">
                <a:solidFill>
                  <a:srgbClr val="666666"/>
                </a:solidFill>
                <a:latin typeface="Microsoft Sans Serif"/>
                <a:cs typeface="Microsoft Sans Serif"/>
              </a:rPr>
              <a:t>concept</a:t>
            </a:r>
            <a:r>
              <a:rPr sz="1100" spc="-10" dirty="0">
                <a:solidFill>
                  <a:srgbClr val="666666"/>
                </a:solidFill>
                <a:latin typeface="Microsoft Sans Serif"/>
                <a:cs typeface="Microsoft Sans Serif"/>
              </a:rPr>
              <a:t> </a:t>
            </a:r>
            <a:r>
              <a:rPr sz="1100" dirty="0">
                <a:solidFill>
                  <a:srgbClr val="666666"/>
                </a:solidFill>
                <a:latin typeface="Microsoft Sans Serif"/>
                <a:cs typeface="Microsoft Sans Serif"/>
              </a:rPr>
              <a:t>with</a:t>
            </a:r>
            <a:r>
              <a:rPr sz="1100" spc="-15" dirty="0">
                <a:solidFill>
                  <a:srgbClr val="666666"/>
                </a:solidFill>
                <a:latin typeface="Microsoft Sans Serif"/>
                <a:cs typeface="Microsoft Sans Serif"/>
              </a:rPr>
              <a:t> </a:t>
            </a:r>
            <a:r>
              <a:rPr sz="1100" dirty="0">
                <a:solidFill>
                  <a:srgbClr val="666666"/>
                </a:solidFill>
                <a:latin typeface="Microsoft Sans Serif"/>
                <a:cs typeface="Microsoft Sans Serif"/>
              </a:rPr>
              <a:t>test</a:t>
            </a:r>
            <a:r>
              <a:rPr sz="1100" spc="-10" dirty="0">
                <a:solidFill>
                  <a:srgbClr val="666666"/>
                </a:solidFill>
                <a:latin typeface="Microsoft Sans Serif"/>
                <a:cs typeface="Microsoft Sans Serif"/>
              </a:rPr>
              <a:t> logs</a:t>
            </a:r>
            <a:r>
              <a:rPr sz="1100" spc="-15" dirty="0">
                <a:solidFill>
                  <a:srgbClr val="666666"/>
                </a:solidFill>
                <a:latin typeface="Microsoft Sans Serif"/>
                <a:cs typeface="Microsoft Sans Serif"/>
              </a:rPr>
              <a:t> </a:t>
            </a:r>
            <a:r>
              <a:rPr sz="1100" spc="-20" dirty="0">
                <a:solidFill>
                  <a:srgbClr val="666666"/>
                </a:solidFill>
                <a:latin typeface="Microsoft Sans Serif"/>
                <a:cs typeface="Microsoft Sans Serif"/>
              </a:rPr>
              <a:t>and</a:t>
            </a:r>
            <a:r>
              <a:rPr sz="1100" spc="-15" dirty="0">
                <a:solidFill>
                  <a:srgbClr val="666666"/>
                </a:solidFill>
                <a:latin typeface="Microsoft Sans Serif"/>
                <a:cs typeface="Microsoft Sans Serif"/>
              </a:rPr>
              <a:t> </a:t>
            </a:r>
            <a:r>
              <a:rPr sz="1100" spc="-20" dirty="0">
                <a:solidFill>
                  <a:srgbClr val="666666"/>
                </a:solidFill>
                <a:latin typeface="Microsoft Sans Serif"/>
                <a:cs typeface="Microsoft Sans Serif"/>
              </a:rPr>
              <a:t>video </a:t>
            </a:r>
            <a:r>
              <a:rPr sz="1100" spc="-10" dirty="0">
                <a:solidFill>
                  <a:srgbClr val="666666"/>
                </a:solidFill>
                <a:latin typeface="Microsoft Sans Serif"/>
                <a:cs typeface="Microsoft Sans Serif"/>
              </a:rPr>
              <a:t>demonstrating</a:t>
            </a:r>
            <a:r>
              <a:rPr sz="1100" spc="-20" dirty="0">
                <a:solidFill>
                  <a:srgbClr val="666666"/>
                </a:solidFill>
                <a:latin typeface="Microsoft Sans Serif"/>
                <a:cs typeface="Microsoft Sans Serif"/>
              </a:rPr>
              <a:t> autonomous</a:t>
            </a:r>
            <a:r>
              <a:rPr sz="1100" spc="-15" dirty="0">
                <a:solidFill>
                  <a:srgbClr val="666666"/>
                </a:solidFill>
                <a:latin typeface="Microsoft Sans Serif"/>
                <a:cs typeface="Microsoft Sans Serif"/>
              </a:rPr>
              <a:t> </a:t>
            </a:r>
            <a:r>
              <a:rPr sz="1100" spc="-10" dirty="0">
                <a:solidFill>
                  <a:srgbClr val="666666"/>
                </a:solidFill>
                <a:latin typeface="Microsoft Sans Serif"/>
                <a:cs typeface="Microsoft Sans Serif"/>
              </a:rPr>
              <a:t>detection.</a:t>
            </a:r>
            <a:endParaRPr sz="1100" dirty="0">
              <a:latin typeface="Microsoft Sans Serif"/>
              <a:cs typeface="Microsoft Sans Serif"/>
            </a:endParaRPr>
          </a:p>
        </p:txBody>
      </p:sp>
      <p:grpSp>
        <p:nvGrpSpPr>
          <p:cNvPr id="35" name="object 35"/>
          <p:cNvGrpSpPr/>
          <p:nvPr/>
        </p:nvGrpSpPr>
        <p:grpSpPr>
          <a:xfrm>
            <a:off x="6887151" y="3820403"/>
            <a:ext cx="2752725" cy="1778685"/>
            <a:chOff x="6867524" y="3000368"/>
            <a:chExt cx="2752725" cy="1247775"/>
          </a:xfrm>
        </p:grpSpPr>
        <p:sp>
          <p:nvSpPr>
            <p:cNvPr id="36" name="object 36"/>
            <p:cNvSpPr/>
            <p:nvPr/>
          </p:nvSpPr>
          <p:spPr>
            <a:xfrm>
              <a:off x="6881811" y="3000368"/>
              <a:ext cx="2738755" cy="1247775"/>
            </a:xfrm>
            <a:custGeom>
              <a:avLst/>
              <a:gdLst/>
              <a:ahLst/>
              <a:cxnLst/>
              <a:rect l="l" t="t" r="r" b="b"/>
              <a:pathLst>
                <a:path w="2738754" h="1247775">
                  <a:moveTo>
                    <a:pt x="2667241" y="1247774"/>
                  </a:moveTo>
                  <a:lnTo>
                    <a:pt x="57847" y="1247774"/>
                  </a:lnTo>
                  <a:lnTo>
                    <a:pt x="53821" y="1247270"/>
                  </a:lnTo>
                  <a:lnTo>
                    <a:pt x="15259" y="1221895"/>
                  </a:lnTo>
                  <a:lnTo>
                    <a:pt x="396" y="1181509"/>
                  </a:lnTo>
                  <a:lnTo>
                    <a:pt x="0" y="1176556"/>
                  </a:lnTo>
                  <a:lnTo>
                    <a:pt x="0" y="1171574"/>
                  </a:lnTo>
                  <a:lnTo>
                    <a:pt x="0" y="71199"/>
                  </a:lnTo>
                  <a:lnTo>
                    <a:pt x="12692" y="29689"/>
                  </a:lnTo>
                  <a:lnTo>
                    <a:pt x="41975" y="3867"/>
                  </a:lnTo>
                  <a:lnTo>
                    <a:pt x="57847" y="0"/>
                  </a:lnTo>
                  <a:lnTo>
                    <a:pt x="2667241" y="0"/>
                  </a:lnTo>
                  <a:lnTo>
                    <a:pt x="2708731" y="15592"/>
                  </a:lnTo>
                  <a:lnTo>
                    <a:pt x="2734550" y="51644"/>
                  </a:lnTo>
                  <a:lnTo>
                    <a:pt x="2738437" y="71199"/>
                  </a:lnTo>
                  <a:lnTo>
                    <a:pt x="2738437" y="1176556"/>
                  </a:lnTo>
                  <a:lnTo>
                    <a:pt x="2722815" y="1218047"/>
                  </a:lnTo>
                  <a:lnTo>
                    <a:pt x="2686775" y="1243869"/>
                  </a:lnTo>
                  <a:lnTo>
                    <a:pt x="2672196" y="1247270"/>
                  </a:lnTo>
                  <a:lnTo>
                    <a:pt x="2667241" y="1247774"/>
                  </a:lnTo>
                  <a:close/>
                </a:path>
              </a:pathLst>
            </a:custGeom>
            <a:solidFill>
              <a:srgbClr val="F7F9FA"/>
            </a:solidFill>
          </p:spPr>
          <p:txBody>
            <a:bodyPr wrap="square" lIns="0" tIns="0" rIns="0" bIns="0" rtlCol="0"/>
            <a:lstStyle/>
            <a:p>
              <a:endParaRPr sz="2800"/>
            </a:p>
          </p:txBody>
        </p:sp>
        <p:sp>
          <p:nvSpPr>
            <p:cNvPr id="37" name="object 37"/>
            <p:cNvSpPr/>
            <p:nvPr/>
          </p:nvSpPr>
          <p:spPr>
            <a:xfrm>
              <a:off x="6867524" y="3000743"/>
              <a:ext cx="69215" cy="1247140"/>
            </a:xfrm>
            <a:custGeom>
              <a:avLst/>
              <a:gdLst/>
              <a:ahLst/>
              <a:cxnLst/>
              <a:rect l="l" t="t" r="r" b="b"/>
              <a:pathLst>
                <a:path w="69215" h="1247139">
                  <a:moveTo>
                    <a:pt x="68698" y="1247019"/>
                  </a:moveTo>
                  <a:lnTo>
                    <a:pt x="27882" y="1230130"/>
                  </a:lnTo>
                  <a:lnTo>
                    <a:pt x="3262" y="1193283"/>
                  </a:lnTo>
                  <a:lnTo>
                    <a:pt x="0" y="1171197"/>
                  </a:lnTo>
                  <a:lnTo>
                    <a:pt x="0" y="75822"/>
                  </a:lnTo>
                  <a:lnTo>
                    <a:pt x="12830" y="33479"/>
                  </a:lnTo>
                  <a:lnTo>
                    <a:pt x="47038" y="5422"/>
                  </a:lnTo>
                  <a:lnTo>
                    <a:pt x="68698" y="0"/>
                  </a:lnTo>
                  <a:lnTo>
                    <a:pt x="63809" y="1556"/>
                  </a:lnTo>
                  <a:lnTo>
                    <a:pt x="52140" y="9289"/>
                  </a:lnTo>
                  <a:lnTo>
                    <a:pt x="32199" y="46661"/>
                  </a:lnTo>
                  <a:lnTo>
                    <a:pt x="28575" y="75822"/>
                  </a:lnTo>
                  <a:lnTo>
                    <a:pt x="28575" y="1171197"/>
                  </a:lnTo>
                  <a:lnTo>
                    <a:pt x="36593" y="1213539"/>
                  </a:lnTo>
                  <a:lnTo>
                    <a:pt x="63809" y="1245463"/>
                  </a:lnTo>
                  <a:lnTo>
                    <a:pt x="68698" y="1247019"/>
                  </a:lnTo>
                  <a:close/>
                </a:path>
              </a:pathLst>
            </a:custGeom>
            <a:solidFill>
              <a:srgbClr val="BF382A"/>
            </a:solidFill>
          </p:spPr>
          <p:txBody>
            <a:bodyPr wrap="square" lIns="0" tIns="0" rIns="0" bIns="0" rtlCol="0"/>
            <a:lstStyle/>
            <a:p>
              <a:endParaRPr sz="2800"/>
            </a:p>
          </p:txBody>
        </p:sp>
        <p:pic>
          <p:nvPicPr>
            <p:cNvPr id="38" name="object 38"/>
            <p:cNvPicPr/>
            <p:nvPr/>
          </p:nvPicPr>
          <p:blipFill>
            <a:blip r:embed="rId6" cstate="print"/>
            <a:stretch>
              <a:fillRect/>
            </a:stretch>
          </p:blipFill>
          <p:spPr>
            <a:xfrm>
              <a:off x="8086723" y="3143241"/>
              <a:ext cx="333374" cy="333374"/>
            </a:xfrm>
            <a:prstGeom prst="rect">
              <a:avLst/>
            </a:prstGeom>
          </p:spPr>
        </p:pic>
        <p:pic>
          <p:nvPicPr>
            <p:cNvPr id="39" name="object 39"/>
            <p:cNvPicPr/>
            <p:nvPr/>
          </p:nvPicPr>
          <p:blipFill>
            <a:blip r:embed="rId10" cstate="print"/>
            <a:stretch>
              <a:fillRect/>
            </a:stretch>
          </p:blipFill>
          <p:spPr>
            <a:xfrm>
              <a:off x="8189118" y="3251199"/>
              <a:ext cx="133350" cy="120650"/>
            </a:xfrm>
            <a:prstGeom prst="rect">
              <a:avLst/>
            </a:prstGeom>
          </p:spPr>
        </p:pic>
      </p:grpSp>
      <p:sp>
        <p:nvSpPr>
          <p:cNvPr id="40" name="object 40"/>
          <p:cNvSpPr txBox="1"/>
          <p:nvPr/>
        </p:nvSpPr>
        <p:spPr>
          <a:xfrm>
            <a:off x="7283390" y="4485580"/>
            <a:ext cx="1982470" cy="928972"/>
          </a:xfrm>
          <a:prstGeom prst="rect">
            <a:avLst/>
          </a:prstGeom>
        </p:spPr>
        <p:txBody>
          <a:bodyPr vert="horz" wrap="square" lIns="0" tIns="100330" rIns="0" bIns="0" rtlCol="0">
            <a:spAutoFit/>
          </a:bodyPr>
          <a:lstStyle/>
          <a:p>
            <a:pPr algn="ctr">
              <a:lnSpc>
                <a:spcPct val="100000"/>
              </a:lnSpc>
              <a:spcBef>
                <a:spcPts val="790"/>
              </a:spcBef>
            </a:pPr>
            <a:r>
              <a:rPr sz="1400" b="1" spc="-55" dirty="0">
                <a:solidFill>
                  <a:srgbClr val="1A1A2E"/>
                </a:solidFill>
                <a:latin typeface="Arial"/>
                <a:cs typeface="Arial"/>
              </a:rPr>
              <a:t>Performance</a:t>
            </a:r>
            <a:r>
              <a:rPr sz="1400" b="1" spc="-45" dirty="0">
                <a:solidFill>
                  <a:srgbClr val="1A1A2E"/>
                </a:solidFill>
                <a:latin typeface="Arial"/>
                <a:cs typeface="Arial"/>
              </a:rPr>
              <a:t> </a:t>
            </a:r>
            <a:r>
              <a:rPr sz="1400" b="1" spc="-10" dirty="0">
                <a:solidFill>
                  <a:srgbClr val="1A1A2E"/>
                </a:solidFill>
                <a:latin typeface="Arial"/>
                <a:cs typeface="Arial"/>
              </a:rPr>
              <a:t>Metrics</a:t>
            </a:r>
            <a:endParaRPr sz="1400" dirty="0">
              <a:latin typeface="Arial"/>
              <a:cs typeface="Arial"/>
            </a:endParaRPr>
          </a:p>
          <a:p>
            <a:pPr marL="12065" marR="5080" algn="ctr">
              <a:lnSpc>
                <a:spcPct val="111100"/>
              </a:lnSpc>
              <a:spcBef>
                <a:spcPts val="495"/>
              </a:spcBef>
            </a:pPr>
            <a:r>
              <a:rPr sz="1100" spc="-25" dirty="0">
                <a:solidFill>
                  <a:srgbClr val="666666"/>
                </a:solidFill>
                <a:latin typeface="Microsoft Sans Serif"/>
                <a:cs typeface="Microsoft Sans Serif"/>
              </a:rPr>
              <a:t>Target:</a:t>
            </a:r>
            <a:r>
              <a:rPr sz="1100" spc="-10" dirty="0">
                <a:solidFill>
                  <a:srgbClr val="666666"/>
                </a:solidFill>
                <a:latin typeface="Microsoft Sans Serif"/>
                <a:cs typeface="Microsoft Sans Serif"/>
              </a:rPr>
              <a:t> greater than</a:t>
            </a:r>
            <a:r>
              <a:rPr sz="1100" spc="-5" dirty="0">
                <a:solidFill>
                  <a:srgbClr val="666666"/>
                </a:solidFill>
                <a:latin typeface="Microsoft Sans Serif"/>
                <a:cs typeface="Microsoft Sans Serif"/>
              </a:rPr>
              <a:t> </a:t>
            </a:r>
            <a:r>
              <a:rPr sz="1100" dirty="0">
                <a:solidFill>
                  <a:srgbClr val="666666"/>
                </a:solidFill>
                <a:latin typeface="Microsoft Sans Serif"/>
                <a:cs typeface="Microsoft Sans Serif"/>
              </a:rPr>
              <a:t>95%</a:t>
            </a:r>
            <a:r>
              <a:rPr sz="1100" spc="-10" dirty="0">
                <a:solidFill>
                  <a:srgbClr val="666666"/>
                </a:solidFill>
                <a:latin typeface="Microsoft Sans Serif"/>
                <a:cs typeface="Microsoft Sans Serif"/>
              </a:rPr>
              <a:t> </a:t>
            </a:r>
            <a:r>
              <a:rPr sz="1100" spc="-55" dirty="0">
                <a:solidFill>
                  <a:srgbClr val="666666"/>
                </a:solidFill>
                <a:latin typeface="Microsoft Sans Serif"/>
                <a:cs typeface="Microsoft Sans Serif"/>
              </a:rPr>
              <a:t>mAP,</a:t>
            </a:r>
            <a:r>
              <a:rPr sz="1100" spc="-5" dirty="0">
                <a:solidFill>
                  <a:srgbClr val="666666"/>
                </a:solidFill>
                <a:latin typeface="Microsoft Sans Serif"/>
                <a:cs typeface="Microsoft Sans Serif"/>
              </a:rPr>
              <a:t> </a:t>
            </a:r>
            <a:r>
              <a:rPr sz="1100" dirty="0">
                <a:solidFill>
                  <a:srgbClr val="666666"/>
                </a:solidFill>
                <a:latin typeface="Microsoft Sans Serif"/>
                <a:cs typeface="Microsoft Sans Serif"/>
              </a:rPr>
              <a:t>60</a:t>
            </a:r>
            <a:r>
              <a:rPr sz="1100" spc="-10" dirty="0">
                <a:solidFill>
                  <a:srgbClr val="666666"/>
                </a:solidFill>
                <a:latin typeface="Microsoft Sans Serif"/>
                <a:cs typeface="Microsoft Sans Serif"/>
              </a:rPr>
              <a:t> </a:t>
            </a:r>
            <a:r>
              <a:rPr sz="1100" spc="-25" dirty="0">
                <a:solidFill>
                  <a:srgbClr val="666666"/>
                </a:solidFill>
                <a:latin typeface="Microsoft Sans Serif"/>
                <a:cs typeface="Microsoft Sans Serif"/>
              </a:rPr>
              <a:t>FPS </a:t>
            </a:r>
            <a:r>
              <a:rPr sz="1100" spc="-10" dirty="0">
                <a:solidFill>
                  <a:srgbClr val="666666"/>
                </a:solidFill>
                <a:latin typeface="Microsoft Sans Serif"/>
                <a:cs typeface="Microsoft Sans Serif"/>
              </a:rPr>
              <a:t>inference,</a:t>
            </a:r>
            <a:r>
              <a:rPr sz="1100" spc="-30" dirty="0">
                <a:solidFill>
                  <a:srgbClr val="666666"/>
                </a:solidFill>
                <a:latin typeface="Microsoft Sans Serif"/>
                <a:cs typeface="Microsoft Sans Serif"/>
              </a:rPr>
              <a:t> </a:t>
            </a:r>
            <a:r>
              <a:rPr sz="1100" dirty="0">
                <a:solidFill>
                  <a:srgbClr val="666666"/>
                </a:solidFill>
                <a:latin typeface="Microsoft Sans Serif"/>
                <a:cs typeface="Microsoft Sans Serif"/>
              </a:rPr>
              <a:t>desert</a:t>
            </a:r>
            <a:r>
              <a:rPr sz="1100" spc="-30" dirty="0">
                <a:solidFill>
                  <a:srgbClr val="666666"/>
                </a:solidFill>
                <a:latin typeface="Microsoft Sans Serif"/>
                <a:cs typeface="Microsoft Sans Serif"/>
              </a:rPr>
              <a:t> </a:t>
            </a:r>
            <a:r>
              <a:rPr sz="1100" spc="-10" dirty="0">
                <a:solidFill>
                  <a:srgbClr val="666666"/>
                </a:solidFill>
                <a:latin typeface="Microsoft Sans Serif"/>
                <a:cs typeface="Microsoft Sans Serif"/>
              </a:rPr>
              <a:t>robustness</a:t>
            </a:r>
            <a:r>
              <a:rPr sz="1100" spc="-30" dirty="0">
                <a:solidFill>
                  <a:srgbClr val="666666"/>
                </a:solidFill>
                <a:latin typeface="Microsoft Sans Serif"/>
                <a:cs typeface="Microsoft Sans Serif"/>
              </a:rPr>
              <a:t> </a:t>
            </a:r>
            <a:r>
              <a:rPr sz="1100" spc="-10" dirty="0">
                <a:solidFill>
                  <a:srgbClr val="666666"/>
                </a:solidFill>
                <a:latin typeface="Microsoft Sans Serif"/>
                <a:cs typeface="Microsoft Sans Serif"/>
              </a:rPr>
              <a:t>validation.</a:t>
            </a:r>
            <a:endParaRPr sz="1100" dirty="0">
              <a:latin typeface="Microsoft Sans Serif"/>
              <a:cs typeface="Microsoft Sans Serif"/>
            </a:endParaRPr>
          </a:p>
        </p:txBody>
      </p:sp>
      <p:sp>
        <p:nvSpPr>
          <p:cNvPr id="41" name="object 41"/>
          <p:cNvSpPr/>
          <p:nvPr/>
        </p:nvSpPr>
        <p:spPr>
          <a:xfrm>
            <a:off x="1076324" y="6515093"/>
            <a:ext cx="8543925" cy="9525"/>
          </a:xfrm>
          <a:custGeom>
            <a:avLst/>
            <a:gdLst/>
            <a:ahLst/>
            <a:cxnLst/>
            <a:rect l="l" t="t" r="r" b="b"/>
            <a:pathLst>
              <a:path w="8543925" h="9525">
                <a:moveTo>
                  <a:pt x="8543924" y="9524"/>
                </a:moveTo>
                <a:lnTo>
                  <a:pt x="0" y="9524"/>
                </a:lnTo>
                <a:lnTo>
                  <a:pt x="0" y="0"/>
                </a:lnTo>
                <a:lnTo>
                  <a:pt x="8543924" y="0"/>
                </a:lnTo>
                <a:lnTo>
                  <a:pt x="8543924" y="9524"/>
                </a:lnTo>
                <a:close/>
              </a:path>
            </a:pathLst>
          </a:custGeom>
          <a:solidFill>
            <a:srgbClr val="EDEDED"/>
          </a:solidFill>
        </p:spPr>
        <p:txBody>
          <a:bodyPr wrap="square" lIns="0" tIns="0" rIns="0" bIns="0" rtlCol="0"/>
          <a:lstStyle/>
          <a:p>
            <a:endParaRPr/>
          </a:p>
        </p:txBody>
      </p:sp>
      <p:sp>
        <p:nvSpPr>
          <p:cNvPr id="42" name="object 42"/>
          <p:cNvSpPr txBox="1"/>
          <p:nvPr/>
        </p:nvSpPr>
        <p:spPr>
          <a:xfrm>
            <a:off x="1067196" y="6601817"/>
            <a:ext cx="1574800" cy="158115"/>
          </a:xfrm>
          <a:prstGeom prst="rect">
            <a:avLst/>
          </a:prstGeom>
        </p:spPr>
        <p:txBody>
          <a:bodyPr vert="horz" wrap="square" lIns="0" tIns="14604" rIns="0" bIns="0" rtlCol="0">
            <a:spAutoFit/>
          </a:bodyPr>
          <a:lstStyle/>
          <a:p>
            <a:pPr marL="12700">
              <a:lnSpc>
                <a:spcPct val="100000"/>
              </a:lnSpc>
              <a:spcBef>
                <a:spcPts val="114"/>
              </a:spcBef>
            </a:pPr>
            <a:r>
              <a:rPr sz="800" spc="-20" dirty="0">
                <a:solidFill>
                  <a:srgbClr val="878787"/>
                </a:solidFill>
                <a:latin typeface="Microsoft Sans Serif"/>
                <a:cs typeface="Microsoft Sans Serif"/>
              </a:rPr>
              <a:t>GoldenEye </a:t>
            </a:r>
            <a:r>
              <a:rPr sz="850" spc="-45" dirty="0">
                <a:solidFill>
                  <a:srgbClr val="878787"/>
                </a:solidFill>
                <a:latin typeface="Verdana"/>
                <a:cs typeface="Verdana"/>
              </a:rPr>
              <a:t>-</a:t>
            </a:r>
            <a:r>
              <a:rPr sz="850" spc="-90" dirty="0">
                <a:solidFill>
                  <a:srgbClr val="878787"/>
                </a:solidFill>
                <a:latin typeface="Verdana"/>
                <a:cs typeface="Verdana"/>
              </a:rPr>
              <a:t> </a:t>
            </a:r>
            <a:r>
              <a:rPr sz="800" dirty="0">
                <a:solidFill>
                  <a:srgbClr val="878787"/>
                </a:solidFill>
                <a:latin typeface="Microsoft Sans Serif"/>
                <a:cs typeface="Microsoft Sans Serif"/>
              </a:rPr>
              <a:t>AI</a:t>
            </a:r>
            <a:r>
              <a:rPr sz="800" spc="-10" dirty="0">
                <a:solidFill>
                  <a:srgbClr val="878787"/>
                </a:solidFill>
                <a:latin typeface="Microsoft Sans Serif"/>
                <a:cs typeface="Microsoft Sans Serif"/>
              </a:rPr>
              <a:t> </a:t>
            </a:r>
            <a:r>
              <a:rPr sz="800" spc="-55" dirty="0">
                <a:solidFill>
                  <a:srgbClr val="878787"/>
                </a:solidFill>
                <a:latin typeface="Microsoft Sans Serif"/>
                <a:cs typeface="Microsoft Sans Serif"/>
              </a:rPr>
              <a:t>SAR</a:t>
            </a:r>
            <a:r>
              <a:rPr sz="800" spc="-5" dirty="0">
                <a:solidFill>
                  <a:srgbClr val="878787"/>
                </a:solidFill>
                <a:latin typeface="Microsoft Sans Serif"/>
                <a:cs typeface="Microsoft Sans Serif"/>
              </a:rPr>
              <a:t> </a:t>
            </a:r>
            <a:r>
              <a:rPr sz="800" dirty="0">
                <a:solidFill>
                  <a:srgbClr val="878787"/>
                </a:solidFill>
                <a:latin typeface="Microsoft Sans Serif"/>
                <a:cs typeface="Microsoft Sans Serif"/>
              </a:rPr>
              <a:t>Drone</a:t>
            </a:r>
            <a:r>
              <a:rPr sz="800" spc="-10" dirty="0">
                <a:solidFill>
                  <a:srgbClr val="878787"/>
                </a:solidFill>
                <a:latin typeface="Microsoft Sans Serif"/>
                <a:cs typeface="Microsoft Sans Serif"/>
              </a:rPr>
              <a:t> System</a:t>
            </a:r>
            <a:endParaRPr sz="800">
              <a:latin typeface="Microsoft Sans Serif"/>
              <a:cs typeface="Microsoft Sans Serif"/>
            </a:endParaRPr>
          </a:p>
        </p:txBody>
      </p:sp>
      <p:pic>
        <p:nvPicPr>
          <p:cNvPr id="43" name="object 43"/>
          <p:cNvPicPr/>
          <p:nvPr/>
        </p:nvPicPr>
        <p:blipFill>
          <a:blip r:embed="rId11" cstate="print"/>
          <a:stretch>
            <a:fillRect/>
          </a:stretch>
        </p:blipFill>
        <p:spPr>
          <a:xfrm>
            <a:off x="9410699" y="6619886"/>
            <a:ext cx="209549" cy="209511"/>
          </a:xfrm>
          <a:prstGeom prst="rect">
            <a:avLst/>
          </a:prstGeom>
        </p:spPr>
      </p:pic>
      <p:sp>
        <p:nvSpPr>
          <p:cNvPr id="44" name="object 44"/>
          <p:cNvSpPr txBox="1"/>
          <p:nvPr/>
        </p:nvSpPr>
        <p:spPr>
          <a:xfrm>
            <a:off x="9438480" y="6645350"/>
            <a:ext cx="147320" cy="151130"/>
          </a:xfrm>
          <a:prstGeom prst="rect">
            <a:avLst/>
          </a:prstGeom>
        </p:spPr>
        <p:txBody>
          <a:bodyPr vert="horz" wrap="square" lIns="0" tIns="15875" rIns="0" bIns="0" rtlCol="0">
            <a:spAutoFit/>
          </a:bodyPr>
          <a:lstStyle/>
          <a:p>
            <a:pPr marL="12700">
              <a:lnSpc>
                <a:spcPct val="100000"/>
              </a:lnSpc>
              <a:spcBef>
                <a:spcPts val="125"/>
              </a:spcBef>
            </a:pPr>
            <a:r>
              <a:rPr sz="800" b="1" spc="-25" dirty="0">
                <a:solidFill>
                  <a:srgbClr val="FFFFFF"/>
                </a:solidFill>
                <a:latin typeface="Arial"/>
                <a:cs typeface="Arial"/>
              </a:rPr>
              <a:t>24</a:t>
            </a:r>
            <a:endParaRPr sz="800">
              <a:latin typeface="Arial"/>
              <a:cs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7623809">
              <a:lnSpc>
                <a:spcPct val="100000"/>
              </a:lnSpc>
              <a:spcBef>
                <a:spcPts val="100"/>
              </a:spcBef>
            </a:pPr>
            <a:r>
              <a:rPr spc="-1055" dirty="0"/>
              <a:t>11</a:t>
            </a:r>
          </a:p>
        </p:txBody>
      </p:sp>
      <p:sp>
        <p:nvSpPr>
          <p:cNvPr id="3" name="object 3"/>
          <p:cNvSpPr txBox="1"/>
          <p:nvPr/>
        </p:nvSpPr>
        <p:spPr>
          <a:xfrm>
            <a:off x="3019524" y="3348588"/>
            <a:ext cx="4657725" cy="1017269"/>
          </a:xfrm>
          <a:prstGeom prst="rect">
            <a:avLst/>
          </a:prstGeom>
        </p:spPr>
        <p:txBody>
          <a:bodyPr vert="horz" wrap="square" lIns="0" tIns="13335" rIns="0" bIns="0" rtlCol="0">
            <a:spAutoFit/>
          </a:bodyPr>
          <a:lstStyle/>
          <a:p>
            <a:pPr algn="ctr">
              <a:lnSpc>
                <a:spcPct val="100000"/>
              </a:lnSpc>
              <a:spcBef>
                <a:spcPts val="105"/>
              </a:spcBef>
            </a:pPr>
            <a:r>
              <a:rPr sz="3900" b="1" spc="-350" dirty="0">
                <a:solidFill>
                  <a:srgbClr val="FFFFFF"/>
                </a:solidFill>
                <a:latin typeface="Arial"/>
                <a:cs typeface="Arial"/>
              </a:rPr>
              <a:t>Scope</a:t>
            </a:r>
            <a:r>
              <a:rPr sz="3900" b="1" spc="-390" dirty="0">
                <a:solidFill>
                  <a:srgbClr val="FFFFFF"/>
                </a:solidFill>
                <a:latin typeface="Arial"/>
                <a:cs typeface="Arial"/>
              </a:rPr>
              <a:t> </a:t>
            </a:r>
            <a:r>
              <a:rPr sz="3900" b="1" spc="-220" dirty="0">
                <a:solidFill>
                  <a:srgbClr val="FFFFFF"/>
                </a:solidFill>
                <a:latin typeface="Arial"/>
                <a:cs typeface="Arial"/>
              </a:rPr>
              <a:t>and</a:t>
            </a:r>
            <a:r>
              <a:rPr sz="3900" b="1" spc="-385" dirty="0">
                <a:solidFill>
                  <a:srgbClr val="FFFFFF"/>
                </a:solidFill>
                <a:latin typeface="Arial"/>
                <a:cs typeface="Arial"/>
              </a:rPr>
              <a:t> </a:t>
            </a:r>
            <a:r>
              <a:rPr sz="3900" b="1" spc="-180" dirty="0">
                <a:solidFill>
                  <a:srgbClr val="FFFFFF"/>
                </a:solidFill>
                <a:latin typeface="Arial"/>
                <a:cs typeface="Arial"/>
              </a:rPr>
              <a:t>Limitations</a:t>
            </a:r>
            <a:endParaRPr sz="3900">
              <a:latin typeface="Arial"/>
              <a:cs typeface="Arial"/>
            </a:endParaRPr>
          </a:p>
          <a:p>
            <a:pPr algn="ctr">
              <a:lnSpc>
                <a:spcPct val="100000"/>
              </a:lnSpc>
              <a:spcBef>
                <a:spcPts val="1320"/>
              </a:spcBef>
            </a:pPr>
            <a:r>
              <a:rPr sz="1500" spc="-30" dirty="0">
                <a:solidFill>
                  <a:srgbClr val="FFFFFF"/>
                </a:solidFill>
                <a:latin typeface="Microsoft Sans Serif"/>
                <a:cs typeface="Microsoft Sans Serif"/>
              </a:rPr>
              <a:t>Project</a:t>
            </a:r>
            <a:r>
              <a:rPr sz="1500" spc="-35" dirty="0">
                <a:solidFill>
                  <a:srgbClr val="FFFFFF"/>
                </a:solidFill>
                <a:latin typeface="Microsoft Sans Serif"/>
                <a:cs typeface="Microsoft Sans Serif"/>
              </a:rPr>
              <a:t> </a:t>
            </a:r>
            <a:r>
              <a:rPr sz="1500" spc="-30" dirty="0">
                <a:solidFill>
                  <a:srgbClr val="FFFFFF"/>
                </a:solidFill>
                <a:latin typeface="Microsoft Sans Serif"/>
                <a:cs typeface="Microsoft Sans Serif"/>
              </a:rPr>
              <a:t>boundaries</a:t>
            </a:r>
            <a:r>
              <a:rPr sz="1500" spc="-35" dirty="0">
                <a:solidFill>
                  <a:srgbClr val="FFFFFF"/>
                </a:solidFill>
                <a:latin typeface="Microsoft Sans Serif"/>
                <a:cs typeface="Microsoft Sans Serif"/>
              </a:rPr>
              <a:t> and </a:t>
            </a:r>
            <a:r>
              <a:rPr sz="1500" spc="-10" dirty="0">
                <a:solidFill>
                  <a:srgbClr val="FFFFFF"/>
                </a:solidFill>
                <a:latin typeface="Microsoft Sans Serif"/>
                <a:cs typeface="Microsoft Sans Serif"/>
              </a:rPr>
              <a:t>constraints</a:t>
            </a:r>
            <a:endParaRPr sz="1500">
              <a:latin typeface="Microsoft Sans Serif"/>
              <a:cs typeface="Microsoft Sans Serif"/>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092596" y="1423773"/>
            <a:ext cx="8543925" cy="28575"/>
          </a:xfrm>
          <a:custGeom>
            <a:avLst/>
            <a:gdLst/>
            <a:ahLst/>
            <a:cxnLst/>
            <a:rect l="l" t="t" r="r" b="b"/>
            <a:pathLst>
              <a:path w="8543925" h="28575">
                <a:moveTo>
                  <a:pt x="8543924" y="28574"/>
                </a:moveTo>
                <a:lnTo>
                  <a:pt x="0" y="28574"/>
                </a:lnTo>
                <a:lnTo>
                  <a:pt x="0" y="0"/>
                </a:lnTo>
                <a:lnTo>
                  <a:pt x="8543924" y="0"/>
                </a:lnTo>
                <a:lnTo>
                  <a:pt x="8543924" y="28574"/>
                </a:lnTo>
                <a:close/>
              </a:path>
            </a:pathLst>
          </a:custGeom>
          <a:solidFill>
            <a:srgbClr val="BF382A"/>
          </a:solidFill>
        </p:spPr>
        <p:txBody>
          <a:bodyPr wrap="square" lIns="0" tIns="0" rIns="0" bIns="0" rtlCol="0"/>
          <a:lstStyle/>
          <a:p>
            <a:endParaRPr/>
          </a:p>
        </p:txBody>
      </p:sp>
      <p:pic>
        <p:nvPicPr>
          <p:cNvPr id="3" name="object 3"/>
          <p:cNvPicPr/>
          <p:nvPr/>
        </p:nvPicPr>
        <p:blipFill>
          <a:blip r:embed="rId2" cstate="print"/>
          <a:stretch>
            <a:fillRect/>
          </a:stretch>
        </p:blipFill>
        <p:spPr>
          <a:xfrm>
            <a:off x="1092596" y="962025"/>
            <a:ext cx="184150" cy="187325"/>
          </a:xfrm>
          <a:prstGeom prst="rect">
            <a:avLst/>
          </a:prstGeom>
        </p:spPr>
      </p:pic>
      <p:sp>
        <p:nvSpPr>
          <p:cNvPr id="4" name="object 4"/>
          <p:cNvSpPr txBox="1">
            <a:spLocks noGrp="1"/>
          </p:cNvSpPr>
          <p:nvPr>
            <p:ph type="title"/>
          </p:nvPr>
        </p:nvSpPr>
        <p:spPr>
          <a:xfrm>
            <a:off x="1389318" y="828859"/>
            <a:ext cx="4227116" cy="442429"/>
          </a:xfrm>
          <a:prstGeom prst="rect">
            <a:avLst/>
          </a:prstGeom>
        </p:spPr>
        <p:txBody>
          <a:bodyPr vert="horz" wrap="square" lIns="0" tIns="11430" rIns="0" bIns="0" rtlCol="0">
            <a:spAutoFit/>
          </a:bodyPr>
          <a:lstStyle/>
          <a:p>
            <a:pPr marL="12700">
              <a:lnSpc>
                <a:spcPct val="100000"/>
              </a:lnSpc>
              <a:spcBef>
                <a:spcPts val="90"/>
              </a:spcBef>
            </a:pPr>
            <a:r>
              <a:rPr sz="2800" spc="-175" dirty="0">
                <a:solidFill>
                  <a:srgbClr val="BF382A"/>
                </a:solidFill>
              </a:rPr>
              <a:t>Scope</a:t>
            </a:r>
            <a:r>
              <a:rPr sz="2800" spc="-160" dirty="0">
                <a:solidFill>
                  <a:srgbClr val="BF382A"/>
                </a:solidFill>
              </a:rPr>
              <a:t> </a:t>
            </a:r>
            <a:r>
              <a:rPr sz="2800" spc="-110" dirty="0">
                <a:solidFill>
                  <a:srgbClr val="BF382A"/>
                </a:solidFill>
              </a:rPr>
              <a:t>and</a:t>
            </a:r>
            <a:r>
              <a:rPr sz="2800" spc="-155" dirty="0">
                <a:solidFill>
                  <a:srgbClr val="BF382A"/>
                </a:solidFill>
              </a:rPr>
              <a:t> </a:t>
            </a:r>
            <a:r>
              <a:rPr sz="2800" spc="-90" dirty="0">
                <a:solidFill>
                  <a:srgbClr val="BF382A"/>
                </a:solidFill>
              </a:rPr>
              <a:t>Limitations</a:t>
            </a:r>
            <a:endParaRPr sz="2800" dirty="0"/>
          </a:p>
        </p:txBody>
      </p:sp>
      <p:grpSp>
        <p:nvGrpSpPr>
          <p:cNvPr id="5" name="object 5"/>
          <p:cNvGrpSpPr/>
          <p:nvPr/>
        </p:nvGrpSpPr>
        <p:grpSpPr>
          <a:xfrm>
            <a:off x="1077587" y="4562467"/>
            <a:ext cx="8579196" cy="941894"/>
            <a:chOff x="1076324" y="3667117"/>
            <a:chExt cx="8543925" cy="600075"/>
          </a:xfrm>
        </p:grpSpPr>
        <p:pic>
          <p:nvPicPr>
            <p:cNvPr id="6" name="object 6"/>
            <p:cNvPicPr/>
            <p:nvPr/>
          </p:nvPicPr>
          <p:blipFill>
            <a:blip r:embed="rId3" cstate="print"/>
            <a:stretch>
              <a:fillRect/>
            </a:stretch>
          </p:blipFill>
          <p:spPr>
            <a:xfrm>
              <a:off x="1114424" y="3667117"/>
              <a:ext cx="8505824" cy="600074"/>
            </a:xfrm>
            <a:prstGeom prst="rect">
              <a:avLst/>
            </a:prstGeom>
          </p:spPr>
        </p:pic>
        <p:sp>
          <p:nvSpPr>
            <p:cNvPr id="7" name="object 7"/>
            <p:cNvSpPr/>
            <p:nvPr/>
          </p:nvSpPr>
          <p:spPr>
            <a:xfrm>
              <a:off x="1076324" y="3667117"/>
              <a:ext cx="38100" cy="600075"/>
            </a:xfrm>
            <a:custGeom>
              <a:avLst/>
              <a:gdLst/>
              <a:ahLst/>
              <a:cxnLst/>
              <a:rect l="l" t="t" r="r" b="b"/>
              <a:pathLst>
                <a:path w="38100" h="600075">
                  <a:moveTo>
                    <a:pt x="38099" y="600074"/>
                  </a:moveTo>
                  <a:lnTo>
                    <a:pt x="0" y="600074"/>
                  </a:lnTo>
                  <a:lnTo>
                    <a:pt x="0" y="0"/>
                  </a:lnTo>
                  <a:lnTo>
                    <a:pt x="38099" y="0"/>
                  </a:lnTo>
                  <a:lnTo>
                    <a:pt x="38099" y="600074"/>
                  </a:lnTo>
                  <a:close/>
                </a:path>
              </a:pathLst>
            </a:custGeom>
            <a:solidFill>
              <a:srgbClr val="F29C12"/>
            </a:solidFill>
          </p:spPr>
          <p:txBody>
            <a:bodyPr wrap="square" lIns="0" tIns="0" rIns="0" bIns="0" rtlCol="0"/>
            <a:lstStyle/>
            <a:p>
              <a:endParaRPr sz="3200"/>
            </a:p>
          </p:txBody>
        </p:sp>
        <p:pic>
          <p:nvPicPr>
            <p:cNvPr id="8" name="object 8"/>
            <p:cNvPicPr/>
            <p:nvPr/>
          </p:nvPicPr>
          <p:blipFill>
            <a:blip r:embed="rId4" cstate="print"/>
            <a:stretch>
              <a:fillRect/>
            </a:stretch>
          </p:blipFill>
          <p:spPr>
            <a:xfrm>
              <a:off x="1260871" y="3816349"/>
              <a:ext cx="114300" cy="92075"/>
            </a:xfrm>
            <a:prstGeom prst="rect">
              <a:avLst/>
            </a:prstGeom>
          </p:spPr>
        </p:pic>
      </p:grpSp>
      <p:pic>
        <p:nvPicPr>
          <p:cNvPr id="9" name="object 9"/>
          <p:cNvPicPr/>
          <p:nvPr/>
        </p:nvPicPr>
        <p:blipFill>
          <a:blip r:embed="rId5" cstate="print"/>
          <a:stretch>
            <a:fillRect/>
          </a:stretch>
        </p:blipFill>
        <p:spPr>
          <a:xfrm>
            <a:off x="932207" y="2015817"/>
            <a:ext cx="218494" cy="158750"/>
          </a:xfrm>
          <a:prstGeom prst="rect">
            <a:avLst/>
          </a:prstGeom>
        </p:spPr>
      </p:pic>
      <p:sp>
        <p:nvSpPr>
          <p:cNvPr id="10" name="object 10"/>
          <p:cNvSpPr txBox="1"/>
          <p:nvPr/>
        </p:nvSpPr>
        <p:spPr>
          <a:xfrm>
            <a:off x="1237149" y="1939940"/>
            <a:ext cx="876651" cy="292388"/>
          </a:xfrm>
          <a:prstGeom prst="rect">
            <a:avLst/>
          </a:prstGeom>
        </p:spPr>
        <p:txBody>
          <a:bodyPr vert="horz" wrap="square" lIns="0" tIns="15240" rIns="0" bIns="0" rtlCol="0">
            <a:spAutoFit/>
          </a:bodyPr>
          <a:lstStyle/>
          <a:p>
            <a:pPr marL="12700">
              <a:lnSpc>
                <a:spcPct val="100000"/>
              </a:lnSpc>
              <a:spcBef>
                <a:spcPts val="120"/>
              </a:spcBef>
            </a:pPr>
            <a:r>
              <a:rPr b="1" spc="-50" dirty="0">
                <a:solidFill>
                  <a:srgbClr val="26AE60"/>
                </a:solidFill>
                <a:latin typeface="Trebuchet MS"/>
                <a:cs typeface="Trebuchet MS"/>
              </a:rPr>
              <a:t>In</a:t>
            </a:r>
            <a:r>
              <a:rPr b="1" spc="-145" dirty="0">
                <a:solidFill>
                  <a:srgbClr val="26AE60"/>
                </a:solidFill>
                <a:latin typeface="Trebuchet MS"/>
                <a:cs typeface="Trebuchet MS"/>
              </a:rPr>
              <a:t> </a:t>
            </a:r>
            <a:r>
              <a:rPr b="1" spc="-25" dirty="0">
                <a:solidFill>
                  <a:srgbClr val="26AE60"/>
                </a:solidFill>
                <a:latin typeface="Trebuchet MS"/>
                <a:cs typeface="Trebuchet MS"/>
              </a:rPr>
              <a:t>Scope</a:t>
            </a:r>
            <a:endParaRPr dirty="0">
              <a:latin typeface="Trebuchet MS"/>
              <a:cs typeface="Trebuchet MS"/>
            </a:endParaRPr>
          </a:p>
        </p:txBody>
      </p:sp>
      <p:pic>
        <p:nvPicPr>
          <p:cNvPr id="11" name="object 11"/>
          <p:cNvPicPr/>
          <p:nvPr/>
        </p:nvPicPr>
        <p:blipFill>
          <a:blip r:embed="rId6" cstate="print"/>
          <a:stretch>
            <a:fillRect/>
          </a:stretch>
        </p:blipFill>
        <p:spPr>
          <a:xfrm>
            <a:off x="5323407" y="2033829"/>
            <a:ext cx="218494" cy="158750"/>
          </a:xfrm>
          <a:prstGeom prst="rect">
            <a:avLst/>
          </a:prstGeom>
        </p:spPr>
      </p:pic>
      <p:sp>
        <p:nvSpPr>
          <p:cNvPr id="12" name="object 12"/>
          <p:cNvSpPr txBox="1"/>
          <p:nvPr/>
        </p:nvSpPr>
        <p:spPr>
          <a:xfrm>
            <a:off x="5600789" y="1939223"/>
            <a:ext cx="1176299" cy="293029"/>
          </a:xfrm>
          <a:prstGeom prst="rect">
            <a:avLst/>
          </a:prstGeom>
        </p:spPr>
        <p:txBody>
          <a:bodyPr vert="horz" wrap="square" lIns="0" tIns="15875" rIns="0" bIns="0" rtlCol="0">
            <a:spAutoFit/>
          </a:bodyPr>
          <a:lstStyle/>
          <a:p>
            <a:pPr marL="12700">
              <a:lnSpc>
                <a:spcPct val="100000"/>
              </a:lnSpc>
              <a:spcBef>
                <a:spcPts val="125"/>
              </a:spcBef>
            </a:pPr>
            <a:r>
              <a:rPr b="1" spc="-35" dirty="0">
                <a:solidFill>
                  <a:srgbClr val="BF382A"/>
                </a:solidFill>
                <a:latin typeface="Trebuchet MS"/>
                <a:cs typeface="Trebuchet MS"/>
              </a:rPr>
              <a:t>Limitations</a:t>
            </a:r>
            <a:endParaRPr>
              <a:latin typeface="Trebuchet MS"/>
              <a:cs typeface="Trebuchet MS"/>
            </a:endParaRPr>
          </a:p>
        </p:txBody>
      </p:sp>
      <p:sp>
        <p:nvSpPr>
          <p:cNvPr id="13" name="object 13"/>
          <p:cNvSpPr txBox="1"/>
          <p:nvPr/>
        </p:nvSpPr>
        <p:spPr>
          <a:xfrm>
            <a:off x="1322285" y="4686206"/>
            <a:ext cx="6950075" cy="696986"/>
          </a:xfrm>
          <a:prstGeom prst="rect">
            <a:avLst/>
          </a:prstGeom>
        </p:spPr>
        <p:txBody>
          <a:bodyPr vert="horz" wrap="square" lIns="0" tIns="78105" rIns="0" bIns="0" rtlCol="0">
            <a:spAutoFit/>
          </a:bodyPr>
          <a:lstStyle/>
          <a:p>
            <a:pPr marL="148590">
              <a:lnSpc>
                <a:spcPct val="100000"/>
              </a:lnSpc>
              <a:spcBef>
                <a:spcPts val="615"/>
              </a:spcBef>
            </a:pPr>
            <a:r>
              <a:rPr sz="1200" b="1" spc="-50" dirty="0">
                <a:solidFill>
                  <a:srgbClr val="333333"/>
                </a:solidFill>
                <a:latin typeface="Arial"/>
                <a:cs typeface="Arial"/>
              </a:rPr>
              <a:t>Future</a:t>
            </a:r>
            <a:r>
              <a:rPr sz="1200" b="1" spc="-40" dirty="0">
                <a:solidFill>
                  <a:srgbClr val="333333"/>
                </a:solidFill>
                <a:latin typeface="Arial"/>
                <a:cs typeface="Arial"/>
              </a:rPr>
              <a:t> </a:t>
            </a:r>
            <a:r>
              <a:rPr sz="1200" b="1" spc="-20" dirty="0">
                <a:solidFill>
                  <a:srgbClr val="333333"/>
                </a:solidFill>
                <a:latin typeface="Arial"/>
                <a:cs typeface="Arial"/>
              </a:rPr>
              <a:t>Work</a:t>
            </a:r>
            <a:endParaRPr sz="1200" dirty="0">
              <a:latin typeface="Arial"/>
              <a:cs typeface="Arial"/>
            </a:endParaRPr>
          </a:p>
          <a:p>
            <a:pPr marL="12700">
              <a:lnSpc>
                <a:spcPct val="100000"/>
              </a:lnSpc>
              <a:spcBef>
                <a:spcPts val="484"/>
              </a:spcBef>
            </a:pPr>
            <a:r>
              <a:rPr sz="1200" spc="-25" dirty="0">
                <a:solidFill>
                  <a:srgbClr val="545454"/>
                </a:solidFill>
                <a:latin typeface="Microsoft Sans Serif"/>
                <a:cs typeface="Microsoft Sans Serif"/>
              </a:rPr>
              <a:t>Real-</a:t>
            </a:r>
            <a:r>
              <a:rPr sz="1200" dirty="0">
                <a:solidFill>
                  <a:srgbClr val="545454"/>
                </a:solidFill>
                <a:latin typeface="Microsoft Sans Serif"/>
                <a:cs typeface="Microsoft Sans Serif"/>
              </a:rPr>
              <a:t>world</a:t>
            </a:r>
            <a:r>
              <a:rPr sz="1200" spc="-15" dirty="0">
                <a:solidFill>
                  <a:srgbClr val="545454"/>
                </a:solidFill>
                <a:latin typeface="Microsoft Sans Serif"/>
                <a:cs typeface="Microsoft Sans Serif"/>
              </a:rPr>
              <a:t> </a:t>
            </a:r>
            <a:r>
              <a:rPr sz="1200" dirty="0">
                <a:solidFill>
                  <a:srgbClr val="545454"/>
                </a:solidFill>
                <a:latin typeface="Microsoft Sans Serif"/>
                <a:cs typeface="Microsoft Sans Serif"/>
              </a:rPr>
              <a:t>field</a:t>
            </a:r>
            <a:r>
              <a:rPr sz="1200" spc="-10" dirty="0">
                <a:solidFill>
                  <a:srgbClr val="545454"/>
                </a:solidFill>
                <a:latin typeface="Microsoft Sans Serif"/>
                <a:cs typeface="Microsoft Sans Serif"/>
              </a:rPr>
              <a:t> testing,</a:t>
            </a:r>
            <a:r>
              <a:rPr sz="1200" spc="-15" dirty="0">
                <a:solidFill>
                  <a:srgbClr val="545454"/>
                </a:solidFill>
                <a:latin typeface="Microsoft Sans Serif"/>
                <a:cs typeface="Microsoft Sans Serif"/>
              </a:rPr>
              <a:t> </a:t>
            </a:r>
            <a:r>
              <a:rPr sz="1200" spc="-10" dirty="0">
                <a:solidFill>
                  <a:srgbClr val="545454"/>
                </a:solidFill>
                <a:latin typeface="Microsoft Sans Serif"/>
                <a:cs typeface="Microsoft Sans Serif"/>
              </a:rPr>
              <a:t>thermal sensor integration,</a:t>
            </a:r>
            <a:r>
              <a:rPr sz="1200" spc="-15" dirty="0">
                <a:solidFill>
                  <a:srgbClr val="545454"/>
                </a:solidFill>
                <a:latin typeface="Microsoft Sans Serif"/>
                <a:cs typeface="Microsoft Sans Serif"/>
              </a:rPr>
              <a:t> </a:t>
            </a:r>
            <a:r>
              <a:rPr sz="1200" dirty="0">
                <a:solidFill>
                  <a:srgbClr val="545454"/>
                </a:solidFill>
                <a:latin typeface="Microsoft Sans Serif"/>
                <a:cs typeface="Microsoft Sans Serif"/>
              </a:rPr>
              <a:t>multi-</a:t>
            </a:r>
            <a:r>
              <a:rPr sz="1200" spc="-10" dirty="0">
                <a:solidFill>
                  <a:srgbClr val="545454"/>
                </a:solidFill>
                <a:latin typeface="Microsoft Sans Serif"/>
                <a:cs typeface="Microsoft Sans Serif"/>
              </a:rPr>
              <a:t>drone </a:t>
            </a:r>
            <a:r>
              <a:rPr sz="1200" dirty="0">
                <a:solidFill>
                  <a:srgbClr val="545454"/>
                </a:solidFill>
                <a:latin typeface="Microsoft Sans Serif"/>
                <a:cs typeface="Microsoft Sans Serif"/>
              </a:rPr>
              <a:t>swarm</a:t>
            </a:r>
            <a:r>
              <a:rPr sz="1200" spc="-15" dirty="0">
                <a:solidFill>
                  <a:srgbClr val="545454"/>
                </a:solidFill>
                <a:latin typeface="Microsoft Sans Serif"/>
                <a:cs typeface="Microsoft Sans Serif"/>
              </a:rPr>
              <a:t> </a:t>
            </a:r>
            <a:r>
              <a:rPr sz="1200" spc="-10" dirty="0">
                <a:solidFill>
                  <a:srgbClr val="545454"/>
                </a:solidFill>
                <a:latin typeface="Microsoft Sans Serif"/>
                <a:cs typeface="Microsoft Sans Serif"/>
              </a:rPr>
              <a:t>coordination, </a:t>
            </a:r>
            <a:r>
              <a:rPr sz="1200" spc="-20" dirty="0">
                <a:solidFill>
                  <a:srgbClr val="545454"/>
                </a:solidFill>
                <a:latin typeface="Microsoft Sans Serif"/>
                <a:cs typeface="Microsoft Sans Serif"/>
              </a:rPr>
              <a:t>and</a:t>
            </a:r>
            <a:r>
              <a:rPr sz="1200" spc="-10" dirty="0">
                <a:solidFill>
                  <a:srgbClr val="545454"/>
                </a:solidFill>
                <a:latin typeface="Microsoft Sans Serif"/>
                <a:cs typeface="Microsoft Sans Serif"/>
              </a:rPr>
              <a:t> regulatory</a:t>
            </a:r>
            <a:r>
              <a:rPr sz="1200" spc="-15" dirty="0">
                <a:solidFill>
                  <a:srgbClr val="545454"/>
                </a:solidFill>
                <a:latin typeface="Microsoft Sans Serif"/>
                <a:cs typeface="Microsoft Sans Serif"/>
              </a:rPr>
              <a:t> </a:t>
            </a:r>
            <a:r>
              <a:rPr sz="1200" spc="-10" dirty="0">
                <a:solidFill>
                  <a:srgbClr val="545454"/>
                </a:solidFill>
                <a:latin typeface="Microsoft Sans Serif"/>
                <a:cs typeface="Microsoft Sans Serif"/>
              </a:rPr>
              <a:t>compliance </a:t>
            </a:r>
            <a:r>
              <a:rPr sz="1200" dirty="0">
                <a:solidFill>
                  <a:srgbClr val="545454"/>
                </a:solidFill>
                <a:latin typeface="Microsoft Sans Serif"/>
                <a:cs typeface="Microsoft Sans Serif"/>
              </a:rPr>
              <a:t>for</a:t>
            </a:r>
            <a:r>
              <a:rPr sz="1200" spc="-15" dirty="0">
                <a:solidFill>
                  <a:srgbClr val="545454"/>
                </a:solidFill>
                <a:latin typeface="Microsoft Sans Serif"/>
                <a:cs typeface="Microsoft Sans Serif"/>
              </a:rPr>
              <a:t> </a:t>
            </a:r>
            <a:r>
              <a:rPr sz="1200" spc="-20" dirty="0">
                <a:solidFill>
                  <a:srgbClr val="545454"/>
                </a:solidFill>
                <a:latin typeface="Microsoft Sans Serif"/>
                <a:cs typeface="Microsoft Sans Serif"/>
              </a:rPr>
              <a:t>operational</a:t>
            </a:r>
            <a:r>
              <a:rPr sz="1200" spc="-10" dirty="0">
                <a:solidFill>
                  <a:srgbClr val="545454"/>
                </a:solidFill>
                <a:latin typeface="Microsoft Sans Serif"/>
                <a:cs typeface="Microsoft Sans Serif"/>
              </a:rPr>
              <a:t> deployment.</a:t>
            </a:r>
            <a:endParaRPr sz="1200" dirty="0">
              <a:latin typeface="Microsoft Sans Serif"/>
              <a:cs typeface="Microsoft Sans Serif"/>
            </a:endParaRPr>
          </a:p>
        </p:txBody>
      </p:sp>
      <p:sp>
        <p:nvSpPr>
          <p:cNvPr id="14" name="object 14"/>
          <p:cNvSpPr/>
          <p:nvPr/>
        </p:nvSpPr>
        <p:spPr>
          <a:xfrm>
            <a:off x="1076324" y="6515092"/>
            <a:ext cx="8543925" cy="9525"/>
          </a:xfrm>
          <a:custGeom>
            <a:avLst/>
            <a:gdLst/>
            <a:ahLst/>
            <a:cxnLst/>
            <a:rect l="l" t="t" r="r" b="b"/>
            <a:pathLst>
              <a:path w="8543925" h="9525">
                <a:moveTo>
                  <a:pt x="8543924" y="9524"/>
                </a:moveTo>
                <a:lnTo>
                  <a:pt x="0" y="9524"/>
                </a:lnTo>
                <a:lnTo>
                  <a:pt x="0" y="0"/>
                </a:lnTo>
                <a:lnTo>
                  <a:pt x="8543924" y="0"/>
                </a:lnTo>
                <a:lnTo>
                  <a:pt x="8543924" y="9524"/>
                </a:lnTo>
                <a:close/>
              </a:path>
            </a:pathLst>
          </a:custGeom>
          <a:solidFill>
            <a:srgbClr val="EDEDED"/>
          </a:solidFill>
        </p:spPr>
        <p:txBody>
          <a:bodyPr wrap="square" lIns="0" tIns="0" rIns="0" bIns="0" rtlCol="0"/>
          <a:lstStyle/>
          <a:p>
            <a:endParaRPr/>
          </a:p>
        </p:txBody>
      </p:sp>
      <p:sp>
        <p:nvSpPr>
          <p:cNvPr id="15" name="object 15"/>
          <p:cNvSpPr txBox="1"/>
          <p:nvPr/>
        </p:nvSpPr>
        <p:spPr>
          <a:xfrm>
            <a:off x="1067196" y="6601817"/>
            <a:ext cx="1574800" cy="158115"/>
          </a:xfrm>
          <a:prstGeom prst="rect">
            <a:avLst/>
          </a:prstGeom>
        </p:spPr>
        <p:txBody>
          <a:bodyPr vert="horz" wrap="square" lIns="0" tIns="14604" rIns="0" bIns="0" rtlCol="0">
            <a:spAutoFit/>
          </a:bodyPr>
          <a:lstStyle/>
          <a:p>
            <a:pPr marL="12700">
              <a:lnSpc>
                <a:spcPct val="100000"/>
              </a:lnSpc>
              <a:spcBef>
                <a:spcPts val="114"/>
              </a:spcBef>
            </a:pPr>
            <a:r>
              <a:rPr sz="800" spc="-20" dirty="0">
                <a:solidFill>
                  <a:srgbClr val="878787"/>
                </a:solidFill>
                <a:latin typeface="Microsoft Sans Serif"/>
                <a:cs typeface="Microsoft Sans Serif"/>
              </a:rPr>
              <a:t>GoldenEye </a:t>
            </a:r>
            <a:r>
              <a:rPr sz="850" spc="-45" dirty="0">
                <a:solidFill>
                  <a:srgbClr val="878787"/>
                </a:solidFill>
                <a:latin typeface="Verdana"/>
                <a:cs typeface="Verdana"/>
              </a:rPr>
              <a:t>-</a:t>
            </a:r>
            <a:r>
              <a:rPr sz="850" spc="-90" dirty="0">
                <a:solidFill>
                  <a:srgbClr val="878787"/>
                </a:solidFill>
                <a:latin typeface="Verdana"/>
                <a:cs typeface="Verdana"/>
              </a:rPr>
              <a:t> </a:t>
            </a:r>
            <a:r>
              <a:rPr sz="800" dirty="0">
                <a:solidFill>
                  <a:srgbClr val="878787"/>
                </a:solidFill>
                <a:latin typeface="Microsoft Sans Serif"/>
                <a:cs typeface="Microsoft Sans Serif"/>
              </a:rPr>
              <a:t>AI</a:t>
            </a:r>
            <a:r>
              <a:rPr sz="800" spc="-10" dirty="0">
                <a:solidFill>
                  <a:srgbClr val="878787"/>
                </a:solidFill>
                <a:latin typeface="Microsoft Sans Serif"/>
                <a:cs typeface="Microsoft Sans Serif"/>
              </a:rPr>
              <a:t> </a:t>
            </a:r>
            <a:r>
              <a:rPr sz="800" spc="-55" dirty="0">
                <a:solidFill>
                  <a:srgbClr val="878787"/>
                </a:solidFill>
                <a:latin typeface="Microsoft Sans Serif"/>
                <a:cs typeface="Microsoft Sans Serif"/>
              </a:rPr>
              <a:t>SAR</a:t>
            </a:r>
            <a:r>
              <a:rPr sz="800" spc="-5" dirty="0">
                <a:solidFill>
                  <a:srgbClr val="878787"/>
                </a:solidFill>
                <a:latin typeface="Microsoft Sans Serif"/>
                <a:cs typeface="Microsoft Sans Serif"/>
              </a:rPr>
              <a:t> </a:t>
            </a:r>
            <a:r>
              <a:rPr sz="800" dirty="0">
                <a:solidFill>
                  <a:srgbClr val="878787"/>
                </a:solidFill>
                <a:latin typeface="Microsoft Sans Serif"/>
                <a:cs typeface="Microsoft Sans Serif"/>
              </a:rPr>
              <a:t>Drone</a:t>
            </a:r>
            <a:r>
              <a:rPr sz="800" spc="-10" dirty="0">
                <a:solidFill>
                  <a:srgbClr val="878787"/>
                </a:solidFill>
                <a:latin typeface="Microsoft Sans Serif"/>
                <a:cs typeface="Microsoft Sans Serif"/>
              </a:rPr>
              <a:t> System</a:t>
            </a:r>
            <a:endParaRPr sz="800">
              <a:latin typeface="Microsoft Sans Serif"/>
              <a:cs typeface="Microsoft Sans Serif"/>
            </a:endParaRPr>
          </a:p>
        </p:txBody>
      </p:sp>
      <p:pic>
        <p:nvPicPr>
          <p:cNvPr id="16" name="object 16"/>
          <p:cNvPicPr/>
          <p:nvPr/>
        </p:nvPicPr>
        <p:blipFill>
          <a:blip r:embed="rId7" cstate="print"/>
          <a:stretch>
            <a:fillRect/>
          </a:stretch>
        </p:blipFill>
        <p:spPr>
          <a:xfrm>
            <a:off x="9410699" y="6619867"/>
            <a:ext cx="209549" cy="209530"/>
          </a:xfrm>
          <a:prstGeom prst="rect">
            <a:avLst/>
          </a:prstGeom>
        </p:spPr>
      </p:pic>
      <p:sp>
        <p:nvSpPr>
          <p:cNvPr id="17" name="object 17"/>
          <p:cNvSpPr txBox="1"/>
          <p:nvPr/>
        </p:nvSpPr>
        <p:spPr>
          <a:xfrm>
            <a:off x="9438927" y="6645350"/>
            <a:ext cx="146050" cy="151130"/>
          </a:xfrm>
          <a:prstGeom prst="rect">
            <a:avLst/>
          </a:prstGeom>
        </p:spPr>
        <p:txBody>
          <a:bodyPr vert="horz" wrap="square" lIns="0" tIns="15875" rIns="0" bIns="0" rtlCol="0">
            <a:spAutoFit/>
          </a:bodyPr>
          <a:lstStyle/>
          <a:p>
            <a:pPr marL="12700">
              <a:lnSpc>
                <a:spcPct val="100000"/>
              </a:lnSpc>
              <a:spcBef>
                <a:spcPts val="125"/>
              </a:spcBef>
            </a:pPr>
            <a:r>
              <a:rPr sz="800" b="1" spc="-25" dirty="0">
                <a:solidFill>
                  <a:srgbClr val="FFFFFF"/>
                </a:solidFill>
                <a:latin typeface="Arial"/>
                <a:cs typeface="Arial"/>
              </a:rPr>
              <a:t>26</a:t>
            </a:r>
            <a:endParaRPr sz="800">
              <a:latin typeface="Arial"/>
              <a:cs typeface="Arial"/>
            </a:endParaRPr>
          </a:p>
        </p:txBody>
      </p:sp>
      <p:sp>
        <p:nvSpPr>
          <p:cNvPr id="18" name="object 18"/>
          <p:cNvSpPr/>
          <p:nvPr/>
        </p:nvSpPr>
        <p:spPr>
          <a:xfrm>
            <a:off x="1060679" y="2567856"/>
            <a:ext cx="5872579" cy="9525"/>
          </a:xfrm>
          <a:custGeom>
            <a:avLst/>
            <a:gdLst/>
            <a:ahLst/>
            <a:cxnLst/>
            <a:rect l="l" t="t" r="r" b="b"/>
            <a:pathLst>
              <a:path w="4181475" h="9525">
                <a:moveTo>
                  <a:pt x="4181474" y="9524"/>
                </a:moveTo>
                <a:lnTo>
                  <a:pt x="0" y="9524"/>
                </a:lnTo>
                <a:lnTo>
                  <a:pt x="0" y="0"/>
                </a:lnTo>
                <a:lnTo>
                  <a:pt x="4181474" y="0"/>
                </a:lnTo>
                <a:lnTo>
                  <a:pt x="4181474" y="9524"/>
                </a:lnTo>
                <a:close/>
              </a:path>
            </a:pathLst>
          </a:custGeom>
          <a:solidFill>
            <a:srgbClr val="F0F0F0"/>
          </a:solidFill>
        </p:spPr>
        <p:txBody>
          <a:bodyPr wrap="square" lIns="0" tIns="0" rIns="0" bIns="0" rtlCol="0"/>
          <a:lstStyle/>
          <a:p>
            <a:endParaRPr sz="2800"/>
          </a:p>
        </p:txBody>
      </p:sp>
      <p:sp>
        <p:nvSpPr>
          <p:cNvPr id="19" name="object 19"/>
          <p:cNvSpPr txBox="1"/>
          <p:nvPr/>
        </p:nvSpPr>
        <p:spPr>
          <a:xfrm>
            <a:off x="1261101" y="2323037"/>
            <a:ext cx="3907026" cy="197490"/>
          </a:xfrm>
          <a:prstGeom prst="rect">
            <a:avLst/>
          </a:prstGeom>
        </p:spPr>
        <p:txBody>
          <a:bodyPr vert="horz" wrap="square" lIns="0" tIns="12700" rIns="0" bIns="0" rtlCol="0">
            <a:spAutoFit/>
          </a:bodyPr>
          <a:lstStyle/>
          <a:p>
            <a:pPr marL="12700">
              <a:lnSpc>
                <a:spcPct val="100000"/>
              </a:lnSpc>
              <a:spcBef>
                <a:spcPts val="100"/>
              </a:spcBef>
            </a:pPr>
            <a:r>
              <a:rPr sz="1200" spc="-30" dirty="0">
                <a:solidFill>
                  <a:srgbClr val="333333"/>
                </a:solidFill>
                <a:latin typeface="Microsoft Sans Serif"/>
                <a:cs typeface="Microsoft Sans Serif"/>
              </a:rPr>
              <a:t>Custom</a:t>
            </a:r>
            <a:r>
              <a:rPr sz="1200" spc="-15" dirty="0">
                <a:solidFill>
                  <a:srgbClr val="333333"/>
                </a:solidFill>
                <a:latin typeface="Microsoft Sans Serif"/>
                <a:cs typeface="Microsoft Sans Serif"/>
              </a:rPr>
              <a:t> </a:t>
            </a:r>
            <a:r>
              <a:rPr sz="1200" spc="-60" dirty="0">
                <a:solidFill>
                  <a:srgbClr val="333333"/>
                </a:solidFill>
                <a:latin typeface="Microsoft Sans Serif"/>
                <a:cs typeface="Microsoft Sans Serif"/>
              </a:rPr>
              <a:t>YOLOv</a:t>
            </a:r>
            <a:r>
              <a:rPr sz="1100" spc="-60" dirty="0">
                <a:solidFill>
                  <a:srgbClr val="333333"/>
                </a:solidFill>
                <a:latin typeface="Microsoft Sans Serif"/>
                <a:cs typeface="Microsoft Sans Serif"/>
              </a:rPr>
              <a:t>8</a:t>
            </a:r>
            <a:r>
              <a:rPr sz="1100" dirty="0">
                <a:solidFill>
                  <a:srgbClr val="333333"/>
                </a:solidFill>
                <a:latin typeface="Microsoft Sans Serif"/>
                <a:cs typeface="Microsoft Sans Serif"/>
              </a:rPr>
              <a:t> </a:t>
            </a:r>
            <a:r>
              <a:rPr sz="1200" spc="-20" dirty="0">
                <a:solidFill>
                  <a:srgbClr val="333333"/>
                </a:solidFill>
                <a:latin typeface="Microsoft Sans Serif"/>
                <a:cs typeface="Microsoft Sans Serif"/>
              </a:rPr>
              <a:t>model</a:t>
            </a:r>
            <a:r>
              <a:rPr sz="1200" spc="-15" dirty="0">
                <a:solidFill>
                  <a:srgbClr val="333333"/>
                </a:solidFill>
                <a:latin typeface="Microsoft Sans Serif"/>
                <a:cs typeface="Microsoft Sans Serif"/>
              </a:rPr>
              <a:t> </a:t>
            </a:r>
            <a:r>
              <a:rPr sz="1200" dirty="0">
                <a:solidFill>
                  <a:srgbClr val="333333"/>
                </a:solidFill>
                <a:latin typeface="Microsoft Sans Serif"/>
                <a:cs typeface="Microsoft Sans Serif"/>
              </a:rPr>
              <a:t>for</a:t>
            </a:r>
            <a:r>
              <a:rPr sz="1200" spc="-10" dirty="0">
                <a:solidFill>
                  <a:srgbClr val="333333"/>
                </a:solidFill>
                <a:latin typeface="Microsoft Sans Serif"/>
                <a:cs typeface="Microsoft Sans Serif"/>
              </a:rPr>
              <a:t> desert</a:t>
            </a:r>
            <a:r>
              <a:rPr sz="1200" spc="-15" dirty="0">
                <a:solidFill>
                  <a:srgbClr val="333333"/>
                </a:solidFill>
                <a:latin typeface="Microsoft Sans Serif"/>
                <a:cs typeface="Microsoft Sans Serif"/>
              </a:rPr>
              <a:t> </a:t>
            </a:r>
            <a:r>
              <a:rPr sz="1200" spc="-35" dirty="0">
                <a:solidFill>
                  <a:srgbClr val="333333"/>
                </a:solidFill>
                <a:latin typeface="Microsoft Sans Serif"/>
                <a:cs typeface="Microsoft Sans Serif"/>
              </a:rPr>
              <a:t>human</a:t>
            </a:r>
            <a:r>
              <a:rPr sz="1200" spc="-15" dirty="0">
                <a:solidFill>
                  <a:srgbClr val="333333"/>
                </a:solidFill>
                <a:latin typeface="Microsoft Sans Serif"/>
                <a:cs typeface="Microsoft Sans Serif"/>
              </a:rPr>
              <a:t> </a:t>
            </a:r>
            <a:r>
              <a:rPr sz="1200" spc="-10" dirty="0">
                <a:solidFill>
                  <a:srgbClr val="333333"/>
                </a:solidFill>
                <a:latin typeface="Microsoft Sans Serif"/>
                <a:cs typeface="Microsoft Sans Serif"/>
              </a:rPr>
              <a:t>detection</a:t>
            </a:r>
            <a:endParaRPr sz="1200">
              <a:latin typeface="Microsoft Sans Serif"/>
              <a:cs typeface="Microsoft Sans Serif"/>
            </a:endParaRPr>
          </a:p>
        </p:txBody>
      </p:sp>
      <p:sp>
        <p:nvSpPr>
          <p:cNvPr id="20" name="object 20"/>
          <p:cNvSpPr/>
          <p:nvPr/>
        </p:nvSpPr>
        <p:spPr>
          <a:xfrm>
            <a:off x="1060679" y="2863131"/>
            <a:ext cx="5872579" cy="9525"/>
          </a:xfrm>
          <a:custGeom>
            <a:avLst/>
            <a:gdLst/>
            <a:ahLst/>
            <a:cxnLst/>
            <a:rect l="l" t="t" r="r" b="b"/>
            <a:pathLst>
              <a:path w="4181475" h="9525">
                <a:moveTo>
                  <a:pt x="4181474" y="9524"/>
                </a:moveTo>
                <a:lnTo>
                  <a:pt x="0" y="9524"/>
                </a:lnTo>
                <a:lnTo>
                  <a:pt x="0" y="0"/>
                </a:lnTo>
                <a:lnTo>
                  <a:pt x="4181474" y="0"/>
                </a:lnTo>
                <a:lnTo>
                  <a:pt x="4181474" y="9524"/>
                </a:lnTo>
                <a:close/>
              </a:path>
            </a:pathLst>
          </a:custGeom>
          <a:solidFill>
            <a:srgbClr val="F0F0F0"/>
          </a:solidFill>
        </p:spPr>
        <p:txBody>
          <a:bodyPr wrap="square" lIns="0" tIns="0" rIns="0" bIns="0" rtlCol="0"/>
          <a:lstStyle/>
          <a:p>
            <a:endParaRPr sz="2800"/>
          </a:p>
        </p:txBody>
      </p:sp>
      <p:sp>
        <p:nvSpPr>
          <p:cNvPr id="21" name="object 21"/>
          <p:cNvSpPr txBox="1"/>
          <p:nvPr/>
        </p:nvSpPr>
        <p:spPr>
          <a:xfrm>
            <a:off x="1261100" y="2618312"/>
            <a:ext cx="3545843" cy="197490"/>
          </a:xfrm>
          <a:prstGeom prst="rect">
            <a:avLst/>
          </a:prstGeom>
        </p:spPr>
        <p:txBody>
          <a:bodyPr vert="horz" wrap="square" lIns="0" tIns="12700" rIns="0" bIns="0" rtlCol="0">
            <a:spAutoFit/>
          </a:bodyPr>
          <a:lstStyle/>
          <a:p>
            <a:pPr marL="12700">
              <a:lnSpc>
                <a:spcPct val="100000"/>
              </a:lnSpc>
              <a:spcBef>
                <a:spcPts val="100"/>
              </a:spcBef>
            </a:pPr>
            <a:r>
              <a:rPr sz="1200" spc="-45" dirty="0">
                <a:solidFill>
                  <a:srgbClr val="333333"/>
                </a:solidFill>
                <a:latin typeface="Microsoft Sans Serif"/>
                <a:cs typeface="Microsoft Sans Serif"/>
              </a:rPr>
              <a:t>Edge</a:t>
            </a:r>
            <a:r>
              <a:rPr sz="1200" spc="-15" dirty="0">
                <a:solidFill>
                  <a:srgbClr val="333333"/>
                </a:solidFill>
                <a:latin typeface="Microsoft Sans Serif"/>
                <a:cs typeface="Microsoft Sans Serif"/>
              </a:rPr>
              <a:t> </a:t>
            </a:r>
            <a:r>
              <a:rPr sz="1200" spc="-20" dirty="0">
                <a:solidFill>
                  <a:srgbClr val="333333"/>
                </a:solidFill>
                <a:latin typeface="Microsoft Sans Serif"/>
                <a:cs typeface="Microsoft Sans Serif"/>
              </a:rPr>
              <a:t>deployment</a:t>
            </a:r>
            <a:r>
              <a:rPr sz="1200" spc="-15" dirty="0">
                <a:solidFill>
                  <a:srgbClr val="333333"/>
                </a:solidFill>
                <a:latin typeface="Microsoft Sans Serif"/>
                <a:cs typeface="Microsoft Sans Serif"/>
              </a:rPr>
              <a:t> </a:t>
            </a:r>
            <a:r>
              <a:rPr sz="1200" dirty="0">
                <a:solidFill>
                  <a:srgbClr val="333333"/>
                </a:solidFill>
                <a:latin typeface="Microsoft Sans Serif"/>
                <a:cs typeface="Microsoft Sans Serif"/>
              </a:rPr>
              <a:t>on</a:t>
            </a:r>
            <a:r>
              <a:rPr sz="1200" spc="-10" dirty="0">
                <a:solidFill>
                  <a:srgbClr val="333333"/>
                </a:solidFill>
                <a:latin typeface="Microsoft Sans Serif"/>
                <a:cs typeface="Microsoft Sans Serif"/>
              </a:rPr>
              <a:t> </a:t>
            </a:r>
            <a:r>
              <a:rPr sz="1200" spc="-30" dirty="0">
                <a:solidFill>
                  <a:srgbClr val="333333"/>
                </a:solidFill>
                <a:latin typeface="Microsoft Sans Serif"/>
                <a:cs typeface="Microsoft Sans Serif"/>
              </a:rPr>
              <a:t>Raspberry</a:t>
            </a:r>
            <a:r>
              <a:rPr sz="1200" spc="-15" dirty="0">
                <a:solidFill>
                  <a:srgbClr val="333333"/>
                </a:solidFill>
                <a:latin typeface="Microsoft Sans Serif"/>
                <a:cs typeface="Microsoft Sans Serif"/>
              </a:rPr>
              <a:t> </a:t>
            </a:r>
            <a:r>
              <a:rPr sz="1200" spc="-50" dirty="0">
                <a:solidFill>
                  <a:srgbClr val="333333"/>
                </a:solidFill>
                <a:latin typeface="Microsoft Sans Serif"/>
                <a:cs typeface="Microsoft Sans Serif"/>
              </a:rPr>
              <a:t>Pi</a:t>
            </a:r>
            <a:r>
              <a:rPr sz="1200" spc="-15" dirty="0">
                <a:solidFill>
                  <a:srgbClr val="333333"/>
                </a:solidFill>
                <a:latin typeface="Microsoft Sans Serif"/>
                <a:cs typeface="Microsoft Sans Serif"/>
              </a:rPr>
              <a:t> </a:t>
            </a:r>
            <a:r>
              <a:rPr sz="1100" dirty="0">
                <a:solidFill>
                  <a:srgbClr val="333333"/>
                </a:solidFill>
                <a:latin typeface="Microsoft Sans Serif"/>
                <a:cs typeface="Microsoft Sans Serif"/>
              </a:rPr>
              <a:t>5</a:t>
            </a:r>
            <a:r>
              <a:rPr sz="1100" spc="5" dirty="0">
                <a:solidFill>
                  <a:srgbClr val="333333"/>
                </a:solidFill>
                <a:latin typeface="Microsoft Sans Serif"/>
                <a:cs typeface="Microsoft Sans Serif"/>
              </a:rPr>
              <a:t> </a:t>
            </a:r>
            <a:r>
              <a:rPr sz="1200" dirty="0">
                <a:solidFill>
                  <a:srgbClr val="333333"/>
                </a:solidFill>
                <a:latin typeface="Microsoft Sans Serif"/>
                <a:cs typeface="Microsoft Sans Serif"/>
              </a:rPr>
              <a:t>with</a:t>
            </a:r>
            <a:r>
              <a:rPr sz="1200" spc="-15" dirty="0">
                <a:solidFill>
                  <a:srgbClr val="333333"/>
                </a:solidFill>
                <a:latin typeface="Microsoft Sans Serif"/>
                <a:cs typeface="Microsoft Sans Serif"/>
              </a:rPr>
              <a:t> </a:t>
            </a:r>
            <a:r>
              <a:rPr sz="1200" spc="-20" dirty="0">
                <a:solidFill>
                  <a:srgbClr val="333333"/>
                </a:solidFill>
                <a:latin typeface="Microsoft Sans Serif"/>
                <a:cs typeface="Microsoft Sans Serif"/>
              </a:rPr>
              <a:t>Hailo</a:t>
            </a:r>
            <a:endParaRPr sz="1200">
              <a:latin typeface="Microsoft Sans Serif"/>
              <a:cs typeface="Microsoft Sans Serif"/>
            </a:endParaRPr>
          </a:p>
        </p:txBody>
      </p:sp>
      <p:sp>
        <p:nvSpPr>
          <p:cNvPr id="22" name="object 22"/>
          <p:cNvSpPr/>
          <p:nvPr/>
        </p:nvSpPr>
        <p:spPr>
          <a:xfrm>
            <a:off x="1060679" y="3158406"/>
            <a:ext cx="5872579" cy="9525"/>
          </a:xfrm>
          <a:custGeom>
            <a:avLst/>
            <a:gdLst/>
            <a:ahLst/>
            <a:cxnLst/>
            <a:rect l="l" t="t" r="r" b="b"/>
            <a:pathLst>
              <a:path w="4181475" h="9525">
                <a:moveTo>
                  <a:pt x="4181474" y="9524"/>
                </a:moveTo>
                <a:lnTo>
                  <a:pt x="0" y="9524"/>
                </a:lnTo>
                <a:lnTo>
                  <a:pt x="0" y="0"/>
                </a:lnTo>
                <a:lnTo>
                  <a:pt x="4181474" y="0"/>
                </a:lnTo>
                <a:lnTo>
                  <a:pt x="4181474" y="9524"/>
                </a:lnTo>
                <a:close/>
              </a:path>
            </a:pathLst>
          </a:custGeom>
          <a:solidFill>
            <a:srgbClr val="F0F0F0"/>
          </a:solidFill>
        </p:spPr>
        <p:txBody>
          <a:bodyPr wrap="square" lIns="0" tIns="0" rIns="0" bIns="0" rtlCol="0"/>
          <a:lstStyle/>
          <a:p>
            <a:endParaRPr sz="2800"/>
          </a:p>
        </p:txBody>
      </p:sp>
      <p:sp>
        <p:nvSpPr>
          <p:cNvPr id="23" name="object 23"/>
          <p:cNvSpPr txBox="1"/>
          <p:nvPr/>
        </p:nvSpPr>
        <p:spPr>
          <a:xfrm>
            <a:off x="1261101" y="2913587"/>
            <a:ext cx="2719132" cy="197490"/>
          </a:xfrm>
          <a:prstGeom prst="rect">
            <a:avLst/>
          </a:prstGeom>
        </p:spPr>
        <p:txBody>
          <a:bodyPr vert="horz" wrap="square" lIns="0" tIns="12700" rIns="0" bIns="0" rtlCol="0">
            <a:spAutoFit/>
          </a:bodyPr>
          <a:lstStyle/>
          <a:p>
            <a:pPr marL="12700">
              <a:lnSpc>
                <a:spcPct val="100000"/>
              </a:lnSpc>
              <a:spcBef>
                <a:spcPts val="100"/>
              </a:spcBef>
            </a:pPr>
            <a:r>
              <a:rPr sz="1200" spc="-40" dirty="0">
                <a:solidFill>
                  <a:srgbClr val="333333"/>
                </a:solidFill>
                <a:latin typeface="Microsoft Sans Serif"/>
                <a:cs typeface="Microsoft Sans Serif"/>
              </a:rPr>
              <a:t>Real</a:t>
            </a:r>
            <a:r>
              <a:rPr sz="1100" spc="-40" dirty="0">
                <a:solidFill>
                  <a:srgbClr val="333333"/>
                </a:solidFill>
                <a:latin typeface="Microsoft Sans Serif"/>
                <a:cs typeface="Microsoft Sans Serif"/>
              </a:rPr>
              <a:t>-</a:t>
            </a:r>
            <a:r>
              <a:rPr sz="1200" spc="-10" dirty="0">
                <a:solidFill>
                  <a:srgbClr val="333333"/>
                </a:solidFill>
                <a:latin typeface="Microsoft Sans Serif"/>
                <a:cs typeface="Microsoft Sans Serif"/>
              </a:rPr>
              <a:t>time</a:t>
            </a:r>
            <a:r>
              <a:rPr sz="1200" spc="20" dirty="0">
                <a:solidFill>
                  <a:srgbClr val="333333"/>
                </a:solidFill>
                <a:latin typeface="Microsoft Sans Serif"/>
                <a:cs typeface="Microsoft Sans Serif"/>
              </a:rPr>
              <a:t> </a:t>
            </a:r>
            <a:r>
              <a:rPr sz="1200" spc="-20" dirty="0">
                <a:solidFill>
                  <a:srgbClr val="333333"/>
                </a:solidFill>
                <a:latin typeface="Microsoft Sans Serif"/>
                <a:cs typeface="Microsoft Sans Serif"/>
              </a:rPr>
              <a:t>inference</a:t>
            </a:r>
            <a:r>
              <a:rPr sz="1200" spc="25" dirty="0">
                <a:solidFill>
                  <a:srgbClr val="333333"/>
                </a:solidFill>
                <a:latin typeface="Microsoft Sans Serif"/>
                <a:cs typeface="Microsoft Sans Serif"/>
              </a:rPr>
              <a:t> </a:t>
            </a:r>
            <a:r>
              <a:rPr sz="1100" dirty="0">
                <a:solidFill>
                  <a:srgbClr val="333333"/>
                </a:solidFill>
                <a:latin typeface="Microsoft Sans Serif"/>
                <a:cs typeface="Microsoft Sans Serif"/>
              </a:rPr>
              <a:t>(60</a:t>
            </a:r>
            <a:r>
              <a:rPr sz="1100" spc="40" dirty="0">
                <a:solidFill>
                  <a:srgbClr val="333333"/>
                </a:solidFill>
                <a:latin typeface="Microsoft Sans Serif"/>
                <a:cs typeface="Microsoft Sans Serif"/>
              </a:rPr>
              <a:t> </a:t>
            </a:r>
            <a:r>
              <a:rPr sz="1200" spc="-100" dirty="0">
                <a:solidFill>
                  <a:srgbClr val="333333"/>
                </a:solidFill>
                <a:latin typeface="Microsoft Sans Serif"/>
                <a:cs typeface="Microsoft Sans Serif"/>
              </a:rPr>
              <a:t>FPS</a:t>
            </a:r>
            <a:r>
              <a:rPr sz="1200" spc="25" dirty="0">
                <a:solidFill>
                  <a:srgbClr val="333333"/>
                </a:solidFill>
                <a:latin typeface="Microsoft Sans Serif"/>
                <a:cs typeface="Microsoft Sans Serif"/>
              </a:rPr>
              <a:t> </a:t>
            </a:r>
            <a:r>
              <a:rPr sz="1200" spc="-10" dirty="0">
                <a:solidFill>
                  <a:srgbClr val="333333"/>
                </a:solidFill>
                <a:latin typeface="Microsoft Sans Serif"/>
                <a:cs typeface="Microsoft Sans Serif"/>
              </a:rPr>
              <a:t>target</a:t>
            </a:r>
            <a:r>
              <a:rPr sz="1100" spc="-10" dirty="0">
                <a:solidFill>
                  <a:srgbClr val="333333"/>
                </a:solidFill>
                <a:latin typeface="Microsoft Sans Serif"/>
                <a:cs typeface="Microsoft Sans Serif"/>
              </a:rPr>
              <a:t>)</a:t>
            </a:r>
            <a:endParaRPr sz="1100" dirty="0">
              <a:latin typeface="Microsoft Sans Serif"/>
              <a:cs typeface="Microsoft Sans Serif"/>
            </a:endParaRPr>
          </a:p>
        </p:txBody>
      </p:sp>
      <p:sp>
        <p:nvSpPr>
          <p:cNvPr id="24" name="object 24"/>
          <p:cNvSpPr/>
          <p:nvPr/>
        </p:nvSpPr>
        <p:spPr>
          <a:xfrm>
            <a:off x="1060679" y="3453681"/>
            <a:ext cx="5872579" cy="9525"/>
          </a:xfrm>
          <a:custGeom>
            <a:avLst/>
            <a:gdLst/>
            <a:ahLst/>
            <a:cxnLst/>
            <a:rect l="l" t="t" r="r" b="b"/>
            <a:pathLst>
              <a:path w="4181475" h="9525">
                <a:moveTo>
                  <a:pt x="4181474" y="9524"/>
                </a:moveTo>
                <a:lnTo>
                  <a:pt x="0" y="9524"/>
                </a:lnTo>
                <a:lnTo>
                  <a:pt x="0" y="0"/>
                </a:lnTo>
                <a:lnTo>
                  <a:pt x="4181474" y="0"/>
                </a:lnTo>
                <a:lnTo>
                  <a:pt x="4181474" y="9524"/>
                </a:lnTo>
                <a:close/>
              </a:path>
            </a:pathLst>
          </a:custGeom>
          <a:solidFill>
            <a:srgbClr val="F0F0F0"/>
          </a:solidFill>
        </p:spPr>
        <p:txBody>
          <a:bodyPr wrap="square" lIns="0" tIns="0" rIns="0" bIns="0" rtlCol="0"/>
          <a:lstStyle/>
          <a:p>
            <a:endParaRPr sz="2800"/>
          </a:p>
        </p:txBody>
      </p:sp>
      <p:sp>
        <p:nvSpPr>
          <p:cNvPr id="25" name="object 25"/>
          <p:cNvSpPr txBox="1"/>
          <p:nvPr/>
        </p:nvSpPr>
        <p:spPr>
          <a:xfrm>
            <a:off x="1261101" y="3208862"/>
            <a:ext cx="3699234" cy="197490"/>
          </a:xfrm>
          <a:prstGeom prst="rect">
            <a:avLst/>
          </a:prstGeom>
        </p:spPr>
        <p:txBody>
          <a:bodyPr vert="horz" wrap="square" lIns="0" tIns="12700" rIns="0" bIns="0" rtlCol="0">
            <a:spAutoFit/>
          </a:bodyPr>
          <a:lstStyle/>
          <a:p>
            <a:pPr marL="12700">
              <a:lnSpc>
                <a:spcPct val="100000"/>
              </a:lnSpc>
              <a:spcBef>
                <a:spcPts val="100"/>
              </a:spcBef>
            </a:pPr>
            <a:r>
              <a:rPr sz="1200" spc="-10" dirty="0">
                <a:solidFill>
                  <a:srgbClr val="333333"/>
                </a:solidFill>
                <a:latin typeface="Microsoft Sans Serif"/>
                <a:cs typeface="Microsoft Sans Serif"/>
              </a:rPr>
              <a:t>Top</a:t>
            </a:r>
            <a:r>
              <a:rPr sz="1100" spc="-10" dirty="0">
                <a:solidFill>
                  <a:srgbClr val="333333"/>
                </a:solidFill>
                <a:latin typeface="Microsoft Sans Serif"/>
                <a:cs typeface="Microsoft Sans Serif"/>
              </a:rPr>
              <a:t>-</a:t>
            </a:r>
            <a:r>
              <a:rPr sz="1200" spc="-10" dirty="0">
                <a:solidFill>
                  <a:srgbClr val="333333"/>
                </a:solidFill>
                <a:latin typeface="Microsoft Sans Serif"/>
                <a:cs typeface="Microsoft Sans Serif"/>
              </a:rPr>
              <a:t>down</a:t>
            </a:r>
            <a:r>
              <a:rPr sz="1200" spc="-30" dirty="0">
                <a:solidFill>
                  <a:srgbClr val="333333"/>
                </a:solidFill>
                <a:latin typeface="Microsoft Sans Serif"/>
                <a:cs typeface="Microsoft Sans Serif"/>
              </a:rPr>
              <a:t> </a:t>
            </a:r>
            <a:r>
              <a:rPr sz="1200" spc="-20" dirty="0">
                <a:solidFill>
                  <a:srgbClr val="333333"/>
                </a:solidFill>
                <a:latin typeface="Microsoft Sans Serif"/>
                <a:cs typeface="Microsoft Sans Serif"/>
              </a:rPr>
              <a:t>and</a:t>
            </a:r>
            <a:r>
              <a:rPr sz="1200" spc="-30" dirty="0">
                <a:solidFill>
                  <a:srgbClr val="333333"/>
                </a:solidFill>
                <a:latin typeface="Microsoft Sans Serif"/>
                <a:cs typeface="Microsoft Sans Serif"/>
              </a:rPr>
              <a:t> </a:t>
            </a:r>
            <a:r>
              <a:rPr sz="1200" dirty="0">
                <a:solidFill>
                  <a:srgbClr val="333333"/>
                </a:solidFill>
                <a:latin typeface="Microsoft Sans Serif"/>
                <a:cs typeface="Microsoft Sans Serif"/>
              </a:rPr>
              <a:t>high</a:t>
            </a:r>
            <a:r>
              <a:rPr sz="1100" dirty="0">
                <a:solidFill>
                  <a:srgbClr val="333333"/>
                </a:solidFill>
                <a:latin typeface="Microsoft Sans Serif"/>
                <a:cs typeface="Microsoft Sans Serif"/>
              </a:rPr>
              <a:t>-</a:t>
            </a:r>
            <a:r>
              <a:rPr sz="1200" spc="-10" dirty="0">
                <a:solidFill>
                  <a:srgbClr val="333333"/>
                </a:solidFill>
                <a:latin typeface="Microsoft Sans Serif"/>
                <a:cs typeface="Microsoft Sans Serif"/>
              </a:rPr>
              <a:t>oblique</a:t>
            </a:r>
            <a:r>
              <a:rPr sz="1200" spc="-30" dirty="0">
                <a:solidFill>
                  <a:srgbClr val="333333"/>
                </a:solidFill>
                <a:latin typeface="Microsoft Sans Serif"/>
                <a:cs typeface="Microsoft Sans Serif"/>
              </a:rPr>
              <a:t> </a:t>
            </a:r>
            <a:r>
              <a:rPr sz="1200" spc="-10" dirty="0">
                <a:solidFill>
                  <a:srgbClr val="333333"/>
                </a:solidFill>
                <a:latin typeface="Microsoft Sans Serif"/>
                <a:cs typeface="Microsoft Sans Serif"/>
              </a:rPr>
              <a:t>perspective</a:t>
            </a:r>
            <a:r>
              <a:rPr sz="1200" spc="-30" dirty="0">
                <a:solidFill>
                  <a:srgbClr val="333333"/>
                </a:solidFill>
                <a:latin typeface="Microsoft Sans Serif"/>
                <a:cs typeface="Microsoft Sans Serif"/>
              </a:rPr>
              <a:t> </a:t>
            </a:r>
            <a:r>
              <a:rPr sz="1200" spc="-10" dirty="0">
                <a:solidFill>
                  <a:srgbClr val="333333"/>
                </a:solidFill>
                <a:latin typeface="Microsoft Sans Serif"/>
                <a:cs typeface="Microsoft Sans Serif"/>
              </a:rPr>
              <a:t>training</a:t>
            </a:r>
            <a:endParaRPr sz="1200">
              <a:latin typeface="Microsoft Sans Serif"/>
              <a:cs typeface="Microsoft Sans Serif"/>
            </a:endParaRPr>
          </a:p>
        </p:txBody>
      </p:sp>
      <p:sp>
        <p:nvSpPr>
          <p:cNvPr id="26" name="object 26"/>
          <p:cNvSpPr/>
          <p:nvPr/>
        </p:nvSpPr>
        <p:spPr>
          <a:xfrm>
            <a:off x="1060679" y="3748956"/>
            <a:ext cx="5872579" cy="9525"/>
          </a:xfrm>
          <a:custGeom>
            <a:avLst/>
            <a:gdLst/>
            <a:ahLst/>
            <a:cxnLst/>
            <a:rect l="l" t="t" r="r" b="b"/>
            <a:pathLst>
              <a:path w="4181475" h="9525">
                <a:moveTo>
                  <a:pt x="4181474" y="9524"/>
                </a:moveTo>
                <a:lnTo>
                  <a:pt x="0" y="9524"/>
                </a:lnTo>
                <a:lnTo>
                  <a:pt x="0" y="0"/>
                </a:lnTo>
                <a:lnTo>
                  <a:pt x="4181474" y="0"/>
                </a:lnTo>
                <a:lnTo>
                  <a:pt x="4181474" y="9524"/>
                </a:lnTo>
                <a:close/>
              </a:path>
            </a:pathLst>
          </a:custGeom>
          <a:solidFill>
            <a:srgbClr val="F0F0F0"/>
          </a:solidFill>
        </p:spPr>
        <p:txBody>
          <a:bodyPr wrap="square" lIns="0" tIns="0" rIns="0" bIns="0" rtlCol="0"/>
          <a:lstStyle/>
          <a:p>
            <a:endParaRPr sz="2800"/>
          </a:p>
        </p:txBody>
      </p:sp>
      <p:sp>
        <p:nvSpPr>
          <p:cNvPr id="28" name="object 28"/>
          <p:cNvSpPr txBox="1"/>
          <p:nvPr/>
        </p:nvSpPr>
        <p:spPr>
          <a:xfrm>
            <a:off x="1261101" y="3529429"/>
            <a:ext cx="2452482" cy="197490"/>
          </a:xfrm>
          <a:prstGeom prst="rect">
            <a:avLst/>
          </a:prstGeom>
        </p:spPr>
        <p:txBody>
          <a:bodyPr vert="horz" wrap="square" lIns="0" tIns="12700" rIns="0" bIns="0" rtlCol="0">
            <a:spAutoFit/>
          </a:bodyPr>
          <a:lstStyle/>
          <a:p>
            <a:pPr marL="12700">
              <a:lnSpc>
                <a:spcPct val="100000"/>
              </a:lnSpc>
              <a:spcBef>
                <a:spcPts val="100"/>
              </a:spcBef>
            </a:pPr>
            <a:r>
              <a:rPr sz="1200" spc="-10" dirty="0">
                <a:solidFill>
                  <a:srgbClr val="333333"/>
                </a:solidFill>
                <a:latin typeface="Microsoft Sans Serif"/>
                <a:cs typeface="Microsoft Sans Serif"/>
              </a:rPr>
              <a:t>Proof</a:t>
            </a:r>
            <a:r>
              <a:rPr sz="1200" spc="-35" dirty="0">
                <a:solidFill>
                  <a:srgbClr val="333333"/>
                </a:solidFill>
                <a:latin typeface="Microsoft Sans Serif"/>
                <a:cs typeface="Microsoft Sans Serif"/>
              </a:rPr>
              <a:t> </a:t>
            </a:r>
            <a:r>
              <a:rPr sz="1200" dirty="0">
                <a:solidFill>
                  <a:srgbClr val="333333"/>
                </a:solidFill>
                <a:latin typeface="Microsoft Sans Serif"/>
                <a:cs typeface="Microsoft Sans Serif"/>
              </a:rPr>
              <a:t>of</a:t>
            </a:r>
            <a:r>
              <a:rPr sz="1200" spc="-30" dirty="0">
                <a:solidFill>
                  <a:srgbClr val="333333"/>
                </a:solidFill>
                <a:latin typeface="Microsoft Sans Serif"/>
                <a:cs typeface="Microsoft Sans Serif"/>
              </a:rPr>
              <a:t> </a:t>
            </a:r>
            <a:r>
              <a:rPr sz="1200" dirty="0">
                <a:solidFill>
                  <a:srgbClr val="333333"/>
                </a:solidFill>
                <a:latin typeface="Microsoft Sans Serif"/>
                <a:cs typeface="Microsoft Sans Serif"/>
              </a:rPr>
              <a:t>concept</a:t>
            </a:r>
            <a:r>
              <a:rPr sz="1200" spc="-30" dirty="0">
                <a:solidFill>
                  <a:srgbClr val="333333"/>
                </a:solidFill>
                <a:latin typeface="Microsoft Sans Serif"/>
                <a:cs typeface="Microsoft Sans Serif"/>
              </a:rPr>
              <a:t> </a:t>
            </a:r>
            <a:r>
              <a:rPr sz="1200" spc="-10" dirty="0">
                <a:solidFill>
                  <a:srgbClr val="333333"/>
                </a:solidFill>
                <a:latin typeface="Microsoft Sans Serif"/>
                <a:cs typeface="Microsoft Sans Serif"/>
              </a:rPr>
              <a:t>demonstration</a:t>
            </a:r>
            <a:endParaRPr sz="1200" dirty="0">
              <a:latin typeface="Microsoft Sans Serif"/>
              <a:cs typeface="Microsoft Sans Serif"/>
            </a:endParaRPr>
          </a:p>
        </p:txBody>
      </p:sp>
      <p:sp>
        <p:nvSpPr>
          <p:cNvPr id="29" name="object 29"/>
          <p:cNvSpPr/>
          <p:nvPr/>
        </p:nvSpPr>
        <p:spPr>
          <a:xfrm>
            <a:off x="5432654" y="2567856"/>
            <a:ext cx="4171950" cy="9525"/>
          </a:xfrm>
          <a:custGeom>
            <a:avLst/>
            <a:gdLst/>
            <a:ahLst/>
            <a:cxnLst/>
            <a:rect l="l" t="t" r="r" b="b"/>
            <a:pathLst>
              <a:path w="4171950" h="9525">
                <a:moveTo>
                  <a:pt x="4171949" y="9524"/>
                </a:moveTo>
                <a:lnTo>
                  <a:pt x="0" y="9524"/>
                </a:lnTo>
                <a:lnTo>
                  <a:pt x="0" y="0"/>
                </a:lnTo>
                <a:lnTo>
                  <a:pt x="4171949" y="0"/>
                </a:lnTo>
                <a:lnTo>
                  <a:pt x="4171949" y="9524"/>
                </a:lnTo>
                <a:close/>
              </a:path>
            </a:pathLst>
          </a:custGeom>
          <a:solidFill>
            <a:srgbClr val="F0F0F0"/>
          </a:solidFill>
        </p:spPr>
        <p:txBody>
          <a:bodyPr wrap="square" lIns="0" tIns="0" rIns="0" bIns="0" rtlCol="0"/>
          <a:lstStyle/>
          <a:p>
            <a:endParaRPr/>
          </a:p>
        </p:txBody>
      </p:sp>
      <p:sp>
        <p:nvSpPr>
          <p:cNvPr id="30" name="object 30"/>
          <p:cNvSpPr txBox="1"/>
          <p:nvPr/>
        </p:nvSpPr>
        <p:spPr>
          <a:xfrm>
            <a:off x="5624742" y="2323037"/>
            <a:ext cx="3801792" cy="197490"/>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333333"/>
                </a:solidFill>
                <a:latin typeface="Microsoft Sans Serif"/>
                <a:cs typeface="Microsoft Sans Serif"/>
              </a:rPr>
              <a:t>Testing</a:t>
            </a:r>
            <a:r>
              <a:rPr sz="1200" spc="-30" dirty="0">
                <a:solidFill>
                  <a:srgbClr val="333333"/>
                </a:solidFill>
                <a:latin typeface="Microsoft Sans Serif"/>
                <a:cs typeface="Microsoft Sans Serif"/>
              </a:rPr>
              <a:t> </a:t>
            </a:r>
            <a:r>
              <a:rPr sz="1200" dirty="0">
                <a:solidFill>
                  <a:srgbClr val="333333"/>
                </a:solidFill>
                <a:latin typeface="Microsoft Sans Serif"/>
                <a:cs typeface="Microsoft Sans Serif"/>
              </a:rPr>
              <a:t>in</a:t>
            </a:r>
            <a:r>
              <a:rPr sz="1200" spc="-25" dirty="0">
                <a:solidFill>
                  <a:srgbClr val="333333"/>
                </a:solidFill>
                <a:latin typeface="Microsoft Sans Serif"/>
                <a:cs typeface="Microsoft Sans Serif"/>
              </a:rPr>
              <a:t> </a:t>
            </a:r>
            <a:r>
              <a:rPr sz="1200" spc="-10" dirty="0">
                <a:solidFill>
                  <a:srgbClr val="333333"/>
                </a:solidFill>
                <a:latin typeface="Microsoft Sans Serif"/>
                <a:cs typeface="Microsoft Sans Serif"/>
              </a:rPr>
              <a:t>controlled</a:t>
            </a:r>
            <a:r>
              <a:rPr sz="1100" spc="-10" dirty="0">
                <a:solidFill>
                  <a:srgbClr val="333333"/>
                </a:solidFill>
                <a:latin typeface="Microsoft Sans Serif"/>
                <a:cs typeface="Microsoft Sans Serif"/>
              </a:rPr>
              <a:t>/</a:t>
            </a:r>
            <a:r>
              <a:rPr sz="1200" spc="-10" dirty="0">
                <a:solidFill>
                  <a:srgbClr val="333333"/>
                </a:solidFill>
                <a:latin typeface="Microsoft Sans Serif"/>
                <a:cs typeface="Microsoft Sans Serif"/>
              </a:rPr>
              <a:t>simulated</a:t>
            </a:r>
            <a:r>
              <a:rPr sz="1200" spc="-25" dirty="0">
                <a:solidFill>
                  <a:srgbClr val="333333"/>
                </a:solidFill>
                <a:latin typeface="Microsoft Sans Serif"/>
                <a:cs typeface="Microsoft Sans Serif"/>
              </a:rPr>
              <a:t> environments</a:t>
            </a:r>
            <a:r>
              <a:rPr sz="1200" spc="-30" dirty="0">
                <a:solidFill>
                  <a:srgbClr val="333333"/>
                </a:solidFill>
                <a:latin typeface="Microsoft Sans Serif"/>
                <a:cs typeface="Microsoft Sans Serif"/>
              </a:rPr>
              <a:t> </a:t>
            </a:r>
            <a:r>
              <a:rPr sz="1200" spc="-20" dirty="0">
                <a:solidFill>
                  <a:srgbClr val="333333"/>
                </a:solidFill>
                <a:latin typeface="Microsoft Sans Serif"/>
                <a:cs typeface="Microsoft Sans Serif"/>
              </a:rPr>
              <a:t>only</a:t>
            </a:r>
            <a:endParaRPr sz="1200">
              <a:latin typeface="Microsoft Sans Serif"/>
              <a:cs typeface="Microsoft Sans Serif"/>
            </a:endParaRPr>
          </a:p>
        </p:txBody>
      </p:sp>
      <p:sp>
        <p:nvSpPr>
          <p:cNvPr id="31" name="object 31"/>
          <p:cNvSpPr/>
          <p:nvPr/>
        </p:nvSpPr>
        <p:spPr>
          <a:xfrm>
            <a:off x="5432654" y="2863131"/>
            <a:ext cx="4171950" cy="9525"/>
          </a:xfrm>
          <a:custGeom>
            <a:avLst/>
            <a:gdLst/>
            <a:ahLst/>
            <a:cxnLst/>
            <a:rect l="l" t="t" r="r" b="b"/>
            <a:pathLst>
              <a:path w="4171950" h="9525">
                <a:moveTo>
                  <a:pt x="4171949" y="9524"/>
                </a:moveTo>
                <a:lnTo>
                  <a:pt x="0" y="9524"/>
                </a:lnTo>
                <a:lnTo>
                  <a:pt x="0" y="0"/>
                </a:lnTo>
                <a:lnTo>
                  <a:pt x="4171949" y="0"/>
                </a:lnTo>
                <a:lnTo>
                  <a:pt x="4171949" y="9524"/>
                </a:lnTo>
                <a:close/>
              </a:path>
            </a:pathLst>
          </a:custGeom>
          <a:solidFill>
            <a:srgbClr val="F0F0F0"/>
          </a:solidFill>
        </p:spPr>
        <p:txBody>
          <a:bodyPr wrap="square" lIns="0" tIns="0" rIns="0" bIns="0" rtlCol="0"/>
          <a:lstStyle/>
          <a:p>
            <a:endParaRPr/>
          </a:p>
        </p:txBody>
      </p:sp>
      <p:sp>
        <p:nvSpPr>
          <p:cNvPr id="33" name="object 33"/>
          <p:cNvSpPr/>
          <p:nvPr/>
        </p:nvSpPr>
        <p:spPr>
          <a:xfrm>
            <a:off x="5432654" y="3158406"/>
            <a:ext cx="4171950" cy="9525"/>
          </a:xfrm>
          <a:custGeom>
            <a:avLst/>
            <a:gdLst/>
            <a:ahLst/>
            <a:cxnLst/>
            <a:rect l="l" t="t" r="r" b="b"/>
            <a:pathLst>
              <a:path w="4171950" h="9525">
                <a:moveTo>
                  <a:pt x="4171949" y="9524"/>
                </a:moveTo>
                <a:lnTo>
                  <a:pt x="0" y="9524"/>
                </a:lnTo>
                <a:lnTo>
                  <a:pt x="0" y="0"/>
                </a:lnTo>
                <a:lnTo>
                  <a:pt x="4171949" y="0"/>
                </a:lnTo>
                <a:lnTo>
                  <a:pt x="4171949" y="9524"/>
                </a:lnTo>
                <a:close/>
              </a:path>
            </a:pathLst>
          </a:custGeom>
          <a:solidFill>
            <a:srgbClr val="F0F0F0"/>
          </a:solidFill>
        </p:spPr>
        <p:txBody>
          <a:bodyPr wrap="square" lIns="0" tIns="0" rIns="0" bIns="0" rtlCol="0"/>
          <a:lstStyle/>
          <a:p>
            <a:endParaRPr/>
          </a:p>
        </p:txBody>
      </p:sp>
      <p:sp>
        <p:nvSpPr>
          <p:cNvPr id="34" name="object 34"/>
          <p:cNvSpPr txBox="1"/>
          <p:nvPr/>
        </p:nvSpPr>
        <p:spPr>
          <a:xfrm>
            <a:off x="5624741" y="2913587"/>
            <a:ext cx="2390055" cy="197490"/>
          </a:xfrm>
          <a:prstGeom prst="rect">
            <a:avLst/>
          </a:prstGeom>
        </p:spPr>
        <p:txBody>
          <a:bodyPr vert="horz" wrap="square" lIns="0" tIns="12700" rIns="0" bIns="0" rtlCol="0">
            <a:spAutoFit/>
          </a:bodyPr>
          <a:lstStyle/>
          <a:p>
            <a:pPr marL="12700">
              <a:lnSpc>
                <a:spcPct val="100000"/>
              </a:lnSpc>
              <a:spcBef>
                <a:spcPts val="100"/>
              </a:spcBef>
            </a:pPr>
            <a:r>
              <a:rPr sz="1200" spc="-20" dirty="0">
                <a:solidFill>
                  <a:srgbClr val="333333"/>
                </a:solidFill>
                <a:latin typeface="Microsoft Sans Serif"/>
                <a:cs typeface="Microsoft Sans Serif"/>
              </a:rPr>
              <a:t>Battery </a:t>
            </a:r>
            <a:r>
              <a:rPr sz="1200" dirty="0">
                <a:solidFill>
                  <a:srgbClr val="333333"/>
                </a:solidFill>
                <a:latin typeface="Microsoft Sans Serif"/>
                <a:cs typeface="Microsoft Sans Serif"/>
              </a:rPr>
              <a:t>life</a:t>
            </a:r>
            <a:r>
              <a:rPr sz="1200" spc="-20" dirty="0">
                <a:solidFill>
                  <a:srgbClr val="333333"/>
                </a:solidFill>
                <a:latin typeface="Microsoft Sans Serif"/>
                <a:cs typeface="Microsoft Sans Serif"/>
              </a:rPr>
              <a:t> </a:t>
            </a:r>
            <a:r>
              <a:rPr sz="1200" spc="-10" dirty="0">
                <a:solidFill>
                  <a:srgbClr val="333333"/>
                </a:solidFill>
                <a:latin typeface="Microsoft Sans Serif"/>
                <a:cs typeface="Microsoft Sans Serif"/>
              </a:rPr>
              <a:t>limits</a:t>
            </a:r>
            <a:r>
              <a:rPr sz="1200" spc="-15" dirty="0">
                <a:solidFill>
                  <a:srgbClr val="333333"/>
                </a:solidFill>
                <a:latin typeface="Microsoft Sans Serif"/>
                <a:cs typeface="Microsoft Sans Serif"/>
              </a:rPr>
              <a:t> </a:t>
            </a:r>
            <a:r>
              <a:rPr sz="1200" dirty="0">
                <a:solidFill>
                  <a:srgbClr val="333333"/>
                </a:solidFill>
                <a:latin typeface="Microsoft Sans Serif"/>
                <a:cs typeface="Microsoft Sans Serif"/>
              </a:rPr>
              <a:t>flight</a:t>
            </a:r>
            <a:r>
              <a:rPr sz="1200" spc="-20" dirty="0">
                <a:solidFill>
                  <a:srgbClr val="333333"/>
                </a:solidFill>
                <a:latin typeface="Microsoft Sans Serif"/>
                <a:cs typeface="Microsoft Sans Serif"/>
              </a:rPr>
              <a:t> </a:t>
            </a:r>
            <a:r>
              <a:rPr sz="1200" spc="-10" dirty="0">
                <a:solidFill>
                  <a:srgbClr val="333333"/>
                </a:solidFill>
                <a:latin typeface="Microsoft Sans Serif"/>
                <a:cs typeface="Microsoft Sans Serif"/>
              </a:rPr>
              <a:t>duration</a:t>
            </a:r>
            <a:endParaRPr sz="1200">
              <a:latin typeface="Microsoft Sans Serif"/>
              <a:cs typeface="Microsoft Sans Serif"/>
            </a:endParaRPr>
          </a:p>
        </p:txBody>
      </p:sp>
      <p:sp>
        <p:nvSpPr>
          <p:cNvPr id="35" name="object 35"/>
          <p:cNvSpPr/>
          <p:nvPr/>
        </p:nvSpPr>
        <p:spPr>
          <a:xfrm>
            <a:off x="5432654" y="3453681"/>
            <a:ext cx="4171950" cy="9525"/>
          </a:xfrm>
          <a:custGeom>
            <a:avLst/>
            <a:gdLst/>
            <a:ahLst/>
            <a:cxnLst/>
            <a:rect l="l" t="t" r="r" b="b"/>
            <a:pathLst>
              <a:path w="4171950" h="9525">
                <a:moveTo>
                  <a:pt x="4171949" y="9524"/>
                </a:moveTo>
                <a:lnTo>
                  <a:pt x="0" y="9524"/>
                </a:lnTo>
                <a:lnTo>
                  <a:pt x="0" y="0"/>
                </a:lnTo>
                <a:lnTo>
                  <a:pt x="4171949" y="0"/>
                </a:lnTo>
                <a:lnTo>
                  <a:pt x="4171949" y="9524"/>
                </a:lnTo>
                <a:close/>
              </a:path>
            </a:pathLst>
          </a:custGeom>
          <a:solidFill>
            <a:srgbClr val="F0F0F0"/>
          </a:solidFill>
        </p:spPr>
        <p:txBody>
          <a:bodyPr wrap="square" lIns="0" tIns="0" rIns="0" bIns="0" rtlCol="0"/>
          <a:lstStyle/>
          <a:p>
            <a:endParaRPr/>
          </a:p>
        </p:txBody>
      </p:sp>
      <p:sp>
        <p:nvSpPr>
          <p:cNvPr id="36" name="object 36"/>
          <p:cNvSpPr txBox="1"/>
          <p:nvPr/>
        </p:nvSpPr>
        <p:spPr>
          <a:xfrm>
            <a:off x="5624742" y="3208862"/>
            <a:ext cx="3142744" cy="197490"/>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333333"/>
                </a:solidFill>
                <a:latin typeface="Microsoft Sans Serif"/>
                <a:cs typeface="Microsoft Sans Serif"/>
              </a:rPr>
              <a:t>Training</a:t>
            </a:r>
            <a:r>
              <a:rPr sz="1200" spc="-45" dirty="0">
                <a:solidFill>
                  <a:srgbClr val="333333"/>
                </a:solidFill>
                <a:latin typeface="Microsoft Sans Serif"/>
                <a:cs typeface="Microsoft Sans Serif"/>
              </a:rPr>
              <a:t> </a:t>
            </a:r>
            <a:r>
              <a:rPr sz="1200" spc="-20" dirty="0">
                <a:solidFill>
                  <a:srgbClr val="333333"/>
                </a:solidFill>
                <a:latin typeface="Microsoft Sans Serif"/>
                <a:cs typeface="Microsoft Sans Serif"/>
              </a:rPr>
              <a:t>data</a:t>
            </a:r>
            <a:r>
              <a:rPr sz="1200" spc="-30" dirty="0">
                <a:solidFill>
                  <a:srgbClr val="333333"/>
                </a:solidFill>
                <a:latin typeface="Microsoft Sans Serif"/>
                <a:cs typeface="Microsoft Sans Serif"/>
              </a:rPr>
              <a:t> </a:t>
            </a:r>
            <a:r>
              <a:rPr sz="1200" spc="-40" dirty="0">
                <a:solidFill>
                  <a:srgbClr val="333333"/>
                </a:solidFill>
                <a:latin typeface="Microsoft Sans Serif"/>
                <a:cs typeface="Microsoft Sans Serif"/>
              </a:rPr>
              <a:t>may</a:t>
            </a:r>
            <a:r>
              <a:rPr sz="1200" spc="-25" dirty="0">
                <a:solidFill>
                  <a:srgbClr val="333333"/>
                </a:solidFill>
                <a:latin typeface="Microsoft Sans Serif"/>
                <a:cs typeface="Microsoft Sans Serif"/>
              </a:rPr>
              <a:t> </a:t>
            </a:r>
            <a:r>
              <a:rPr sz="1200" dirty="0">
                <a:solidFill>
                  <a:srgbClr val="333333"/>
                </a:solidFill>
                <a:latin typeface="Microsoft Sans Serif"/>
                <a:cs typeface="Microsoft Sans Serif"/>
              </a:rPr>
              <a:t>not</a:t>
            </a:r>
            <a:r>
              <a:rPr sz="1200" spc="-35" dirty="0">
                <a:solidFill>
                  <a:srgbClr val="333333"/>
                </a:solidFill>
                <a:latin typeface="Microsoft Sans Serif"/>
                <a:cs typeface="Microsoft Sans Serif"/>
              </a:rPr>
              <a:t> </a:t>
            </a:r>
            <a:r>
              <a:rPr sz="1200" spc="-10" dirty="0">
                <a:solidFill>
                  <a:srgbClr val="333333"/>
                </a:solidFill>
                <a:latin typeface="Microsoft Sans Serif"/>
                <a:cs typeface="Microsoft Sans Serif"/>
              </a:rPr>
              <a:t>cover</a:t>
            </a:r>
            <a:r>
              <a:rPr sz="1200" spc="-35" dirty="0">
                <a:solidFill>
                  <a:srgbClr val="333333"/>
                </a:solidFill>
                <a:latin typeface="Microsoft Sans Serif"/>
                <a:cs typeface="Microsoft Sans Serif"/>
              </a:rPr>
              <a:t> </a:t>
            </a:r>
            <a:r>
              <a:rPr sz="1200" spc="-10" dirty="0">
                <a:solidFill>
                  <a:srgbClr val="333333"/>
                </a:solidFill>
                <a:latin typeface="Microsoft Sans Serif"/>
                <a:cs typeface="Microsoft Sans Serif"/>
              </a:rPr>
              <a:t>all</a:t>
            </a:r>
            <a:r>
              <a:rPr sz="1200" spc="-30" dirty="0">
                <a:solidFill>
                  <a:srgbClr val="333333"/>
                </a:solidFill>
                <a:latin typeface="Microsoft Sans Serif"/>
                <a:cs typeface="Microsoft Sans Serif"/>
              </a:rPr>
              <a:t> </a:t>
            </a:r>
            <a:r>
              <a:rPr sz="1200" spc="-10" dirty="0">
                <a:solidFill>
                  <a:srgbClr val="333333"/>
                </a:solidFill>
                <a:latin typeface="Microsoft Sans Serif"/>
                <a:cs typeface="Microsoft Sans Serif"/>
              </a:rPr>
              <a:t>scenarios</a:t>
            </a:r>
            <a:endParaRPr sz="1200">
              <a:latin typeface="Microsoft Sans Serif"/>
              <a:cs typeface="Microsoft Sans Serif"/>
            </a:endParaRPr>
          </a:p>
        </p:txBody>
      </p:sp>
      <p:sp>
        <p:nvSpPr>
          <p:cNvPr id="37" name="object 37"/>
          <p:cNvSpPr/>
          <p:nvPr/>
        </p:nvSpPr>
        <p:spPr>
          <a:xfrm>
            <a:off x="5432654" y="3748956"/>
            <a:ext cx="4171950" cy="9525"/>
          </a:xfrm>
          <a:custGeom>
            <a:avLst/>
            <a:gdLst/>
            <a:ahLst/>
            <a:cxnLst/>
            <a:rect l="l" t="t" r="r" b="b"/>
            <a:pathLst>
              <a:path w="4171950" h="9525">
                <a:moveTo>
                  <a:pt x="4171949" y="9524"/>
                </a:moveTo>
                <a:lnTo>
                  <a:pt x="0" y="9524"/>
                </a:lnTo>
                <a:lnTo>
                  <a:pt x="0" y="0"/>
                </a:lnTo>
                <a:lnTo>
                  <a:pt x="4171949" y="0"/>
                </a:lnTo>
                <a:lnTo>
                  <a:pt x="4171949" y="9524"/>
                </a:lnTo>
                <a:close/>
              </a:path>
            </a:pathLst>
          </a:custGeom>
          <a:solidFill>
            <a:srgbClr val="F0F0F0"/>
          </a:solidFill>
        </p:spPr>
        <p:txBody>
          <a:bodyPr wrap="square" lIns="0" tIns="0" rIns="0" bIns="0" rtlCol="0"/>
          <a:lstStyle/>
          <a:p>
            <a:endParaRPr/>
          </a:p>
        </p:txBody>
      </p:sp>
      <p:sp>
        <p:nvSpPr>
          <p:cNvPr id="38" name="object 38"/>
          <p:cNvSpPr txBox="1"/>
          <p:nvPr/>
        </p:nvSpPr>
        <p:spPr>
          <a:xfrm>
            <a:off x="5624742" y="3504137"/>
            <a:ext cx="3154337" cy="197490"/>
          </a:xfrm>
          <a:prstGeom prst="rect">
            <a:avLst/>
          </a:prstGeom>
        </p:spPr>
        <p:txBody>
          <a:bodyPr vert="horz" wrap="square" lIns="0" tIns="12700" rIns="0" bIns="0" rtlCol="0">
            <a:spAutoFit/>
          </a:bodyPr>
          <a:lstStyle/>
          <a:p>
            <a:pPr marL="12700">
              <a:lnSpc>
                <a:spcPct val="100000"/>
              </a:lnSpc>
              <a:spcBef>
                <a:spcPts val="100"/>
              </a:spcBef>
            </a:pPr>
            <a:r>
              <a:rPr sz="1200" spc="-85" dirty="0">
                <a:solidFill>
                  <a:srgbClr val="333333"/>
                </a:solidFill>
                <a:latin typeface="Microsoft Sans Serif"/>
                <a:cs typeface="Microsoft Sans Serif"/>
              </a:rPr>
              <a:t>UAV</a:t>
            </a:r>
            <a:r>
              <a:rPr sz="1200" spc="-15" dirty="0">
                <a:solidFill>
                  <a:srgbClr val="333333"/>
                </a:solidFill>
                <a:latin typeface="Microsoft Sans Serif"/>
                <a:cs typeface="Microsoft Sans Serif"/>
              </a:rPr>
              <a:t> </a:t>
            </a:r>
            <a:r>
              <a:rPr sz="1200" spc="-10" dirty="0">
                <a:solidFill>
                  <a:srgbClr val="333333"/>
                </a:solidFill>
                <a:latin typeface="Microsoft Sans Serif"/>
                <a:cs typeface="Microsoft Sans Serif"/>
              </a:rPr>
              <a:t>platform</a:t>
            </a:r>
            <a:r>
              <a:rPr sz="1200" spc="-30" dirty="0">
                <a:solidFill>
                  <a:srgbClr val="333333"/>
                </a:solidFill>
                <a:latin typeface="Microsoft Sans Serif"/>
                <a:cs typeface="Microsoft Sans Serif"/>
              </a:rPr>
              <a:t> </a:t>
            </a:r>
            <a:r>
              <a:rPr sz="1200" dirty="0">
                <a:solidFill>
                  <a:srgbClr val="333333"/>
                </a:solidFill>
                <a:latin typeface="Microsoft Sans Serif"/>
                <a:cs typeface="Microsoft Sans Serif"/>
              </a:rPr>
              <a:t>not</a:t>
            </a:r>
            <a:r>
              <a:rPr sz="1200" spc="-20" dirty="0">
                <a:solidFill>
                  <a:srgbClr val="333333"/>
                </a:solidFill>
                <a:latin typeface="Microsoft Sans Serif"/>
                <a:cs typeface="Microsoft Sans Serif"/>
              </a:rPr>
              <a:t> </a:t>
            </a:r>
            <a:r>
              <a:rPr sz="1200" spc="-10" dirty="0">
                <a:solidFill>
                  <a:srgbClr val="333333"/>
                </a:solidFill>
                <a:latin typeface="Microsoft Sans Serif"/>
                <a:cs typeface="Microsoft Sans Serif"/>
              </a:rPr>
              <a:t>included</a:t>
            </a:r>
            <a:r>
              <a:rPr sz="1200" spc="-20" dirty="0">
                <a:solidFill>
                  <a:srgbClr val="333333"/>
                </a:solidFill>
                <a:latin typeface="Microsoft Sans Serif"/>
                <a:cs typeface="Microsoft Sans Serif"/>
              </a:rPr>
              <a:t> </a:t>
            </a:r>
            <a:r>
              <a:rPr sz="1100" spc="-20" dirty="0">
                <a:solidFill>
                  <a:srgbClr val="333333"/>
                </a:solidFill>
                <a:latin typeface="Microsoft Sans Serif"/>
                <a:cs typeface="Microsoft Sans Serif"/>
              </a:rPr>
              <a:t>(</a:t>
            </a:r>
            <a:r>
              <a:rPr sz="1200" spc="-20" dirty="0">
                <a:solidFill>
                  <a:srgbClr val="333333"/>
                </a:solidFill>
                <a:latin typeface="Microsoft Sans Serif"/>
                <a:cs typeface="Microsoft Sans Serif"/>
              </a:rPr>
              <a:t>payload only</a:t>
            </a:r>
            <a:r>
              <a:rPr sz="1100" spc="-20" dirty="0">
                <a:solidFill>
                  <a:srgbClr val="333333"/>
                </a:solidFill>
                <a:latin typeface="Microsoft Sans Serif"/>
                <a:cs typeface="Microsoft Sans Serif"/>
              </a:rPr>
              <a:t>)</a:t>
            </a:r>
            <a:endParaRPr sz="1100">
              <a:latin typeface="Microsoft Sans Serif"/>
              <a:cs typeface="Microsoft Sans Serif"/>
            </a:endParaRPr>
          </a:p>
        </p:txBody>
      </p:sp>
      <p:sp>
        <p:nvSpPr>
          <p:cNvPr id="39" name="object 39"/>
          <p:cNvSpPr txBox="1"/>
          <p:nvPr/>
        </p:nvSpPr>
        <p:spPr>
          <a:xfrm>
            <a:off x="5624741" y="2643765"/>
            <a:ext cx="3363913" cy="197490"/>
          </a:xfrm>
          <a:prstGeom prst="rect">
            <a:avLst/>
          </a:prstGeom>
        </p:spPr>
        <p:txBody>
          <a:bodyPr vert="horz" wrap="square" lIns="0" tIns="12700" rIns="0" bIns="0" rtlCol="0">
            <a:spAutoFit/>
          </a:bodyPr>
          <a:lstStyle/>
          <a:p>
            <a:pPr marL="12700">
              <a:lnSpc>
                <a:spcPct val="100000"/>
              </a:lnSpc>
              <a:spcBef>
                <a:spcPts val="100"/>
              </a:spcBef>
            </a:pPr>
            <a:r>
              <a:rPr sz="1200" spc="-25" dirty="0">
                <a:solidFill>
                  <a:srgbClr val="333333"/>
                </a:solidFill>
                <a:latin typeface="Microsoft Sans Serif"/>
                <a:cs typeface="Microsoft Sans Serif"/>
              </a:rPr>
              <a:t>Thermal</a:t>
            </a:r>
            <a:r>
              <a:rPr sz="1200" spc="-10" dirty="0">
                <a:solidFill>
                  <a:srgbClr val="333333"/>
                </a:solidFill>
                <a:latin typeface="Microsoft Sans Serif"/>
                <a:cs typeface="Microsoft Sans Serif"/>
              </a:rPr>
              <a:t> </a:t>
            </a:r>
            <a:r>
              <a:rPr sz="1200" spc="-20" dirty="0">
                <a:solidFill>
                  <a:srgbClr val="333333"/>
                </a:solidFill>
                <a:latin typeface="Microsoft Sans Serif"/>
                <a:cs typeface="Microsoft Sans Serif"/>
              </a:rPr>
              <a:t>imaging</a:t>
            </a:r>
            <a:r>
              <a:rPr sz="1200" spc="-10" dirty="0">
                <a:solidFill>
                  <a:srgbClr val="333333"/>
                </a:solidFill>
                <a:latin typeface="Microsoft Sans Serif"/>
                <a:cs typeface="Microsoft Sans Serif"/>
              </a:rPr>
              <a:t> </a:t>
            </a:r>
            <a:r>
              <a:rPr sz="1200" dirty="0">
                <a:solidFill>
                  <a:srgbClr val="333333"/>
                </a:solidFill>
                <a:latin typeface="Microsoft Sans Serif"/>
                <a:cs typeface="Microsoft Sans Serif"/>
              </a:rPr>
              <a:t>not</a:t>
            </a:r>
            <a:r>
              <a:rPr sz="1200" spc="-10" dirty="0">
                <a:solidFill>
                  <a:srgbClr val="333333"/>
                </a:solidFill>
                <a:latin typeface="Microsoft Sans Serif"/>
                <a:cs typeface="Microsoft Sans Serif"/>
              </a:rPr>
              <a:t> prioritized </a:t>
            </a:r>
            <a:r>
              <a:rPr sz="1100" spc="-90" dirty="0">
                <a:solidFill>
                  <a:srgbClr val="333333"/>
                </a:solidFill>
                <a:latin typeface="Microsoft Sans Serif"/>
                <a:cs typeface="Microsoft Sans Serif"/>
              </a:rPr>
              <a:t>(</a:t>
            </a:r>
            <a:r>
              <a:rPr sz="1200" spc="-90" dirty="0">
                <a:solidFill>
                  <a:srgbClr val="333333"/>
                </a:solidFill>
                <a:latin typeface="Microsoft Sans Serif"/>
                <a:cs typeface="Microsoft Sans Serif"/>
              </a:rPr>
              <a:t>RGB</a:t>
            </a:r>
            <a:r>
              <a:rPr sz="1200" spc="-10" dirty="0">
                <a:solidFill>
                  <a:srgbClr val="333333"/>
                </a:solidFill>
                <a:latin typeface="Microsoft Sans Serif"/>
                <a:cs typeface="Microsoft Sans Serif"/>
              </a:rPr>
              <a:t> focus</a:t>
            </a:r>
            <a:r>
              <a:rPr sz="1100" spc="-10" dirty="0">
                <a:solidFill>
                  <a:srgbClr val="333333"/>
                </a:solidFill>
                <a:latin typeface="Microsoft Sans Serif"/>
                <a:cs typeface="Microsoft Sans Serif"/>
              </a:rPr>
              <a:t>)</a:t>
            </a:r>
            <a:endParaRPr sz="1100">
              <a:latin typeface="Microsoft Sans Serif"/>
              <a:cs typeface="Microsoft Sans Serif"/>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895724" y="4305292"/>
            <a:ext cx="2905125" cy="9525"/>
          </a:xfrm>
          <a:custGeom>
            <a:avLst/>
            <a:gdLst/>
            <a:ahLst/>
            <a:cxnLst/>
            <a:rect l="l" t="t" r="r" b="b"/>
            <a:pathLst>
              <a:path w="2905125" h="9525">
                <a:moveTo>
                  <a:pt x="2905124" y="9524"/>
                </a:moveTo>
                <a:lnTo>
                  <a:pt x="0" y="9524"/>
                </a:lnTo>
                <a:lnTo>
                  <a:pt x="0" y="0"/>
                </a:lnTo>
                <a:lnTo>
                  <a:pt x="2905124" y="0"/>
                </a:lnTo>
                <a:lnTo>
                  <a:pt x="2905124" y="9524"/>
                </a:lnTo>
                <a:close/>
              </a:path>
            </a:pathLst>
          </a:custGeom>
          <a:solidFill>
            <a:srgbClr val="FFFFFF">
              <a:alpha val="19999"/>
            </a:srgbClr>
          </a:solidFill>
        </p:spPr>
        <p:txBody>
          <a:bodyPr wrap="square" lIns="0" tIns="0" rIns="0" bIns="0" rtlCol="0"/>
          <a:lstStyle/>
          <a:p>
            <a:endParaRPr/>
          </a:p>
        </p:txBody>
      </p:sp>
      <p:sp>
        <p:nvSpPr>
          <p:cNvPr id="3" name="object 3"/>
          <p:cNvSpPr txBox="1">
            <a:spLocks noGrp="1"/>
          </p:cNvSpPr>
          <p:nvPr>
            <p:ph type="title"/>
          </p:nvPr>
        </p:nvSpPr>
        <p:spPr>
          <a:xfrm>
            <a:off x="4048968" y="2864349"/>
            <a:ext cx="2599055" cy="722630"/>
          </a:xfrm>
          <a:prstGeom prst="rect">
            <a:avLst/>
          </a:prstGeom>
        </p:spPr>
        <p:txBody>
          <a:bodyPr vert="horz" wrap="square" lIns="0" tIns="15240" rIns="0" bIns="0" rtlCol="0">
            <a:spAutoFit/>
          </a:bodyPr>
          <a:lstStyle/>
          <a:p>
            <a:pPr marL="12700">
              <a:lnSpc>
                <a:spcPct val="100000"/>
              </a:lnSpc>
              <a:spcBef>
                <a:spcPts val="120"/>
              </a:spcBef>
            </a:pPr>
            <a:r>
              <a:rPr sz="4550" spc="-185" dirty="0"/>
              <a:t>Thank</a:t>
            </a:r>
            <a:r>
              <a:rPr sz="4550" spc="-580" dirty="0"/>
              <a:t> </a:t>
            </a:r>
            <a:r>
              <a:rPr sz="4550" spc="-944" dirty="0"/>
              <a:t>Y</a:t>
            </a:r>
            <a:r>
              <a:rPr sz="4550" spc="-330" dirty="0"/>
              <a:t>ou</a:t>
            </a:r>
            <a:endParaRPr sz="4550"/>
          </a:p>
        </p:txBody>
      </p:sp>
      <p:sp>
        <p:nvSpPr>
          <p:cNvPr id="4" name="object 4"/>
          <p:cNvSpPr txBox="1"/>
          <p:nvPr/>
        </p:nvSpPr>
        <p:spPr>
          <a:xfrm>
            <a:off x="4661544" y="2553654"/>
            <a:ext cx="1325880" cy="226695"/>
          </a:xfrm>
          <a:prstGeom prst="rect">
            <a:avLst/>
          </a:prstGeom>
        </p:spPr>
        <p:txBody>
          <a:bodyPr vert="horz" wrap="square" lIns="0" tIns="14604" rIns="0" bIns="0" rtlCol="0">
            <a:spAutoFit/>
          </a:bodyPr>
          <a:lstStyle/>
          <a:p>
            <a:pPr marL="12700">
              <a:lnSpc>
                <a:spcPct val="100000"/>
              </a:lnSpc>
              <a:spcBef>
                <a:spcPts val="114"/>
              </a:spcBef>
            </a:pPr>
            <a:r>
              <a:rPr sz="1300" spc="-130" dirty="0">
                <a:solidFill>
                  <a:srgbClr val="FFFFFF"/>
                </a:solidFill>
                <a:latin typeface="Microsoft Sans Serif"/>
                <a:cs typeface="Microsoft Sans Serif"/>
              </a:rPr>
              <a:t>G</a:t>
            </a:r>
            <a:r>
              <a:rPr sz="1300" spc="25" dirty="0">
                <a:solidFill>
                  <a:srgbClr val="FFFFFF"/>
                </a:solidFill>
                <a:latin typeface="Microsoft Sans Serif"/>
                <a:cs typeface="Microsoft Sans Serif"/>
              </a:rPr>
              <a:t> </a:t>
            </a:r>
            <a:r>
              <a:rPr sz="1300" dirty="0">
                <a:solidFill>
                  <a:srgbClr val="FFFFFF"/>
                </a:solidFill>
                <a:latin typeface="Microsoft Sans Serif"/>
                <a:cs typeface="Microsoft Sans Serif"/>
              </a:rPr>
              <a:t>O</a:t>
            </a:r>
            <a:r>
              <a:rPr sz="1300" spc="-90" dirty="0">
                <a:solidFill>
                  <a:srgbClr val="FFFFFF"/>
                </a:solidFill>
                <a:latin typeface="Microsoft Sans Serif"/>
                <a:cs typeface="Microsoft Sans Serif"/>
              </a:rPr>
              <a:t> </a:t>
            </a:r>
            <a:r>
              <a:rPr sz="1300" dirty="0">
                <a:solidFill>
                  <a:srgbClr val="FFFFFF"/>
                </a:solidFill>
                <a:latin typeface="Microsoft Sans Serif"/>
                <a:cs typeface="Microsoft Sans Serif"/>
              </a:rPr>
              <a:t>L</a:t>
            </a:r>
            <a:r>
              <a:rPr sz="1300" spc="-45" dirty="0">
                <a:solidFill>
                  <a:srgbClr val="FFFFFF"/>
                </a:solidFill>
                <a:latin typeface="Microsoft Sans Serif"/>
                <a:cs typeface="Microsoft Sans Serif"/>
              </a:rPr>
              <a:t> </a:t>
            </a:r>
            <a:r>
              <a:rPr sz="1300" dirty="0">
                <a:solidFill>
                  <a:srgbClr val="FFFFFF"/>
                </a:solidFill>
                <a:latin typeface="Microsoft Sans Serif"/>
                <a:cs typeface="Microsoft Sans Serif"/>
              </a:rPr>
              <a:t>D</a:t>
            </a:r>
            <a:r>
              <a:rPr sz="1300" spc="-10" dirty="0">
                <a:solidFill>
                  <a:srgbClr val="FFFFFF"/>
                </a:solidFill>
                <a:latin typeface="Microsoft Sans Serif"/>
                <a:cs typeface="Microsoft Sans Serif"/>
              </a:rPr>
              <a:t> </a:t>
            </a:r>
            <a:r>
              <a:rPr sz="1300" spc="-155" dirty="0">
                <a:solidFill>
                  <a:srgbClr val="FFFFFF"/>
                </a:solidFill>
                <a:latin typeface="Microsoft Sans Serif"/>
                <a:cs typeface="Microsoft Sans Serif"/>
              </a:rPr>
              <a:t>E</a:t>
            </a:r>
            <a:r>
              <a:rPr sz="1300" spc="25" dirty="0">
                <a:solidFill>
                  <a:srgbClr val="FFFFFF"/>
                </a:solidFill>
                <a:latin typeface="Microsoft Sans Serif"/>
                <a:cs typeface="Microsoft Sans Serif"/>
              </a:rPr>
              <a:t> </a:t>
            </a:r>
            <a:r>
              <a:rPr sz="1300" dirty="0">
                <a:solidFill>
                  <a:srgbClr val="FFFFFF"/>
                </a:solidFill>
                <a:latin typeface="Microsoft Sans Serif"/>
                <a:cs typeface="Microsoft Sans Serif"/>
              </a:rPr>
              <a:t>N</a:t>
            </a:r>
            <a:r>
              <a:rPr sz="1300" spc="-15" dirty="0">
                <a:solidFill>
                  <a:srgbClr val="FFFFFF"/>
                </a:solidFill>
                <a:latin typeface="Microsoft Sans Serif"/>
                <a:cs typeface="Microsoft Sans Serif"/>
              </a:rPr>
              <a:t> </a:t>
            </a:r>
            <a:r>
              <a:rPr sz="1300" spc="-155" dirty="0">
                <a:solidFill>
                  <a:srgbClr val="FFFFFF"/>
                </a:solidFill>
                <a:latin typeface="Microsoft Sans Serif"/>
                <a:cs typeface="Microsoft Sans Serif"/>
              </a:rPr>
              <a:t>E</a:t>
            </a:r>
            <a:r>
              <a:rPr sz="1300" spc="25" dirty="0">
                <a:solidFill>
                  <a:srgbClr val="FFFFFF"/>
                </a:solidFill>
                <a:latin typeface="Microsoft Sans Serif"/>
                <a:cs typeface="Microsoft Sans Serif"/>
              </a:rPr>
              <a:t> </a:t>
            </a:r>
            <a:r>
              <a:rPr sz="1300" dirty="0">
                <a:solidFill>
                  <a:srgbClr val="FFFFFF"/>
                </a:solidFill>
                <a:latin typeface="Microsoft Sans Serif"/>
                <a:cs typeface="Microsoft Sans Serif"/>
              </a:rPr>
              <a:t>Y</a:t>
            </a:r>
            <a:r>
              <a:rPr sz="1300" spc="-10" dirty="0">
                <a:solidFill>
                  <a:srgbClr val="FFFFFF"/>
                </a:solidFill>
                <a:latin typeface="Microsoft Sans Serif"/>
                <a:cs typeface="Microsoft Sans Serif"/>
              </a:rPr>
              <a:t> </a:t>
            </a:r>
            <a:r>
              <a:rPr sz="1300" spc="-60" dirty="0">
                <a:solidFill>
                  <a:srgbClr val="FFFFFF"/>
                </a:solidFill>
                <a:latin typeface="Microsoft Sans Serif"/>
                <a:cs typeface="Microsoft Sans Serif"/>
              </a:rPr>
              <a:t>E</a:t>
            </a:r>
            <a:endParaRPr sz="1300">
              <a:latin typeface="Microsoft Sans Serif"/>
              <a:cs typeface="Microsoft Sans Serif"/>
            </a:endParaRPr>
          </a:p>
        </p:txBody>
      </p:sp>
      <p:sp>
        <p:nvSpPr>
          <p:cNvPr id="5" name="object 5"/>
          <p:cNvSpPr txBox="1"/>
          <p:nvPr/>
        </p:nvSpPr>
        <p:spPr>
          <a:xfrm>
            <a:off x="3887192" y="3751362"/>
            <a:ext cx="2922270" cy="1412240"/>
          </a:xfrm>
          <a:prstGeom prst="rect">
            <a:avLst/>
          </a:prstGeom>
        </p:spPr>
        <p:txBody>
          <a:bodyPr vert="horz" wrap="square" lIns="0" tIns="17145" rIns="0" bIns="0" rtlCol="0">
            <a:spAutoFit/>
          </a:bodyPr>
          <a:lstStyle/>
          <a:p>
            <a:pPr algn="ctr">
              <a:lnSpc>
                <a:spcPct val="100000"/>
              </a:lnSpc>
              <a:spcBef>
                <a:spcPts val="135"/>
              </a:spcBef>
            </a:pPr>
            <a:r>
              <a:rPr sz="1450" spc="-25" dirty="0">
                <a:solidFill>
                  <a:srgbClr val="FFFFFF"/>
                </a:solidFill>
                <a:latin typeface="Microsoft Sans Serif"/>
                <a:cs typeface="Microsoft Sans Serif"/>
              </a:rPr>
              <a:t>Questions</a:t>
            </a:r>
            <a:r>
              <a:rPr sz="1450" spc="-70" dirty="0">
                <a:solidFill>
                  <a:srgbClr val="FFFFFF"/>
                </a:solidFill>
                <a:latin typeface="Microsoft Sans Serif"/>
                <a:cs typeface="Microsoft Sans Serif"/>
              </a:rPr>
              <a:t> </a:t>
            </a:r>
            <a:r>
              <a:rPr sz="1450" dirty="0">
                <a:solidFill>
                  <a:srgbClr val="FFFFFF"/>
                </a:solidFill>
                <a:latin typeface="Microsoft Sans Serif"/>
                <a:cs typeface="Microsoft Sans Serif"/>
              </a:rPr>
              <a:t>and</a:t>
            </a:r>
            <a:r>
              <a:rPr sz="1450" spc="-70" dirty="0">
                <a:solidFill>
                  <a:srgbClr val="FFFFFF"/>
                </a:solidFill>
                <a:latin typeface="Microsoft Sans Serif"/>
                <a:cs typeface="Microsoft Sans Serif"/>
              </a:rPr>
              <a:t> </a:t>
            </a:r>
            <a:r>
              <a:rPr sz="1450" spc="-10" dirty="0">
                <a:solidFill>
                  <a:srgbClr val="FFFFFF"/>
                </a:solidFill>
                <a:latin typeface="Microsoft Sans Serif"/>
                <a:cs typeface="Microsoft Sans Serif"/>
              </a:rPr>
              <a:t>Discussion</a:t>
            </a:r>
            <a:endParaRPr sz="1450">
              <a:latin typeface="Microsoft Sans Serif"/>
              <a:cs typeface="Microsoft Sans Serif"/>
            </a:endParaRPr>
          </a:p>
          <a:p>
            <a:pPr>
              <a:lnSpc>
                <a:spcPct val="100000"/>
              </a:lnSpc>
            </a:pPr>
            <a:endParaRPr sz="1350">
              <a:latin typeface="Microsoft Sans Serif"/>
              <a:cs typeface="Microsoft Sans Serif"/>
            </a:endParaRPr>
          </a:p>
          <a:p>
            <a:pPr>
              <a:lnSpc>
                <a:spcPct val="100000"/>
              </a:lnSpc>
              <a:spcBef>
                <a:spcPts val="1005"/>
              </a:spcBef>
            </a:pPr>
            <a:endParaRPr sz="1350">
              <a:latin typeface="Microsoft Sans Serif"/>
              <a:cs typeface="Microsoft Sans Serif"/>
            </a:endParaRPr>
          </a:p>
          <a:p>
            <a:pPr algn="ctr">
              <a:lnSpc>
                <a:spcPct val="100000"/>
              </a:lnSpc>
            </a:pPr>
            <a:r>
              <a:rPr sz="1150" spc="-55" dirty="0">
                <a:solidFill>
                  <a:srgbClr val="FFFFFF"/>
                </a:solidFill>
                <a:latin typeface="Microsoft Sans Serif"/>
                <a:cs typeface="Microsoft Sans Serif"/>
              </a:rPr>
              <a:t>AI</a:t>
            </a:r>
            <a:r>
              <a:rPr sz="1200" spc="-55" dirty="0">
                <a:solidFill>
                  <a:srgbClr val="FFFFFF"/>
                </a:solidFill>
                <a:latin typeface="Verdana"/>
                <a:cs typeface="Verdana"/>
              </a:rPr>
              <a:t>-</a:t>
            </a:r>
            <a:r>
              <a:rPr sz="1150" spc="-45" dirty="0">
                <a:solidFill>
                  <a:srgbClr val="FFFFFF"/>
                </a:solidFill>
                <a:latin typeface="Microsoft Sans Serif"/>
                <a:cs typeface="Microsoft Sans Serif"/>
              </a:rPr>
              <a:t>Based</a:t>
            </a:r>
            <a:r>
              <a:rPr sz="1150" spc="-20" dirty="0">
                <a:solidFill>
                  <a:srgbClr val="FFFFFF"/>
                </a:solidFill>
                <a:latin typeface="Microsoft Sans Serif"/>
                <a:cs typeface="Microsoft Sans Serif"/>
              </a:rPr>
              <a:t> </a:t>
            </a:r>
            <a:r>
              <a:rPr sz="1150" spc="-30" dirty="0">
                <a:solidFill>
                  <a:srgbClr val="FFFFFF"/>
                </a:solidFill>
                <a:latin typeface="Microsoft Sans Serif"/>
                <a:cs typeface="Microsoft Sans Serif"/>
              </a:rPr>
              <a:t>Search</a:t>
            </a:r>
            <a:r>
              <a:rPr sz="1150" spc="-20" dirty="0">
                <a:solidFill>
                  <a:srgbClr val="FFFFFF"/>
                </a:solidFill>
                <a:latin typeface="Microsoft Sans Serif"/>
                <a:cs typeface="Microsoft Sans Serif"/>
              </a:rPr>
              <a:t> and </a:t>
            </a:r>
            <a:r>
              <a:rPr sz="1150" spc="-45" dirty="0">
                <a:solidFill>
                  <a:srgbClr val="FFFFFF"/>
                </a:solidFill>
                <a:latin typeface="Microsoft Sans Serif"/>
                <a:cs typeface="Microsoft Sans Serif"/>
              </a:rPr>
              <a:t>Rescue</a:t>
            </a:r>
            <a:r>
              <a:rPr sz="1150" spc="-20" dirty="0">
                <a:solidFill>
                  <a:srgbClr val="FFFFFF"/>
                </a:solidFill>
                <a:latin typeface="Microsoft Sans Serif"/>
                <a:cs typeface="Microsoft Sans Serif"/>
              </a:rPr>
              <a:t> </a:t>
            </a:r>
            <a:r>
              <a:rPr sz="1150" spc="-30" dirty="0">
                <a:solidFill>
                  <a:srgbClr val="FFFFFF"/>
                </a:solidFill>
                <a:latin typeface="Microsoft Sans Serif"/>
                <a:cs typeface="Microsoft Sans Serif"/>
              </a:rPr>
              <a:t>Drone</a:t>
            </a:r>
            <a:r>
              <a:rPr sz="1150" spc="-20" dirty="0">
                <a:solidFill>
                  <a:srgbClr val="FFFFFF"/>
                </a:solidFill>
                <a:latin typeface="Microsoft Sans Serif"/>
                <a:cs typeface="Microsoft Sans Serif"/>
              </a:rPr>
              <a:t> </a:t>
            </a:r>
            <a:r>
              <a:rPr sz="1150" spc="-10" dirty="0">
                <a:solidFill>
                  <a:srgbClr val="FFFFFF"/>
                </a:solidFill>
                <a:latin typeface="Microsoft Sans Serif"/>
                <a:cs typeface="Microsoft Sans Serif"/>
              </a:rPr>
              <a:t>System</a:t>
            </a:r>
            <a:endParaRPr sz="1150">
              <a:latin typeface="Microsoft Sans Serif"/>
              <a:cs typeface="Microsoft Sans Serif"/>
            </a:endParaRPr>
          </a:p>
          <a:p>
            <a:pPr algn="ctr">
              <a:lnSpc>
                <a:spcPct val="100000"/>
              </a:lnSpc>
              <a:spcBef>
                <a:spcPts val="735"/>
              </a:spcBef>
            </a:pPr>
            <a:r>
              <a:rPr sz="1050" spc="-20" dirty="0">
                <a:solidFill>
                  <a:srgbClr val="FFFFFF"/>
                </a:solidFill>
                <a:latin typeface="Microsoft Sans Serif"/>
                <a:cs typeface="Microsoft Sans Serif"/>
              </a:rPr>
              <a:t>Hamza</a:t>
            </a:r>
            <a:r>
              <a:rPr sz="1050" spc="-40" dirty="0">
                <a:solidFill>
                  <a:srgbClr val="FFFFFF"/>
                </a:solidFill>
                <a:latin typeface="Microsoft Sans Serif"/>
                <a:cs typeface="Microsoft Sans Serif"/>
              </a:rPr>
              <a:t> </a:t>
            </a:r>
            <a:r>
              <a:rPr sz="1050" dirty="0">
                <a:solidFill>
                  <a:srgbClr val="FFFFFF"/>
                </a:solidFill>
                <a:latin typeface="Microsoft Sans Serif"/>
                <a:cs typeface="Microsoft Sans Serif"/>
              </a:rPr>
              <a:t>Jad</a:t>
            </a:r>
            <a:r>
              <a:rPr sz="1050" spc="-20" dirty="0">
                <a:solidFill>
                  <a:srgbClr val="FFFFFF"/>
                </a:solidFill>
                <a:latin typeface="Microsoft Sans Serif"/>
                <a:cs typeface="Microsoft Sans Serif"/>
              </a:rPr>
              <a:t> </a:t>
            </a:r>
            <a:r>
              <a:rPr sz="1050" spc="-10" dirty="0">
                <a:solidFill>
                  <a:srgbClr val="FFFFFF"/>
                </a:solidFill>
                <a:latin typeface="Microsoft Sans Serif"/>
                <a:cs typeface="Microsoft Sans Serif"/>
              </a:rPr>
              <a:t>Allah</a:t>
            </a:r>
            <a:r>
              <a:rPr sz="1050" spc="-15" dirty="0">
                <a:solidFill>
                  <a:srgbClr val="FFFFFF"/>
                </a:solidFill>
                <a:latin typeface="Microsoft Sans Serif"/>
                <a:cs typeface="Microsoft Sans Serif"/>
              </a:rPr>
              <a:t> </a:t>
            </a:r>
            <a:r>
              <a:rPr sz="1050" spc="-240" dirty="0">
                <a:solidFill>
                  <a:srgbClr val="FFFFFF"/>
                </a:solidFill>
                <a:latin typeface="Trebuchet MS"/>
                <a:cs typeface="Trebuchet MS"/>
              </a:rPr>
              <a:t>|</a:t>
            </a:r>
            <a:r>
              <a:rPr sz="1050" spc="-45" dirty="0">
                <a:solidFill>
                  <a:srgbClr val="FFFFFF"/>
                </a:solidFill>
                <a:latin typeface="Trebuchet MS"/>
                <a:cs typeface="Trebuchet MS"/>
              </a:rPr>
              <a:t> </a:t>
            </a:r>
            <a:r>
              <a:rPr sz="1050" spc="-20" dirty="0">
                <a:solidFill>
                  <a:srgbClr val="FFFFFF"/>
                </a:solidFill>
                <a:latin typeface="Microsoft Sans Serif"/>
                <a:cs typeface="Microsoft Sans Serif"/>
              </a:rPr>
              <a:t>Suhaib</a:t>
            </a:r>
            <a:r>
              <a:rPr sz="1050" spc="-15" dirty="0">
                <a:solidFill>
                  <a:srgbClr val="FFFFFF"/>
                </a:solidFill>
                <a:latin typeface="Microsoft Sans Serif"/>
                <a:cs typeface="Microsoft Sans Serif"/>
              </a:rPr>
              <a:t> </a:t>
            </a:r>
            <a:r>
              <a:rPr sz="1050" spc="-10" dirty="0">
                <a:solidFill>
                  <a:srgbClr val="FFFFFF"/>
                </a:solidFill>
                <a:latin typeface="Microsoft Sans Serif"/>
                <a:cs typeface="Microsoft Sans Serif"/>
              </a:rPr>
              <a:t>Alajami</a:t>
            </a:r>
            <a:r>
              <a:rPr sz="1050" spc="-20" dirty="0">
                <a:solidFill>
                  <a:srgbClr val="FFFFFF"/>
                </a:solidFill>
                <a:latin typeface="Microsoft Sans Serif"/>
                <a:cs typeface="Microsoft Sans Serif"/>
              </a:rPr>
              <a:t> </a:t>
            </a:r>
            <a:r>
              <a:rPr sz="1050" spc="-240" dirty="0">
                <a:solidFill>
                  <a:srgbClr val="FFFFFF"/>
                </a:solidFill>
                <a:latin typeface="Trebuchet MS"/>
                <a:cs typeface="Trebuchet MS"/>
              </a:rPr>
              <a:t>|</a:t>
            </a:r>
            <a:r>
              <a:rPr sz="1050" spc="-45" dirty="0">
                <a:solidFill>
                  <a:srgbClr val="FFFFFF"/>
                </a:solidFill>
                <a:latin typeface="Trebuchet MS"/>
                <a:cs typeface="Trebuchet MS"/>
              </a:rPr>
              <a:t> </a:t>
            </a:r>
            <a:r>
              <a:rPr sz="1050" spc="-20" dirty="0">
                <a:solidFill>
                  <a:srgbClr val="FFFFFF"/>
                </a:solidFill>
                <a:latin typeface="Microsoft Sans Serif"/>
                <a:cs typeface="Microsoft Sans Serif"/>
              </a:rPr>
              <a:t>Omar</a:t>
            </a:r>
            <a:r>
              <a:rPr sz="1050" spc="-15" dirty="0">
                <a:solidFill>
                  <a:srgbClr val="FFFFFF"/>
                </a:solidFill>
                <a:latin typeface="Microsoft Sans Serif"/>
                <a:cs typeface="Microsoft Sans Serif"/>
              </a:rPr>
              <a:t> </a:t>
            </a:r>
            <a:r>
              <a:rPr sz="1050" spc="-10" dirty="0">
                <a:solidFill>
                  <a:srgbClr val="FFFFFF"/>
                </a:solidFill>
                <a:latin typeface="Microsoft Sans Serif"/>
                <a:cs typeface="Microsoft Sans Serif"/>
              </a:rPr>
              <a:t>Malkawi</a:t>
            </a:r>
            <a:endParaRPr sz="1050">
              <a:latin typeface="Microsoft Sans Serif"/>
              <a:cs typeface="Microsoft Sans Serif"/>
            </a:endParaRPr>
          </a:p>
          <a:p>
            <a:pPr algn="ctr">
              <a:lnSpc>
                <a:spcPct val="100000"/>
              </a:lnSpc>
              <a:spcBef>
                <a:spcPts val="390"/>
              </a:spcBef>
            </a:pPr>
            <a:r>
              <a:rPr sz="1000" spc="-25" dirty="0">
                <a:solidFill>
                  <a:srgbClr val="FFFFFF"/>
                </a:solidFill>
                <a:latin typeface="Microsoft Sans Serif"/>
                <a:cs typeface="Microsoft Sans Serif"/>
              </a:rPr>
              <a:t>Supervised</a:t>
            </a:r>
            <a:r>
              <a:rPr sz="1000" dirty="0">
                <a:solidFill>
                  <a:srgbClr val="FFFFFF"/>
                </a:solidFill>
                <a:latin typeface="Microsoft Sans Serif"/>
                <a:cs typeface="Microsoft Sans Serif"/>
              </a:rPr>
              <a:t> by</a:t>
            </a:r>
            <a:r>
              <a:rPr sz="1000" spc="5" dirty="0">
                <a:solidFill>
                  <a:srgbClr val="FFFFFF"/>
                </a:solidFill>
                <a:latin typeface="Microsoft Sans Serif"/>
                <a:cs typeface="Microsoft Sans Serif"/>
              </a:rPr>
              <a:t> </a:t>
            </a:r>
            <a:r>
              <a:rPr sz="1000" spc="-65" dirty="0">
                <a:solidFill>
                  <a:srgbClr val="FFFFFF"/>
                </a:solidFill>
                <a:latin typeface="Microsoft Sans Serif"/>
                <a:cs typeface="Microsoft Sans Serif"/>
              </a:rPr>
              <a:t>Dr</a:t>
            </a:r>
            <a:r>
              <a:rPr sz="1050" spc="-65" dirty="0">
                <a:solidFill>
                  <a:srgbClr val="FFFFFF"/>
                </a:solidFill>
                <a:latin typeface="Microsoft Sans Serif"/>
                <a:cs typeface="Microsoft Sans Serif"/>
              </a:rPr>
              <a:t>.</a:t>
            </a:r>
            <a:r>
              <a:rPr sz="1050" spc="-10" dirty="0">
                <a:solidFill>
                  <a:srgbClr val="FFFFFF"/>
                </a:solidFill>
                <a:latin typeface="Microsoft Sans Serif"/>
                <a:cs typeface="Microsoft Sans Serif"/>
              </a:rPr>
              <a:t> </a:t>
            </a:r>
            <a:r>
              <a:rPr sz="1000" spc="-70" dirty="0">
                <a:solidFill>
                  <a:srgbClr val="FFFFFF"/>
                </a:solidFill>
                <a:latin typeface="Microsoft Sans Serif"/>
                <a:cs typeface="Microsoft Sans Serif"/>
              </a:rPr>
              <a:t>Rami</a:t>
            </a:r>
            <a:r>
              <a:rPr sz="1000" spc="5" dirty="0">
                <a:solidFill>
                  <a:srgbClr val="FFFFFF"/>
                </a:solidFill>
                <a:latin typeface="Microsoft Sans Serif"/>
                <a:cs typeface="Microsoft Sans Serif"/>
              </a:rPr>
              <a:t> </a:t>
            </a:r>
            <a:r>
              <a:rPr sz="1000" dirty="0">
                <a:solidFill>
                  <a:srgbClr val="FFFFFF"/>
                </a:solidFill>
                <a:latin typeface="Microsoft Sans Serif"/>
                <a:cs typeface="Microsoft Sans Serif"/>
              </a:rPr>
              <a:t>Al</a:t>
            </a:r>
            <a:r>
              <a:rPr sz="1050" dirty="0">
                <a:solidFill>
                  <a:srgbClr val="FFFFFF"/>
                </a:solidFill>
                <a:latin typeface="Microsoft Sans Serif"/>
                <a:cs typeface="Microsoft Sans Serif"/>
              </a:rPr>
              <a:t>-</a:t>
            </a:r>
            <a:r>
              <a:rPr sz="1000" spc="-10" dirty="0">
                <a:solidFill>
                  <a:srgbClr val="FFFFFF"/>
                </a:solidFill>
                <a:latin typeface="Microsoft Sans Serif"/>
                <a:cs typeface="Microsoft Sans Serif"/>
              </a:rPr>
              <a:t>Ouran</a:t>
            </a:r>
            <a:endParaRPr sz="1000">
              <a:latin typeface="Microsoft Sans Serif"/>
              <a:cs typeface="Microsoft Sans Serif"/>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79896" y="949325"/>
            <a:ext cx="158750" cy="212725"/>
          </a:xfrm>
          <a:prstGeom prst="rect">
            <a:avLst/>
          </a:prstGeom>
        </p:spPr>
      </p:pic>
      <p:sp>
        <p:nvSpPr>
          <p:cNvPr id="3" name="object 3"/>
          <p:cNvSpPr txBox="1">
            <a:spLocks noGrp="1"/>
          </p:cNvSpPr>
          <p:nvPr>
            <p:ph type="title"/>
          </p:nvPr>
        </p:nvSpPr>
        <p:spPr>
          <a:xfrm>
            <a:off x="1319609" y="883762"/>
            <a:ext cx="1508760" cy="298450"/>
          </a:xfrm>
          <a:prstGeom prst="rect">
            <a:avLst/>
          </a:prstGeom>
        </p:spPr>
        <p:txBody>
          <a:bodyPr vert="horz" wrap="square" lIns="0" tIns="11430" rIns="0" bIns="0" rtlCol="0">
            <a:spAutoFit/>
          </a:bodyPr>
          <a:lstStyle/>
          <a:p>
            <a:pPr marL="12700">
              <a:lnSpc>
                <a:spcPct val="100000"/>
              </a:lnSpc>
              <a:spcBef>
                <a:spcPts val="90"/>
              </a:spcBef>
            </a:pPr>
            <a:r>
              <a:rPr sz="1800" spc="-155" dirty="0">
                <a:solidFill>
                  <a:srgbClr val="BF382A"/>
                </a:solidFill>
              </a:rPr>
              <a:t>Key</a:t>
            </a:r>
            <a:r>
              <a:rPr sz="1800" spc="-175" dirty="0">
                <a:solidFill>
                  <a:srgbClr val="BF382A"/>
                </a:solidFill>
              </a:rPr>
              <a:t> </a:t>
            </a:r>
            <a:r>
              <a:rPr sz="1800" spc="-120" dirty="0">
                <a:solidFill>
                  <a:srgbClr val="BF382A"/>
                </a:solidFill>
              </a:rPr>
              <a:t>References</a:t>
            </a:r>
            <a:endParaRPr sz="1800"/>
          </a:p>
        </p:txBody>
      </p:sp>
      <p:sp>
        <p:nvSpPr>
          <p:cNvPr id="4" name="object 4"/>
          <p:cNvSpPr txBox="1"/>
          <p:nvPr/>
        </p:nvSpPr>
        <p:spPr>
          <a:xfrm>
            <a:off x="1125686" y="1380125"/>
            <a:ext cx="4018279" cy="3399007"/>
          </a:xfrm>
          <a:prstGeom prst="rect">
            <a:avLst/>
          </a:prstGeom>
        </p:spPr>
        <p:txBody>
          <a:bodyPr vert="horz" wrap="square" lIns="0" tIns="89535" rIns="0" bIns="0" rtlCol="0">
            <a:spAutoFit/>
          </a:bodyPr>
          <a:lstStyle/>
          <a:p>
            <a:pPr marL="125730" indent="-113030">
              <a:lnSpc>
                <a:spcPct val="100000"/>
              </a:lnSpc>
              <a:spcBef>
                <a:spcPts val="705"/>
              </a:spcBef>
              <a:buAutoNum type="arabicPeriod"/>
              <a:tabLst>
                <a:tab pos="125730" algn="l"/>
              </a:tabLst>
            </a:pPr>
            <a:r>
              <a:rPr sz="1200" spc="-10" dirty="0">
                <a:solidFill>
                  <a:srgbClr val="545454"/>
                </a:solidFill>
                <a:latin typeface="Microsoft Sans Serif"/>
                <a:cs typeface="Microsoft Sans Serif"/>
              </a:rPr>
              <a:t>Human</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Detection from</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Aerial Imagery</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for </a:t>
            </a:r>
            <a:r>
              <a:rPr sz="1200" spc="-55" dirty="0">
                <a:solidFill>
                  <a:srgbClr val="545454"/>
                </a:solidFill>
                <a:latin typeface="Microsoft Sans Serif"/>
                <a:cs typeface="Microsoft Sans Serif"/>
              </a:rPr>
              <a:t>SAR</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Operations </a:t>
            </a:r>
            <a:r>
              <a:rPr sz="1200" spc="75" dirty="0">
                <a:solidFill>
                  <a:srgbClr val="545454"/>
                </a:solidFill>
                <a:latin typeface="Microsoft Sans Serif"/>
                <a:cs typeface="Microsoft Sans Serif"/>
              </a:rPr>
              <a:t>-</a:t>
            </a:r>
            <a:r>
              <a:rPr sz="1200" spc="-5" dirty="0">
                <a:solidFill>
                  <a:srgbClr val="545454"/>
                </a:solidFill>
                <a:latin typeface="Microsoft Sans Serif"/>
                <a:cs typeface="Microsoft Sans Serif"/>
              </a:rPr>
              <a:t> </a:t>
            </a:r>
            <a:r>
              <a:rPr sz="1200" spc="-10" dirty="0">
                <a:solidFill>
                  <a:srgbClr val="545454"/>
                </a:solidFill>
                <a:latin typeface="Microsoft Sans Serif"/>
                <a:cs typeface="Microsoft Sans Serif"/>
              </a:rPr>
              <a:t>ResearchGate</a:t>
            </a:r>
            <a:endParaRPr sz="1200" dirty="0">
              <a:latin typeface="Microsoft Sans Serif"/>
              <a:cs typeface="Microsoft Sans Serif"/>
            </a:endParaRPr>
          </a:p>
          <a:p>
            <a:pPr marL="125730" indent="-113030">
              <a:lnSpc>
                <a:spcPct val="100000"/>
              </a:lnSpc>
              <a:spcBef>
                <a:spcPts val="615"/>
              </a:spcBef>
              <a:buAutoNum type="arabicPeriod"/>
              <a:tabLst>
                <a:tab pos="125730" algn="l"/>
              </a:tabLst>
            </a:pPr>
            <a:r>
              <a:rPr sz="1200" spc="-35" dirty="0">
                <a:solidFill>
                  <a:srgbClr val="545454"/>
                </a:solidFill>
                <a:latin typeface="Microsoft Sans Serif"/>
                <a:cs typeface="Microsoft Sans Serif"/>
              </a:rPr>
              <a:t>AUS</a:t>
            </a:r>
            <a:r>
              <a:rPr sz="1200" spc="-5" dirty="0">
                <a:solidFill>
                  <a:srgbClr val="545454"/>
                </a:solidFill>
                <a:latin typeface="Microsoft Sans Serif"/>
                <a:cs typeface="Microsoft Sans Serif"/>
              </a:rPr>
              <a:t> </a:t>
            </a:r>
            <a:r>
              <a:rPr sz="1200" spc="-10" dirty="0">
                <a:solidFill>
                  <a:srgbClr val="545454"/>
                </a:solidFill>
                <a:latin typeface="Microsoft Sans Serif"/>
                <a:cs typeface="Microsoft Sans Serif"/>
              </a:rPr>
              <a:t>Shaheen</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Project for</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Desert </a:t>
            </a:r>
            <a:r>
              <a:rPr sz="1200" spc="-10" dirty="0">
                <a:solidFill>
                  <a:srgbClr val="545454"/>
                </a:solidFill>
                <a:latin typeface="Microsoft Sans Serif"/>
                <a:cs typeface="Microsoft Sans Serif"/>
              </a:rPr>
              <a:t>Rescue</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Innovation </a:t>
            </a:r>
            <a:r>
              <a:rPr sz="1200" spc="75" dirty="0">
                <a:solidFill>
                  <a:srgbClr val="545454"/>
                </a:solidFill>
                <a:latin typeface="Microsoft Sans Serif"/>
                <a:cs typeface="Microsoft Sans Serif"/>
              </a:rPr>
              <a:t>-</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American University</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of </a:t>
            </a:r>
            <a:r>
              <a:rPr sz="1200" spc="-10" dirty="0">
                <a:solidFill>
                  <a:srgbClr val="545454"/>
                </a:solidFill>
                <a:latin typeface="Microsoft Sans Serif"/>
                <a:cs typeface="Microsoft Sans Serif"/>
              </a:rPr>
              <a:t>Sharjah</a:t>
            </a:r>
            <a:endParaRPr sz="1200" dirty="0">
              <a:latin typeface="Microsoft Sans Serif"/>
              <a:cs typeface="Microsoft Sans Serif"/>
            </a:endParaRPr>
          </a:p>
          <a:p>
            <a:pPr marL="125730" indent="-113030">
              <a:lnSpc>
                <a:spcPct val="100000"/>
              </a:lnSpc>
              <a:spcBef>
                <a:spcPts val="615"/>
              </a:spcBef>
              <a:buAutoNum type="arabicPeriod"/>
              <a:tabLst>
                <a:tab pos="125730" algn="l"/>
              </a:tabLst>
            </a:pPr>
            <a:r>
              <a:rPr sz="1200" dirty="0">
                <a:solidFill>
                  <a:srgbClr val="545454"/>
                </a:solidFill>
                <a:latin typeface="Microsoft Sans Serif"/>
                <a:cs typeface="Microsoft Sans Serif"/>
              </a:rPr>
              <a:t>Bringing Intelligence</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to</a:t>
            </a:r>
            <a:r>
              <a:rPr sz="1200" spc="5" dirty="0">
                <a:solidFill>
                  <a:srgbClr val="545454"/>
                </a:solidFill>
                <a:latin typeface="Microsoft Sans Serif"/>
                <a:cs typeface="Microsoft Sans Serif"/>
              </a:rPr>
              <a:t> </a:t>
            </a:r>
            <a:r>
              <a:rPr sz="1200" spc="-55" dirty="0">
                <a:solidFill>
                  <a:srgbClr val="545454"/>
                </a:solidFill>
                <a:latin typeface="Microsoft Sans Serif"/>
                <a:cs typeface="Microsoft Sans Serif"/>
              </a:rPr>
              <a:t>SAR</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Missions:</a:t>
            </a:r>
            <a:r>
              <a:rPr sz="1200" spc="5" dirty="0">
                <a:solidFill>
                  <a:srgbClr val="545454"/>
                </a:solidFill>
                <a:latin typeface="Microsoft Sans Serif"/>
                <a:cs typeface="Microsoft Sans Serif"/>
              </a:rPr>
              <a:t> </a:t>
            </a:r>
            <a:r>
              <a:rPr sz="1200" spc="-60" dirty="0">
                <a:solidFill>
                  <a:srgbClr val="545454"/>
                </a:solidFill>
                <a:latin typeface="Microsoft Sans Serif"/>
                <a:cs typeface="Microsoft Sans Serif"/>
              </a:rPr>
              <a:t>YOLO</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for</a:t>
            </a:r>
            <a:r>
              <a:rPr sz="1200" spc="5" dirty="0">
                <a:solidFill>
                  <a:srgbClr val="545454"/>
                </a:solidFill>
                <a:latin typeface="Microsoft Sans Serif"/>
                <a:cs typeface="Microsoft Sans Serif"/>
              </a:rPr>
              <a:t> </a:t>
            </a:r>
            <a:r>
              <a:rPr sz="1200" spc="-10" dirty="0">
                <a:solidFill>
                  <a:srgbClr val="545454"/>
                </a:solidFill>
                <a:latin typeface="Microsoft Sans Serif"/>
                <a:cs typeface="Microsoft Sans Serif"/>
              </a:rPr>
              <a:t>Human</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Detection</a:t>
            </a:r>
            <a:r>
              <a:rPr sz="1200" spc="5" dirty="0">
                <a:solidFill>
                  <a:srgbClr val="545454"/>
                </a:solidFill>
                <a:latin typeface="Microsoft Sans Serif"/>
                <a:cs typeface="Microsoft Sans Serif"/>
              </a:rPr>
              <a:t> </a:t>
            </a:r>
            <a:r>
              <a:rPr sz="1200" spc="75" dirty="0">
                <a:solidFill>
                  <a:srgbClr val="545454"/>
                </a:solidFill>
                <a:latin typeface="Microsoft Sans Serif"/>
                <a:cs typeface="Microsoft Sans Serif"/>
              </a:rPr>
              <a:t>-</a:t>
            </a:r>
            <a:r>
              <a:rPr sz="1200" spc="5" dirty="0">
                <a:solidFill>
                  <a:srgbClr val="545454"/>
                </a:solidFill>
                <a:latin typeface="Microsoft Sans Serif"/>
                <a:cs typeface="Microsoft Sans Serif"/>
              </a:rPr>
              <a:t> </a:t>
            </a:r>
            <a:r>
              <a:rPr sz="1200" spc="-80" dirty="0">
                <a:solidFill>
                  <a:srgbClr val="545454"/>
                </a:solidFill>
                <a:latin typeface="Microsoft Sans Serif"/>
                <a:cs typeface="Microsoft Sans Serif"/>
              </a:rPr>
              <a:t>IEEE</a:t>
            </a:r>
            <a:r>
              <a:rPr sz="1200" spc="5" dirty="0">
                <a:solidFill>
                  <a:srgbClr val="545454"/>
                </a:solidFill>
                <a:latin typeface="Microsoft Sans Serif"/>
                <a:cs typeface="Microsoft Sans Serif"/>
              </a:rPr>
              <a:t> </a:t>
            </a:r>
            <a:r>
              <a:rPr sz="1200" spc="-10" dirty="0">
                <a:solidFill>
                  <a:srgbClr val="545454"/>
                </a:solidFill>
                <a:latin typeface="Microsoft Sans Serif"/>
                <a:cs typeface="Microsoft Sans Serif"/>
              </a:rPr>
              <a:t>Xplore</a:t>
            </a:r>
            <a:endParaRPr sz="1200" dirty="0">
              <a:latin typeface="Microsoft Sans Serif"/>
              <a:cs typeface="Microsoft Sans Serif"/>
            </a:endParaRPr>
          </a:p>
          <a:p>
            <a:pPr marL="125730" indent="-113030">
              <a:lnSpc>
                <a:spcPct val="100000"/>
              </a:lnSpc>
              <a:spcBef>
                <a:spcPts val="615"/>
              </a:spcBef>
              <a:buAutoNum type="arabicPeriod"/>
              <a:tabLst>
                <a:tab pos="125730" algn="l"/>
              </a:tabLst>
            </a:pPr>
            <a:r>
              <a:rPr sz="1200" spc="-30" dirty="0">
                <a:solidFill>
                  <a:srgbClr val="545454"/>
                </a:solidFill>
                <a:latin typeface="Microsoft Sans Serif"/>
                <a:cs typeface="Microsoft Sans Serif"/>
              </a:rPr>
              <a:t>Real-</a:t>
            </a:r>
            <a:r>
              <a:rPr sz="1200" dirty="0">
                <a:solidFill>
                  <a:srgbClr val="545454"/>
                </a:solidFill>
                <a:latin typeface="Microsoft Sans Serif"/>
                <a:cs typeface="Microsoft Sans Serif"/>
              </a:rPr>
              <a:t>Time</a:t>
            </a:r>
            <a:r>
              <a:rPr sz="1200" spc="-10" dirty="0">
                <a:solidFill>
                  <a:srgbClr val="545454"/>
                </a:solidFill>
                <a:latin typeface="Microsoft Sans Serif"/>
                <a:cs typeface="Microsoft Sans Serif"/>
              </a:rPr>
              <a:t> Person </a:t>
            </a:r>
            <a:r>
              <a:rPr sz="1200" dirty="0">
                <a:solidFill>
                  <a:srgbClr val="545454"/>
                </a:solidFill>
                <a:latin typeface="Microsoft Sans Serif"/>
                <a:cs typeface="Microsoft Sans Serif"/>
              </a:rPr>
              <a:t>Detection</a:t>
            </a:r>
            <a:r>
              <a:rPr sz="1200" spc="-10" dirty="0">
                <a:solidFill>
                  <a:srgbClr val="545454"/>
                </a:solidFill>
                <a:latin typeface="Microsoft Sans Serif"/>
                <a:cs typeface="Microsoft Sans Serif"/>
              </a:rPr>
              <a:t> </a:t>
            </a:r>
            <a:r>
              <a:rPr sz="1200" dirty="0">
                <a:solidFill>
                  <a:srgbClr val="545454"/>
                </a:solidFill>
                <a:latin typeface="Microsoft Sans Serif"/>
                <a:cs typeface="Microsoft Sans Serif"/>
              </a:rPr>
              <a:t>Using</a:t>
            </a:r>
            <a:r>
              <a:rPr sz="1200" spc="-10" dirty="0">
                <a:solidFill>
                  <a:srgbClr val="545454"/>
                </a:solidFill>
                <a:latin typeface="Microsoft Sans Serif"/>
                <a:cs typeface="Microsoft Sans Serif"/>
              </a:rPr>
              <a:t> </a:t>
            </a:r>
            <a:r>
              <a:rPr sz="1200" dirty="0">
                <a:solidFill>
                  <a:srgbClr val="545454"/>
                </a:solidFill>
                <a:latin typeface="Microsoft Sans Serif"/>
                <a:cs typeface="Microsoft Sans Serif"/>
              </a:rPr>
              <a:t>Thermal</a:t>
            </a:r>
            <a:r>
              <a:rPr sz="1200" spc="-10" dirty="0">
                <a:solidFill>
                  <a:srgbClr val="545454"/>
                </a:solidFill>
                <a:latin typeface="Microsoft Sans Serif"/>
                <a:cs typeface="Microsoft Sans Serif"/>
              </a:rPr>
              <a:t> Images </a:t>
            </a:r>
            <a:r>
              <a:rPr sz="1200" dirty="0">
                <a:solidFill>
                  <a:srgbClr val="545454"/>
                </a:solidFill>
                <a:latin typeface="Microsoft Sans Serif"/>
                <a:cs typeface="Microsoft Sans Serif"/>
              </a:rPr>
              <a:t>from</a:t>
            </a:r>
            <a:r>
              <a:rPr sz="1200" spc="-10" dirty="0">
                <a:solidFill>
                  <a:srgbClr val="545454"/>
                </a:solidFill>
                <a:latin typeface="Microsoft Sans Serif"/>
                <a:cs typeface="Microsoft Sans Serif"/>
              </a:rPr>
              <a:t> </a:t>
            </a:r>
            <a:r>
              <a:rPr sz="1200" dirty="0">
                <a:solidFill>
                  <a:srgbClr val="545454"/>
                </a:solidFill>
                <a:latin typeface="Microsoft Sans Serif"/>
                <a:cs typeface="Microsoft Sans Serif"/>
              </a:rPr>
              <a:t>Aerial</a:t>
            </a:r>
            <a:r>
              <a:rPr sz="1200" spc="-10" dirty="0">
                <a:solidFill>
                  <a:srgbClr val="545454"/>
                </a:solidFill>
                <a:latin typeface="Microsoft Sans Serif"/>
                <a:cs typeface="Microsoft Sans Serif"/>
              </a:rPr>
              <a:t> </a:t>
            </a:r>
            <a:r>
              <a:rPr sz="1200" dirty="0">
                <a:solidFill>
                  <a:srgbClr val="545454"/>
                </a:solidFill>
                <a:latin typeface="Microsoft Sans Serif"/>
                <a:cs typeface="Microsoft Sans Serif"/>
              </a:rPr>
              <a:t>Perspective</a:t>
            </a:r>
            <a:r>
              <a:rPr sz="1200" spc="-10" dirty="0">
                <a:solidFill>
                  <a:srgbClr val="545454"/>
                </a:solidFill>
                <a:latin typeface="Microsoft Sans Serif"/>
                <a:cs typeface="Microsoft Sans Serif"/>
              </a:rPr>
              <a:t> </a:t>
            </a:r>
            <a:r>
              <a:rPr sz="1200" spc="75" dirty="0">
                <a:solidFill>
                  <a:srgbClr val="545454"/>
                </a:solidFill>
                <a:latin typeface="Microsoft Sans Serif"/>
                <a:cs typeface="Microsoft Sans Serif"/>
              </a:rPr>
              <a:t>-</a:t>
            </a:r>
            <a:r>
              <a:rPr sz="1200" spc="-10" dirty="0">
                <a:solidFill>
                  <a:srgbClr val="545454"/>
                </a:solidFill>
                <a:latin typeface="Microsoft Sans Serif"/>
                <a:cs typeface="Microsoft Sans Serif"/>
              </a:rPr>
              <a:t> NIH </a:t>
            </a:r>
            <a:r>
              <a:rPr sz="1200" spc="-25" dirty="0">
                <a:solidFill>
                  <a:srgbClr val="545454"/>
                </a:solidFill>
                <a:latin typeface="Microsoft Sans Serif"/>
                <a:cs typeface="Microsoft Sans Serif"/>
              </a:rPr>
              <a:t>PMC</a:t>
            </a:r>
            <a:endParaRPr sz="1200" dirty="0">
              <a:latin typeface="Microsoft Sans Serif"/>
              <a:cs typeface="Microsoft Sans Serif"/>
            </a:endParaRPr>
          </a:p>
          <a:p>
            <a:pPr marL="125730" indent="-113030">
              <a:lnSpc>
                <a:spcPct val="100000"/>
              </a:lnSpc>
              <a:spcBef>
                <a:spcPts val="615"/>
              </a:spcBef>
              <a:buAutoNum type="arabicPeriod"/>
              <a:tabLst>
                <a:tab pos="125730" algn="l"/>
              </a:tabLst>
            </a:pPr>
            <a:r>
              <a:rPr sz="1200" spc="-35" dirty="0">
                <a:solidFill>
                  <a:srgbClr val="545454"/>
                </a:solidFill>
                <a:latin typeface="Microsoft Sans Serif"/>
                <a:cs typeface="Microsoft Sans Serif"/>
              </a:rPr>
              <a:t>DCS-</a:t>
            </a:r>
            <a:r>
              <a:rPr sz="1200" spc="-25" dirty="0">
                <a:solidFill>
                  <a:srgbClr val="545454"/>
                </a:solidFill>
                <a:latin typeface="Microsoft Sans Serif"/>
                <a:cs typeface="Microsoft Sans Serif"/>
              </a:rPr>
              <a:t>YOLOv8:</a:t>
            </a:r>
            <a:r>
              <a:rPr sz="1200" spc="15" dirty="0">
                <a:solidFill>
                  <a:srgbClr val="545454"/>
                </a:solidFill>
                <a:latin typeface="Microsoft Sans Serif"/>
                <a:cs typeface="Microsoft Sans Serif"/>
              </a:rPr>
              <a:t> </a:t>
            </a:r>
            <a:r>
              <a:rPr sz="1200" dirty="0">
                <a:solidFill>
                  <a:srgbClr val="545454"/>
                </a:solidFill>
                <a:latin typeface="Microsoft Sans Serif"/>
                <a:cs typeface="Microsoft Sans Serif"/>
              </a:rPr>
              <a:t>Context-</a:t>
            </a:r>
            <a:r>
              <a:rPr sz="1200" spc="-10" dirty="0">
                <a:solidFill>
                  <a:srgbClr val="545454"/>
                </a:solidFill>
                <a:latin typeface="Microsoft Sans Serif"/>
                <a:cs typeface="Microsoft Sans Serif"/>
              </a:rPr>
              <a:t>Aware</a:t>
            </a:r>
            <a:r>
              <a:rPr sz="1200" spc="20" dirty="0">
                <a:solidFill>
                  <a:srgbClr val="545454"/>
                </a:solidFill>
                <a:latin typeface="Microsoft Sans Serif"/>
                <a:cs typeface="Microsoft Sans Serif"/>
              </a:rPr>
              <a:t> </a:t>
            </a:r>
            <a:r>
              <a:rPr sz="1200" dirty="0">
                <a:solidFill>
                  <a:srgbClr val="545454"/>
                </a:solidFill>
                <a:latin typeface="Microsoft Sans Serif"/>
                <a:cs typeface="Microsoft Sans Serif"/>
              </a:rPr>
              <a:t>Network</a:t>
            </a:r>
            <a:r>
              <a:rPr sz="1200" spc="20" dirty="0">
                <a:solidFill>
                  <a:srgbClr val="545454"/>
                </a:solidFill>
                <a:latin typeface="Microsoft Sans Serif"/>
                <a:cs typeface="Microsoft Sans Serif"/>
              </a:rPr>
              <a:t> </a:t>
            </a:r>
            <a:r>
              <a:rPr sz="1200" dirty="0">
                <a:solidFill>
                  <a:srgbClr val="545454"/>
                </a:solidFill>
                <a:latin typeface="Microsoft Sans Serif"/>
                <a:cs typeface="Microsoft Sans Serif"/>
              </a:rPr>
              <a:t>for</a:t>
            </a:r>
            <a:r>
              <a:rPr sz="1200" spc="20" dirty="0">
                <a:solidFill>
                  <a:srgbClr val="545454"/>
                </a:solidFill>
                <a:latin typeface="Microsoft Sans Serif"/>
                <a:cs typeface="Microsoft Sans Serif"/>
              </a:rPr>
              <a:t> </a:t>
            </a:r>
            <a:r>
              <a:rPr sz="1200" spc="-20" dirty="0">
                <a:solidFill>
                  <a:srgbClr val="545454"/>
                </a:solidFill>
                <a:latin typeface="Microsoft Sans Serif"/>
                <a:cs typeface="Microsoft Sans Serif"/>
              </a:rPr>
              <a:t>Small</a:t>
            </a:r>
            <a:r>
              <a:rPr sz="1200" spc="15" dirty="0">
                <a:solidFill>
                  <a:srgbClr val="545454"/>
                </a:solidFill>
                <a:latin typeface="Microsoft Sans Serif"/>
                <a:cs typeface="Microsoft Sans Serif"/>
              </a:rPr>
              <a:t> </a:t>
            </a:r>
            <a:r>
              <a:rPr sz="1200" dirty="0">
                <a:solidFill>
                  <a:srgbClr val="545454"/>
                </a:solidFill>
                <a:latin typeface="Microsoft Sans Serif"/>
                <a:cs typeface="Microsoft Sans Serif"/>
              </a:rPr>
              <a:t>Object</a:t>
            </a:r>
            <a:r>
              <a:rPr sz="1200" spc="20" dirty="0">
                <a:solidFill>
                  <a:srgbClr val="545454"/>
                </a:solidFill>
                <a:latin typeface="Microsoft Sans Serif"/>
                <a:cs typeface="Microsoft Sans Serif"/>
              </a:rPr>
              <a:t> </a:t>
            </a:r>
            <a:r>
              <a:rPr sz="1200" dirty="0">
                <a:solidFill>
                  <a:srgbClr val="545454"/>
                </a:solidFill>
                <a:latin typeface="Microsoft Sans Serif"/>
                <a:cs typeface="Microsoft Sans Serif"/>
              </a:rPr>
              <a:t>Detection</a:t>
            </a:r>
            <a:r>
              <a:rPr sz="1200" spc="20" dirty="0">
                <a:solidFill>
                  <a:srgbClr val="545454"/>
                </a:solidFill>
                <a:latin typeface="Microsoft Sans Serif"/>
                <a:cs typeface="Microsoft Sans Serif"/>
              </a:rPr>
              <a:t> </a:t>
            </a:r>
            <a:r>
              <a:rPr sz="1200" spc="75" dirty="0">
                <a:solidFill>
                  <a:srgbClr val="545454"/>
                </a:solidFill>
                <a:latin typeface="Microsoft Sans Serif"/>
                <a:cs typeface="Microsoft Sans Serif"/>
              </a:rPr>
              <a:t>-</a:t>
            </a:r>
            <a:r>
              <a:rPr sz="1200" spc="20" dirty="0">
                <a:solidFill>
                  <a:srgbClr val="545454"/>
                </a:solidFill>
                <a:latin typeface="Microsoft Sans Serif"/>
                <a:cs typeface="Microsoft Sans Serif"/>
              </a:rPr>
              <a:t> </a:t>
            </a:r>
            <a:r>
              <a:rPr sz="1200" spc="-20" dirty="0">
                <a:solidFill>
                  <a:srgbClr val="545454"/>
                </a:solidFill>
                <a:latin typeface="Microsoft Sans Serif"/>
                <a:cs typeface="Microsoft Sans Serif"/>
              </a:rPr>
              <a:t>MDPI</a:t>
            </a:r>
            <a:endParaRPr sz="1200" dirty="0">
              <a:latin typeface="Microsoft Sans Serif"/>
              <a:cs typeface="Microsoft Sans Serif"/>
            </a:endParaRPr>
          </a:p>
          <a:p>
            <a:pPr marL="125730" indent="-113030">
              <a:lnSpc>
                <a:spcPct val="100000"/>
              </a:lnSpc>
              <a:spcBef>
                <a:spcPts val="615"/>
              </a:spcBef>
              <a:buAutoNum type="arabicPeriod"/>
              <a:tabLst>
                <a:tab pos="125730" algn="l"/>
              </a:tabLst>
            </a:pPr>
            <a:r>
              <a:rPr sz="1200" dirty="0">
                <a:solidFill>
                  <a:srgbClr val="545454"/>
                </a:solidFill>
                <a:latin typeface="Microsoft Sans Serif"/>
                <a:cs typeface="Microsoft Sans Serif"/>
              </a:rPr>
              <a:t>Thermal</a:t>
            </a:r>
            <a:r>
              <a:rPr sz="1200" spc="-5" dirty="0">
                <a:solidFill>
                  <a:srgbClr val="545454"/>
                </a:solidFill>
                <a:latin typeface="Microsoft Sans Serif"/>
                <a:cs typeface="Microsoft Sans Serif"/>
              </a:rPr>
              <a:t> </a:t>
            </a:r>
            <a:r>
              <a:rPr sz="1200" spc="-10" dirty="0">
                <a:solidFill>
                  <a:srgbClr val="545454"/>
                </a:solidFill>
                <a:latin typeface="Microsoft Sans Serif"/>
                <a:cs typeface="Microsoft Sans Serif"/>
              </a:rPr>
              <a:t>Human</a:t>
            </a:r>
            <a:r>
              <a:rPr sz="1200" dirty="0">
                <a:solidFill>
                  <a:srgbClr val="545454"/>
                </a:solidFill>
                <a:latin typeface="Microsoft Sans Serif"/>
                <a:cs typeface="Microsoft Sans Serif"/>
              </a:rPr>
              <a:t> Detection</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for </a:t>
            </a:r>
            <a:r>
              <a:rPr sz="1200" spc="-10" dirty="0">
                <a:solidFill>
                  <a:srgbClr val="545454"/>
                </a:solidFill>
                <a:latin typeface="Microsoft Sans Serif"/>
                <a:cs typeface="Microsoft Sans Serif"/>
              </a:rPr>
              <a:t>Search</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and </a:t>
            </a:r>
            <a:r>
              <a:rPr sz="1200" spc="-10" dirty="0">
                <a:solidFill>
                  <a:srgbClr val="545454"/>
                </a:solidFill>
                <a:latin typeface="Microsoft Sans Serif"/>
                <a:cs typeface="Microsoft Sans Serif"/>
              </a:rPr>
              <a:t>Rescue</a:t>
            </a:r>
            <a:r>
              <a:rPr sz="1200" spc="-5" dirty="0">
                <a:solidFill>
                  <a:srgbClr val="545454"/>
                </a:solidFill>
                <a:latin typeface="Microsoft Sans Serif"/>
                <a:cs typeface="Microsoft Sans Serif"/>
              </a:rPr>
              <a:t> </a:t>
            </a:r>
            <a:r>
              <a:rPr sz="1200" spc="-45" dirty="0">
                <a:solidFill>
                  <a:srgbClr val="545454"/>
                </a:solidFill>
                <a:latin typeface="Microsoft Sans Serif"/>
                <a:cs typeface="Microsoft Sans Serif"/>
              </a:rPr>
              <a:t>UAVs</a:t>
            </a:r>
            <a:r>
              <a:rPr sz="1200" dirty="0">
                <a:solidFill>
                  <a:srgbClr val="545454"/>
                </a:solidFill>
                <a:latin typeface="Microsoft Sans Serif"/>
                <a:cs typeface="Microsoft Sans Serif"/>
              </a:rPr>
              <a:t> </a:t>
            </a:r>
            <a:r>
              <a:rPr sz="1200" spc="75" dirty="0">
                <a:solidFill>
                  <a:srgbClr val="545454"/>
                </a:solidFill>
                <a:latin typeface="Microsoft Sans Serif"/>
                <a:cs typeface="Microsoft Sans Serif"/>
              </a:rPr>
              <a:t>-</a:t>
            </a:r>
            <a:r>
              <a:rPr sz="1200" spc="-5" dirty="0">
                <a:solidFill>
                  <a:srgbClr val="545454"/>
                </a:solidFill>
                <a:latin typeface="Microsoft Sans Serif"/>
                <a:cs typeface="Microsoft Sans Serif"/>
              </a:rPr>
              <a:t> </a:t>
            </a:r>
            <a:r>
              <a:rPr sz="1200" spc="-35" dirty="0">
                <a:solidFill>
                  <a:srgbClr val="545454"/>
                </a:solidFill>
                <a:latin typeface="Microsoft Sans Serif"/>
                <a:cs typeface="Microsoft Sans Serif"/>
              </a:rPr>
              <a:t>DiVA</a:t>
            </a:r>
            <a:r>
              <a:rPr sz="1200" dirty="0">
                <a:solidFill>
                  <a:srgbClr val="545454"/>
                </a:solidFill>
                <a:latin typeface="Microsoft Sans Serif"/>
                <a:cs typeface="Microsoft Sans Serif"/>
              </a:rPr>
              <a:t> </a:t>
            </a:r>
            <a:r>
              <a:rPr sz="1200" spc="-10" dirty="0">
                <a:solidFill>
                  <a:srgbClr val="545454"/>
                </a:solidFill>
                <a:latin typeface="Microsoft Sans Serif"/>
                <a:cs typeface="Microsoft Sans Serif"/>
              </a:rPr>
              <a:t>Portal</a:t>
            </a:r>
            <a:endParaRPr sz="1200" dirty="0">
              <a:latin typeface="Microsoft Sans Serif"/>
              <a:cs typeface="Microsoft Sans Serif"/>
            </a:endParaRPr>
          </a:p>
          <a:p>
            <a:pPr marL="125730" indent="-113030">
              <a:lnSpc>
                <a:spcPct val="100000"/>
              </a:lnSpc>
              <a:spcBef>
                <a:spcPts val="615"/>
              </a:spcBef>
              <a:buAutoNum type="arabicPeriod"/>
              <a:tabLst>
                <a:tab pos="125730" algn="l"/>
              </a:tabLst>
            </a:pPr>
            <a:r>
              <a:rPr sz="1200" dirty="0">
                <a:solidFill>
                  <a:srgbClr val="545454"/>
                </a:solidFill>
                <a:latin typeface="Microsoft Sans Serif"/>
                <a:cs typeface="Microsoft Sans Serif"/>
              </a:rPr>
              <a:t>Benchmarking</a:t>
            </a:r>
            <a:r>
              <a:rPr sz="1200" spc="-5" dirty="0">
                <a:solidFill>
                  <a:srgbClr val="545454"/>
                </a:solidFill>
                <a:latin typeface="Microsoft Sans Serif"/>
                <a:cs typeface="Microsoft Sans Serif"/>
              </a:rPr>
              <a:t> </a:t>
            </a:r>
            <a:r>
              <a:rPr sz="1200" spc="-30" dirty="0">
                <a:solidFill>
                  <a:srgbClr val="545454"/>
                </a:solidFill>
                <a:latin typeface="Microsoft Sans Serif"/>
                <a:cs typeface="Microsoft Sans Serif"/>
              </a:rPr>
              <a:t>YOLOv5</a:t>
            </a:r>
            <a:r>
              <a:rPr sz="1200" dirty="0">
                <a:solidFill>
                  <a:srgbClr val="545454"/>
                </a:solidFill>
                <a:latin typeface="Microsoft Sans Serif"/>
                <a:cs typeface="Microsoft Sans Serif"/>
              </a:rPr>
              <a:t> for</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Improved </a:t>
            </a:r>
            <a:r>
              <a:rPr sz="1200" spc="-10" dirty="0">
                <a:solidFill>
                  <a:srgbClr val="545454"/>
                </a:solidFill>
                <a:latin typeface="Microsoft Sans Serif"/>
                <a:cs typeface="Microsoft Sans Serif"/>
              </a:rPr>
              <a:t>Human</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Detection in</a:t>
            </a:r>
            <a:r>
              <a:rPr sz="1200" spc="-5" dirty="0">
                <a:solidFill>
                  <a:srgbClr val="545454"/>
                </a:solidFill>
                <a:latin typeface="Microsoft Sans Serif"/>
                <a:cs typeface="Microsoft Sans Serif"/>
              </a:rPr>
              <a:t> </a:t>
            </a:r>
            <a:r>
              <a:rPr sz="1200" spc="-55" dirty="0">
                <a:solidFill>
                  <a:srgbClr val="545454"/>
                </a:solidFill>
                <a:latin typeface="Microsoft Sans Serif"/>
                <a:cs typeface="Microsoft Sans Serif"/>
              </a:rPr>
              <a:t>SAR</a:t>
            </a:r>
            <a:r>
              <a:rPr sz="1200" dirty="0">
                <a:solidFill>
                  <a:srgbClr val="545454"/>
                </a:solidFill>
                <a:latin typeface="Microsoft Sans Serif"/>
                <a:cs typeface="Microsoft Sans Serif"/>
              </a:rPr>
              <a:t> </a:t>
            </a:r>
            <a:r>
              <a:rPr sz="1200" spc="75" dirty="0">
                <a:solidFill>
                  <a:srgbClr val="545454"/>
                </a:solidFill>
                <a:latin typeface="Microsoft Sans Serif"/>
                <a:cs typeface="Microsoft Sans Serif"/>
              </a:rPr>
              <a:t>-</a:t>
            </a:r>
            <a:r>
              <a:rPr sz="1200" spc="-5" dirty="0">
                <a:solidFill>
                  <a:srgbClr val="545454"/>
                </a:solidFill>
                <a:latin typeface="Microsoft Sans Serif"/>
                <a:cs typeface="Microsoft Sans Serif"/>
              </a:rPr>
              <a:t> </a:t>
            </a:r>
            <a:r>
              <a:rPr sz="1200" spc="-10" dirty="0">
                <a:solidFill>
                  <a:srgbClr val="545454"/>
                </a:solidFill>
                <a:latin typeface="Microsoft Sans Serif"/>
                <a:cs typeface="Microsoft Sans Serif"/>
              </a:rPr>
              <a:t>ResearchGate</a:t>
            </a:r>
            <a:endParaRPr sz="1200" dirty="0">
              <a:latin typeface="Microsoft Sans Serif"/>
              <a:cs typeface="Microsoft Sans Serif"/>
            </a:endParaRPr>
          </a:p>
          <a:p>
            <a:pPr marL="125730" indent="-113030">
              <a:lnSpc>
                <a:spcPct val="100000"/>
              </a:lnSpc>
              <a:spcBef>
                <a:spcPts val="615"/>
              </a:spcBef>
              <a:buAutoNum type="arabicPeriod"/>
              <a:tabLst>
                <a:tab pos="125730" algn="l"/>
              </a:tabLst>
            </a:pPr>
            <a:r>
              <a:rPr sz="1200" dirty="0">
                <a:solidFill>
                  <a:srgbClr val="545454"/>
                </a:solidFill>
                <a:latin typeface="Microsoft Sans Serif"/>
                <a:cs typeface="Microsoft Sans Serif"/>
              </a:rPr>
              <a:t>Archangel:</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A</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Hybrid</a:t>
            </a:r>
            <a:r>
              <a:rPr sz="1200" spc="5" dirty="0">
                <a:solidFill>
                  <a:srgbClr val="545454"/>
                </a:solidFill>
                <a:latin typeface="Microsoft Sans Serif"/>
                <a:cs typeface="Microsoft Sans Serif"/>
              </a:rPr>
              <a:t> </a:t>
            </a:r>
            <a:r>
              <a:rPr sz="1200" spc="-30" dirty="0">
                <a:solidFill>
                  <a:srgbClr val="545454"/>
                </a:solidFill>
                <a:latin typeface="Microsoft Sans Serif"/>
                <a:cs typeface="Microsoft Sans Serif"/>
              </a:rPr>
              <a:t>UAV-</a:t>
            </a:r>
            <a:r>
              <a:rPr sz="1200" dirty="0">
                <a:solidFill>
                  <a:srgbClr val="545454"/>
                </a:solidFill>
                <a:latin typeface="Microsoft Sans Serif"/>
                <a:cs typeface="Microsoft Sans Serif"/>
              </a:rPr>
              <a:t>based</a:t>
            </a:r>
            <a:r>
              <a:rPr sz="1200" spc="5" dirty="0">
                <a:solidFill>
                  <a:srgbClr val="545454"/>
                </a:solidFill>
                <a:latin typeface="Microsoft Sans Serif"/>
                <a:cs typeface="Microsoft Sans Serif"/>
              </a:rPr>
              <a:t> </a:t>
            </a:r>
            <a:r>
              <a:rPr sz="1200" spc="-10" dirty="0">
                <a:solidFill>
                  <a:srgbClr val="545454"/>
                </a:solidFill>
                <a:latin typeface="Microsoft Sans Serif"/>
                <a:cs typeface="Microsoft Sans Serif"/>
              </a:rPr>
              <a:t>Human</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Detection</a:t>
            </a:r>
            <a:r>
              <a:rPr sz="1200" spc="5" dirty="0">
                <a:solidFill>
                  <a:srgbClr val="545454"/>
                </a:solidFill>
                <a:latin typeface="Microsoft Sans Serif"/>
                <a:cs typeface="Microsoft Sans Serif"/>
              </a:rPr>
              <a:t> </a:t>
            </a:r>
            <a:r>
              <a:rPr sz="1200" spc="75" dirty="0">
                <a:solidFill>
                  <a:srgbClr val="545454"/>
                </a:solidFill>
                <a:latin typeface="Microsoft Sans Serif"/>
                <a:cs typeface="Microsoft Sans Serif"/>
              </a:rPr>
              <a:t>-</a:t>
            </a:r>
            <a:r>
              <a:rPr sz="1200" spc="5" dirty="0">
                <a:solidFill>
                  <a:srgbClr val="545454"/>
                </a:solidFill>
                <a:latin typeface="Microsoft Sans Serif"/>
                <a:cs typeface="Microsoft Sans Serif"/>
              </a:rPr>
              <a:t> </a:t>
            </a:r>
            <a:r>
              <a:rPr sz="1200" spc="-20" dirty="0">
                <a:solidFill>
                  <a:srgbClr val="545454"/>
                </a:solidFill>
                <a:latin typeface="Microsoft Sans Serif"/>
                <a:cs typeface="Microsoft Sans Serif"/>
              </a:rPr>
              <a:t>arXiv</a:t>
            </a:r>
            <a:endParaRPr sz="1200" dirty="0">
              <a:latin typeface="Microsoft Sans Serif"/>
              <a:cs typeface="Microsoft Sans Serif"/>
            </a:endParaRPr>
          </a:p>
        </p:txBody>
      </p:sp>
      <p:sp>
        <p:nvSpPr>
          <p:cNvPr id="5" name="object 5"/>
          <p:cNvSpPr txBox="1"/>
          <p:nvPr/>
        </p:nvSpPr>
        <p:spPr>
          <a:xfrm>
            <a:off x="5475187" y="1380125"/>
            <a:ext cx="3699510" cy="2952731"/>
          </a:xfrm>
          <a:prstGeom prst="rect">
            <a:avLst/>
          </a:prstGeom>
        </p:spPr>
        <p:txBody>
          <a:bodyPr vert="horz" wrap="square" lIns="0" tIns="89535" rIns="0" bIns="0" rtlCol="0">
            <a:spAutoFit/>
          </a:bodyPr>
          <a:lstStyle/>
          <a:p>
            <a:pPr marL="187325" indent="-113030">
              <a:lnSpc>
                <a:spcPct val="100000"/>
              </a:lnSpc>
              <a:spcBef>
                <a:spcPts val="705"/>
              </a:spcBef>
              <a:buAutoNum type="arabicPeriod" startAt="9"/>
              <a:tabLst>
                <a:tab pos="187325" algn="l"/>
              </a:tabLst>
            </a:pPr>
            <a:r>
              <a:rPr sz="1200" spc="-45" dirty="0">
                <a:solidFill>
                  <a:srgbClr val="545454"/>
                </a:solidFill>
                <a:latin typeface="Microsoft Sans Serif"/>
                <a:cs typeface="Microsoft Sans Serif"/>
              </a:rPr>
              <a:t>UAV-</a:t>
            </a:r>
            <a:r>
              <a:rPr sz="1200" spc="-25" dirty="0">
                <a:solidFill>
                  <a:srgbClr val="545454"/>
                </a:solidFill>
                <a:latin typeface="Microsoft Sans Serif"/>
                <a:cs typeface="Microsoft Sans Serif"/>
              </a:rPr>
              <a:t>YOLOv8:</a:t>
            </a:r>
            <a:r>
              <a:rPr sz="1200" spc="15" dirty="0">
                <a:solidFill>
                  <a:srgbClr val="545454"/>
                </a:solidFill>
                <a:latin typeface="Microsoft Sans Serif"/>
                <a:cs typeface="Microsoft Sans Serif"/>
              </a:rPr>
              <a:t> </a:t>
            </a:r>
            <a:r>
              <a:rPr sz="1200" spc="-10" dirty="0">
                <a:solidFill>
                  <a:srgbClr val="545454"/>
                </a:solidFill>
                <a:latin typeface="Microsoft Sans Serif"/>
                <a:cs typeface="Microsoft Sans Serif"/>
              </a:rPr>
              <a:t>Small-</a:t>
            </a:r>
            <a:r>
              <a:rPr sz="1200" dirty="0">
                <a:solidFill>
                  <a:srgbClr val="545454"/>
                </a:solidFill>
                <a:latin typeface="Microsoft Sans Serif"/>
                <a:cs typeface="Microsoft Sans Serif"/>
              </a:rPr>
              <a:t>Object-Detection</a:t>
            </a:r>
            <a:r>
              <a:rPr sz="1200" spc="20" dirty="0">
                <a:solidFill>
                  <a:srgbClr val="545454"/>
                </a:solidFill>
                <a:latin typeface="Microsoft Sans Serif"/>
                <a:cs typeface="Microsoft Sans Serif"/>
              </a:rPr>
              <a:t> </a:t>
            </a:r>
            <a:r>
              <a:rPr sz="1200" dirty="0">
                <a:solidFill>
                  <a:srgbClr val="545454"/>
                </a:solidFill>
                <a:latin typeface="Microsoft Sans Serif"/>
                <a:cs typeface="Microsoft Sans Serif"/>
              </a:rPr>
              <a:t>Model</a:t>
            </a:r>
            <a:r>
              <a:rPr sz="1200" spc="15" dirty="0">
                <a:solidFill>
                  <a:srgbClr val="545454"/>
                </a:solidFill>
                <a:latin typeface="Microsoft Sans Serif"/>
                <a:cs typeface="Microsoft Sans Serif"/>
              </a:rPr>
              <a:t> </a:t>
            </a:r>
            <a:r>
              <a:rPr sz="1200" dirty="0">
                <a:solidFill>
                  <a:srgbClr val="545454"/>
                </a:solidFill>
                <a:latin typeface="Microsoft Sans Serif"/>
                <a:cs typeface="Microsoft Sans Serif"/>
              </a:rPr>
              <a:t>for</a:t>
            </a:r>
            <a:r>
              <a:rPr sz="1200" spc="20" dirty="0">
                <a:solidFill>
                  <a:srgbClr val="545454"/>
                </a:solidFill>
                <a:latin typeface="Microsoft Sans Serif"/>
                <a:cs typeface="Microsoft Sans Serif"/>
              </a:rPr>
              <a:t> </a:t>
            </a:r>
            <a:r>
              <a:rPr sz="1200" spc="-40" dirty="0">
                <a:solidFill>
                  <a:srgbClr val="545454"/>
                </a:solidFill>
                <a:latin typeface="Microsoft Sans Serif"/>
                <a:cs typeface="Microsoft Sans Serif"/>
              </a:rPr>
              <a:t>UAV</a:t>
            </a:r>
            <a:r>
              <a:rPr sz="1200" spc="15" dirty="0">
                <a:solidFill>
                  <a:srgbClr val="545454"/>
                </a:solidFill>
                <a:latin typeface="Microsoft Sans Serif"/>
                <a:cs typeface="Microsoft Sans Serif"/>
              </a:rPr>
              <a:t> </a:t>
            </a:r>
            <a:r>
              <a:rPr sz="1200" dirty="0">
                <a:solidFill>
                  <a:srgbClr val="545454"/>
                </a:solidFill>
                <a:latin typeface="Microsoft Sans Serif"/>
                <a:cs typeface="Microsoft Sans Serif"/>
              </a:rPr>
              <a:t>Photography</a:t>
            </a:r>
            <a:r>
              <a:rPr sz="1200" spc="20" dirty="0">
                <a:solidFill>
                  <a:srgbClr val="545454"/>
                </a:solidFill>
                <a:latin typeface="Microsoft Sans Serif"/>
                <a:cs typeface="Microsoft Sans Serif"/>
              </a:rPr>
              <a:t> </a:t>
            </a:r>
            <a:r>
              <a:rPr sz="1200" spc="75" dirty="0">
                <a:solidFill>
                  <a:srgbClr val="545454"/>
                </a:solidFill>
                <a:latin typeface="Microsoft Sans Serif"/>
                <a:cs typeface="Microsoft Sans Serif"/>
              </a:rPr>
              <a:t>-</a:t>
            </a:r>
            <a:r>
              <a:rPr sz="1200" spc="20" dirty="0">
                <a:solidFill>
                  <a:srgbClr val="545454"/>
                </a:solidFill>
                <a:latin typeface="Microsoft Sans Serif"/>
                <a:cs typeface="Microsoft Sans Serif"/>
              </a:rPr>
              <a:t> </a:t>
            </a:r>
            <a:r>
              <a:rPr sz="1200" spc="-10" dirty="0">
                <a:solidFill>
                  <a:srgbClr val="545454"/>
                </a:solidFill>
                <a:latin typeface="Microsoft Sans Serif"/>
                <a:cs typeface="Microsoft Sans Serif"/>
              </a:rPr>
              <a:t>NIH</a:t>
            </a:r>
            <a:r>
              <a:rPr sz="1200" spc="15" dirty="0">
                <a:solidFill>
                  <a:srgbClr val="545454"/>
                </a:solidFill>
                <a:latin typeface="Microsoft Sans Serif"/>
                <a:cs typeface="Microsoft Sans Serif"/>
              </a:rPr>
              <a:t> </a:t>
            </a:r>
            <a:r>
              <a:rPr sz="1200" spc="-25" dirty="0">
                <a:solidFill>
                  <a:srgbClr val="545454"/>
                </a:solidFill>
                <a:latin typeface="Microsoft Sans Serif"/>
                <a:cs typeface="Microsoft Sans Serif"/>
              </a:rPr>
              <a:t>PMC</a:t>
            </a:r>
            <a:endParaRPr sz="1200" dirty="0">
              <a:latin typeface="Microsoft Sans Serif"/>
              <a:cs typeface="Microsoft Sans Serif"/>
            </a:endParaRPr>
          </a:p>
          <a:p>
            <a:pPr marL="189230" indent="-176530">
              <a:lnSpc>
                <a:spcPct val="100000"/>
              </a:lnSpc>
              <a:spcBef>
                <a:spcPts val="615"/>
              </a:spcBef>
              <a:buAutoNum type="arabicPeriod" startAt="9"/>
              <a:tabLst>
                <a:tab pos="189230" algn="l"/>
              </a:tabLst>
            </a:pPr>
            <a:r>
              <a:rPr sz="1200" spc="-10" dirty="0">
                <a:solidFill>
                  <a:srgbClr val="545454"/>
                </a:solidFill>
                <a:latin typeface="Microsoft Sans Serif"/>
                <a:cs typeface="Microsoft Sans Serif"/>
              </a:rPr>
              <a:t>Human</a:t>
            </a:r>
            <a:r>
              <a:rPr sz="1200" spc="-20" dirty="0">
                <a:solidFill>
                  <a:srgbClr val="545454"/>
                </a:solidFill>
                <a:latin typeface="Microsoft Sans Serif"/>
                <a:cs typeface="Microsoft Sans Serif"/>
              </a:rPr>
              <a:t> </a:t>
            </a:r>
            <a:r>
              <a:rPr sz="1200" dirty="0">
                <a:solidFill>
                  <a:srgbClr val="545454"/>
                </a:solidFill>
                <a:latin typeface="Microsoft Sans Serif"/>
                <a:cs typeface="Microsoft Sans Serif"/>
              </a:rPr>
              <a:t>Detection</a:t>
            </a:r>
            <a:r>
              <a:rPr sz="1200" spc="-10" dirty="0">
                <a:solidFill>
                  <a:srgbClr val="545454"/>
                </a:solidFill>
                <a:latin typeface="Microsoft Sans Serif"/>
                <a:cs typeface="Microsoft Sans Serif"/>
              </a:rPr>
              <a:t> </a:t>
            </a:r>
            <a:r>
              <a:rPr sz="1200" dirty="0">
                <a:solidFill>
                  <a:srgbClr val="545454"/>
                </a:solidFill>
                <a:latin typeface="Microsoft Sans Serif"/>
                <a:cs typeface="Microsoft Sans Serif"/>
              </a:rPr>
              <a:t>in</a:t>
            </a:r>
            <a:r>
              <a:rPr sz="1200" spc="-15" dirty="0">
                <a:solidFill>
                  <a:srgbClr val="545454"/>
                </a:solidFill>
                <a:latin typeface="Microsoft Sans Serif"/>
                <a:cs typeface="Microsoft Sans Serif"/>
              </a:rPr>
              <a:t> </a:t>
            </a:r>
            <a:r>
              <a:rPr sz="1200" spc="-55" dirty="0">
                <a:solidFill>
                  <a:srgbClr val="545454"/>
                </a:solidFill>
                <a:latin typeface="Microsoft Sans Serif"/>
                <a:cs typeface="Microsoft Sans Serif"/>
              </a:rPr>
              <a:t>SAR</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Using</a:t>
            </a:r>
            <a:r>
              <a:rPr sz="1200" spc="-10" dirty="0">
                <a:solidFill>
                  <a:srgbClr val="545454"/>
                </a:solidFill>
                <a:latin typeface="Microsoft Sans Serif"/>
                <a:cs typeface="Microsoft Sans Serif"/>
              </a:rPr>
              <a:t> </a:t>
            </a:r>
            <a:r>
              <a:rPr sz="1200" dirty="0">
                <a:solidFill>
                  <a:srgbClr val="545454"/>
                </a:solidFill>
                <a:latin typeface="Microsoft Sans Serif"/>
                <a:cs typeface="Microsoft Sans Serif"/>
              </a:rPr>
              <a:t>Embedded</a:t>
            </a:r>
            <a:r>
              <a:rPr sz="1200" spc="-10" dirty="0">
                <a:solidFill>
                  <a:srgbClr val="545454"/>
                </a:solidFill>
                <a:latin typeface="Microsoft Sans Serif"/>
                <a:cs typeface="Microsoft Sans Serif"/>
              </a:rPr>
              <a:t> </a:t>
            </a:r>
            <a:r>
              <a:rPr sz="1200" dirty="0">
                <a:solidFill>
                  <a:srgbClr val="545454"/>
                </a:solidFill>
                <a:latin typeface="Microsoft Sans Serif"/>
                <a:cs typeface="Microsoft Sans Serif"/>
              </a:rPr>
              <a:t>AI</a:t>
            </a:r>
            <a:r>
              <a:rPr sz="1200" spc="-15" dirty="0">
                <a:solidFill>
                  <a:srgbClr val="545454"/>
                </a:solidFill>
                <a:latin typeface="Microsoft Sans Serif"/>
                <a:cs typeface="Microsoft Sans Serif"/>
              </a:rPr>
              <a:t> </a:t>
            </a:r>
            <a:r>
              <a:rPr sz="1200" spc="75" dirty="0">
                <a:solidFill>
                  <a:srgbClr val="545454"/>
                </a:solidFill>
                <a:latin typeface="Microsoft Sans Serif"/>
                <a:cs typeface="Microsoft Sans Serif"/>
              </a:rPr>
              <a:t>-</a:t>
            </a:r>
            <a:r>
              <a:rPr sz="1200" spc="-10" dirty="0">
                <a:solidFill>
                  <a:srgbClr val="545454"/>
                </a:solidFill>
                <a:latin typeface="Microsoft Sans Serif"/>
                <a:cs typeface="Microsoft Sans Serif"/>
              </a:rPr>
              <a:t> </a:t>
            </a:r>
            <a:r>
              <a:rPr sz="1200" dirty="0">
                <a:solidFill>
                  <a:srgbClr val="545454"/>
                </a:solidFill>
                <a:latin typeface="Microsoft Sans Serif"/>
                <a:cs typeface="Microsoft Sans Serif"/>
              </a:rPr>
              <a:t>Jurnal</a:t>
            </a:r>
            <a:r>
              <a:rPr sz="1200" spc="-10" dirty="0">
                <a:solidFill>
                  <a:srgbClr val="545454"/>
                </a:solidFill>
                <a:latin typeface="Microsoft Sans Serif"/>
                <a:cs typeface="Microsoft Sans Serif"/>
              </a:rPr>
              <a:t> Teknologi</a:t>
            </a:r>
            <a:endParaRPr sz="1200" dirty="0">
              <a:latin typeface="Microsoft Sans Serif"/>
              <a:cs typeface="Microsoft Sans Serif"/>
            </a:endParaRPr>
          </a:p>
          <a:p>
            <a:pPr marL="189230" indent="-176530">
              <a:lnSpc>
                <a:spcPct val="100000"/>
              </a:lnSpc>
              <a:spcBef>
                <a:spcPts val="615"/>
              </a:spcBef>
              <a:buAutoNum type="arabicPeriod" startAt="9"/>
              <a:tabLst>
                <a:tab pos="189230" algn="l"/>
              </a:tabLst>
            </a:pPr>
            <a:r>
              <a:rPr sz="1200" dirty="0">
                <a:solidFill>
                  <a:srgbClr val="545454"/>
                </a:solidFill>
                <a:latin typeface="Microsoft Sans Serif"/>
                <a:cs typeface="Microsoft Sans Serif"/>
              </a:rPr>
              <a:t>Transformer-</a:t>
            </a:r>
            <a:r>
              <a:rPr sz="1200" spc="-10" dirty="0">
                <a:solidFill>
                  <a:srgbClr val="545454"/>
                </a:solidFill>
                <a:latin typeface="Microsoft Sans Serif"/>
                <a:cs typeface="Microsoft Sans Serif"/>
              </a:rPr>
              <a:t>Based Person</a:t>
            </a:r>
            <a:r>
              <a:rPr sz="1200" dirty="0">
                <a:solidFill>
                  <a:srgbClr val="545454"/>
                </a:solidFill>
                <a:latin typeface="Microsoft Sans Serif"/>
                <a:cs typeface="Microsoft Sans Serif"/>
              </a:rPr>
              <a:t> Detection in </a:t>
            </a:r>
            <a:r>
              <a:rPr sz="1200" spc="-55" dirty="0">
                <a:solidFill>
                  <a:srgbClr val="545454"/>
                </a:solidFill>
                <a:latin typeface="Microsoft Sans Serif"/>
                <a:cs typeface="Microsoft Sans Serif"/>
              </a:rPr>
              <a:t>RGB-</a:t>
            </a:r>
            <a:r>
              <a:rPr sz="1200" dirty="0">
                <a:solidFill>
                  <a:srgbClr val="545454"/>
                </a:solidFill>
                <a:latin typeface="Microsoft Sans Serif"/>
                <a:cs typeface="Microsoft Sans Serif"/>
              </a:rPr>
              <a:t>T</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Aerial </a:t>
            </a:r>
            <a:r>
              <a:rPr sz="1200" spc="-10" dirty="0">
                <a:solidFill>
                  <a:srgbClr val="545454"/>
                </a:solidFill>
                <a:latin typeface="Microsoft Sans Serif"/>
                <a:cs typeface="Microsoft Sans Serif"/>
              </a:rPr>
              <a:t>Images</a:t>
            </a:r>
            <a:r>
              <a:rPr sz="1200" dirty="0">
                <a:solidFill>
                  <a:srgbClr val="545454"/>
                </a:solidFill>
                <a:latin typeface="Microsoft Sans Serif"/>
                <a:cs typeface="Microsoft Sans Serif"/>
              </a:rPr>
              <a:t> </a:t>
            </a:r>
            <a:r>
              <a:rPr sz="1200" spc="75" dirty="0">
                <a:solidFill>
                  <a:srgbClr val="545454"/>
                </a:solidFill>
                <a:latin typeface="Microsoft Sans Serif"/>
                <a:cs typeface="Microsoft Sans Serif"/>
              </a:rPr>
              <a:t>-</a:t>
            </a:r>
            <a:r>
              <a:rPr sz="1200" dirty="0">
                <a:solidFill>
                  <a:srgbClr val="545454"/>
                </a:solidFill>
                <a:latin typeface="Microsoft Sans Serif"/>
                <a:cs typeface="Microsoft Sans Serif"/>
              </a:rPr>
              <a:t> </a:t>
            </a:r>
            <a:r>
              <a:rPr sz="1200" spc="-80" dirty="0">
                <a:solidFill>
                  <a:srgbClr val="545454"/>
                </a:solidFill>
                <a:latin typeface="Microsoft Sans Serif"/>
                <a:cs typeface="Microsoft Sans Serif"/>
              </a:rPr>
              <a:t>IEEE</a:t>
            </a:r>
            <a:r>
              <a:rPr sz="1200" spc="5" dirty="0">
                <a:solidFill>
                  <a:srgbClr val="545454"/>
                </a:solidFill>
                <a:latin typeface="Microsoft Sans Serif"/>
                <a:cs typeface="Microsoft Sans Serif"/>
              </a:rPr>
              <a:t> </a:t>
            </a:r>
            <a:r>
              <a:rPr sz="1200" spc="-10" dirty="0">
                <a:solidFill>
                  <a:srgbClr val="545454"/>
                </a:solidFill>
                <a:latin typeface="Microsoft Sans Serif"/>
                <a:cs typeface="Microsoft Sans Serif"/>
              </a:rPr>
              <a:t>Xplore</a:t>
            </a:r>
            <a:endParaRPr sz="1200" dirty="0">
              <a:latin typeface="Microsoft Sans Serif"/>
              <a:cs typeface="Microsoft Sans Serif"/>
            </a:endParaRPr>
          </a:p>
          <a:p>
            <a:pPr marL="189230" indent="-176530">
              <a:lnSpc>
                <a:spcPct val="100000"/>
              </a:lnSpc>
              <a:spcBef>
                <a:spcPts val="615"/>
              </a:spcBef>
              <a:buAutoNum type="arabicPeriod" startAt="9"/>
              <a:tabLst>
                <a:tab pos="189230" algn="l"/>
              </a:tabLst>
            </a:pPr>
            <a:r>
              <a:rPr sz="1200" spc="-55" dirty="0">
                <a:solidFill>
                  <a:srgbClr val="545454"/>
                </a:solidFill>
                <a:latin typeface="Microsoft Sans Serif"/>
                <a:cs typeface="Microsoft Sans Serif"/>
              </a:rPr>
              <a:t>SARD</a:t>
            </a:r>
            <a:r>
              <a:rPr sz="1200" spc="-5" dirty="0">
                <a:solidFill>
                  <a:srgbClr val="545454"/>
                </a:solidFill>
                <a:latin typeface="Microsoft Sans Serif"/>
                <a:cs typeface="Microsoft Sans Serif"/>
              </a:rPr>
              <a:t> </a:t>
            </a:r>
            <a:r>
              <a:rPr sz="1200" spc="75" dirty="0">
                <a:solidFill>
                  <a:srgbClr val="545454"/>
                </a:solidFill>
                <a:latin typeface="Microsoft Sans Serif"/>
                <a:cs typeface="Microsoft Sans Serif"/>
              </a:rPr>
              <a:t>-</a:t>
            </a:r>
            <a:r>
              <a:rPr sz="1200" spc="-5" dirty="0">
                <a:solidFill>
                  <a:srgbClr val="545454"/>
                </a:solidFill>
                <a:latin typeface="Microsoft Sans Serif"/>
                <a:cs typeface="Microsoft Sans Serif"/>
              </a:rPr>
              <a:t> </a:t>
            </a:r>
            <a:r>
              <a:rPr sz="1200" spc="-10" dirty="0">
                <a:solidFill>
                  <a:srgbClr val="545454"/>
                </a:solidFill>
                <a:latin typeface="Microsoft Sans Serif"/>
                <a:cs typeface="Microsoft Sans Serif"/>
              </a:rPr>
              <a:t>Search</a:t>
            </a:r>
            <a:r>
              <a:rPr sz="1200" dirty="0">
                <a:solidFill>
                  <a:srgbClr val="545454"/>
                </a:solidFill>
                <a:latin typeface="Microsoft Sans Serif"/>
                <a:cs typeface="Microsoft Sans Serif"/>
              </a:rPr>
              <a:t> And</a:t>
            </a:r>
            <a:r>
              <a:rPr sz="1200" spc="-5" dirty="0">
                <a:solidFill>
                  <a:srgbClr val="545454"/>
                </a:solidFill>
                <a:latin typeface="Microsoft Sans Serif"/>
                <a:cs typeface="Microsoft Sans Serif"/>
              </a:rPr>
              <a:t> </a:t>
            </a:r>
            <a:r>
              <a:rPr sz="1200" spc="-10" dirty="0">
                <a:solidFill>
                  <a:srgbClr val="545454"/>
                </a:solidFill>
                <a:latin typeface="Microsoft Sans Serif"/>
                <a:cs typeface="Microsoft Sans Serif"/>
              </a:rPr>
              <a:t>Rescue</a:t>
            </a:r>
            <a:r>
              <a:rPr sz="1200" dirty="0">
                <a:solidFill>
                  <a:srgbClr val="545454"/>
                </a:solidFill>
                <a:latin typeface="Microsoft Sans Serif"/>
                <a:cs typeface="Microsoft Sans Serif"/>
              </a:rPr>
              <a:t> </a:t>
            </a:r>
            <a:r>
              <a:rPr sz="1200" spc="-10" dirty="0">
                <a:solidFill>
                  <a:srgbClr val="545454"/>
                </a:solidFill>
                <a:latin typeface="Microsoft Sans Serif"/>
                <a:cs typeface="Microsoft Sans Serif"/>
              </a:rPr>
              <a:t>Dataset</a:t>
            </a:r>
            <a:r>
              <a:rPr sz="1200" spc="-5" dirty="0">
                <a:solidFill>
                  <a:srgbClr val="545454"/>
                </a:solidFill>
                <a:latin typeface="Microsoft Sans Serif"/>
                <a:cs typeface="Microsoft Sans Serif"/>
              </a:rPr>
              <a:t> </a:t>
            </a:r>
            <a:r>
              <a:rPr sz="1200" spc="75" dirty="0">
                <a:solidFill>
                  <a:srgbClr val="545454"/>
                </a:solidFill>
                <a:latin typeface="Microsoft Sans Serif"/>
                <a:cs typeface="Microsoft Sans Serif"/>
              </a:rPr>
              <a:t>-</a:t>
            </a:r>
            <a:r>
              <a:rPr sz="1200" dirty="0">
                <a:solidFill>
                  <a:srgbClr val="545454"/>
                </a:solidFill>
                <a:latin typeface="Microsoft Sans Serif"/>
                <a:cs typeface="Microsoft Sans Serif"/>
              </a:rPr>
              <a:t> </a:t>
            </a:r>
            <a:r>
              <a:rPr sz="1200" spc="-10" dirty="0">
                <a:solidFill>
                  <a:srgbClr val="545454"/>
                </a:solidFill>
                <a:latin typeface="Microsoft Sans Serif"/>
                <a:cs typeface="Microsoft Sans Serif"/>
              </a:rPr>
              <a:t>Kaggle</a:t>
            </a:r>
            <a:endParaRPr sz="1200" dirty="0">
              <a:latin typeface="Microsoft Sans Serif"/>
              <a:cs typeface="Microsoft Sans Serif"/>
            </a:endParaRPr>
          </a:p>
          <a:p>
            <a:pPr marL="189230" indent="-176530">
              <a:lnSpc>
                <a:spcPct val="100000"/>
              </a:lnSpc>
              <a:spcBef>
                <a:spcPts val="615"/>
              </a:spcBef>
              <a:buAutoNum type="arabicPeriod" startAt="9"/>
              <a:tabLst>
                <a:tab pos="189230" algn="l"/>
              </a:tabLst>
            </a:pPr>
            <a:r>
              <a:rPr sz="1200" dirty="0">
                <a:solidFill>
                  <a:srgbClr val="545454"/>
                </a:solidFill>
                <a:latin typeface="Microsoft Sans Serif"/>
                <a:cs typeface="Microsoft Sans Serif"/>
              </a:rPr>
              <a:t>Caltech</a:t>
            </a:r>
            <a:r>
              <a:rPr sz="1200" spc="-15" dirty="0">
                <a:solidFill>
                  <a:srgbClr val="545454"/>
                </a:solidFill>
                <a:latin typeface="Microsoft Sans Serif"/>
                <a:cs typeface="Microsoft Sans Serif"/>
              </a:rPr>
              <a:t> </a:t>
            </a:r>
            <a:r>
              <a:rPr sz="1200" dirty="0">
                <a:solidFill>
                  <a:srgbClr val="545454"/>
                </a:solidFill>
                <a:latin typeface="Microsoft Sans Serif"/>
                <a:cs typeface="Microsoft Sans Serif"/>
              </a:rPr>
              <a:t>Aerial</a:t>
            </a:r>
            <a:r>
              <a:rPr sz="1200" spc="-10" dirty="0">
                <a:solidFill>
                  <a:srgbClr val="545454"/>
                </a:solidFill>
                <a:latin typeface="Microsoft Sans Serif"/>
                <a:cs typeface="Microsoft Sans Serif"/>
              </a:rPr>
              <a:t> </a:t>
            </a:r>
            <a:r>
              <a:rPr sz="1200" spc="-55" dirty="0">
                <a:solidFill>
                  <a:srgbClr val="545454"/>
                </a:solidFill>
                <a:latin typeface="Microsoft Sans Serif"/>
                <a:cs typeface="Microsoft Sans Serif"/>
              </a:rPr>
              <a:t>RGB-</a:t>
            </a:r>
            <a:r>
              <a:rPr sz="1200" dirty="0">
                <a:solidFill>
                  <a:srgbClr val="545454"/>
                </a:solidFill>
                <a:latin typeface="Microsoft Sans Serif"/>
                <a:cs typeface="Microsoft Sans Serif"/>
              </a:rPr>
              <a:t>Thermal</a:t>
            </a:r>
            <a:r>
              <a:rPr sz="1200" spc="-15" dirty="0">
                <a:solidFill>
                  <a:srgbClr val="545454"/>
                </a:solidFill>
                <a:latin typeface="Microsoft Sans Serif"/>
                <a:cs typeface="Microsoft Sans Serif"/>
              </a:rPr>
              <a:t> </a:t>
            </a:r>
            <a:r>
              <a:rPr sz="1200" spc="-10" dirty="0">
                <a:solidFill>
                  <a:srgbClr val="545454"/>
                </a:solidFill>
                <a:latin typeface="Microsoft Sans Serif"/>
                <a:cs typeface="Microsoft Sans Serif"/>
              </a:rPr>
              <a:t>Dataset </a:t>
            </a:r>
            <a:r>
              <a:rPr sz="1200" spc="75" dirty="0">
                <a:solidFill>
                  <a:srgbClr val="545454"/>
                </a:solidFill>
                <a:latin typeface="Microsoft Sans Serif"/>
                <a:cs typeface="Microsoft Sans Serif"/>
              </a:rPr>
              <a:t>-</a:t>
            </a:r>
            <a:r>
              <a:rPr sz="1200" spc="-15" dirty="0">
                <a:solidFill>
                  <a:srgbClr val="545454"/>
                </a:solidFill>
                <a:latin typeface="Microsoft Sans Serif"/>
                <a:cs typeface="Microsoft Sans Serif"/>
              </a:rPr>
              <a:t> </a:t>
            </a:r>
            <a:r>
              <a:rPr sz="1200" spc="-10" dirty="0">
                <a:solidFill>
                  <a:srgbClr val="545454"/>
                </a:solidFill>
                <a:latin typeface="Microsoft Sans Serif"/>
                <a:cs typeface="Microsoft Sans Serif"/>
              </a:rPr>
              <a:t>CaltechDATA</a:t>
            </a:r>
            <a:endParaRPr sz="1200" dirty="0">
              <a:latin typeface="Microsoft Sans Serif"/>
              <a:cs typeface="Microsoft Sans Serif"/>
            </a:endParaRPr>
          </a:p>
          <a:p>
            <a:pPr marL="189230" indent="-176530">
              <a:lnSpc>
                <a:spcPct val="100000"/>
              </a:lnSpc>
              <a:spcBef>
                <a:spcPts val="615"/>
              </a:spcBef>
              <a:buAutoNum type="arabicPeriod" startAt="9"/>
              <a:tabLst>
                <a:tab pos="189230" algn="l"/>
              </a:tabLst>
            </a:pPr>
            <a:r>
              <a:rPr sz="1200" spc="-35" dirty="0">
                <a:solidFill>
                  <a:srgbClr val="545454"/>
                </a:solidFill>
                <a:latin typeface="Microsoft Sans Serif"/>
                <a:cs typeface="Microsoft Sans Serif"/>
              </a:rPr>
              <a:t>MBZIRC</a:t>
            </a:r>
            <a:r>
              <a:rPr sz="1200" spc="-5" dirty="0">
                <a:solidFill>
                  <a:srgbClr val="545454"/>
                </a:solidFill>
                <a:latin typeface="Microsoft Sans Serif"/>
                <a:cs typeface="Microsoft Sans Serif"/>
              </a:rPr>
              <a:t> </a:t>
            </a:r>
            <a:r>
              <a:rPr sz="1200" spc="-10" dirty="0">
                <a:solidFill>
                  <a:srgbClr val="545454"/>
                </a:solidFill>
                <a:latin typeface="Microsoft Sans Serif"/>
                <a:cs typeface="Microsoft Sans Serif"/>
              </a:rPr>
              <a:t>Grand</a:t>
            </a:r>
            <a:r>
              <a:rPr sz="1200" spc="-5" dirty="0">
                <a:solidFill>
                  <a:srgbClr val="545454"/>
                </a:solidFill>
                <a:latin typeface="Microsoft Sans Serif"/>
                <a:cs typeface="Microsoft Sans Serif"/>
              </a:rPr>
              <a:t> </a:t>
            </a:r>
            <a:r>
              <a:rPr sz="1200" spc="-10" dirty="0">
                <a:solidFill>
                  <a:srgbClr val="545454"/>
                </a:solidFill>
                <a:latin typeface="Microsoft Sans Serif"/>
                <a:cs typeface="Microsoft Sans Serif"/>
              </a:rPr>
              <a:t>Challenge</a:t>
            </a:r>
            <a:r>
              <a:rPr sz="1200" spc="-5" dirty="0">
                <a:solidFill>
                  <a:srgbClr val="545454"/>
                </a:solidFill>
                <a:latin typeface="Microsoft Sans Serif"/>
                <a:cs typeface="Microsoft Sans Serif"/>
              </a:rPr>
              <a:t> </a:t>
            </a:r>
            <a:r>
              <a:rPr sz="1200" dirty="0">
                <a:solidFill>
                  <a:srgbClr val="545454"/>
                </a:solidFill>
                <a:latin typeface="Microsoft Sans Serif"/>
                <a:cs typeface="Microsoft Sans Serif"/>
              </a:rPr>
              <a:t>and</a:t>
            </a:r>
            <a:r>
              <a:rPr sz="1200" spc="-5" dirty="0">
                <a:solidFill>
                  <a:srgbClr val="545454"/>
                </a:solidFill>
                <a:latin typeface="Microsoft Sans Serif"/>
                <a:cs typeface="Microsoft Sans Serif"/>
              </a:rPr>
              <a:t> </a:t>
            </a:r>
            <a:r>
              <a:rPr sz="1200" spc="-10" dirty="0">
                <a:solidFill>
                  <a:srgbClr val="545454"/>
                </a:solidFill>
                <a:latin typeface="Microsoft Sans Serif"/>
                <a:cs typeface="Microsoft Sans Serif"/>
              </a:rPr>
              <a:t>Finalist</a:t>
            </a:r>
            <a:r>
              <a:rPr sz="1200" dirty="0">
                <a:solidFill>
                  <a:srgbClr val="545454"/>
                </a:solidFill>
                <a:latin typeface="Microsoft Sans Serif"/>
                <a:cs typeface="Microsoft Sans Serif"/>
              </a:rPr>
              <a:t> </a:t>
            </a:r>
            <a:r>
              <a:rPr sz="1200" spc="-20" dirty="0">
                <a:solidFill>
                  <a:srgbClr val="545454"/>
                </a:solidFill>
                <a:latin typeface="Microsoft Sans Serif"/>
                <a:cs typeface="Microsoft Sans Serif"/>
              </a:rPr>
              <a:t>Teams</a:t>
            </a:r>
            <a:r>
              <a:rPr sz="1200" spc="-5" dirty="0">
                <a:solidFill>
                  <a:srgbClr val="545454"/>
                </a:solidFill>
                <a:latin typeface="Microsoft Sans Serif"/>
                <a:cs typeface="Microsoft Sans Serif"/>
              </a:rPr>
              <a:t> </a:t>
            </a:r>
            <a:r>
              <a:rPr sz="1200" spc="75" dirty="0">
                <a:solidFill>
                  <a:srgbClr val="545454"/>
                </a:solidFill>
                <a:latin typeface="Microsoft Sans Serif"/>
                <a:cs typeface="Microsoft Sans Serif"/>
              </a:rPr>
              <a:t>-</a:t>
            </a:r>
            <a:r>
              <a:rPr sz="1200" spc="-5" dirty="0">
                <a:solidFill>
                  <a:srgbClr val="545454"/>
                </a:solidFill>
                <a:latin typeface="Microsoft Sans Serif"/>
                <a:cs typeface="Microsoft Sans Serif"/>
              </a:rPr>
              <a:t> </a:t>
            </a:r>
            <a:r>
              <a:rPr sz="1200" spc="-10" dirty="0">
                <a:solidFill>
                  <a:srgbClr val="545454"/>
                </a:solidFill>
                <a:latin typeface="Microsoft Sans Serif"/>
                <a:cs typeface="Microsoft Sans Serif"/>
              </a:rPr>
              <a:t>mbzirc.com</a:t>
            </a:r>
            <a:endParaRPr sz="1200" dirty="0">
              <a:latin typeface="Microsoft Sans Serif"/>
              <a:cs typeface="Microsoft Sans Serif"/>
            </a:endParaRPr>
          </a:p>
          <a:p>
            <a:pPr marL="189230" indent="-176530">
              <a:lnSpc>
                <a:spcPct val="100000"/>
              </a:lnSpc>
              <a:spcBef>
                <a:spcPts val="615"/>
              </a:spcBef>
              <a:buAutoNum type="arabicPeriod" startAt="9"/>
              <a:tabLst>
                <a:tab pos="189230" algn="l"/>
              </a:tabLst>
            </a:pPr>
            <a:r>
              <a:rPr sz="1200" spc="-10" dirty="0">
                <a:solidFill>
                  <a:srgbClr val="545454"/>
                </a:solidFill>
                <a:latin typeface="Microsoft Sans Serif"/>
                <a:cs typeface="Microsoft Sans Serif"/>
              </a:rPr>
              <a:t>Aviation</a:t>
            </a:r>
            <a:r>
              <a:rPr sz="1200" dirty="0">
                <a:solidFill>
                  <a:srgbClr val="545454"/>
                </a:solidFill>
                <a:latin typeface="Microsoft Sans Serif"/>
                <a:cs typeface="Microsoft Sans Serif"/>
              </a:rPr>
              <a:t> Solutions (2025). Helicopter </a:t>
            </a:r>
            <a:r>
              <a:rPr sz="1200" spc="-20" dirty="0">
                <a:solidFill>
                  <a:srgbClr val="545454"/>
                </a:solidFill>
                <a:latin typeface="Microsoft Sans Serif"/>
                <a:cs typeface="Microsoft Sans Serif"/>
              </a:rPr>
              <a:t>Fuel</a:t>
            </a:r>
            <a:r>
              <a:rPr sz="1200" dirty="0">
                <a:solidFill>
                  <a:srgbClr val="545454"/>
                </a:solidFill>
                <a:latin typeface="Microsoft Sans Serif"/>
                <a:cs typeface="Microsoft Sans Serif"/>
              </a:rPr>
              <a:t> Cost </a:t>
            </a:r>
            <a:r>
              <a:rPr sz="1200" spc="-10" dirty="0">
                <a:solidFill>
                  <a:srgbClr val="545454"/>
                </a:solidFill>
                <a:latin typeface="Microsoft Sans Serif"/>
                <a:cs typeface="Microsoft Sans Serif"/>
              </a:rPr>
              <a:t>Per</a:t>
            </a:r>
            <a:r>
              <a:rPr sz="1200" dirty="0">
                <a:solidFill>
                  <a:srgbClr val="545454"/>
                </a:solidFill>
                <a:latin typeface="Microsoft Sans Serif"/>
                <a:cs typeface="Microsoft Sans Serif"/>
              </a:rPr>
              <a:t> </a:t>
            </a:r>
            <a:r>
              <a:rPr sz="1200" spc="-20" dirty="0">
                <a:solidFill>
                  <a:srgbClr val="545454"/>
                </a:solidFill>
                <a:latin typeface="Microsoft Sans Serif"/>
                <a:cs typeface="Microsoft Sans Serif"/>
              </a:rPr>
              <a:t>Hour</a:t>
            </a:r>
            <a:endParaRPr sz="1200" dirty="0">
              <a:latin typeface="Microsoft Sans Serif"/>
              <a:cs typeface="Microsoft Sans Serif"/>
            </a:endParaRPr>
          </a:p>
        </p:txBody>
      </p:sp>
      <p:sp>
        <p:nvSpPr>
          <p:cNvPr id="6" name="object 6"/>
          <p:cNvSpPr/>
          <p:nvPr/>
        </p:nvSpPr>
        <p:spPr>
          <a:xfrm>
            <a:off x="1076324" y="6515092"/>
            <a:ext cx="8543925" cy="9525"/>
          </a:xfrm>
          <a:custGeom>
            <a:avLst/>
            <a:gdLst/>
            <a:ahLst/>
            <a:cxnLst/>
            <a:rect l="l" t="t" r="r" b="b"/>
            <a:pathLst>
              <a:path w="8543925" h="9525">
                <a:moveTo>
                  <a:pt x="8543924" y="9524"/>
                </a:moveTo>
                <a:lnTo>
                  <a:pt x="0" y="9524"/>
                </a:lnTo>
                <a:lnTo>
                  <a:pt x="0" y="0"/>
                </a:lnTo>
                <a:lnTo>
                  <a:pt x="8543924" y="0"/>
                </a:lnTo>
                <a:lnTo>
                  <a:pt x="8543924" y="9524"/>
                </a:lnTo>
                <a:close/>
              </a:path>
            </a:pathLst>
          </a:custGeom>
          <a:solidFill>
            <a:srgbClr val="EDEDED"/>
          </a:solidFill>
        </p:spPr>
        <p:txBody>
          <a:bodyPr wrap="square" lIns="0" tIns="0" rIns="0" bIns="0" rtlCol="0"/>
          <a:lstStyle/>
          <a:p>
            <a:endParaRPr/>
          </a:p>
        </p:txBody>
      </p:sp>
      <p:sp>
        <p:nvSpPr>
          <p:cNvPr id="7" name="object 7"/>
          <p:cNvSpPr txBox="1"/>
          <p:nvPr/>
        </p:nvSpPr>
        <p:spPr>
          <a:xfrm>
            <a:off x="1067196" y="6601817"/>
            <a:ext cx="1574800" cy="158115"/>
          </a:xfrm>
          <a:prstGeom prst="rect">
            <a:avLst/>
          </a:prstGeom>
        </p:spPr>
        <p:txBody>
          <a:bodyPr vert="horz" wrap="square" lIns="0" tIns="14604" rIns="0" bIns="0" rtlCol="0">
            <a:spAutoFit/>
          </a:bodyPr>
          <a:lstStyle/>
          <a:p>
            <a:pPr marL="12700">
              <a:lnSpc>
                <a:spcPct val="100000"/>
              </a:lnSpc>
              <a:spcBef>
                <a:spcPts val="114"/>
              </a:spcBef>
            </a:pPr>
            <a:r>
              <a:rPr sz="800" spc="-20" dirty="0">
                <a:solidFill>
                  <a:srgbClr val="878787"/>
                </a:solidFill>
                <a:latin typeface="Microsoft Sans Serif"/>
                <a:cs typeface="Microsoft Sans Serif"/>
              </a:rPr>
              <a:t>GoldenEye </a:t>
            </a:r>
            <a:r>
              <a:rPr sz="850" spc="-45" dirty="0">
                <a:solidFill>
                  <a:srgbClr val="878787"/>
                </a:solidFill>
                <a:latin typeface="Verdana"/>
                <a:cs typeface="Verdana"/>
              </a:rPr>
              <a:t>-</a:t>
            </a:r>
            <a:r>
              <a:rPr sz="850" spc="-90" dirty="0">
                <a:solidFill>
                  <a:srgbClr val="878787"/>
                </a:solidFill>
                <a:latin typeface="Verdana"/>
                <a:cs typeface="Verdana"/>
              </a:rPr>
              <a:t> </a:t>
            </a:r>
            <a:r>
              <a:rPr sz="800" dirty="0">
                <a:solidFill>
                  <a:srgbClr val="878787"/>
                </a:solidFill>
                <a:latin typeface="Microsoft Sans Serif"/>
                <a:cs typeface="Microsoft Sans Serif"/>
              </a:rPr>
              <a:t>AI</a:t>
            </a:r>
            <a:r>
              <a:rPr sz="800" spc="-10" dirty="0">
                <a:solidFill>
                  <a:srgbClr val="878787"/>
                </a:solidFill>
                <a:latin typeface="Microsoft Sans Serif"/>
                <a:cs typeface="Microsoft Sans Serif"/>
              </a:rPr>
              <a:t> </a:t>
            </a:r>
            <a:r>
              <a:rPr sz="800" spc="-55" dirty="0">
                <a:solidFill>
                  <a:srgbClr val="878787"/>
                </a:solidFill>
                <a:latin typeface="Microsoft Sans Serif"/>
                <a:cs typeface="Microsoft Sans Serif"/>
              </a:rPr>
              <a:t>SAR</a:t>
            </a:r>
            <a:r>
              <a:rPr sz="800" spc="-5" dirty="0">
                <a:solidFill>
                  <a:srgbClr val="878787"/>
                </a:solidFill>
                <a:latin typeface="Microsoft Sans Serif"/>
                <a:cs typeface="Microsoft Sans Serif"/>
              </a:rPr>
              <a:t> </a:t>
            </a:r>
            <a:r>
              <a:rPr sz="800" dirty="0">
                <a:solidFill>
                  <a:srgbClr val="878787"/>
                </a:solidFill>
                <a:latin typeface="Microsoft Sans Serif"/>
                <a:cs typeface="Microsoft Sans Serif"/>
              </a:rPr>
              <a:t>Drone</a:t>
            </a:r>
            <a:r>
              <a:rPr sz="800" spc="-10" dirty="0">
                <a:solidFill>
                  <a:srgbClr val="878787"/>
                </a:solidFill>
                <a:latin typeface="Microsoft Sans Serif"/>
                <a:cs typeface="Microsoft Sans Serif"/>
              </a:rPr>
              <a:t> System</a:t>
            </a:r>
            <a:endParaRPr sz="800">
              <a:latin typeface="Microsoft Sans Serif"/>
              <a:cs typeface="Microsoft Sans Serif"/>
            </a:endParaRPr>
          </a:p>
        </p:txBody>
      </p:sp>
      <p:pic>
        <p:nvPicPr>
          <p:cNvPr id="8" name="object 8"/>
          <p:cNvPicPr/>
          <p:nvPr/>
        </p:nvPicPr>
        <p:blipFill>
          <a:blip r:embed="rId3" cstate="print"/>
          <a:stretch>
            <a:fillRect/>
          </a:stretch>
        </p:blipFill>
        <p:spPr>
          <a:xfrm>
            <a:off x="9410699" y="6619867"/>
            <a:ext cx="209549" cy="209549"/>
          </a:xfrm>
          <a:prstGeom prst="rect">
            <a:avLst/>
          </a:prstGeom>
        </p:spPr>
      </p:pic>
      <p:sp>
        <p:nvSpPr>
          <p:cNvPr id="9" name="object 9"/>
          <p:cNvSpPr txBox="1"/>
          <p:nvPr/>
        </p:nvSpPr>
        <p:spPr>
          <a:xfrm>
            <a:off x="9442052" y="6645350"/>
            <a:ext cx="139700" cy="151130"/>
          </a:xfrm>
          <a:prstGeom prst="rect">
            <a:avLst/>
          </a:prstGeom>
        </p:spPr>
        <p:txBody>
          <a:bodyPr vert="horz" wrap="square" lIns="0" tIns="15875" rIns="0" bIns="0" rtlCol="0">
            <a:spAutoFit/>
          </a:bodyPr>
          <a:lstStyle/>
          <a:p>
            <a:pPr marL="12700">
              <a:lnSpc>
                <a:spcPct val="100000"/>
              </a:lnSpc>
              <a:spcBef>
                <a:spcPts val="125"/>
              </a:spcBef>
            </a:pPr>
            <a:r>
              <a:rPr sz="800" b="1" spc="-25" dirty="0">
                <a:solidFill>
                  <a:srgbClr val="FFFFFF"/>
                </a:solidFill>
                <a:latin typeface="Arial"/>
                <a:cs typeface="Arial"/>
              </a:rPr>
              <a:t>27</a:t>
            </a:r>
            <a:endParaRPr sz="800">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399</TotalTime>
  <Words>3007</Words>
  <Application>Microsoft Office PowerPoint</Application>
  <PresentationFormat>Custom</PresentationFormat>
  <Paragraphs>367</Paragraphs>
  <Slides>33</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33</vt:i4>
      </vt:variant>
    </vt:vector>
  </HeadingPairs>
  <TitlesOfParts>
    <vt:vector size="42" baseType="lpstr">
      <vt:lpstr>Aptos</vt:lpstr>
      <vt:lpstr>Arial</vt:lpstr>
      <vt:lpstr>Calibri</vt:lpstr>
      <vt:lpstr>Microsoft Sans Serif</vt:lpstr>
      <vt:lpstr>Tahoma</vt:lpstr>
      <vt:lpstr>Times New Roman</vt:lpstr>
      <vt:lpstr>Trebuchet MS</vt:lpstr>
      <vt:lpstr>Verdana</vt:lpstr>
      <vt:lpstr>Office Theme</vt:lpstr>
      <vt:lpstr>PowerPoint Presentation</vt:lpstr>
      <vt:lpstr>Presentation Agenda</vt:lpstr>
      <vt:lpstr>01</vt:lpstr>
      <vt:lpstr>Project Introduction</vt:lpstr>
      <vt:lpstr>02</vt:lpstr>
      <vt:lpstr>Motivation: The Humanitarian Crisis</vt:lpstr>
      <vt:lpstr>Problem Statement</vt:lpstr>
      <vt:lpstr>03</vt:lpstr>
      <vt:lpstr>Related Work Analysis</vt:lpstr>
      <vt:lpstr>Related Work Analysis</vt:lpstr>
      <vt:lpstr>04</vt:lpstr>
      <vt:lpstr>Proposed Solution: GoldenEye System</vt:lpstr>
      <vt:lpstr>05</vt:lpstr>
      <vt:lpstr>Hardware Architecture: The Intelligent Payload</vt:lpstr>
      <vt:lpstr>PowerPoint Presentation</vt:lpstr>
      <vt:lpstr>06</vt:lpstr>
      <vt:lpstr>Key Functionalities</vt:lpstr>
      <vt:lpstr>07</vt:lpstr>
      <vt:lpstr>PowerPoint Presentation</vt:lpstr>
      <vt:lpstr>System Architecture Diagrams</vt:lpstr>
      <vt:lpstr>System Architecture Diagrams</vt:lpstr>
      <vt:lpstr>System Architecture Diagrams</vt:lpstr>
      <vt:lpstr>System Architecture Diagrams</vt:lpstr>
      <vt:lpstr>08</vt:lpstr>
      <vt:lpstr>Methodology and Development Plan</vt:lpstr>
      <vt:lpstr>09</vt:lpstr>
      <vt:lpstr>Tools, Frameworks and Approach</vt:lpstr>
      <vt:lpstr>10</vt:lpstr>
      <vt:lpstr>Expected Outcomes and Deliverables</vt:lpstr>
      <vt:lpstr>11</vt:lpstr>
      <vt:lpstr>Scope and Limitations</vt:lpstr>
      <vt:lpstr>Thank You</vt:lpstr>
      <vt:lpstr>Key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GoldenEye - AI SAR Drone</dc:title>
  <cp:lastModifiedBy>SUHAIB ALAJAMI</cp:lastModifiedBy>
  <cp:revision>48</cp:revision>
  <dcterms:created xsi:type="dcterms:W3CDTF">2026-02-06T01:26:47Z</dcterms:created>
  <dcterms:modified xsi:type="dcterms:W3CDTF">2026-02-09T12:03:27Z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2026-02-06T00:00:00Z</vt:filetime>
  </property>
  <property fmtid="{D5CDD505-2E9C-101B-9397-08002B2CF9AE}" pid="3" name="Creator">
    <vt:lpwstr>Mozilla/5.0 (Windows NT 10.0; Win64; x64) AppleWebKit/537.36 (KHTML, like Gecko) Chrome/144.0.0.0 Safari/537.36</vt:lpwstr>
  </property>
  <property fmtid="{D5CDD505-2E9C-101B-9397-08002B2CF9AE}" pid="4" name="LastSaved">
    <vt:filetime>2026-02-06T00:00:00Z</vt:filetime>
  </property>
  <property fmtid="{D5CDD505-2E9C-101B-9397-08002B2CF9AE}" pid="5" name="Producer">
    <vt:lpwstr>Skia/PDF m144</vt:lpwstr>
  </property>
</Properties>
</file>