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4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89336" cy="329184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F0B84E"/>
                </a:solidFill>
                <a:latin typeface="Consolas"/>
              </a:rPr>
              <a:t>● GOLDENEYE</a:t>
            </a:r>
            <a:r>
              <a:rPr sz="750" b="0" i="0" spc="100">
                <a:solidFill>
                  <a:srgbClr val="9E9486"/>
                </a:solidFill>
                <a:latin typeface="Consolas"/>
              </a:rPr>
              <a:t>    CAPSTONE 2   ·   YOLOv8n · best.onnx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8816" y="1828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9E9486"/>
                </a:solidFill>
                <a:latin typeface="Consolas"/>
              </a:rPr>
              <a:t>HTU · SPRING 2025 /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329184"/>
            <a:ext cx="10972" cy="7232903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CAPSTONE PROJECT 2 · ALHUSSEIN TECHNICAL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344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0" i="0">
                <a:solidFill>
                  <a:srgbClr val="E7DECF"/>
                </a:solidFill>
                <a:latin typeface="Georgia"/>
              </a:rPr>
              <a:t>GOLDEN</a:t>
            </a:r>
            <a:r>
              <a:rPr sz="5400" b="0" i="1">
                <a:solidFill>
                  <a:srgbClr val="E2A33C"/>
                </a:solidFill>
                <a:latin typeface="Georgia"/>
              </a:rPr>
              <a:t>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E7DECF"/>
                </a:solidFill>
                <a:latin typeface="Georgia"/>
              </a:rPr>
              <a:t>Find. </a:t>
            </a:r>
            <a:r>
              <a:rPr sz="2200" b="0" i="1">
                <a:solidFill>
                  <a:srgbClr val="E2A33C"/>
                </a:solidFill>
                <a:latin typeface="Georgia"/>
              </a:rPr>
              <a:t>Confirm. </a:t>
            </a:r>
            <a:r>
              <a:rPr sz="2200" b="0" i="0">
                <a:solidFill>
                  <a:srgbClr val="E7DECF"/>
                </a:solidFill>
                <a:latin typeface="Georgia"/>
              </a:rPr>
              <a:t>Save.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054096"/>
            <a:ext cx="822960" cy="25603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73552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9E9486"/>
                </a:solidFill>
                <a:latin typeface="Segoe UI"/>
              </a:rPr>
              <a:t>An AI-based aerial human-detection system that assists search and rescue in desert environments — built around a lightweight YOLOv8n detector.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70832"/>
            <a:ext cx="568756" cy="310896"/>
          </a:xfrm>
          <a:prstGeom prst="roundRect">
            <a:avLst/>
          </a:prstGeom>
          <a:solidFill>
            <a:srgbClr val="221E18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800">
                <a:solidFill>
                  <a:srgbClr val="F0B84E"/>
                </a:solidFill>
                <a:latin typeface="Consolas"/>
              </a:rPr>
              <a:t>YOLOv8n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8564" y="4370832"/>
            <a:ext cx="1292961" cy="310896"/>
          </a:xfrm>
          <a:prstGeom prst="roundRect">
            <a:avLst/>
          </a:prstGeom>
          <a:solidFill>
            <a:srgbClr val="221E18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800">
                <a:solidFill>
                  <a:srgbClr val="F0B84E"/>
                </a:solidFill>
                <a:latin typeface="Consolas"/>
              </a:rPr>
              <a:t>Aerial · drone-view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54880"/>
            <a:ext cx="1353312" cy="310896"/>
          </a:xfrm>
          <a:prstGeom prst="roundRect">
            <a:avLst/>
          </a:prstGeom>
          <a:solidFill>
            <a:srgbClr val="221E18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800">
                <a:solidFill>
                  <a:srgbClr val="F0B84E"/>
                </a:solidFill>
                <a:latin typeface="Consolas"/>
              </a:rPr>
              <a:t>Single class · human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4754880"/>
            <a:ext cx="749808" cy="310896"/>
          </a:xfrm>
          <a:prstGeom prst="roundRect">
            <a:avLst/>
          </a:prstGeom>
          <a:solidFill>
            <a:srgbClr val="221E18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800">
                <a:solidFill>
                  <a:srgbClr val="F0B84E"/>
                </a:solidFill>
                <a:latin typeface="Consolas"/>
              </a:rPr>
              <a:t>Edge-ready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AUTHORS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4223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7DECF"/>
                </a:solidFill>
                <a:latin typeface="Segoe UI"/>
              </a:rPr>
              <a:t>Hamza Jad Allah · Suhaib Alajami · Omar Malkawi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SUPERVISOR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8338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E9486"/>
                </a:solidFill>
                <a:latin typeface="Segoe UI"/>
              </a:rPr>
              <a:t>Dr. Rami Al-Ouran</a:t>
            </a:r>
          </a:p>
        </p:txBody>
      </p:sp>
      <p:sp>
        <p:nvSpPr>
          <p:cNvPr id="19" name="Oval 18"/>
          <p:cNvSpPr/>
          <p:nvPr/>
        </p:nvSpPr>
        <p:spPr>
          <a:xfrm>
            <a:off x="7653527" y="1645919"/>
            <a:ext cx="2286000" cy="2286000"/>
          </a:xfrm>
          <a:prstGeom prst="ellipse">
            <a:avLst/>
          </a:prstGeom>
          <a:noFill/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808975" y="1801367"/>
            <a:ext cx="1975104" cy="1975104"/>
          </a:xfrm>
          <a:prstGeom prst="ellipse">
            <a:avLst/>
          </a:prstGeom>
          <a:noFill/>
          <a:ln w="7620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36407" y="1828799"/>
            <a:ext cx="1920240" cy="1920240"/>
          </a:xfrm>
          <a:prstGeom prst="ellipse">
            <a:avLst/>
          </a:prstGeom>
          <a:solidFill>
            <a:srgbClr val="1A1814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83296" y="2286000"/>
            <a:ext cx="1426464" cy="1005840"/>
          </a:xfrm>
          <a:prstGeom prst="ellipse">
            <a:avLst/>
          </a:prstGeom>
          <a:noFill/>
          <a:ln w="2794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13063" y="2505456"/>
            <a:ext cx="566928" cy="566928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677655" y="2670048"/>
            <a:ext cx="237744" cy="237744"/>
          </a:xfrm>
          <a:prstGeom prst="ellipse">
            <a:avLst/>
          </a:prstGeom>
          <a:solidFill>
            <a:srgbClr val="100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27848" y="2772460"/>
            <a:ext cx="201168" cy="32918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64040" y="2772460"/>
            <a:ext cx="201168" cy="32918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0" y="411480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0" i="0" spc="100">
                <a:solidFill>
                  <a:srgbClr val="A98C5E"/>
                </a:solidFill>
                <a:latin typeface="Consolas"/>
              </a:rPr>
              <a:t>BACHELOR OF SCIENCE</a:t>
            </a:r>
          </a:p>
          <a:p>
            <a:pPr algn="ctr">
              <a:lnSpc>
                <a:spcPct val="140000"/>
              </a:lnSpc>
            </a:pPr>
            <a:r>
              <a:rPr sz="800" b="0" i="0" spc="100">
                <a:solidFill>
                  <a:srgbClr val="A98C5E"/>
                </a:solidFill>
                <a:latin typeface="Consolas"/>
              </a:rPr>
              <a:t>DATA SCIENCE &amp; ARTIFICIAL INTELLIGENCE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CAPSTONE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02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SEARCH AND RESCUE IN THE DESERT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On the ground, the desert is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E2A33C"/>
                </a:solidFill>
                <a:latin typeface="Georgia"/>
              </a:rPr>
              <a:t>slow, costly, and hard to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9572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7DECF"/>
                </a:solidFill>
                <a:latin typeface="Segoe UI"/>
              </a:rPr>
              <a:t>Ground missions in remote desert areas are limited by four factors — the same four a camera in the air can cut through.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2146553" cy="31089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2146553" cy="36576"/>
          </a:xfrm>
          <a:prstGeom prst="rect">
            <a:avLst/>
          </a:prstGeom>
          <a:solidFill>
            <a:srgbClr val="6E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5979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A98C5E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59791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7DECF"/>
                </a:solidFill>
                <a:latin typeface="Georgia"/>
              </a:rPr>
              <a:t>Terrain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59791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E9486"/>
                </a:solidFill>
                <a:latin typeface="Segoe UI"/>
              </a:rPr>
              <a:t>Dunes and rough ground slow teams and block line of sight.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0953" y="3200400"/>
            <a:ext cx="2146553" cy="31089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60953" y="3200400"/>
            <a:ext cx="2146553" cy="36576"/>
          </a:xfrm>
          <a:prstGeom prst="rect">
            <a:avLst/>
          </a:prstGeom>
          <a:solidFill>
            <a:srgbClr val="6E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5273" y="3474720"/>
            <a:ext cx="15979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A98C5E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5273" y="3840480"/>
            <a:ext cx="159791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7DECF"/>
                </a:solidFill>
                <a:latin typeface="Georgia"/>
              </a:rPr>
              <a:t>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5273" y="4389120"/>
            <a:ext cx="159791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E9486"/>
                </a:solidFill>
                <a:latin typeface="Segoe UI"/>
              </a:rPr>
              <a:t>Low contrast — people blend into sand-coloured backgrounds.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1827" y="3200400"/>
            <a:ext cx="2146553" cy="31089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1827" y="3200400"/>
            <a:ext cx="2146553" cy="36576"/>
          </a:xfrm>
          <a:prstGeom prst="rect">
            <a:avLst/>
          </a:prstGeom>
          <a:solidFill>
            <a:srgbClr val="6E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56147" y="3474720"/>
            <a:ext cx="15979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A98C5E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6147" y="3840480"/>
            <a:ext cx="159791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7DECF"/>
                </a:solidFill>
                <a:latin typeface="Georgia"/>
              </a:rPr>
              <a:t>Area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6147" y="4389120"/>
            <a:ext cx="159791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E9486"/>
                </a:solidFill>
                <a:latin typeface="Segoe UI"/>
              </a:rPr>
              <a:t>Huge open areas take far too long to sweep on foot.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2701" y="3200400"/>
            <a:ext cx="2146553" cy="31089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02701" y="3200400"/>
            <a:ext cx="2146553" cy="36576"/>
          </a:xfrm>
          <a:prstGeom prst="rect">
            <a:avLst/>
          </a:prstGeom>
          <a:solidFill>
            <a:srgbClr val="6E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77021" y="3474720"/>
            <a:ext cx="15979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A98C5E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7021" y="3840480"/>
            <a:ext cx="159791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7DECF"/>
                </a:solidFill>
                <a:latin typeface="Georgia"/>
              </a:rPr>
              <a:t>Communications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7021" y="4389120"/>
            <a:ext cx="159791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E9486"/>
                </a:solidFill>
                <a:latin typeface="Segoe UI"/>
              </a:rPr>
              <a:t>Signal is often weak or non-existent in the field.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THE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03 / 19 · A REAL TEST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ONE PERSON, A WHOLE DUNE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Find the person. </a:t>
            </a:r>
            <a:r>
              <a:rPr sz="3000" b="0" i="1">
                <a:solidFill>
                  <a:srgbClr val="E2A33C"/>
                </a:solidFill>
                <a:latin typeface="Georgia"/>
              </a:rPr>
              <a:t>Now do it 1,000 times.</a:t>
            </a:r>
          </a:p>
        </p:txBody>
      </p:sp>
      <p:pic>
        <p:nvPicPr>
          <p:cNvPr id="7" name="Picture 6" descr="hero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6126480" cy="3446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2468880"/>
            <a:ext cx="6126480" cy="3446145"/>
          </a:xfrm>
          <a:prstGeom prst="rect">
            <a:avLst/>
          </a:prstGeom>
          <a:noFill/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5915025"/>
            <a:ext cx="6126480" cy="310896"/>
          </a:xfrm>
          <a:prstGeom prst="rect">
            <a:avLst/>
          </a:prstGeom>
          <a:solidFill>
            <a:srgbClr val="1A1814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5915025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9E9486"/>
                </a:solidFill>
                <a:latin typeface="Segoe UI"/>
              </a:rPr>
              <a:t>Real 4K test frame (3840×2160) · GoldenEye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5915025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E2A33C"/>
                </a:solidFill>
                <a:latin typeface="Consolas"/>
              </a:rPr>
              <a:t>1 human · 84% · ~20 m</a:t>
            </a:r>
          </a:p>
        </p:txBody>
      </p:sp>
      <p:pic>
        <p:nvPicPr>
          <p:cNvPr id="12" name="Picture 11" descr="hero_z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468880"/>
            <a:ext cx="3063240" cy="194734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995160" y="2468880"/>
            <a:ext cx="3063240" cy="1947345"/>
          </a:xfrm>
          <a:prstGeom prst="rect">
            <a:avLst/>
          </a:prstGeom>
          <a:noFill/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95160" y="4416225"/>
            <a:ext cx="3063240" cy="310896"/>
          </a:xfrm>
          <a:prstGeom prst="rect">
            <a:avLst/>
          </a:prstGeom>
          <a:solidFill>
            <a:srgbClr val="1A1814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04888" y="4416225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9E9486"/>
                </a:solidFill>
                <a:latin typeface="Segoe UI"/>
              </a:rPr>
              <a:t>Zoomed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416225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E2A33C"/>
                </a:solidFill>
                <a:latin typeface="Consolas"/>
              </a:rPr>
              <a:t>human 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07492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9E9486"/>
                </a:solidFill>
                <a:latin typeface="Segoe UI"/>
              </a:rPr>
              <a:t>The target is a handful of pixels in a 4K frame. A spotter tires; a detector scans every frame the same way — exactly the problem GoldenEye solves.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THE NEEDLE IN A HAYSTACK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02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04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2801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dirty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 dirty="0">
                <a:solidFill>
                  <a:srgbClr val="A98C5E"/>
                </a:solidFill>
                <a:latin typeface="Consolas"/>
              </a:rPr>
              <a:t>THE GOLDENEYE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8860536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0" i="0" dirty="0">
                <a:solidFill>
                  <a:srgbClr val="E7DECF"/>
                </a:solidFill>
                <a:latin typeface="Georgia"/>
              </a:rPr>
              <a:t>Let a drone scan the desert, and</a:t>
            </a:r>
          </a:p>
          <a:p>
            <a:pPr algn="ctr">
              <a:lnSpc>
                <a:spcPct val="105000"/>
              </a:lnSpc>
            </a:pPr>
            <a:r>
              <a:rPr sz="3400" b="0" i="1" dirty="0">
                <a:solidFill>
                  <a:srgbClr val="E2A33C"/>
                </a:solidFill>
                <a:latin typeface="Georgia"/>
              </a:rPr>
              <a:t>point teams to likely targets.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11880"/>
            <a:ext cx="703173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E7DECF"/>
                </a:solidFill>
                <a:latin typeface="Segoe UI"/>
              </a:rPr>
              <a:t>GoldenEye reads a drone-view image, finds each person, and draws a box with a confidence score — an intelligent support tool for the operator, not a replacement.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4937760"/>
            <a:ext cx="1595628" cy="777240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64792" y="5093208"/>
            <a:ext cx="14493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Aerial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5376672"/>
            <a:ext cx="14493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drone-view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7268" y="4937760"/>
            <a:ext cx="31089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6E5A33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8164" y="4937760"/>
            <a:ext cx="1595628" cy="777240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1315" y="5093208"/>
            <a:ext cx="14493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GoldenEye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1315" y="5376672"/>
            <a:ext cx="14493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YOLOv8n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4937760"/>
            <a:ext cx="31089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6E5A33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4688" y="4937760"/>
            <a:ext cx="1595628" cy="777240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5093208"/>
            <a:ext cx="14493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Detections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376672"/>
            <a:ext cx="14493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box +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0316" y="4937760"/>
            <a:ext cx="31089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6E5A33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11212" y="4937760"/>
            <a:ext cx="1595628" cy="777240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84364" y="5093208"/>
            <a:ext cx="14493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4364" y="5376672"/>
            <a:ext cx="14493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faster 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THE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02 ·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05 / 19 · WHAT IT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It finds people from the air —</a:t>
            </a:r>
          </a:p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and shows </a:t>
            </a:r>
            <a:r>
              <a:rPr sz="3000" b="0" i="1">
                <a:solidFill>
                  <a:srgbClr val="E2A33C"/>
                </a:solidFill>
                <a:latin typeface="Georgia"/>
              </a:rPr>
              <a:t>where</a:t>
            </a:r>
            <a:r>
              <a:rPr sz="3000" b="0" i="0">
                <a:solidFill>
                  <a:srgbClr val="E7DECF"/>
                </a:solidFill>
                <a:latin typeface="Georgia"/>
              </a:rPr>
              <a:t> and </a:t>
            </a:r>
            <a:r>
              <a:rPr sz="3000" b="0" i="1">
                <a:solidFill>
                  <a:srgbClr val="E2A33C"/>
                </a:solidFill>
                <a:latin typeface="Georgia"/>
              </a:rPr>
              <a:t>how sure</a:t>
            </a:r>
            <a:r>
              <a:rPr sz="3000" b="0" i="0">
                <a:solidFill>
                  <a:srgbClr val="E7DECF"/>
                </a:solidFill>
                <a:latin typeface="Georgia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4663440" cy="420624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8" y="2871216"/>
            <a:ext cx="73152" cy="73152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697480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E7DECF"/>
                </a:solidFill>
                <a:latin typeface="Segoe UI"/>
              </a:rPr>
              <a:t>Detects humans in aerial desert imagery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4663440" cy="420624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95528" y="3419856"/>
            <a:ext cx="73152" cy="73152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246120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E7DECF"/>
                </a:solidFill>
                <a:latin typeface="Segoe UI"/>
              </a:rPr>
              <a:t>Top-down and high-oblique drone 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4663440" cy="420624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95528" y="3968496"/>
            <a:ext cx="73152" cy="73152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794760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E7DECF"/>
                </a:solidFill>
                <a:latin typeface="Segoe UI"/>
              </a:rPr>
              <a:t>A bounding box around every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4663440" cy="420624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95528" y="4517136"/>
            <a:ext cx="73152" cy="73152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343400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E7DECF"/>
                </a:solidFill>
                <a:latin typeface="Segoe UI"/>
              </a:rPr>
              <a:t>A confidence score for each box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92040"/>
            <a:ext cx="4663440" cy="420624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5528" y="5065776"/>
            <a:ext cx="73152" cy="73152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892040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E7DECF"/>
                </a:solidFill>
                <a:latin typeface="Segoe UI"/>
              </a:rPr>
              <a:t>One target class — </a:t>
            </a:r>
            <a:r>
              <a:rPr sz="1000" b="0" i="0">
                <a:solidFill>
                  <a:srgbClr val="E2A33C"/>
                </a:solidFill>
                <a:latin typeface="Consolas"/>
              </a:rPr>
              <a:t>human</a:t>
            </a:r>
          </a:p>
        </p:txBody>
      </p:sp>
      <p:pic>
        <p:nvPicPr>
          <p:cNvPr id="22" name="Picture 21" descr="crop_alt20_human_6419496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2249423"/>
            <a:ext cx="4297680" cy="42976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814348" y="2240279"/>
            <a:ext cx="4297680" cy="4297680"/>
          </a:xfrm>
          <a:prstGeom prst="rect">
            <a:avLst/>
          </a:prstGeom>
          <a:noFill/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24728" y="6570177"/>
            <a:ext cx="4297680" cy="310896"/>
          </a:xfrm>
          <a:prstGeom prst="rect">
            <a:avLst/>
          </a:prstGeom>
          <a:solidFill>
            <a:srgbClr val="1A1814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29884" y="6555551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9E9486"/>
                </a:solidFill>
                <a:latin typeface="Segoe UI"/>
              </a:rPr>
              <a:t>Real detection · test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6587769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E2A33C"/>
                </a:solidFill>
                <a:latin typeface="Consolas"/>
              </a:rPr>
              <a:t>human 81% · ~20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710488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 dirty="0">
                <a:solidFill>
                  <a:srgbClr val="5C554B"/>
                </a:solidFill>
                <a:latin typeface="Consolas"/>
              </a:rPr>
              <a:t>GOLDENEYE · WHAT IT DOES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03 ·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06 / 19 · HOW WE BUILT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A STRUCTURED, STEP-BY-STEP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From problem to a deployable model,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E2A33C"/>
                </a:solidFill>
                <a:latin typeface="Georgia"/>
              </a:rPr>
              <a:t>one stage at a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9409176" cy="384048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69212" y="3680460"/>
            <a:ext cx="7550911" cy="20116"/>
          </a:xfrm>
          <a:prstGeom prst="rect">
            <a:avLst/>
          </a:prstGeom>
          <a:solidFill>
            <a:srgbClr val="6E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32052" y="3566160"/>
            <a:ext cx="274320" cy="274320"/>
          </a:xfrm>
          <a:prstGeom prst="ellipse">
            <a:avLst/>
          </a:prstGeom>
          <a:solidFill>
            <a:srgbClr val="221E18"/>
          </a:solidFill>
          <a:ln w="20320">
            <a:solidFill>
              <a:srgbClr val="A98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32052" y="3566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A98C5E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950208"/>
            <a:ext cx="8707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E7DECF"/>
                </a:solidFill>
                <a:latin typeface="Segoe UI"/>
              </a:rPr>
              <a:t>Define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206240"/>
            <a:ext cx="870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5C554B"/>
                </a:solidFill>
                <a:latin typeface="Consolas"/>
              </a:rPr>
              <a:t>requirements</a:t>
            </a:r>
          </a:p>
        </p:txBody>
      </p:sp>
      <p:sp>
        <p:nvSpPr>
          <p:cNvPr id="13" name="Oval 12"/>
          <p:cNvSpPr/>
          <p:nvPr/>
        </p:nvSpPr>
        <p:spPr>
          <a:xfrm>
            <a:off x="2375916" y="3566160"/>
            <a:ext cx="274320" cy="274320"/>
          </a:xfrm>
          <a:prstGeom prst="ellipse">
            <a:avLst/>
          </a:prstGeom>
          <a:solidFill>
            <a:srgbClr val="221E18"/>
          </a:solidFill>
          <a:ln w="20320">
            <a:solidFill>
              <a:srgbClr val="A98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5916" y="3566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A98C5E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7720" y="3950208"/>
            <a:ext cx="8707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E7DECF"/>
                </a:solidFill>
                <a:latin typeface="Segoe UI"/>
              </a:rP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7720" y="4206240"/>
            <a:ext cx="870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5C554B"/>
                </a:solidFill>
                <a:latin typeface="Consolas"/>
              </a:rPr>
              <a:t>YOLO format</a:t>
            </a:r>
          </a:p>
        </p:txBody>
      </p:sp>
      <p:sp>
        <p:nvSpPr>
          <p:cNvPr id="17" name="Oval 16"/>
          <p:cNvSpPr/>
          <p:nvPr/>
        </p:nvSpPr>
        <p:spPr>
          <a:xfrm>
            <a:off x="3319779" y="3566160"/>
            <a:ext cx="274320" cy="274320"/>
          </a:xfrm>
          <a:prstGeom prst="ellipse">
            <a:avLst/>
          </a:prstGeom>
          <a:solidFill>
            <a:srgbClr val="221E18"/>
          </a:solidFill>
          <a:ln w="20320">
            <a:solidFill>
              <a:srgbClr val="A98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9779" y="3566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A98C5E"/>
                </a:solidFill>
                <a:latin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1583" y="3950208"/>
            <a:ext cx="8707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E7DECF"/>
                </a:solidFill>
                <a:latin typeface="Segoe UI"/>
              </a:rPr>
              <a:t>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1583" y="4206240"/>
            <a:ext cx="870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5C554B"/>
                </a:solidFill>
                <a:latin typeface="Consolas"/>
              </a:rPr>
              <a:t>YOLOv8n</a:t>
            </a:r>
          </a:p>
        </p:txBody>
      </p:sp>
      <p:sp>
        <p:nvSpPr>
          <p:cNvPr id="21" name="Oval 20"/>
          <p:cNvSpPr/>
          <p:nvPr/>
        </p:nvSpPr>
        <p:spPr>
          <a:xfrm>
            <a:off x="4263644" y="3566160"/>
            <a:ext cx="274320" cy="274320"/>
          </a:xfrm>
          <a:prstGeom prst="ellipse">
            <a:avLst/>
          </a:prstGeom>
          <a:solidFill>
            <a:srgbClr val="221E18"/>
          </a:solidFill>
          <a:ln w="2032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63644" y="3566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E2A33C"/>
                </a:solidFill>
                <a:latin typeface="Consola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5448" y="3950208"/>
            <a:ext cx="8707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E7DECF"/>
                </a:solidFill>
                <a:latin typeface="Segoe UI"/>
              </a:rPr>
              <a:t>Fine-tune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5448" y="4206240"/>
            <a:ext cx="870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5C554B"/>
                </a:solidFill>
                <a:latin typeface="Consolas"/>
              </a:rPr>
              <a:t>100 epochs</a:t>
            </a:r>
          </a:p>
        </p:txBody>
      </p:sp>
      <p:sp>
        <p:nvSpPr>
          <p:cNvPr id="25" name="Oval 24"/>
          <p:cNvSpPr/>
          <p:nvPr/>
        </p:nvSpPr>
        <p:spPr>
          <a:xfrm>
            <a:off x="5207507" y="3566160"/>
            <a:ext cx="274320" cy="274320"/>
          </a:xfrm>
          <a:prstGeom prst="ellipse">
            <a:avLst/>
          </a:prstGeom>
          <a:solidFill>
            <a:srgbClr val="221E18"/>
          </a:solidFill>
          <a:ln w="2032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07507" y="3566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E2A33C"/>
                </a:solidFill>
                <a:latin typeface="Consola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9312" y="3950208"/>
            <a:ext cx="8707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E7DECF"/>
                </a:solidFill>
                <a:latin typeface="Segoe UI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9312" y="4206240"/>
            <a:ext cx="870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5C554B"/>
                </a:solidFill>
                <a:latin typeface="Consolas"/>
              </a:rPr>
              <a:t>best weights</a:t>
            </a:r>
          </a:p>
        </p:txBody>
      </p:sp>
      <p:sp>
        <p:nvSpPr>
          <p:cNvPr id="29" name="Oval 28"/>
          <p:cNvSpPr/>
          <p:nvPr/>
        </p:nvSpPr>
        <p:spPr>
          <a:xfrm>
            <a:off x="6151371" y="3566160"/>
            <a:ext cx="274320" cy="274320"/>
          </a:xfrm>
          <a:prstGeom prst="ellipse">
            <a:avLst/>
          </a:prstGeom>
          <a:solidFill>
            <a:srgbClr val="221E18"/>
          </a:solidFill>
          <a:ln w="2032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51371" y="3566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E2A33C"/>
                </a:solidFill>
                <a:latin typeface="Consola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3176" y="3950208"/>
            <a:ext cx="8707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E7DECF"/>
                </a:solidFill>
                <a:latin typeface="Segoe UI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3176" y="4206240"/>
            <a:ext cx="870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5C554B"/>
                </a:solidFill>
                <a:latin typeface="Consolas"/>
              </a:rPr>
              <a:t>unseen set</a:t>
            </a:r>
          </a:p>
        </p:txBody>
      </p:sp>
      <p:sp>
        <p:nvSpPr>
          <p:cNvPr id="33" name="Oval 32"/>
          <p:cNvSpPr/>
          <p:nvPr/>
        </p:nvSpPr>
        <p:spPr>
          <a:xfrm>
            <a:off x="7095236" y="3566160"/>
            <a:ext cx="274320" cy="274320"/>
          </a:xfrm>
          <a:prstGeom prst="ellipse">
            <a:avLst/>
          </a:prstGeom>
          <a:solidFill>
            <a:srgbClr val="221E18"/>
          </a:solidFill>
          <a:ln w="20320">
            <a:solidFill>
              <a:srgbClr val="B85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95236" y="3566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B85C34"/>
                </a:solidFill>
                <a:latin typeface="Consolas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7040" y="3950208"/>
            <a:ext cx="8707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E7DECF"/>
                </a:solidFill>
                <a:latin typeface="Segoe UI"/>
              </a:rPr>
              <a:t>Build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7040" y="4206240"/>
            <a:ext cx="870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5C554B"/>
                </a:solidFill>
                <a:latin typeface="Consolas"/>
              </a:rPr>
              <a:t>inference</a:t>
            </a:r>
          </a:p>
        </p:txBody>
      </p:sp>
      <p:sp>
        <p:nvSpPr>
          <p:cNvPr id="37" name="Oval 36"/>
          <p:cNvSpPr/>
          <p:nvPr/>
        </p:nvSpPr>
        <p:spPr>
          <a:xfrm>
            <a:off x="8039099" y="3566160"/>
            <a:ext cx="274320" cy="274320"/>
          </a:xfrm>
          <a:prstGeom prst="ellipse">
            <a:avLst/>
          </a:prstGeom>
          <a:solidFill>
            <a:srgbClr val="221E18"/>
          </a:solidFill>
          <a:ln w="20320">
            <a:solidFill>
              <a:srgbClr val="B85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39099" y="3566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B85C34"/>
                </a:solidFill>
                <a:latin typeface="Consolas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0903" y="3950208"/>
            <a:ext cx="8707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E7DECF"/>
                </a:solidFill>
                <a:latin typeface="Segoe UI"/>
              </a:rPr>
              <a:t>Edge prep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0903" y="4206240"/>
            <a:ext cx="870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5C554B"/>
                </a:solidFill>
                <a:latin typeface="Consolas"/>
              </a:rPr>
              <a:t>Pi 5 + AI</a:t>
            </a:r>
          </a:p>
        </p:txBody>
      </p:sp>
      <p:sp>
        <p:nvSpPr>
          <p:cNvPr id="41" name="Oval 40"/>
          <p:cNvSpPr/>
          <p:nvPr/>
        </p:nvSpPr>
        <p:spPr>
          <a:xfrm>
            <a:off x="8982964" y="3566160"/>
            <a:ext cx="274320" cy="274320"/>
          </a:xfrm>
          <a:prstGeom prst="ellipse">
            <a:avLst/>
          </a:prstGeom>
          <a:solidFill>
            <a:srgbClr val="221E18"/>
          </a:solidFill>
          <a:ln w="20320">
            <a:solidFill>
              <a:srgbClr val="B85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82964" y="3566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B85C34"/>
                </a:solidFill>
                <a:latin typeface="Consolas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4767" y="3950208"/>
            <a:ext cx="8707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E7DECF"/>
                </a:solidFill>
                <a:latin typeface="Segoe UI"/>
              </a:rPr>
              <a:t>Document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4767" y="4206240"/>
            <a:ext cx="8707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5C554B"/>
                </a:solidFill>
                <a:latin typeface="Consolas"/>
              </a:rPr>
              <a:t>report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5669280"/>
            <a:ext cx="1655064" cy="310896"/>
          </a:xfrm>
          <a:prstGeom prst="roundRect">
            <a:avLst/>
          </a:prstGeom>
          <a:solidFill>
            <a:srgbClr val="221E18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800">
                <a:solidFill>
                  <a:srgbClr val="F0B84E"/>
                </a:solidFill>
                <a:latin typeface="Consolas"/>
              </a:rPr>
              <a:t>Stages 1–3 · Scope &amp;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66744" y="5669280"/>
            <a:ext cx="2198217" cy="310896"/>
          </a:xfrm>
          <a:prstGeom prst="roundRect">
            <a:avLst/>
          </a:prstGeom>
          <a:solidFill>
            <a:srgbClr val="221E18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800">
                <a:solidFill>
                  <a:srgbClr val="F0B84E"/>
                </a:solidFill>
                <a:latin typeface="Consolas"/>
              </a:rPr>
              <a:t>Stages 4–6 · Train, validate, test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47841" y="5669280"/>
            <a:ext cx="1896465" cy="310896"/>
          </a:xfrm>
          <a:prstGeom prst="roundRect">
            <a:avLst/>
          </a:prstGeom>
          <a:solidFill>
            <a:srgbClr val="221E18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800">
                <a:solidFill>
                  <a:srgbClr val="F0B84E"/>
                </a:solidFill>
                <a:latin typeface="Consolas"/>
              </a:rPr>
              <a:t>Stages 7–9 · Product &amp; deploy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IMPLEMENTATION STAGES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03 ·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07 / 19 ·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A PRIVATE DESERT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Aerial desert imagery,</a:t>
            </a:r>
          </a:p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labelled in </a:t>
            </a:r>
            <a:r>
              <a:rPr sz="3000" b="0" i="1">
                <a:solidFill>
                  <a:srgbClr val="E2A33C"/>
                </a:solidFill>
                <a:latin typeface="Georgia"/>
              </a:rPr>
              <a:t>YOLO format.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E7DECF"/>
                </a:solidFill>
                <a:latin typeface="Segoe UI"/>
              </a:rPr>
              <a:t>The fine-tuning data is a private SAR dataset from the </a:t>
            </a:r>
            <a:r>
              <a:rPr sz="1150" b="0" i="0">
                <a:solidFill>
                  <a:srgbClr val="E2A33C"/>
                </a:solidFill>
                <a:latin typeface="Segoe UI"/>
              </a:rPr>
              <a:t>Shaheen project</a:t>
            </a:r>
            <a:r>
              <a:rPr sz="1150" b="0" i="0">
                <a:solidFill>
                  <a:srgbClr val="E7DECF"/>
                </a:solidFill>
                <a:latin typeface="Segoe UI"/>
              </a:rPr>
              <a:t>, built for Middle-Eastern desert conditions — varied appearance, clothing, poses, and backgrounds.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840480"/>
            <a:ext cx="4572000" cy="420624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5528" y="4014216"/>
            <a:ext cx="73152" cy="73152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840480"/>
            <a:ext cx="4114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E7DECF"/>
                </a:solidFill>
                <a:latin typeface="Segoe UI"/>
              </a:rPr>
              <a:t>One label file per image · class </a:t>
            </a:r>
            <a:r>
              <a:rPr sz="950" b="0" i="0">
                <a:solidFill>
                  <a:srgbClr val="E2A33C"/>
                </a:solidFill>
                <a:latin typeface="Consolas"/>
              </a:rPr>
              <a:t>human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34256"/>
            <a:ext cx="4572000" cy="420624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5528" y="4507992"/>
            <a:ext cx="73152" cy="73152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334256"/>
            <a:ext cx="4114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E7DECF"/>
                </a:solidFill>
                <a:latin typeface="Segoe UI"/>
              </a:rPr>
              <a:t>Split into train / validation /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28032"/>
            <a:ext cx="4572000" cy="420624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95528" y="5001768"/>
            <a:ext cx="73152" cy="73152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4828032"/>
            <a:ext cx="4114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E7DECF"/>
                </a:solidFill>
                <a:latin typeface="Segoe UI"/>
              </a:rPr>
              <a:t>Includes background images with no 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◆ TRAIN / VALIDATION / TEST SPLIT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715000"/>
            <a:ext cx="3200270" cy="201168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40350" y="5715000"/>
            <a:ext cx="457459" cy="201168"/>
          </a:xfrm>
          <a:prstGeom prst="rect">
            <a:avLst/>
          </a:prstGeom>
          <a:solidFill>
            <a:srgbClr val="A9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809" y="5715000"/>
            <a:ext cx="914270" cy="201168"/>
          </a:xfrm>
          <a:prstGeom prst="rect">
            <a:avLst/>
          </a:prstGeom>
          <a:solidFill>
            <a:srgbClr val="B85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9E9486"/>
                </a:solidFill>
                <a:latin typeface="Consolas"/>
              </a:rPr>
              <a:t>■ train 4,939    ■ validation 706    ■ test 1,411</a:t>
            </a:r>
          </a:p>
        </p:txBody>
      </p:sp>
      <p:pic>
        <p:nvPicPr>
          <p:cNvPr id="22" name="Picture 21" descr="negative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514600"/>
            <a:ext cx="4297680" cy="241744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760720" y="2514600"/>
            <a:ext cx="4297680" cy="2417445"/>
          </a:xfrm>
          <a:prstGeom prst="rect">
            <a:avLst/>
          </a:prstGeom>
          <a:noFill/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60720" y="4932045"/>
            <a:ext cx="4297680" cy="310896"/>
          </a:xfrm>
          <a:prstGeom prst="rect">
            <a:avLst/>
          </a:prstGeom>
          <a:solidFill>
            <a:srgbClr val="1A1814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70448" y="4932045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9E9486"/>
                </a:solidFill>
                <a:latin typeface="Segoe UI"/>
              </a:rPr>
              <a:t>Example frame · aerial desert terrain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932045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E2A33C"/>
                </a:solidFill>
                <a:latin typeface="Consolas"/>
              </a:rPr>
              <a:t>3840×2160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5257800"/>
            <a:ext cx="1310640" cy="118872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98464" y="5495544"/>
            <a:ext cx="899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688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5879592"/>
            <a:ext cx="85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Humans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6752" y="6135624"/>
            <a:ext cx="85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test 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54240" y="5257800"/>
            <a:ext cx="1310640" cy="118872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1984" y="5495544"/>
            <a:ext cx="899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763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0272" y="5879592"/>
            <a:ext cx="85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Background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0272" y="6135624"/>
            <a:ext cx="85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no people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47760" y="5257800"/>
            <a:ext cx="1310640" cy="118872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85504" y="5495544"/>
            <a:ext cx="899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343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3792" y="5879592"/>
            <a:ext cx="85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Humans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3792" y="6135624"/>
            <a:ext cx="853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validation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DATASET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03 ·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08 / 19 · WHY YOLOv8n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THE RIGHT MODEL FOR THE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YOLOv8n — </a:t>
            </a:r>
            <a:r>
              <a:rPr sz="3000" b="0" i="1">
                <a:solidFill>
                  <a:srgbClr val="E2A33C"/>
                </a:solidFill>
                <a:latin typeface="Georgia"/>
              </a:rPr>
              <a:t>accuracy, speed,</a:t>
            </a:r>
          </a:p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and size in balance.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7DECF"/>
                </a:solidFill>
                <a:latin typeface="Segoe UI"/>
              </a:rPr>
              <a:t>We compared YOLO sizes on a baseline SAR dataset. The nano model won: it detects small targets well while staying light enough for edge hardware.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83280"/>
            <a:ext cx="2146553" cy="164592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6210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3.0M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462272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71830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3,005,843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0953" y="3383280"/>
            <a:ext cx="2146553" cy="164592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8697" y="36210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8.1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6985" y="4462272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GFLOPs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6985" y="471830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at 640×640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1827" y="3383280"/>
            <a:ext cx="2146553" cy="164592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9571" y="36210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7859" y="4462272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7859" y="471830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YOLOv8n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2701" y="3383280"/>
            <a:ext cx="2146553" cy="164592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40445" y="36210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8733" y="4462272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8733" y="471830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human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49240"/>
            <a:ext cx="9409176" cy="10515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5349240"/>
            <a:ext cx="45720" cy="1051560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550407"/>
            <a:ext cx="8906255" cy="685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E9486"/>
                </a:solidFill>
                <a:latin typeface="Segoe UI"/>
              </a:rPr>
              <a:t>Bigger models score marginally higher but cost far more compute — unsuitable for a battery-powered field device. Nano keeps inference fast and the footprint tiny.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03 ·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09 / 19 · HOW WE TRAINED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FINE-TUNING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Fine-tuned for the desert,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E2A33C"/>
                </a:solidFill>
                <a:latin typeface="Georgia"/>
              </a:rPr>
              <a:t>with augmentation for robustness.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4572000" cy="388620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◆ TRAINING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E9486"/>
                </a:solidFill>
                <a:latin typeface="Consolas"/>
              </a:rPr>
              <a:t>Epochs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3276" y="3200400"/>
            <a:ext cx="249448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7DECF"/>
                </a:solidFill>
                <a:latin typeface="Consolas"/>
              </a:rPr>
              <a:t>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529584"/>
            <a:ext cx="4023360" cy="9144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529584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E9486"/>
                </a:solidFill>
                <a:latin typeface="Consolas"/>
              </a:rPr>
              <a:t>Image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3276" y="3529584"/>
            <a:ext cx="249448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7DECF"/>
                </a:solidFill>
                <a:latin typeface="Consolas"/>
              </a:rPr>
              <a:t>640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858768"/>
            <a:ext cx="4023360" cy="9144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858768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E9486"/>
                </a:solidFill>
                <a:latin typeface="Consolas"/>
              </a:rPr>
              <a:t>Batch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3276" y="3858768"/>
            <a:ext cx="249448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7DECF"/>
                </a:solidFill>
                <a:latin typeface="Consolas"/>
              </a:rPr>
              <a:t>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187952"/>
            <a:ext cx="4023360" cy="9144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187952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E9486"/>
                </a:solidFill>
                <a:latin typeface="Consolas"/>
              </a:rPr>
              <a:t>Optimizer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3276" y="4187952"/>
            <a:ext cx="249448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7DECF"/>
                </a:solidFill>
                <a:latin typeface="Consolas"/>
              </a:rPr>
              <a:t>AdamW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17136"/>
            <a:ext cx="4023360" cy="9144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517136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E9486"/>
                </a:solidFill>
                <a:latin typeface="Consolas"/>
              </a:rPr>
              <a:t>Initial LR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3276" y="4517136"/>
            <a:ext cx="249448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7DECF"/>
                </a:solidFill>
                <a:latin typeface="Consolas"/>
              </a:rPr>
              <a:t>0.001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846320"/>
            <a:ext cx="4023360" cy="9144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E9486"/>
                </a:solidFill>
                <a:latin typeface="Consolas"/>
              </a:rPr>
              <a:t>Weight decay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3276" y="4846320"/>
            <a:ext cx="249448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7DECF"/>
                </a:solidFill>
                <a:latin typeface="Consolas"/>
              </a:rPr>
              <a:t>0.0005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175504"/>
            <a:ext cx="4023360" cy="9144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175504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E9486"/>
                </a:solidFill>
                <a:latin typeface="Consolas"/>
              </a:rPr>
              <a:t>Patience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43276" y="5175504"/>
            <a:ext cx="249448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7DECF"/>
                </a:solidFill>
                <a:latin typeface="Consola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504688"/>
            <a:ext cx="4023360" cy="9144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504688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E9486"/>
                </a:solidFill>
                <a:latin typeface="Consolas"/>
              </a:rPr>
              <a:t>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3276" y="5504688"/>
            <a:ext cx="249448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7DECF"/>
                </a:solidFill>
                <a:latin typeface="Consolas"/>
              </a:rPr>
              <a:t>Ultralytics YOLO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833872"/>
            <a:ext cx="4023360" cy="9144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833872"/>
            <a:ext cx="24140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E9486"/>
                </a:solidFill>
                <a:latin typeface="Consolas"/>
              </a:rPr>
              <a:t>Environment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3276" y="5833872"/>
            <a:ext cx="249448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E7DECF"/>
                </a:solidFill>
                <a:latin typeface="Consolas"/>
              </a:rPr>
              <a:t>Tesla T4 GPU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6163056"/>
            <a:ext cx="4023360" cy="9144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0" y="2560320"/>
            <a:ext cx="4572000" cy="178308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0" y="2560320"/>
            <a:ext cx="4572000" cy="36576"/>
          </a:xfrm>
          <a:prstGeom prst="rect">
            <a:avLst/>
          </a:prstGeom>
          <a:solidFill>
            <a:srgbClr val="6E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28346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◆ DATA AUGMENTATION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246120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E9486"/>
                </a:solidFill>
                <a:latin typeface="Segoe UI"/>
              </a:rPr>
              <a:t>Colour, scale, and translation changes · horizontal flip · mosaic · mixup.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4526280"/>
            <a:ext cx="4572000" cy="192024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0" y="4526280"/>
            <a:ext cx="45720" cy="1920240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0" y="4727448"/>
            <a:ext cx="40690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E9486"/>
                </a:solidFill>
                <a:latin typeface="Segoe UI"/>
              </a:rPr>
              <a:t>Why it matters — augmentation teaches the model to handle different desert lighting, human positions, and scales, so it generalises beyond the exact training frames.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TRAINING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10 / 19 · FINAL TEST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ON THE UNSEEN TEST SET · 1,411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E2A33C"/>
                </a:solidFill>
                <a:latin typeface="Georgia"/>
              </a:rPr>
              <a:t>0.979</a:t>
            </a:r>
            <a:r>
              <a:rPr sz="3000" b="0" i="0">
                <a:solidFill>
                  <a:srgbClr val="E7DECF"/>
                </a:solidFill>
                <a:latin typeface="Georgia"/>
              </a:rPr>
              <a:t> mAP@0.5,  </a:t>
            </a:r>
            <a:r>
              <a:rPr sz="3000" b="0" i="1">
                <a:solidFill>
                  <a:srgbClr val="E2A33C"/>
                </a:solidFill>
                <a:latin typeface="Georgia"/>
              </a:rPr>
              <a:t>0.985</a:t>
            </a:r>
            <a:r>
              <a:rPr sz="3000" b="0" i="0">
                <a:solidFill>
                  <a:srgbClr val="E7DECF"/>
                </a:solidFill>
                <a:latin typeface="Georgia"/>
              </a:rPr>
              <a:t> recall.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2146553" cy="17373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9352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0.975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67911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12394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test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0953" y="2697480"/>
            <a:ext cx="2146553" cy="17373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8697" y="29352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0.985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6985" y="3867911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6985" y="412394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test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1827" y="2697480"/>
            <a:ext cx="2146553" cy="17373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9571" y="29352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0.979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7859" y="3867911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mAP@0.5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7859" y="412394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test 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2701" y="2697480"/>
            <a:ext cx="2146553" cy="17373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40445" y="29352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0.980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733" y="3867911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8733" y="412394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test 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00600"/>
            <a:ext cx="9409176" cy="137160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800600"/>
            <a:ext cx="45720" cy="1371600"/>
          </a:xfrm>
          <a:prstGeom prst="rect">
            <a:avLst/>
          </a:prstGeom>
          <a:solidFill>
            <a:srgbClr val="5A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001768"/>
            <a:ext cx="8906255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E7DECF"/>
                </a:solidFill>
                <a:latin typeface="Segoe UI"/>
              </a:rPr>
              <a:t>Recall is the metric that matters most here</a:t>
            </a:r>
            <a:r>
              <a:rPr sz="1200" b="0" i="0">
                <a:solidFill>
                  <a:srgbClr val="9E9486"/>
                </a:solidFill>
                <a:latin typeface="Segoe UI"/>
              </a:rPr>
              <a:t>  — in search and rescue, missing a person is far worse than a false alarm. At 0.985, the model finds nearly everyone.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11 / 19 · DOES IT GENERALISE?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VALIDATION VS.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A tiny gap means it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E2A33C"/>
                </a:solidFill>
                <a:latin typeface="Georgia"/>
              </a:rPr>
              <a:t>didn't just memorise.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5486400" cy="384048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◆ VALIDATION VS. TEST SCORES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3383280"/>
            <a:ext cx="4389120" cy="7315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5C554B"/>
                </a:solidFill>
                <a:latin typeface="Consolas"/>
              </a:rPr>
              <a:t>1.0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4114800"/>
            <a:ext cx="4389120" cy="7315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5C554B"/>
                </a:solidFill>
                <a:latin typeface="Consolas"/>
              </a:rPr>
              <a:t>0.9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4846320"/>
            <a:ext cx="4389120" cy="7315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75488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5C554B"/>
                </a:solidFill>
                <a:latin typeface="Consolas"/>
              </a:rPr>
              <a:t>0.8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5577840"/>
            <a:ext cx="4389120" cy="7315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4864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5C554B"/>
                </a:solidFill>
                <a:latin typeface="Consolas"/>
              </a:rPr>
              <a:t>0.7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9227" y="3471062"/>
            <a:ext cx="380390" cy="2106777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24481" y="3566160"/>
            <a:ext cx="380390" cy="2011679"/>
          </a:xfrm>
          <a:prstGeom prst="rect">
            <a:avLst/>
          </a:prstGeom>
          <a:solidFill>
            <a:srgbClr val="A9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561441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9E9486"/>
                </a:solidFill>
                <a:latin typeface="Consolas"/>
              </a:rPr>
              <a:t>Precision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52267" y="3456432"/>
            <a:ext cx="380390" cy="2121407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87521" y="3493008"/>
            <a:ext cx="380390" cy="2084831"/>
          </a:xfrm>
          <a:prstGeom prst="rect">
            <a:avLst/>
          </a:prstGeom>
          <a:solidFill>
            <a:srgbClr val="A9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88920" y="561441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9E9486"/>
                </a:solidFill>
                <a:latin typeface="Consolas"/>
              </a:rPr>
              <a:t>Recall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15307" y="3427171"/>
            <a:ext cx="380390" cy="2150668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50561" y="3536899"/>
            <a:ext cx="380390" cy="2040940"/>
          </a:xfrm>
          <a:prstGeom prst="rect">
            <a:avLst/>
          </a:prstGeom>
          <a:solidFill>
            <a:srgbClr val="A9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51960" y="561441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9E9486"/>
                </a:solidFill>
                <a:latin typeface="Consolas"/>
              </a:rPr>
              <a:t>mAP@0.5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89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E2A33C"/>
                </a:solidFill>
                <a:latin typeface="Consolas"/>
              </a:rPr>
              <a:t>■ validation     </a:t>
            </a:r>
            <a:r>
              <a:rPr sz="800" b="0" i="0">
                <a:solidFill>
                  <a:srgbClr val="A98C5E"/>
                </a:solidFill>
                <a:latin typeface="Consolas"/>
              </a:rPr>
              <a:t>■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606040"/>
            <a:ext cx="3749039" cy="10515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27889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◆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1546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E9486"/>
                </a:solidFill>
                <a:latin typeface="Consolas"/>
              </a:rPr>
              <a:t>P 0.988 · R 0.990 · mAP 0.994 · 706 imgs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840480"/>
            <a:ext cx="3749039" cy="10515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0233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◆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3891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E9486"/>
                </a:solidFill>
                <a:latin typeface="Consolas"/>
              </a:rPr>
              <a:t>P 0.975 · R 0.985 · mAP 0.979 · 1,411 imgs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074920"/>
            <a:ext cx="3749039" cy="137160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5074920"/>
            <a:ext cx="45720" cy="1371600"/>
          </a:xfrm>
          <a:prstGeom prst="rect">
            <a:avLst/>
          </a:prstGeom>
          <a:solidFill>
            <a:srgbClr val="5A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5276088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E9486"/>
                </a:solidFill>
                <a:latin typeface="Segoe UI"/>
              </a:rPr>
              <a:t>The drop is only ~1–2 points — strong evidence the model transfers to unseen desert images.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GENERALISATION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12 / 19 · IT WORKS — REAL DETECTIONS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MODEL OUTPUT ON HELD-OUT TEST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Real detections, </a:t>
            </a:r>
            <a:r>
              <a:rPr sz="3000" b="0" i="1">
                <a:solidFill>
                  <a:srgbClr val="E2A33C"/>
                </a:solidFill>
                <a:latin typeface="Georgia"/>
              </a:rPr>
              <a:t>across altitudes.</a:t>
            </a:r>
          </a:p>
        </p:txBody>
      </p:sp>
      <p:pic>
        <p:nvPicPr>
          <p:cNvPr id="7" name="Picture 6" descr="crop_alt30_human_02762319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973" y="2286000"/>
            <a:ext cx="3169920" cy="1783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15973" y="2286000"/>
            <a:ext cx="3169920" cy="1783080"/>
          </a:xfrm>
          <a:prstGeom prst="rect">
            <a:avLst/>
          </a:prstGeom>
          <a:noFill/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15973" y="4069080"/>
            <a:ext cx="3169920" cy="310896"/>
          </a:xfrm>
          <a:prstGeom prst="rect">
            <a:avLst/>
          </a:prstGeom>
          <a:solidFill>
            <a:srgbClr val="1A1814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5701" y="4069080"/>
            <a:ext cx="1615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9E9486"/>
                </a:solidFill>
                <a:latin typeface="Segoe UI"/>
              </a:rPr>
              <a:t>Two people · among vegetation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5693" y="4069080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E2A33C"/>
                </a:solidFill>
                <a:latin typeface="Consolas"/>
              </a:rPr>
              <a:t>~30 m · 84%/78%</a:t>
            </a:r>
          </a:p>
        </p:txBody>
      </p:sp>
      <p:pic>
        <p:nvPicPr>
          <p:cNvPr id="12" name="Picture 11" descr="crop_alt30_human_37342794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442" y="2286000"/>
            <a:ext cx="3169920" cy="1783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03442" y="2286000"/>
            <a:ext cx="3169920" cy="1783080"/>
          </a:xfrm>
          <a:prstGeom prst="rect">
            <a:avLst/>
          </a:prstGeom>
          <a:noFill/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03442" y="4069080"/>
            <a:ext cx="3169920" cy="310896"/>
          </a:xfrm>
          <a:prstGeom prst="rect">
            <a:avLst/>
          </a:prstGeom>
          <a:solidFill>
            <a:srgbClr val="1A1814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3170" y="4069080"/>
            <a:ext cx="1615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9E9486"/>
                </a:solidFill>
                <a:latin typeface="Segoe UI"/>
              </a:rPr>
              <a:t>Two people · spaced apart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3161" y="4069080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E2A33C"/>
                </a:solidFill>
                <a:latin typeface="Consolas"/>
              </a:rPr>
              <a:t>~30 m · 84%</a:t>
            </a:r>
          </a:p>
        </p:txBody>
      </p:sp>
      <p:pic>
        <p:nvPicPr>
          <p:cNvPr id="17" name="Picture 16" descr="crop_alt30_human_23401609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973" y="4526280"/>
            <a:ext cx="3169920" cy="1783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315973" y="4526280"/>
            <a:ext cx="3169920" cy="1783080"/>
          </a:xfrm>
          <a:prstGeom prst="rect">
            <a:avLst/>
          </a:prstGeom>
          <a:noFill/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15973" y="6309360"/>
            <a:ext cx="3169920" cy="310896"/>
          </a:xfrm>
          <a:prstGeom prst="rect">
            <a:avLst/>
          </a:prstGeom>
          <a:solidFill>
            <a:srgbClr val="1A1814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25701" y="6309360"/>
            <a:ext cx="1615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9E9486"/>
                </a:solidFill>
                <a:latin typeface="Segoe UI"/>
              </a:rPr>
              <a:t>Two people · open sand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5693" y="6309360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E2A33C"/>
                </a:solidFill>
                <a:latin typeface="Consolas"/>
              </a:rPr>
              <a:t>~30 m · 80%</a:t>
            </a:r>
          </a:p>
        </p:txBody>
      </p:sp>
      <p:pic>
        <p:nvPicPr>
          <p:cNvPr id="22" name="Picture 21" descr="crop_alt35_human_339399147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300" y="4526280"/>
            <a:ext cx="1812205" cy="17830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882300" y="4526280"/>
            <a:ext cx="1812205" cy="1783080"/>
          </a:xfrm>
          <a:prstGeom prst="rect">
            <a:avLst/>
          </a:prstGeom>
          <a:noFill/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82300" y="6309360"/>
            <a:ext cx="1812205" cy="310896"/>
          </a:xfrm>
          <a:prstGeom prst="rect">
            <a:avLst/>
          </a:prstGeom>
          <a:solidFill>
            <a:srgbClr val="1A1814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92028" y="6309360"/>
            <a:ext cx="25772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9E9486"/>
                </a:solidFill>
                <a:latin typeface="Segoe UI"/>
              </a:rPr>
              <a:t>Single person · higher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4305" y="6309360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E2A33C"/>
                </a:solidFill>
                <a:latin typeface="Consolas"/>
              </a:rPr>
              <a:t>~35 m · 79%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REAL DETECTIONS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13 / 19 · NOT CRYING WOLF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BACKGROUND IMAGE · NO PEOPLE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On an empty desert, it stays </a:t>
            </a:r>
            <a:r>
              <a:rPr sz="3000" b="0" i="1">
                <a:solidFill>
                  <a:srgbClr val="E2A33C"/>
                </a:solidFill>
                <a:latin typeface="Georgia"/>
              </a:rPr>
              <a:t>quiet.</a:t>
            </a:r>
          </a:p>
        </p:txBody>
      </p:sp>
      <p:pic>
        <p:nvPicPr>
          <p:cNvPr id="7" name="Picture 6" descr="negative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5760720" cy="32404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2514600"/>
            <a:ext cx="5760720" cy="3240405"/>
          </a:xfrm>
          <a:prstGeom prst="rect">
            <a:avLst/>
          </a:prstGeom>
          <a:noFill/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5755005"/>
            <a:ext cx="5760720" cy="310896"/>
          </a:xfrm>
          <a:prstGeom prst="rect">
            <a:avLst/>
          </a:prstGeom>
          <a:solidFill>
            <a:srgbClr val="1A1814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5755005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9E9486"/>
                </a:solidFill>
                <a:latin typeface="Segoe UI"/>
              </a:rPr>
              <a:t>Real background test frame · model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755005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E2A33C"/>
                </a:solidFill>
                <a:latin typeface="Consolas"/>
              </a:rPr>
              <a:t>0 detections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7DECF"/>
                </a:solidFill>
                <a:latin typeface="Segoe UI"/>
              </a:rPr>
              <a:t>The test set includes </a:t>
            </a:r>
            <a:r>
              <a:rPr sz="1300" b="0" i="0">
                <a:solidFill>
                  <a:srgbClr val="E2A33C"/>
                </a:solidFill>
                <a:latin typeface="Segoe UI"/>
              </a:rPr>
              <a:t>763 background images</a:t>
            </a:r>
            <a:r>
              <a:rPr sz="1300" b="0" i="0">
                <a:solidFill>
                  <a:srgbClr val="E7DECF"/>
                </a:solidFill>
                <a:latin typeface="Segoe UI"/>
              </a:rPr>
              <a:t> with no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40480"/>
            <a:ext cx="3429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E9486"/>
                </a:solidFill>
                <a:latin typeface="Segoe UI"/>
              </a:rPr>
              <a:t>On this frame — bushes, dunes, shadows, but no human — the model draws nothing. That restraint keeps </a:t>
            </a:r>
            <a:r>
              <a:rPr sz="1050" b="1" i="0">
                <a:solidFill>
                  <a:srgbClr val="E7DECF"/>
                </a:solidFill>
                <a:latin typeface="Segoe UI"/>
              </a:rPr>
              <a:t>precision at 0.975</a:t>
            </a:r>
            <a:r>
              <a:rPr sz="1050" b="0" i="0">
                <a:solidFill>
                  <a:srgbClr val="9E9486"/>
                </a:solidFill>
                <a:latin typeface="Segoe UI"/>
              </a:rPr>
              <a:t>: few false alarms, so operators keep trusting the alerts.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5577840"/>
            <a:ext cx="2286000" cy="310896"/>
          </a:xfrm>
          <a:prstGeom prst="roundRect">
            <a:avLst/>
          </a:prstGeom>
          <a:solidFill>
            <a:srgbClr val="5A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800" b="1">
                <a:solidFill>
                  <a:srgbClr val="100E0B"/>
                </a:solidFill>
                <a:latin typeface="Consolas"/>
              </a:rPr>
              <a:t>NO FALSE POSITIVES 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PRECISION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14 / 19 · THE HONEST 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MAP@0.5 VS. MAP@0.5–95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It </a:t>
            </a:r>
            <a:r>
              <a:rPr sz="3000" b="0" i="1">
                <a:solidFill>
                  <a:srgbClr val="E2A33C"/>
                </a:solidFill>
                <a:latin typeface="Georgia"/>
              </a:rPr>
              <a:t>finds</a:t>
            </a:r>
            <a:r>
              <a:rPr sz="3000" b="0" i="0">
                <a:solidFill>
                  <a:srgbClr val="E7DECF"/>
                </a:solidFill>
                <a:latin typeface="Georgia"/>
              </a:rPr>
              <a:t> people reliably;</a:t>
            </a:r>
          </a:p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the box isn't always pixel-perfect.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2240280" cy="146304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843784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0.979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502152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mAP@0.5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5818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loose box match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606040"/>
            <a:ext cx="2240280" cy="146304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17520" y="2606040"/>
            <a:ext cx="2240280" cy="36576"/>
          </a:xfrm>
          <a:prstGeom prst="rect">
            <a:avLst/>
          </a:prstGeom>
          <a:solidFill>
            <a:srgbClr val="6E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55263" y="2843784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B85C34"/>
                </a:solidFill>
                <a:latin typeface="Georgia"/>
              </a:rPr>
              <a:t>0.626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3502152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mAP@0.5–95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75818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strict box match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526280"/>
            <a:ext cx="1188720" cy="914400"/>
          </a:xfrm>
          <a:prstGeom prst="rect">
            <a:avLst/>
          </a:prstGeom>
          <a:noFill/>
          <a:ln w="25400">
            <a:solidFill>
              <a:srgbClr val="5AA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325880" y="4754880"/>
            <a:ext cx="1188720" cy="914400"/>
          </a:xfrm>
          <a:prstGeom prst="rect">
            <a:avLst/>
          </a:prstGeom>
          <a:noFill/>
          <a:ln w="2540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5321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9E9486"/>
                </a:solidFill>
                <a:latin typeface="Consolas"/>
              </a:rPr>
              <a:t>small shift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572000"/>
            <a:ext cx="24688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E9486"/>
                </a:solidFill>
                <a:latin typeface="Segoe UI"/>
              </a:rPr>
              <a:t>Truth (green) vs prediction (amber): on a tiny target, a few pixels of shift cost a lot of overlap (IoU).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697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7DECF"/>
                </a:solidFill>
                <a:latin typeface="Georgia"/>
              </a:rPr>
              <a:t>Why the gap?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24612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E9486"/>
                </a:solidFill>
                <a:latin typeface="Segoe UI"/>
              </a:rPr>
              <a:t>Aerial people are only a handful of pixels. Detection (is someone there?) is easy; tight box alignment under strict overlap thresholds is hard — a known small-object effect.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4846320"/>
            <a:ext cx="4572000" cy="12801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77840" y="4846320"/>
            <a:ext cx="45720" cy="1280160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159" y="5047488"/>
            <a:ext cx="4069080" cy="914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E9486"/>
                </a:solidFill>
                <a:latin typeface="Segoe UI"/>
              </a:rPr>
              <a:t>For SAR this is acceptable: knowing </a:t>
            </a:r>
            <a:r>
              <a:rPr sz="1050" b="0" i="1">
                <a:solidFill>
                  <a:srgbClr val="E7DECF"/>
                </a:solidFill>
                <a:latin typeface="Segoe UI"/>
              </a:rPr>
              <a:t>where to look</a:t>
            </a:r>
            <a:r>
              <a:rPr sz="1050" b="0" i="0">
                <a:solidFill>
                  <a:srgbClr val="9E9486"/>
                </a:solidFill>
                <a:latin typeface="Segoe UI"/>
              </a:rPr>
              <a:t> matters more than a perfect box.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LOCALISATION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05 ·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15 / 19 · THE WORKING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FROM A NOTEBOOK TO A USABLE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One inference pipeline,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E2A33C"/>
                </a:solidFill>
                <a:latin typeface="Georgia"/>
              </a:rPr>
              <a:t>three ways to use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9409176" cy="141732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◆ INFERENCE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08960"/>
            <a:ext cx="1523390" cy="731520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264408"/>
            <a:ext cx="13770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Frame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547872"/>
            <a:ext cx="137708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image/video/live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7790" y="3108960"/>
            <a:ext cx="31089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6E5A33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8686" y="3108960"/>
            <a:ext cx="1523390" cy="731520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21838" y="3264408"/>
            <a:ext cx="13770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Preprocess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1838" y="3547872"/>
            <a:ext cx="137708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resize · normalise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2076" y="3108960"/>
            <a:ext cx="31089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6E5A33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82972" y="3108960"/>
            <a:ext cx="1523390" cy="731520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56124" y="3264408"/>
            <a:ext cx="13770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YOLOv8n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6124" y="3547872"/>
            <a:ext cx="137708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ONNX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6363" y="3108960"/>
            <a:ext cx="31089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6E5A33"/>
                </a:solidFill>
                <a:latin typeface="Segoe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7259" y="3108960"/>
            <a:ext cx="1523390" cy="731520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0411" y="3264408"/>
            <a:ext cx="13770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Filter + NMS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0411" y="3547872"/>
            <a:ext cx="137708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drop weak/dup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0649" y="3108960"/>
            <a:ext cx="31089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6E5A33"/>
                </a:solidFill>
                <a:latin typeface="Segoe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1545" y="3108960"/>
            <a:ext cx="1523390" cy="731520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4697" y="3264408"/>
            <a:ext cx="13770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Draw + show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4697" y="3547872"/>
            <a:ext cx="137708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box + confidence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97680"/>
            <a:ext cx="2953512" cy="214884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4297680"/>
            <a:ext cx="2953512" cy="36576"/>
          </a:xfrm>
          <a:prstGeom prst="rect">
            <a:avLst/>
          </a:prstGeom>
          <a:solidFill>
            <a:srgbClr val="6E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572000"/>
            <a:ext cx="2404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MODE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919472"/>
            <a:ext cx="2404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7DECF"/>
                </a:solidFill>
                <a:latin typeface="Georgia"/>
              </a:rPr>
              <a:t>Image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40680"/>
            <a:ext cx="24048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E9486"/>
                </a:solidFill>
                <a:latin typeface="Segoe UI"/>
              </a:rPr>
              <a:t>Upload one image; get an annotated result with boxes and scores.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67911" y="4297680"/>
            <a:ext cx="2953512" cy="214884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867911" y="4297680"/>
            <a:ext cx="2953512" cy="36576"/>
          </a:xfrm>
          <a:prstGeom prst="rect">
            <a:avLst/>
          </a:prstGeom>
          <a:solidFill>
            <a:srgbClr val="6E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42231" y="4572000"/>
            <a:ext cx="2404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MODE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2231" y="4919472"/>
            <a:ext cx="2404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7DECF"/>
                </a:solidFill>
                <a:latin typeface="Georgia"/>
              </a:rPr>
              <a:t>Video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42231" y="5440680"/>
            <a:ext cx="24048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E9486"/>
                </a:solidFill>
                <a:latin typeface="Segoe UI"/>
              </a:rPr>
              <a:t>Upload a video; every frame becomes an annotated MP4 + a detection CSV.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95744" y="4297680"/>
            <a:ext cx="2953512" cy="214884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95744" y="4297680"/>
            <a:ext cx="2953512" cy="36576"/>
          </a:xfrm>
          <a:prstGeom prst="rect">
            <a:avLst/>
          </a:prstGeom>
          <a:solidFill>
            <a:srgbClr val="6E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70064" y="4572000"/>
            <a:ext cx="2404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MODE 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0064" y="4919472"/>
            <a:ext cx="2404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7DECF"/>
                </a:solidFill>
                <a:latin typeface="Georgia"/>
              </a:rPr>
              <a:t>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0064" y="5440680"/>
            <a:ext cx="24048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E9486"/>
                </a:solidFill>
                <a:latin typeface="Segoe UI"/>
              </a:rPr>
              <a:t>Stream a camera or screen share; detections appear in real time.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APPLICATION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05 ·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16 / 19 ·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LOW LATENCY, NEAR REAL-TIME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A frame in and out in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E2A33C"/>
                </a:solidFill>
                <a:latin typeface="Georgia"/>
              </a:rPr>
              <a:t>under 4 milliseconds.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2146553" cy="17373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9352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0.6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67911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Preprocess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12394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ms /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0953" y="2697480"/>
            <a:ext cx="2146553" cy="17373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60953" y="2697480"/>
            <a:ext cx="2146553" cy="36576"/>
          </a:xfrm>
          <a:prstGeom prst="rect">
            <a:avLst/>
          </a:prstGeom>
          <a:solidFill>
            <a:srgbClr val="6E5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8697" y="29352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2.7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6985" y="3867911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6985" y="412394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ms / image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1827" y="2697480"/>
            <a:ext cx="2146553" cy="17373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9571" y="29352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7859" y="3867911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Postprocess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7859" y="412394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ms / image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2701" y="2697480"/>
            <a:ext cx="2146553" cy="17373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40445" y="2935224"/>
            <a:ext cx="173507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E2A33C"/>
                </a:solidFill>
                <a:latin typeface="Georgia"/>
              </a:rPr>
              <a:t>3.8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8733" y="3867911"/>
            <a:ext cx="168935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E7DECF"/>
                </a:solidFill>
                <a:latin typeface="Segoe UI"/>
              </a:rPr>
              <a:t>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8733" y="4123944"/>
            <a:ext cx="168935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C554B"/>
                </a:solidFill>
                <a:latin typeface="Consolas"/>
              </a:rPr>
              <a:t>ms / 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00600"/>
            <a:ext cx="9409176" cy="137160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800600"/>
            <a:ext cx="45720" cy="1371600"/>
          </a:xfrm>
          <a:prstGeom prst="rect">
            <a:avLst/>
          </a:prstGeom>
          <a:solidFill>
            <a:srgbClr val="B85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001768"/>
            <a:ext cx="8906255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7DECF"/>
                </a:solidFill>
                <a:latin typeface="Segoe UI"/>
              </a:rPr>
              <a:t>Measured on a Tesla T4 GPU</a:t>
            </a:r>
            <a:r>
              <a:rPr sz="1100" b="0" i="0">
                <a:solidFill>
                  <a:srgbClr val="9E9486"/>
                </a:solidFill>
                <a:latin typeface="Segoe UI"/>
              </a:rPr>
              <a:t> — this is GPU-side speed, not a Raspberry Pi figure. It confirms the model is light enough for real-time workflows.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SPEED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05 · EDGE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17 / 19 · DESIGNED FOR THE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CLOSER TO THE DRONE 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Built to run on a</a:t>
            </a:r>
          </a:p>
          <a:p>
            <a:pPr algn="l">
              <a:lnSpc>
                <a:spcPct val="104000"/>
              </a:lnSpc>
            </a:pPr>
            <a:r>
              <a:rPr sz="3000" b="0" i="1">
                <a:solidFill>
                  <a:srgbClr val="E2A33C"/>
                </a:solidFill>
                <a:latin typeface="Georgia"/>
              </a:rPr>
              <a:t>Raspberry Pi 5</a:t>
            </a:r>
            <a:r>
              <a:rPr sz="3000" b="0" i="0">
                <a:solidFill>
                  <a:srgbClr val="E7DECF"/>
                </a:solidFill>
                <a:latin typeface="Georgia"/>
              </a:rPr>
              <a:t> with AI acceleration.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9409176" cy="128016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◆ INTENDED EDGE 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90672"/>
            <a:ext cx="2746248" cy="658368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246120"/>
            <a:ext cx="2599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Drone 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529584"/>
            <a:ext cx="25999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aerial RGB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0648" y="3090672"/>
            <a:ext cx="31089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6E5A33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544" y="3090672"/>
            <a:ext cx="2746248" cy="658368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44696" y="3246120"/>
            <a:ext cx="2599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Pi 5 + AI accel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4696" y="3529584"/>
            <a:ext cx="25999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on-board 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7792" y="3090672"/>
            <a:ext cx="31089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6E5A33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8688" y="3090672"/>
            <a:ext cx="2746248" cy="658368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1840" y="3246120"/>
            <a:ext cx="2599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E7DECF"/>
                </a:solidFill>
                <a:latin typeface="Segoe UI"/>
              </a:rP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840" y="3529584"/>
            <a:ext cx="25999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5C554B"/>
                </a:solidFill>
                <a:latin typeface="Consolas"/>
              </a:rPr>
              <a:t>box · score · alert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60520"/>
            <a:ext cx="4572000" cy="420624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95528" y="4334256"/>
            <a:ext cx="73152" cy="73152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4160520"/>
            <a:ext cx="4114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E7DECF"/>
                </a:solidFill>
                <a:latin typeface="Segoe UI"/>
              </a:rPr>
              <a:t>~3M parameters — light enough for embedded hardware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81728"/>
            <a:ext cx="4572000" cy="420624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95528" y="4855464"/>
            <a:ext cx="73152" cy="73152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4681728"/>
            <a:ext cx="4114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E7DECF"/>
                </a:solidFill>
                <a:latin typeface="Segoe UI"/>
              </a:rPr>
              <a:t>Detection near the camera, no cloud needed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202936"/>
            <a:ext cx="4572000" cy="420624"/>
          </a:xfrm>
          <a:prstGeom prst="rect">
            <a:avLst/>
          </a:prstGeom>
          <a:solidFill>
            <a:srgbClr val="1A1814"/>
          </a:solidFill>
          <a:ln w="9525">
            <a:solidFill>
              <a:srgbClr val="4A44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5528" y="5376672"/>
            <a:ext cx="73152" cy="73152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5202936"/>
            <a:ext cx="41148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E7DECF"/>
                </a:solidFill>
                <a:latin typeface="Segoe UI"/>
              </a:rPr>
              <a:t>Output: alert · screenshot · optional GPS log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4160520"/>
            <a:ext cx="4572000" cy="169164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0" y="4160520"/>
            <a:ext cx="45720" cy="1691640"/>
          </a:xfrm>
          <a:prstGeom prst="rect">
            <a:avLst/>
          </a:prstGeom>
          <a:solidFill>
            <a:srgbClr val="B85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0" y="4361688"/>
            <a:ext cx="406908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E9486"/>
                </a:solidFill>
                <a:latin typeface="Segoe UI"/>
              </a:rPr>
              <a:t>Reported honestly — all measured results were obtained on a Tesla T4 GPU. On-device Raspberry Pi benchmarking (FPS, latency, power, temperature) is planned future work, not yet measured.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EDGE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●  06 ·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816" y="292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spc="100">
                <a:solidFill>
                  <a:srgbClr val="5C554B"/>
                </a:solidFill>
                <a:latin typeface="Consolas"/>
              </a:rPr>
              <a:t>18 / 19 · 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E2A33C"/>
                </a:solidFill>
                <a:latin typeface="Consolas"/>
              </a:rPr>
              <a:t>◆ </a:t>
            </a:r>
            <a:r>
              <a:rPr sz="850" b="0" i="0" spc="120">
                <a:solidFill>
                  <a:srgbClr val="A98C5E"/>
                </a:solidFill>
                <a:latin typeface="Consolas"/>
              </a:rPr>
              <a:t>HONEST ABOUT WHAT'S LEFT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07008"/>
            <a:ext cx="9509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What's still hard,</a:t>
            </a:r>
          </a:p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E7DECF"/>
                </a:solidFill>
                <a:latin typeface="Georgia"/>
              </a:rPr>
              <a:t>and </a:t>
            </a:r>
            <a:r>
              <a:rPr sz="3000" b="0" i="1">
                <a:solidFill>
                  <a:srgbClr val="E2A33C"/>
                </a:solidFill>
                <a:latin typeface="Georgia"/>
              </a:rPr>
              <a:t>where it goes next.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4572000" cy="384048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4572000" cy="36576"/>
          </a:xfrm>
          <a:prstGeom prst="rect">
            <a:avLst/>
          </a:prstGeom>
          <a:solidFill>
            <a:srgbClr val="B85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LIMITATIONS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834640"/>
            <a:ext cx="1097280" cy="292608"/>
          </a:xfrm>
          <a:prstGeom prst="roundRect">
            <a:avLst/>
          </a:prstGeom>
          <a:noFill/>
          <a:ln w="9525">
            <a:solidFill>
              <a:srgbClr val="B85C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750">
                <a:solidFill>
                  <a:srgbClr val="B85C34"/>
                </a:solidFill>
                <a:latin typeface="Consolas"/>
              </a:rPr>
              <a:t>CURRENT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91840"/>
            <a:ext cx="4023360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B85C34"/>
                </a:solidFill>
                <a:latin typeface="Segoe U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3520440"/>
            <a:ext cx="374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7DECF"/>
                </a:solidFill>
                <a:latin typeface="Segoe UI"/>
              </a:rPr>
              <a:t>Box localisation</a:t>
            </a:r>
            <a:r>
              <a:rPr sz="1000" b="0" i="0">
                <a:solidFill>
                  <a:srgbClr val="9E9486"/>
                </a:solidFill>
                <a:latin typeface="Segoe UI"/>
              </a:rPr>
              <a:t> — tight alignment drops at strict IoU (0.626).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B85C34"/>
                </a:solidFill>
                <a:latin typeface="Segoe U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4233672"/>
            <a:ext cx="374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7DECF"/>
                </a:solidFill>
                <a:latin typeface="Segoe UI"/>
              </a:rPr>
              <a:t>Small objects</a:t>
            </a:r>
            <a:r>
              <a:rPr sz="1000" b="0" i="0">
                <a:solidFill>
                  <a:srgbClr val="9E9486"/>
                </a:solidFill>
                <a:latin typeface="Segoe UI"/>
              </a:rPr>
              <a:t> — people can be only a few pixels from high altitude.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46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B85C34"/>
                </a:solidFill>
                <a:latin typeface="Segoe U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4946904"/>
            <a:ext cx="374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7DECF"/>
                </a:solidFill>
                <a:latin typeface="Segoe UI"/>
              </a:rPr>
              <a:t>Domain dependence</a:t>
            </a:r>
            <a:r>
              <a:rPr sz="1000" b="0" i="0">
                <a:solidFill>
                  <a:srgbClr val="9E9486"/>
                </a:solidFill>
                <a:latin typeface="Segoe UI"/>
              </a:rPr>
              <a:t> — one desert dataset; other regions untested.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01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B85C34"/>
                </a:solidFill>
                <a:latin typeface="Segoe U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5660136"/>
            <a:ext cx="374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7DECF"/>
                </a:solidFill>
                <a:latin typeface="Segoe UI"/>
              </a:rPr>
              <a:t>No embedded benchmark yet</a:t>
            </a:r>
            <a:r>
              <a:rPr sz="1000" b="0" i="0">
                <a:solidFill>
                  <a:srgbClr val="9E9486"/>
                </a:solidFill>
                <a:latin typeface="Segoe UI"/>
              </a:rPr>
              <a:t> — only GPU results so far.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606040"/>
            <a:ext cx="4572000" cy="384048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0" y="2606040"/>
            <a:ext cx="4572000" cy="36576"/>
          </a:xfrm>
          <a:prstGeom prst="rect">
            <a:avLst/>
          </a:prstGeom>
          <a:solidFill>
            <a:srgbClr val="5AA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2880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00">
                <a:solidFill>
                  <a:srgbClr val="A98C5E"/>
                </a:solidFill>
                <a:latin typeface="Consolas"/>
              </a:rPr>
              <a:t>FUTURE 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834640"/>
            <a:ext cx="1097280" cy="292608"/>
          </a:xfrm>
          <a:prstGeom prst="roundRect">
            <a:avLst/>
          </a:prstGeom>
          <a:noFill/>
          <a:ln w="9525">
            <a:solidFill>
              <a:srgbClr val="5AA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750">
                <a:solidFill>
                  <a:srgbClr val="5AA46E"/>
                </a:solidFill>
                <a:latin typeface="Consolas"/>
              </a:rPr>
              <a:t>NEXT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291840"/>
            <a:ext cx="4023360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0720" y="3520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AA46E"/>
                </a:solidFill>
                <a:latin typeface="Segoe U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3520440"/>
            <a:ext cx="374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7DECF"/>
                </a:solidFill>
                <a:latin typeface="Segoe UI"/>
              </a:rPr>
              <a:t>Larger input sizes</a:t>
            </a:r>
            <a:r>
              <a:rPr sz="1000" b="0" i="0">
                <a:solidFill>
                  <a:srgbClr val="9E9486"/>
                </a:solidFill>
                <a:latin typeface="Segoe UI"/>
              </a:rPr>
              <a:t> (960 / 1280) for small-object detection.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2336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AA46E"/>
                </a:solidFill>
                <a:latin typeface="Segoe U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4233672"/>
            <a:ext cx="374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7DECF"/>
                </a:solidFill>
                <a:latin typeface="Segoe UI"/>
              </a:rPr>
              <a:t>More desert data</a:t>
            </a:r>
            <a:r>
              <a:rPr sz="1000" b="0" i="0">
                <a:solidFill>
                  <a:srgbClr val="9E9486"/>
                </a:solidFill>
                <a:latin typeface="Segoe UI"/>
              </a:rPr>
              <a:t> across regions, altitudes, and lighting.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946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AA46E"/>
                </a:solidFill>
                <a:latin typeface="Segoe U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4946904"/>
            <a:ext cx="374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7DECF"/>
                </a:solidFill>
                <a:latin typeface="Segoe UI"/>
              </a:rPr>
              <a:t>Raspberry Pi benchmark</a:t>
            </a:r>
            <a:r>
              <a:rPr sz="1000" b="0" i="0">
                <a:solidFill>
                  <a:srgbClr val="9E9486"/>
                </a:solidFill>
                <a:latin typeface="Segoe UI"/>
              </a:rPr>
              <a:t> — FPS, latency, power, temperature.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6601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AA46E"/>
                </a:solidFill>
                <a:latin typeface="Segoe U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5660136"/>
            <a:ext cx="374903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E7DECF"/>
                </a:solidFill>
                <a:latin typeface="Segoe UI"/>
              </a:rPr>
              <a:t>GPS logging</a:t>
            </a:r>
            <a:r>
              <a:rPr sz="1000" b="0" i="0">
                <a:solidFill>
                  <a:srgbClr val="9E9486"/>
                </a:solidFill>
                <a:latin typeface="Segoe UI"/>
              </a:rPr>
              <a:t> per detection and a clearer operator interface.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LIMITATIONS &amp; FUTURE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89336" cy="329184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F0B84E"/>
                </a:solidFill>
                <a:latin typeface="Consolas"/>
              </a:rPr>
              <a:t>● ACTIVE</a:t>
            </a:r>
            <a:r>
              <a:rPr sz="750" b="0" i="0" spc="100">
                <a:solidFill>
                  <a:srgbClr val="9E9486"/>
                </a:solidFill>
                <a:latin typeface="Consolas"/>
              </a:rPr>
              <a:t>    CAPSTONE 2 · OPEN FOR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28816" y="1828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9E9486"/>
                </a:solidFill>
                <a:latin typeface="Consolas"/>
              </a:rPr>
              <a:t>YOLOv8n · mAP@0.5 0.979</a:t>
            </a:r>
          </a:p>
        </p:txBody>
      </p:sp>
      <p:sp>
        <p:nvSpPr>
          <p:cNvPr id="5" name="Oval 4"/>
          <p:cNvSpPr/>
          <p:nvPr/>
        </p:nvSpPr>
        <p:spPr>
          <a:xfrm>
            <a:off x="4201668" y="685800"/>
            <a:ext cx="2286000" cy="2286000"/>
          </a:xfrm>
          <a:prstGeom prst="ellipse">
            <a:avLst/>
          </a:prstGeom>
          <a:noFill/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357116" y="841247"/>
            <a:ext cx="1975104" cy="1975104"/>
          </a:xfrm>
          <a:prstGeom prst="ellipse">
            <a:avLst/>
          </a:prstGeom>
          <a:noFill/>
          <a:ln w="7620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384548" y="868680"/>
            <a:ext cx="1920240" cy="1920240"/>
          </a:xfrm>
          <a:prstGeom prst="ellipse">
            <a:avLst/>
          </a:prstGeom>
          <a:solidFill>
            <a:srgbClr val="1A1814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31436" y="1325880"/>
            <a:ext cx="1426464" cy="1005840"/>
          </a:xfrm>
          <a:prstGeom prst="ellipse">
            <a:avLst/>
          </a:prstGeom>
          <a:noFill/>
          <a:ln w="27940">
            <a:solidFill>
              <a:srgbClr val="E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61204" y="1545336"/>
            <a:ext cx="566928" cy="566928"/>
          </a:xfrm>
          <a:prstGeom prst="ellipse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25796" y="1709928"/>
            <a:ext cx="237744" cy="237744"/>
          </a:xfrm>
          <a:prstGeom prst="ellipse">
            <a:avLst/>
          </a:prstGeom>
          <a:solidFill>
            <a:srgbClr val="100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75988" y="1812340"/>
            <a:ext cx="201168" cy="32918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12179" y="1812340"/>
            <a:ext cx="201168" cy="32918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0" y="2788920"/>
            <a:ext cx="1068933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0" b="0" i="0">
                <a:solidFill>
                  <a:srgbClr val="E7DECF"/>
                </a:solidFill>
                <a:latin typeface="Georgia"/>
              </a:rPr>
              <a:t>Thank </a:t>
            </a:r>
            <a:r>
              <a:rPr sz="5000" b="0" i="1">
                <a:solidFill>
                  <a:srgbClr val="E2A33C"/>
                </a:solidFill>
                <a:latin typeface="Georgia"/>
              </a:rPr>
              <a:t>you</a:t>
            </a:r>
            <a:r>
              <a:rPr sz="5000" b="0" i="0">
                <a:solidFill>
                  <a:srgbClr val="E7DECF"/>
                </a:solidFill>
                <a:latin typeface="Georgia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31920"/>
            <a:ext cx="70317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 i="0">
                <a:solidFill>
                  <a:srgbClr val="E7DECF"/>
                </a:solidFill>
                <a:latin typeface="Segoe UI"/>
              </a:rPr>
              <a:t>We're glad to take questions — on the dataset, the model, the results, or the path to edge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2763" y="4736323"/>
            <a:ext cx="1051560" cy="310896"/>
          </a:xfrm>
          <a:prstGeom prst="roundRect">
            <a:avLst/>
          </a:prstGeom>
          <a:solidFill>
            <a:srgbClr val="221E18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800">
                <a:solidFill>
                  <a:srgbClr val="F0B84E"/>
                </a:solidFill>
                <a:latin typeface="Consolas"/>
              </a:rPr>
              <a:t>Hamza Jad Allah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1213" y="4717765"/>
            <a:ext cx="991209" cy="310896"/>
          </a:xfrm>
          <a:prstGeom prst="roundRect">
            <a:avLst/>
          </a:prstGeom>
          <a:solidFill>
            <a:srgbClr val="221E18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800">
                <a:solidFill>
                  <a:srgbClr val="F0B84E"/>
                </a:solidFill>
                <a:latin typeface="Consolas"/>
              </a:rPr>
              <a:t>Suhaib Alajami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0364" y="4736323"/>
            <a:ext cx="870508" cy="310896"/>
          </a:xfrm>
          <a:prstGeom prst="roundRect">
            <a:avLst/>
          </a:prstGeom>
          <a:solidFill>
            <a:srgbClr val="221E18"/>
          </a:solidFill>
          <a:ln w="9525">
            <a:solidFill>
              <a:srgbClr val="6E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800" dirty="0">
                <a:solidFill>
                  <a:srgbClr val="F0B84E"/>
                </a:solidFill>
                <a:latin typeface="Consolas"/>
              </a:rPr>
              <a:t>Omar Malkawi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98" y="5473501"/>
            <a:ext cx="10689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A98C5E"/>
                </a:solidFill>
                <a:latin typeface="Consolas"/>
              </a:rPr>
              <a:t>Supervisor · Dr. Rami Al-Ouran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5897880"/>
            <a:ext cx="5943600" cy="1097280"/>
          </a:xfrm>
          <a:prstGeom prst="rect">
            <a:avLst/>
          </a:prstGeom>
          <a:solidFill>
            <a:srgbClr val="221E18"/>
          </a:solidFill>
          <a:ln w="9525">
            <a:solidFill>
              <a:srgbClr val="3A3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77440" y="5897880"/>
            <a:ext cx="45720" cy="1097280"/>
          </a:xfrm>
          <a:prstGeom prst="rect">
            <a:avLst/>
          </a:prstGeom>
          <a:solidFill>
            <a:srgbClr val="E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51760" y="6099048"/>
            <a:ext cx="5440680" cy="731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 dirty="0">
                <a:solidFill>
                  <a:srgbClr val="A98C5E"/>
                </a:solidFill>
                <a:latin typeface="Segoe UI"/>
              </a:rPr>
              <a:t>Acknowledgement — </a:t>
            </a:r>
            <a:r>
              <a:rPr sz="950" b="0" i="0" dirty="0">
                <a:solidFill>
                  <a:srgbClr val="9E9486"/>
                </a:solidFill>
                <a:latin typeface="Segoe UI"/>
              </a:rPr>
              <a:t>the private desert dataset used for fine-tuning was obtained from the </a:t>
            </a:r>
            <a:r>
              <a:rPr sz="950" b="1" i="0" dirty="0">
                <a:solidFill>
                  <a:srgbClr val="E7DECF"/>
                </a:solidFill>
                <a:latin typeface="Segoe UI"/>
              </a:rPr>
              <a:t>Shaheen project</a:t>
            </a:r>
            <a:r>
              <a:rPr sz="950" b="0" i="0" dirty="0">
                <a:solidFill>
                  <a:srgbClr val="9E9486"/>
                </a:solidFill>
                <a:latin typeface="Segoe UI"/>
              </a:rPr>
              <a:t>. Their contribution is gratefully acknowledged.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995159"/>
            <a:ext cx="9683496" cy="10972"/>
          </a:xfrm>
          <a:prstGeom prst="rect">
            <a:avLst/>
          </a:prstGeom>
          <a:solidFill>
            <a:srgbClr val="3A3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7086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 spc="100">
                <a:solidFill>
                  <a:srgbClr val="5C554B"/>
                </a:solidFill>
                <a:latin typeface="Consolas"/>
              </a:rPr>
              <a:t>GOLDENEYE · 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7086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 spc="100">
                <a:solidFill>
                  <a:srgbClr val="5C554B"/>
                </a:solidFill>
                <a:latin typeface="Consolas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1906</Words>
  <Application>Microsoft Office PowerPoint</Application>
  <PresentationFormat>Custom</PresentationFormat>
  <Paragraphs>384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OMAR MALKAWI</cp:lastModifiedBy>
  <cp:revision>2</cp:revision>
  <dcterms:created xsi:type="dcterms:W3CDTF">2013-01-27T09:14:16Z</dcterms:created>
  <dcterms:modified xsi:type="dcterms:W3CDTF">2026-05-29T20:26:15Z</dcterms:modified>
  <cp:category/>
</cp:coreProperties>
</file>